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SAGE-HE is a dual-branch classifier for steel surface defects whose classification head runs under CKKS homomorphic encryption, so a cloud server can classify a factory's inspection data without being able to read it. The work reproduces and audits Jia et al. (2023), Journal of Cloud Computing.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headline is twofold: we beat our reproduced baseline clearly, and we could not reproduce the published 97.1% from the paper's own description. Both facts are reported.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as an industrial one first. The privacy requirement is not hypothetical: defect statistics are commercially sensitive process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Crazing is a fine crack network; scratches are long thin lines; patches are large blobs. One receptive field cannot serve all three well.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requirements, each of which maps to a results slide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gaps define the contribution. Note the fourth carefully: it is a methodological criticism, made from the paper's own 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6 is not boilerplate: the dataset ceiling and the narrowed novelty claim are both consequences of taking it seriously.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mirror we used carries bare integer labels. The class-index mapping was resolved independently by visual inspection and corroborated by per-class texture statistics — it was not taken on faith.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because the first similarity analysis looked alarming — 30 test images with a 0.95+ training match. The high-pass control showed it was an illumination artefact. Reporting the resolution is part of the honesty.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recent SSRN preprint reports CKKS inference on NEU-CLS at 99.26%. It is closer prior art than anything here, but it is unrefereed and we could not verify its metadata, so no claim rests on it. It is disclosed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reviewer takes one methodological point from this deck, it should be this 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directly from the open-access full text and its tables, not from a summary.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reproduction had to choose a channel count and a pooling route to the stated 256-unit FC input, because neither is given. Both choices are documented.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one is the most serious: an approximate scheme cannot add information. It suggests the plaintext and encrypted numbers came from different protocols.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of this table maps to a component slide and to an ablation stage. Flagging the outcome here keeps the middle of the deck from reading as a set of claims that were never tested.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'trained as deployed' point matters: plaintext and encrypted models are the same function up to CKKS approximation error, which the results confirm.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specific about what is not novel is what makes the remaining claim credible — and the proposed architecture did not survive its own ablation.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left of the purple boundary is plaintext on the client. Only the 64-d vector crosses. The server evaluates three multiplications and returns six encrypted logits.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hypothesis was that global equalisation crushes the low-contrast crazing texture while CLAHE preserves it. The design study does not support it: no contrast enhancement at all scores highest.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equalisation applies one intensity mapping to the whole frame and flattens the fine crazing texture; CLAHE equalises locally and preserves it. The choice is ablated in the design study, not asserted here.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encrypted head is only ~2.3k parameters — that is what makes homomorphic evaluation affordable at all.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Dilated 3×3 gives a 5×5 receptive field at 3×3 cost — the branch has to be cheap because it runs alongside EfficientNet.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λ was meant to be the headline readout. It is not — see the ablation; the with/without-Sobel control is what actually answers this, and it is negative.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chunk receives gradient, so selection is trained jointly with the classifier.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can take some dimensions from the global branch and others from the local one.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tanh matters numerically: square() doubles the exponent of its input.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 modulus bits at n=16384, against a 438-bit budget for 128-bit security.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server holds a public-only context. Our tests assert it cannot decrypt.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loss tiebreak is a small detail with a real effect: without it, 'best' means 'first epoch to reach F1 1.0', which is noise.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explicit that these are CPU timings is important for interpreting the encrypted-inference latency.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full data every trial would score macro-F1 1.0 and the study would rank noise. That is why the search runs at reduced data.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hatched bar is a literature value, visually distinguished because we did not re-run it. Conflating it with our measurements would be the single easiest way to mislead here.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answers the obvious objection: that we simply guessed the architecture badly. Five configurations, none reaching 97.1%.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 0 and c = 19 is the strongest possible shape for this test. The exact binomial is used because the discordant count is small.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Concentration is 1 − normalised entropy of the 16 attention weights: 1.0 means all mass on one chunk, 0.0 means uniform. Inclusion is a few dark streaks in one place; pitted surface is pits everywhere.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Macro averaging is reported because it is what survives class imbalance in a real deployment, even though NEU-CLS is balanced.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errors concentrate in inclusion and pitted surface — the two lowest-contrast classes, which is what the texture statistics predict.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Per-class numbers are the ones an inspection engineer actually cares about: a missed scratch and a missed crazing have different downstream costs.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curve is the direct visual evidence for the ceiling argument.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converts the saturation problem from an excuse into an experiment.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bar is one of the nine stages in the project brief. The Sobel control isolates the prior's contribution directly.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Sobel row is computed with a collapsed seed excluded; including it flatters the prior by ~35 points, which would be misleading. The raw and corrected numbers are both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compressed-dimension row is the one with downstream consequences: it sets ciphertext size and homomorphic latency, so it is the accuracy/cost lever rather than a pure accuracy choice.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10% row is why the claim is 'never reliably better' rather than 'always worse'. A single seed there showed -0.56; three seeds show +0.55 with the sign flipping. Neither is outside the noise.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project that reported only the 100% headline would have missed all of this. The saturation-aware protocol is what made it visible.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contrast with the base paper, which reports encryption *improving* accuracy. Our result is the expected one: identical decisions, tiny numerical error.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Galois keys dominate the one-time transfer. The per-image cost is the homomorphic evaluation, which scales with the compressed dimension.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panels, never two y-axes on one plot: accuracy and latency are different quantities and sharing an axis would invite a false visual comparison. They are also measured in different regimes, which the caption states.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one slide protects the project's integrity, it is this one.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caveat is deliberate. Grad-CAM over a squared activation is less sign-stable than over a ReLU stack, which the report explains.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perfect test score there is no failure set for the proposed model. Substituting the baseline's failures keeps the slide honest and still shows what the harder images look like.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limitations slide that names six real problems is more persuasive than one that names none.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is specific and follows from measured limitations, not generic.</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one of these was fetched from the publisher API, not recalled.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Reproduction: scripts/setup_env.sh, then scripts/reproduce_all.sh.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5528" y="1481328"/>
            <a:ext cx="9187434" cy="1005840"/>
          </a:xfrm>
          <a:prstGeom prst="rect">
            <a:avLst/>
          </a:prstGeom>
          <a:noFill/>
        </p:spPr>
        <p:txBody>
          <a:bodyPr wrap="square" anchor="t" lIns="0" rIns="0" tIns="0" bIns="0">
            <a:spAutoFit/>
          </a:bodyPr>
          <a:lstStyle/>
          <a:p>
            <a:pPr algn="l">
              <a:lnSpc>
                <a:spcPct val="118000"/>
              </a:lnSpc>
              <a:spcAft>
                <a:spcPts val="400"/>
              </a:spcAft>
            </a:pPr>
            <a:r>
              <a:rPr sz="6200" b="1" i="0">
                <a:solidFill>
                  <a:srgbClr val="F1F5F9"/>
                </a:solidFill>
                <a:latin typeface="Inter"/>
              </a:rPr>
              <a:t>SAGE-HE</a:t>
            </a:r>
          </a:p>
        </p:txBody>
      </p:sp>
      <p:sp>
        <p:nvSpPr>
          <p:cNvPr id="5" name="Rectangle 4"/>
          <p:cNvSpPr/>
          <p:nvPr/>
        </p:nvSpPr>
        <p:spPr>
          <a:xfrm>
            <a:off x="795528" y="2670048"/>
            <a:ext cx="1371600" cy="32004"/>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907792"/>
            <a:ext cx="8252231" cy="1097280"/>
          </a:xfrm>
          <a:prstGeom prst="rect">
            <a:avLst/>
          </a:prstGeom>
          <a:noFill/>
        </p:spPr>
        <p:txBody>
          <a:bodyPr wrap="square" anchor="t" lIns="0" rIns="0" tIns="0" bIns="0">
            <a:spAutoFit/>
          </a:bodyPr>
          <a:lstStyle/>
          <a:p>
            <a:pPr algn="l">
              <a:lnSpc>
                <a:spcPct val="130000"/>
              </a:lnSpc>
              <a:spcAft>
                <a:spcPts val="400"/>
              </a:spcAft>
            </a:pPr>
            <a:r>
              <a:rPr sz="1900" b="0" i="0">
                <a:solidFill>
                  <a:srgbClr val="CBD5E1"/>
                </a:solidFill>
                <a:latin typeface="Inter"/>
              </a:rPr>
              <a:t>Secure Adaptive Gated Ensemble for</a:t>
            </a:r>
          </a:p>
          <a:p>
            <a:pPr algn="l">
              <a:lnSpc>
                <a:spcPct val="130000"/>
              </a:lnSpc>
              <a:spcAft>
                <a:spcPts val="400"/>
              </a:spcAft>
            </a:pPr>
            <a:r>
              <a:rPr sz="1900" b="0" i="0">
                <a:solidFill>
                  <a:srgbClr val="CBD5E1"/>
                </a:solidFill>
                <a:latin typeface="Inter"/>
              </a:rPr>
              <a:t>Privacy-Preserving Steel Surface Defect Classification</a:t>
            </a:r>
          </a:p>
        </p:txBody>
      </p:sp>
      <p:sp>
        <p:nvSpPr>
          <p:cNvPr id="7" name="TextBox 6"/>
          <p:cNvSpPr txBox="1"/>
          <p:nvPr/>
        </p:nvSpPr>
        <p:spPr>
          <a:xfrm>
            <a:off x="795528" y="4407408"/>
            <a:ext cx="7317028"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RESEARCH, ARCHITECTURE &amp; IMPLEMENTATION</a:t>
            </a:r>
          </a:p>
        </p:txBody>
      </p:sp>
      <p:sp>
        <p:nvSpPr>
          <p:cNvPr id="8" name="TextBox 7"/>
          <p:cNvSpPr txBox="1"/>
          <p:nvPr/>
        </p:nvSpPr>
        <p:spPr>
          <a:xfrm>
            <a:off x="795528" y="4718304"/>
            <a:ext cx="7317028" cy="566928"/>
          </a:xfrm>
          <a:prstGeom prst="rect">
            <a:avLst/>
          </a:prstGeom>
          <a:noFill/>
        </p:spPr>
        <p:txBody>
          <a:bodyPr wrap="square" anchor="t" lIns="0" rIns="0" tIns="0" bIns="0">
            <a:spAutoFit/>
          </a:bodyPr>
          <a:lstStyle/>
          <a:p>
            <a:pPr algn="l">
              <a:lnSpc>
                <a:spcPct val="118000"/>
              </a:lnSpc>
              <a:spcAft>
                <a:spcPts val="400"/>
              </a:spcAft>
            </a:pPr>
            <a:r>
              <a:rPr sz="3100" b="1" i="0">
                <a:solidFill>
                  <a:srgbClr val="F1F5F9"/>
                </a:solidFill>
                <a:latin typeface="Inter"/>
              </a:rPr>
              <a:t>SUHAIB S Z</a:t>
            </a:r>
          </a:p>
        </p:txBody>
      </p:sp>
      <p:sp>
        <p:nvSpPr>
          <p:cNvPr id="9" name="TextBox 8"/>
          <p:cNvSpPr txBox="1"/>
          <p:nvPr/>
        </p:nvSpPr>
        <p:spPr>
          <a:xfrm>
            <a:off x="795528" y="6327648"/>
            <a:ext cx="9187434"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94A3B8"/>
                </a:solidFill>
                <a:latin typeface="Inter"/>
              </a:rPr>
              <a:t>NEU-CLS  ·  EfficientNet-B0 + multi-scale local branch  ·  CKKS homomorphic inference</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350"/>
                                        <p:tgtEl>
                                          <p:spTgt spid="6"/>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350"/>
                                        <p:tgtEl>
                                          <p:spTgt spid="7"/>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Abstract</a:t>
            </a:r>
          </a:p>
        </p:txBody>
      </p:sp>
      <p:sp>
        <p:nvSpPr>
          <p:cNvPr id="4" name="Rectangle 3"/>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387994"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8" name="TextBox 7"/>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2</a:t>
            </a:r>
          </a:p>
        </p:txBody>
      </p:sp>
      <p:sp>
        <p:nvSpPr>
          <p:cNvPr id="9" name="TextBox 8"/>
          <p:cNvSpPr txBox="1"/>
          <p:nvPr/>
        </p:nvSpPr>
        <p:spPr>
          <a:xfrm>
            <a:off x="566928" y="1627632"/>
            <a:ext cx="10122636" cy="3840480"/>
          </a:xfrm>
          <a:prstGeom prst="rect">
            <a:avLst/>
          </a:prstGeom>
          <a:noFill/>
        </p:spPr>
        <p:txBody>
          <a:bodyPr wrap="square" lIns="0" rIns="0" tIns="0" bIns="0">
            <a:spAutoFit/>
          </a:bodyPr>
          <a:lstStyle/>
          <a:p>
            <a:pPr>
              <a:lnSpc>
                <a:spcPct val="122000"/>
              </a:lnSpc>
              <a:spcAft>
                <a:spcPts val="900"/>
              </a:spcAft>
            </a:pPr>
            <a:r>
              <a:rPr sz="1300" b="1">
                <a:solidFill>
                  <a:srgbClr val="3987E5"/>
                </a:solidFill>
                <a:latin typeface="Inter"/>
              </a:rPr>
              <a:t>— </a:t>
            </a:r>
            <a:r>
              <a:rPr sz="1300" b="1">
                <a:solidFill>
                  <a:srgbClr val="F1F5F9"/>
                </a:solidFill>
                <a:latin typeface="Inter"/>
              </a:rPr>
              <a:t>Problem. </a:t>
            </a:r>
            <a:r>
              <a:rPr sz="1300">
                <a:solidFill>
                  <a:srgbClr val="CBD5E1"/>
                </a:solidFill>
                <a:latin typeface="Inter"/>
              </a:rPr>
              <a:t>Steel surface inspection is increasingly outsourced to cloud GPUs, but production imagery is commercially sensitive and leaks line yield and defect rates.</a:t>
            </a:r>
          </a:p>
          <a:p>
            <a:pPr>
              <a:lnSpc>
                <a:spcPct val="122000"/>
              </a:lnSpc>
              <a:spcAft>
                <a:spcPts val="900"/>
              </a:spcAft>
            </a:pPr>
            <a:r>
              <a:rPr sz="1300" b="1">
                <a:solidFill>
                  <a:srgbClr val="3987E5"/>
                </a:solidFill>
                <a:latin typeface="Inter"/>
              </a:rPr>
              <a:t>— </a:t>
            </a:r>
            <a:r>
              <a:rPr sz="1300" b="1">
                <a:solidFill>
                  <a:srgbClr val="F1F5F9"/>
                </a:solidFill>
                <a:latin typeface="Inter"/>
              </a:rPr>
              <a:t>Base paper. </a:t>
            </a:r>
            <a:r>
              <a:rPr sz="1300">
                <a:solidFill>
                  <a:srgbClr val="CBD5E1"/>
                </a:solidFill>
                <a:latin typeface="Inter"/>
              </a:rPr>
              <a:t>Jia et al. (2023) encrypt Sobel-selected image chunks under CKKS and report 97.1% on NEU-CLS — without precision, recall, split sizes or epoch count.</a:t>
            </a:r>
          </a:p>
          <a:p>
            <a:pPr>
              <a:lnSpc>
                <a:spcPct val="122000"/>
              </a:lnSpc>
              <a:spcAft>
                <a:spcPts val="900"/>
              </a:spcAft>
            </a:pPr>
            <a:r>
              <a:rPr sz="1300" b="1">
                <a:solidFill>
                  <a:srgbClr val="3987E5"/>
                </a:solidFill>
                <a:latin typeface="Inter"/>
              </a:rPr>
              <a:t>— </a:t>
            </a:r>
            <a:r>
              <a:rPr sz="1300" b="1">
                <a:solidFill>
                  <a:srgbClr val="F1F5F9"/>
                </a:solidFill>
                <a:latin typeface="Inter"/>
              </a:rPr>
              <a:t>Proposal. </a:t>
            </a:r>
            <a:r>
              <a:rPr sz="1300">
                <a:solidFill>
                  <a:srgbClr val="CBD5E1"/>
                </a:solidFill>
                <a:latin typeface="Inter"/>
              </a:rPr>
              <a:t>SAGE-HE pairs an EfficientNet-B0 global branch with a multi-scale local branch, selects chunks by a learned Sobel-conditioned attention rather than a fixed threshold, fuses the branches with a channel-wise gate, and compresses to a 64-d vector that is encrypted and classified by a depth-3 polynomial head.</a:t>
            </a:r>
          </a:p>
          <a:p>
            <a:pPr>
              <a:lnSpc>
                <a:spcPct val="122000"/>
              </a:lnSpc>
              <a:spcAft>
                <a:spcPts val="900"/>
              </a:spcAft>
            </a:pPr>
            <a:r>
              <a:rPr sz="1300" b="1">
                <a:solidFill>
                  <a:srgbClr val="3987E5"/>
                </a:solidFill>
                <a:latin typeface="Inter"/>
              </a:rPr>
              <a:t>— </a:t>
            </a:r>
            <a:r>
              <a:rPr sz="1300" b="1">
                <a:solidFill>
                  <a:srgbClr val="F1F5F9"/>
                </a:solidFill>
                <a:latin typeface="Inter"/>
              </a:rPr>
              <a:t>Result. </a:t>
            </a:r>
            <a:r>
              <a:rPr sz="1300">
                <a:solidFill>
                  <a:srgbClr val="CBD5E1"/>
                </a:solidFill>
                <a:latin typeface="Inter"/>
              </a:rPr>
              <a:t>SAGE-HE reaches 100.00% test accuracy against 93.98% for our faithful reproduction of the baseline, over 3 seeds on an identical held-out split. Encrypted and plaintext inference agree on 100.0% of test images.</a:t>
            </a:r>
          </a:p>
          <a:p>
            <a:pPr>
              <a:lnSpc>
                <a:spcPct val="122000"/>
              </a:lnSpc>
              <a:spcAft>
                <a:spcPts val="900"/>
              </a:spcAft>
            </a:pPr>
            <a:r>
              <a:rPr sz="1300" b="1">
                <a:solidFill>
                  <a:srgbClr val="3987E5"/>
                </a:solidFill>
                <a:latin typeface="Inter"/>
              </a:rPr>
              <a:t>— </a:t>
            </a:r>
            <a:r>
              <a:rPr sz="1300" b="1">
                <a:solidFill>
                  <a:srgbClr val="F1F5F9"/>
                </a:solidFill>
                <a:latin typeface="Inter"/>
              </a:rPr>
              <a:t>Caveat, and the main finding. </a:t>
            </a:r>
            <a:r>
              <a:rPr sz="1300">
                <a:solidFill>
                  <a:srgbClr val="CBD5E1"/>
                </a:solidFill>
                <a:latin typeface="Inter"/>
              </a:rPr>
              <a:t>NEU-CLS is saturated, so component contributions are measured in a reduced-data regime. There the full model scores *below* the bare EfficientNet-B0 backbone on every seed, and the gap closes to nothing once data is less scarce. The architectural claim is withdrawn; the reproduction, the encrypted inference and the evaluation protocol stand.</a:t>
            </a:r>
          </a:p>
        </p:txBody>
      </p:sp>
    </p:spTree>
  </p:cSld>
  <p:clrMapOvr>
    <a:masterClrMapping/>
  </p:clrMapOvr>
  <p:transition xmlns:ns0="http://schemas.microsoft.com/office/powerpoint/2010/main" spd="med" ns0:dur="400">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Introduction</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Why surface defect classification, and why privacy changes the problem</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581991"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3</a:t>
            </a:r>
          </a:p>
        </p:txBody>
      </p:sp>
      <p:sp>
        <p:nvSpPr>
          <p:cNvPr id="10" name="TextBox 9"/>
          <p:cNvSpPr txBox="1"/>
          <p:nvPr/>
        </p:nvSpPr>
        <p:spPr>
          <a:xfrm>
            <a:off x="566928" y="1627632"/>
            <a:ext cx="5446623" cy="3840480"/>
          </a:xfrm>
          <a:prstGeom prst="rect">
            <a:avLst/>
          </a:prstGeom>
          <a:noFill/>
        </p:spPr>
        <p:txBody>
          <a:bodyPr wrap="square" lIns="0" rIns="0" tIns="0" bIns="0">
            <a:spAutoFit/>
          </a:bodyPr>
          <a:lstStyle/>
          <a:p>
            <a:pPr>
              <a:lnSpc>
                <a:spcPct val="122000"/>
              </a:lnSpc>
              <a:spcAft>
                <a:spcPts val="900"/>
              </a:spcAft>
            </a:pPr>
            <a:r>
              <a:rPr sz="1300" b="1">
                <a:solidFill>
                  <a:srgbClr val="3987E5"/>
                </a:solidFill>
                <a:latin typeface="Inter"/>
              </a:rPr>
              <a:t>— </a:t>
            </a:r>
            <a:r>
              <a:rPr sz="1300">
                <a:solidFill>
                  <a:srgbClr val="CBD5E1"/>
                </a:solidFill>
                <a:latin typeface="Inter"/>
              </a:rPr>
              <a:t>Hot-rolled steel strip is inspected continuously; surface defects determine whether a coil is sold, downgraded or scrapped.</a:t>
            </a:r>
          </a:p>
          <a:p>
            <a:pPr>
              <a:lnSpc>
                <a:spcPct val="122000"/>
              </a:lnSpc>
              <a:spcAft>
                <a:spcPts val="900"/>
              </a:spcAft>
            </a:pPr>
            <a:r>
              <a:rPr sz="1300" b="1">
                <a:solidFill>
                  <a:srgbClr val="3987E5"/>
                </a:solidFill>
                <a:latin typeface="Inter"/>
              </a:rPr>
              <a:t>— </a:t>
            </a:r>
            <a:r>
              <a:rPr sz="1300">
                <a:solidFill>
                  <a:srgbClr val="CBD5E1"/>
                </a:solidFill>
                <a:latin typeface="Inter"/>
              </a:rPr>
              <a:t>Modern classifiers are accurate but compute-hungry, which pushes inference to cloud GPUs.</a:t>
            </a:r>
          </a:p>
          <a:p>
            <a:pPr>
              <a:lnSpc>
                <a:spcPct val="122000"/>
              </a:lnSpc>
              <a:spcAft>
                <a:spcPts val="900"/>
              </a:spcAft>
            </a:pPr>
            <a:r>
              <a:rPr sz="1300" b="1">
                <a:solidFill>
                  <a:srgbClr val="3987E5"/>
                </a:solidFill>
                <a:latin typeface="Inter"/>
              </a:rPr>
              <a:t>— </a:t>
            </a:r>
            <a:r>
              <a:rPr sz="1300">
                <a:solidFill>
                  <a:srgbClr val="CBD5E1"/>
                </a:solidFill>
                <a:latin typeface="Inter"/>
              </a:rPr>
              <a:t>Inspection images are a direct readout of process health: defect mix and rate expose yield, machine condition and production volume.</a:t>
            </a:r>
          </a:p>
          <a:p>
            <a:pPr>
              <a:lnSpc>
                <a:spcPct val="122000"/>
              </a:lnSpc>
              <a:spcAft>
                <a:spcPts val="900"/>
              </a:spcAft>
            </a:pPr>
            <a:r>
              <a:rPr sz="1300" b="1">
                <a:solidFill>
                  <a:srgbClr val="3987E5"/>
                </a:solidFill>
                <a:latin typeface="Inter"/>
              </a:rPr>
              <a:t>— </a:t>
            </a:r>
            <a:r>
              <a:rPr sz="1300">
                <a:solidFill>
                  <a:srgbClr val="CBD5E1"/>
                </a:solidFill>
                <a:latin typeface="Inter"/>
              </a:rPr>
              <a:t>A mill that sends raw images to a third-party cloud is disclosing exactly the data it least wants a competitor to hold.</a:t>
            </a:r>
          </a:p>
        </p:txBody>
      </p:sp>
      <p:sp>
        <p:nvSpPr>
          <p:cNvPr id="11" name="Rounded Rectangle 10"/>
          <p:cNvSpPr/>
          <p:nvPr/>
        </p:nvSpPr>
        <p:spPr>
          <a:xfrm>
            <a:off x="7113346" y="1627632"/>
            <a:ext cx="4511421" cy="192024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13346" y="1627632"/>
            <a:ext cx="41148" cy="192024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32802" y="1764792"/>
            <a:ext cx="4090797"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3987E5"/>
                </a:solidFill>
                <a:latin typeface="Inter"/>
              </a:rPr>
              <a:t>The tension</a:t>
            </a:r>
          </a:p>
        </p:txBody>
      </p:sp>
      <p:sp>
        <p:nvSpPr>
          <p:cNvPr id="14" name="TextBox 13"/>
          <p:cNvSpPr txBox="1"/>
          <p:nvPr/>
        </p:nvSpPr>
        <p:spPr>
          <a:xfrm>
            <a:off x="7332802" y="2103120"/>
            <a:ext cx="4090797" cy="129844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Accuracy wants a large model on someone else's hardware.</a:t>
            </a:r>
          </a:p>
          <a:p>
            <a:pPr algn="l">
              <a:lnSpc>
                <a:spcPct val="124000"/>
              </a:lnSpc>
              <a:spcAft>
                <a:spcPts val="400"/>
              </a:spcAft>
            </a:pPr>
            <a:r>
              <a:rPr sz="1150" b="0" i="0">
                <a:solidFill>
                  <a:srgbClr val="CBD5E1"/>
                </a:solidFill>
                <a:latin typeface="Inter"/>
              </a:rPr>
              <a:t>Confidentiality wants the data never to leave the plant.</a:t>
            </a:r>
          </a:p>
          <a:p>
            <a:pPr algn="l">
              <a:lnSpc>
                <a:spcPct val="124000"/>
              </a:lnSpc>
              <a:spcAft>
                <a:spcPts val="400"/>
              </a:spcAft>
            </a:pPr>
            <a:r>
              <a:rPr sz="1150" b="0" i="0">
                <a:solidFill>
                  <a:srgbClr val="CBD5E1"/>
                </a:solidFill>
                <a:latin typeface="Inter"/>
              </a:rPr>
              <a:t>Homomorphic encryption is the one mechanism that can serve both.</a:t>
            </a:r>
          </a:p>
        </p:txBody>
      </p:sp>
      <p:sp>
        <p:nvSpPr>
          <p:cNvPr id="15" name="Rounded Rectangle 14"/>
          <p:cNvSpPr/>
          <p:nvPr/>
        </p:nvSpPr>
        <p:spPr>
          <a:xfrm>
            <a:off x="7113346" y="3776472"/>
            <a:ext cx="4511421" cy="169164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13346" y="3776472"/>
            <a:ext cx="41148" cy="1691640"/>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32802" y="3913632"/>
            <a:ext cx="4090797"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0CA30C"/>
                </a:solidFill>
                <a:latin typeface="Inter"/>
              </a:rPr>
              <a:t>What this project does</a:t>
            </a:r>
          </a:p>
        </p:txBody>
      </p:sp>
      <p:sp>
        <p:nvSpPr>
          <p:cNvPr id="18" name="TextBox 17"/>
          <p:cNvSpPr txBox="1"/>
          <p:nvPr/>
        </p:nvSpPr>
        <p:spPr>
          <a:xfrm>
            <a:off x="7332802" y="4251960"/>
            <a:ext cx="4090797" cy="106984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Builds a working system on that boundary, measures its real cost, and states precisely what it does and does not protect.</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350"/>
                                        <p:tgtEl>
                                          <p:spTgt spid="17"/>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Industrial Problem Context</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The six NEU-CLS defect classes</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775988"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4</a:t>
            </a:r>
          </a:p>
        </p:txBody>
      </p:sp>
      <p:pic>
        <p:nvPicPr>
          <p:cNvPr id="10" name="Picture 9" descr="dataset_samples_1814.png"/>
          <p:cNvPicPr>
            <a:picLocks noChangeAspect="1"/>
          </p:cNvPicPr>
          <p:nvPr/>
        </p:nvPicPr>
        <p:blipFill>
          <a:blip r:embed="rId2"/>
          <a:stretch>
            <a:fillRect/>
          </a:stretch>
        </p:blipFill>
        <p:spPr>
          <a:xfrm>
            <a:off x="566928" y="2338561"/>
            <a:ext cx="11057839" cy="2510061"/>
          </a:xfrm>
          <a:prstGeom prst="rect">
            <a:avLst/>
          </a:prstGeom>
        </p:spPr>
      </p:pic>
      <p:sp>
        <p:nvSpPr>
          <p:cNvPr id="11" name="TextBox 10"/>
          <p:cNvSpPr txBox="1"/>
          <p:nvPr/>
        </p:nvSpPr>
        <p:spPr>
          <a:xfrm>
            <a:off x="566928" y="5806440"/>
            <a:ext cx="11057839" cy="365760"/>
          </a:xfrm>
          <a:prstGeom prst="rect">
            <a:avLst/>
          </a:prstGeom>
          <a:noFill/>
        </p:spPr>
        <p:txBody>
          <a:bodyPr wrap="square" anchor="t" lIns="0" rIns="0" tIns="0" bIns="0">
            <a:spAutoFit/>
          </a:bodyPr>
          <a:lstStyle/>
          <a:p>
            <a:pPr algn="l">
              <a:lnSpc>
                <a:spcPct val="118000"/>
              </a:lnSpc>
              <a:spcAft>
                <a:spcPts val="400"/>
              </a:spcAft>
            </a:pPr>
            <a:r>
              <a:rPr sz="1150" b="0" i="1">
                <a:solidFill>
                  <a:srgbClr val="94A3B8"/>
                </a:solidFill>
                <a:latin typeface="Inter"/>
              </a:rPr>
              <a:t>Each class has a different physical cause and a different spatial scale — which is the architectural argument for a multi-scale local branch.</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Problem Statement</a:t>
            </a:r>
          </a:p>
        </p:txBody>
      </p:sp>
      <p:sp>
        <p:nvSpPr>
          <p:cNvPr id="4" name="Rectangle 3"/>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969985"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8" name="TextBox 7"/>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5</a:t>
            </a:r>
          </a:p>
        </p:txBody>
      </p:sp>
      <p:sp>
        <p:nvSpPr>
          <p:cNvPr id="9" name="Rounded Rectangle 8"/>
          <p:cNvSpPr/>
          <p:nvPr/>
        </p:nvSpPr>
        <p:spPr>
          <a:xfrm>
            <a:off x="566928" y="1627632"/>
            <a:ext cx="11057839" cy="1143000"/>
          </a:xfrm>
          <a:prstGeom prst="roundRect">
            <a:avLst>
              <a:gd name="adj" fmla="val 6000"/>
            </a:avLst>
          </a:prstGeom>
          <a:solidFill>
            <a:srgbClr val="16213C"/>
          </a:solidFill>
          <a:ln w="12700">
            <a:solidFill>
              <a:srgbClr val="398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1865376"/>
            <a:ext cx="10122636" cy="731520"/>
          </a:xfrm>
          <a:prstGeom prst="rect">
            <a:avLst/>
          </a:prstGeom>
          <a:noFill/>
        </p:spPr>
        <p:txBody>
          <a:bodyPr wrap="square" anchor="t" lIns="0" rIns="0" tIns="0" bIns="0">
            <a:spAutoFit/>
          </a:bodyPr>
          <a:lstStyle/>
          <a:p>
            <a:pPr algn="l">
              <a:lnSpc>
                <a:spcPct val="125000"/>
              </a:lnSpc>
              <a:spcAft>
                <a:spcPts val="400"/>
              </a:spcAft>
            </a:pPr>
            <a:r>
              <a:rPr sz="1600" b="0" i="0">
                <a:solidFill>
                  <a:srgbClr val="F1F5F9"/>
                </a:solidFill>
                <a:latin typeface="Inter"/>
              </a:rPr>
              <a:t>Can a cloud service classify steel surface defects at state-of-the-art accuracy without ever being able to read the images or the predictions — and what does that cost?</a:t>
            </a:r>
          </a:p>
        </p:txBody>
      </p:sp>
      <p:sp>
        <p:nvSpPr>
          <p:cNvPr id="11" name="TextBox 10"/>
          <p:cNvSpPr txBox="1"/>
          <p:nvPr/>
        </p:nvSpPr>
        <p:spPr>
          <a:xfrm>
            <a:off x="566928" y="3136391"/>
            <a:ext cx="11057839" cy="2560320"/>
          </a:xfrm>
          <a:prstGeom prst="rect">
            <a:avLst/>
          </a:prstGeom>
          <a:noFill/>
        </p:spPr>
        <p:txBody>
          <a:bodyPr wrap="square" lIns="0" rIns="0" tIns="0" bIns="0">
            <a:spAutoFit/>
          </a:bodyPr>
          <a:lstStyle/>
          <a:p>
            <a:pPr>
              <a:lnSpc>
                <a:spcPct val="122000"/>
              </a:lnSpc>
              <a:spcAft>
                <a:spcPts val="900"/>
              </a:spcAft>
            </a:pPr>
            <a:r>
              <a:rPr sz="1300" b="1">
                <a:solidFill>
                  <a:srgbClr val="3987E5"/>
                </a:solidFill>
                <a:latin typeface="Inter"/>
              </a:rPr>
              <a:t>— </a:t>
            </a:r>
            <a:r>
              <a:rPr sz="1300" b="1">
                <a:solidFill>
                  <a:srgbClr val="F1F5F9"/>
                </a:solidFill>
                <a:latin typeface="Inter"/>
              </a:rPr>
              <a:t>Accuracy. </a:t>
            </a:r>
            <a:r>
              <a:rPr sz="1300">
                <a:solidFill>
                  <a:srgbClr val="CBD5E1"/>
                </a:solidFill>
                <a:latin typeface="Inter"/>
              </a:rPr>
              <a:t>The privacy mechanism must not meaningfully degrade classification.</a:t>
            </a:r>
          </a:p>
          <a:p>
            <a:pPr>
              <a:lnSpc>
                <a:spcPct val="122000"/>
              </a:lnSpc>
              <a:spcAft>
                <a:spcPts val="900"/>
              </a:spcAft>
            </a:pPr>
            <a:r>
              <a:rPr sz="1300" b="1">
                <a:solidFill>
                  <a:srgbClr val="3987E5"/>
                </a:solidFill>
                <a:latin typeface="Inter"/>
              </a:rPr>
              <a:t>— </a:t>
            </a:r>
            <a:r>
              <a:rPr sz="1300" b="1">
                <a:solidFill>
                  <a:srgbClr val="F1F5F9"/>
                </a:solidFill>
                <a:latin typeface="Inter"/>
              </a:rPr>
              <a:t>Practicality. </a:t>
            </a:r>
            <a:r>
              <a:rPr sz="1300">
                <a:solidFill>
                  <a:srgbClr val="CBD5E1"/>
                </a:solidFill>
                <a:latin typeface="Inter"/>
              </a:rPr>
              <a:t>Encrypted inference must run in seconds, not hours, on commodity CPU.</a:t>
            </a:r>
          </a:p>
          <a:p>
            <a:pPr>
              <a:lnSpc>
                <a:spcPct val="122000"/>
              </a:lnSpc>
              <a:spcAft>
                <a:spcPts val="900"/>
              </a:spcAft>
            </a:pPr>
            <a:r>
              <a:rPr sz="1300" b="1">
                <a:solidFill>
                  <a:srgbClr val="3987E5"/>
                </a:solidFill>
                <a:latin typeface="Inter"/>
              </a:rPr>
              <a:t>— </a:t>
            </a:r>
            <a:r>
              <a:rPr sz="1300" b="1">
                <a:solidFill>
                  <a:srgbClr val="F1F5F9"/>
                </a:solidFill>
                <a:latin typeface="Inter"/>
              </a:rPr>
              <a:t>Honesty of the threat model. </a:t>
            </a:r>
            <a:r>
              <a:rPr sz="1300">
                <a:solidFill>
                  <a:srgbClr val="CBD5E1"/>
                </a:solidFill>
                <a:latin typeface="Inter"/>
              </a:rPr>
              <a:t>It must be stated exactly which party learns what — a scheme that protects less than it appears to is worse than none.</a:t>
            </a:r>
          </a:p>
          <a:p>
            <a:pPr>
              <a:lnSpc>
                <a:spcPct val="122000"/>
              </a:lnSpc>
              <a:spcAft>
                <a:spcPts val="900"/>
              </a:spcAft>
            </a:pPr>
            <a:r>
              <a:rPr sz="1300" b="1">
                <a:solidFill>
                  <a:srgbClr val="3987E5"/>
                </a:solidFill>
                <a:latin typeface="Inter"/>
              </a:rPr>
              <a:t>— </a:t>
            </a:r>
            <a:r>
              <a:rPr sz="1300" b="1">
                <a:solidFill>
                  <a:srgbClr val="F1F5F9"/>
                </a:solidFill>
                <a:latin typeface="Inter"/>
              </a:rPr>
              <a:t>Reproducibility. </a:t>
            </a:r>
            <a:r>
              <a:rPr sz="1300">
                <a:solidFill>
                  <a:srgbClr val="CBD5E1"/>
                </a:solidFill>
                <a:latin typeface="Inter"/>
              </a:rPr>
              <a:t>The comparison against prior work must use the same held-out data, not a number quoted from a different split.</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Research Motivation</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What the base paper leaves open</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1163983"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6</a:t>
            </a:r>
          </a:p>
        </p:txBody>
      </p:sp>
      <p:sp>
        <p:nvSpPr>
          <p:cNvPr id="10" name="TextBox 9"/>
          <p:cNvSpPr txBox="1"/>
          <p:nvPr/>
        </p:nvSpPr>
        <p:spPr>
          <a:xfrm>
            <a:off x="566928" y="1627632"/>
            <a:ext cx="10122636" cy="3931920"/>
          </a:xfrm>
          <a:prstGeom prst="rect">
            <a:avLst/>
          </a:prstGeom>
          <a:noFill/>
        </p:spPr>
        <p:txBody>
          <a:bodyPr wrap="square" lIns="0" rIns="0" tIns="0" bIns="0">
            <a:spAutoFit/>
          </a:bodyPr>
          <a:lstStyle/>
          <a:p>
            <a:pPr>
              <a:lnSpc>
                <a:spcPct val="122000"/>
              </a:lnSpc>
              <a:spcAft>
                <a:spcPts val="900"/>
              </a:spcAft>
            </a:pPr>
            <a:r>
              <a:rPr sz="1300" b="1">
                <a:solidFill>
                  <a:srgbClr val="3987E5"/>
                </a:solidFill>
                <a:latin typeface="Inter"/>
              </a:rPr>
              <a:t>— </a:t>
            </a:r>
            <a:r>
              <a:rPr sz="1300" b="1">
                <a:solidFill>
                  <a:srgbClr val="F1F5F9"/>
                </a:solidFill>
                <a:latin typeface="Inter"/>
              </a:rPr>
              <a:t>Selection is fixed and blind. </a:t>
            </a:r>
            <a:r>
              <a:rPr sz="1300">
                <a:solidFill>
                  <a:srgbClr val="CBD5E1"/>
                </a:solidFill>
                <a:latin typeface="Inter"/>
              </a:rPr>
              <a:t>Jia et al. keep chunks where the Sobel gradient exceeds a threshold τ. The rule is non-differentiable, cannot adapt to the task, and scores a lighting seam exactly as highly as a genuine defect. τ is never reported.</a:t>
            </a:r>
          </a:p>
          <a:p>
            <a:pPr>
              <a:lnSpc>
                <a:spcPct val="122000"/>
              </a:lnSpc>
              <a:spcAft>
                <a:spcPts val="900"/>
              </a:spcAft>
            </a:pPr>
            <a:r>
              <a:rPr sz="1300" b="1">
                <a:solidFill>
                  <a:srgbClr val="3987E5"/>
                </a:solidFill>
                <a:latin typeface="Inter"/>
              </a:rPr>
              <a:t>— </a:t>
            </a:r>
            <a:r>
              <a:rPr sz="1300" b="1">
                <a:solidFill>
                  <a:srgbClr val="F1F5F9"/>
                </a:solidFill>
                <a:latin typeface="Inter"/>
              </a:rPr>
              <a:t>The architecture is minimal. </a:t>
            </a:r>
            <a:r>
              <a:rPr sz="1300">
                <a:solidFill>
                  <a:srgbClr val="CBD5E1"/>
                </a:solidFill>
                <a:latin typeface="Inter"/>
              </a:rPr>
              <a:t>One 7×7 convolution and two fully connected layers — no mechanism for defects that live at different spatial scales.</a:t>
            </a:r>
          </a:p>
          <a:p>
            <a:pPr>
              <a:lnSpc>
                <a:spcPct val="122000"/>
              </a:lnSpc>
              <a:spcAft>
                <a:spcPts val="900"/>
              </a:spcAft>
            </a:pPr>
            <a:r>
              <a:rPr sz="1300" b="1">
                <a:solidFill>
                  <a:srgbClr val="3987E5"/>
                </a:solidFill>
                <a:latin typeface="Inter"/>
              </a:rPr>
              <a:t>— </a:t>
            </a:r>
            <a:r>
              <a:rPr sz="1300" b="1">
                <a:solidFill>
                  <a:srgbClr val="F1F5F9"/>
                </a:solidFill>
                <a:latin typeface="Inter"/>
              </a:rPr>
              <a:t>Evaluation is thin. </a:t>
            </a:r>
            <a:r>
              <a:rPr sz="1300">
                <a:solidFill>
                  <a:srgbClr val="CBD5E1"/>
                </a:solidFill>
                <a:latin typeface="Inter"/>
              </a:rPr>
              <a:t>Accuracy only; no precision, recall, F1, confusion matrix, split sizes or epoch count for NEU-CLS.</a:t>
            </a:r>
          </a:p>
          <a:p>
            <a:pPr>
              <a:lnSpc>
                <a:spcPct val="122000"/>
              </a:lnSpc>
              <a:spcAft>
                <a:spcPts val="900"/>
              </a:spcAft>
            </a:pPr>
            <a:r>
              <a:rPr sz="1300" b="1">
                <a:solidFill>
                  <a:srgbClr val="3987E5"/>
                </a:solidFill>
                <a:latin typeface="Inter"/>
              </a:rPr>
              <a:t>— </a:t>
            </a:r>
            <a:r>
              <a:rPr sz="1300" b="1">
                <a:solidFill>
                  <a:srgbClr val="F1F5F9"/>
                </a:solidFill>
                <a:latin typeface="Inter"/>
              </a:rPr>
              <a:t>The headline comparison is cross-dataset. </a:t>
            </a:r>
            <a:r>
              <a:rPr sz="1300">
                <a:solidFill>
                  <a:srgbClr val="CBD5E1"/>
                </a:solidFill>
                <a:latin typeface="Inter"/>
              </a:rPr>
              <a:t>Table 3 ranks their NEU-CLS accuracy against other papers' results on cancer genomics, Fashion-MNIST and CIFAR-10.</a:t>
            </a:r>
          </a:p>
        </p:txBody>
      </p:sp>
    </p:spTree>
  </p:cSld>
  <p:clrMapOvr>
    <a:masterClrMapping/>
  </p:clrMapOvr>
  <p:transition xmlns:ns0="http://schemas.microsoft.com/office/powerpoint/2010/main" spd="med" ns0:dur="400">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Research Objectives</a:t>
            </a:r>
          </a:p>
        </p:txBody>
      </p:sp>
      <p:sp>
        <p:nvSpPr>
          <p:cNvPr id="4" name="Rectangle 3"/>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357980"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8" name="TextBox 7"/>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7</a:t>
            </a:r>
          </a:p>
        </p:txBody>
      </p:sp>
      <p:sp>
        <p:nvSpPr>
          <p:cNvPr id="9" name="Rounded Rectangle 8"/>
          <p:cNvSpPr/>
          <p:nvPr/>
        </p:nvSpPr>
        <p:spPr>
          <a:xfrm>
            <a:off x="566928" y="1627632"/>
            <a:ext cx="3576218" cy="178308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810512"/>
            <a:ext cx="914400" cy="329184"/>
          </a:xfrm>
          <a:prstGeom prst="rect">
            <a:avLst/>
          </a:prstGeom>
          <a:noFill/>
        </p:spPr>
        <p:txBody>
          <a:bodyPr wrap="square" anchor="t" lIns="0" rIns="0" tIns="0" bIns="0">
            <a:spAutoFit/>
          </a:bodyPr>
          <a:lstStyle/>
          <a:p>
            <a:pPr algn="l">
              <a:lnSpc>
                <a:spcPct val="118000"/>
              </a:lnSpc>
              <a:spcAft>
                <a:spcPts val="400"/>
              </a:spcAft>
            </a:pPr>
            <a:r>
              <a:rPr sz="1500" b="1" i="0">
                <a:solidFill>
                  <a:srgbClr val="60A5FA"/>
                </a:solidFill>
                <a:latin typeface="Inter"/>
              </a:rPr>
              <a:t>01</a:t>
            </a:r>
          </a:p>
        </p:txBody>
      </p:sp>
      <p:sp>
        <p:nvSpPr>
          <p:cNvPr id="11" name="TextBox 10"/>
          <p:cNvSpPr txBox="1"/>
          <p:nvPr/>
        </p:nvSpPr>
        <p:spPr>
          <a:xfrm>
            <a:off x="786384" y="2194560"/>
            <a:ext cx="3137306" cy="274320"/>
          </a:xfrm>
          <a:prstGeom prst="rect">
            <a:avLst/>
          </a:prstGeom>
          <a:noFill/>
        </p:spPr>
        <p:txBody>
          <a:bodyPr wrap="square" anchor="t" lIns="0" rIns="0" tIns="0" bIns="0">
            <a:spAutoFit/>
          </a:bodyPr>
          <a:lstStyle/>
          <a:p>
            <a:pPr algn="l">
              <a:lnSpc>
                <a:spcPct val="118000"/>
              </a:lnSpc>
              <a:spcAft>
                <a:spcPts val="400"/>
              </a:spcAft>
            </a:pPr>
            <a:r>
              <a:rPr sz="1400" b="1" i="0">
                <a:solidFill>
                  <a:srgbClr val="F1F5F9"/>
                </a:solidFill>
                <a:latin typeface="Inter"/>
              </a:rPr>
              <a:t>Reproduce</a:t>
            </a:r>
          </a:p>
        </p:txBody>
      </p:sp>
      <p:sp>
        <p:nvSpPr>
          <p:cNvPr id="12" name="TextBox 11"/>
          <p:cNvSpPr txBox="1"/>
          <p:nvPr/>
        </p:nvSpPr>
        <p:spPr>
          <a:xfrm>
            <a:off x="786384" y="2542032"/>
            <a:ext cx="3137306" cy="777240"/>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Inter"/>
              </a:rPr>
              <a:t>Implement Jia et al. faithfully from the published description and document every assumption it forces.</a:t>
            </a:r>
          </a:p>
        </p:txBody>
      </p:sp>
      <p:sp>
        <p:nvSpPr>
          <p:cNvPr id="13" name="Rounded Rectangle 12"/>
          <p:cNvSpPr/>
          <p:nvPr/>
        </p:nvSpPr>
        <p:spPr>
          <a:xfrm>
            <a:off x="4307738" y="1627632"/>
            <a:ext cx="3576218" cy="178308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7194" y="1810512"/>
            <a:ext cx="914400" cy="329184"/>
          </a:xfrm>
          <a:prstGeom prst="rect">
            <a:avLst/>
          </a:prstGeom>
          <a:noFill/>
        </p:spPr>
        <p:txBody>
          <a:bodyPr wrap="square" anchor="t" lIns="0" rIns="0" tIns="0" bIns="0">
            <a:spAutoFit/>
          </a:bodyPr>
          <a:lstStyle/>
          <a:p>
            <a:pPr algn="l">
              <a:lnSpc>
                <a:spcPct val="118000"/>
              </a:lnSpc>
              <a:spcAft>
                <a:spcPts val="400"/>
              </a:spcAft>
            </a:pPr>
            <a:r>
              <a:rPr sz="1500" b="1" i="0">
                <a:solidFill>
                  <a:srgbClr val="60A5FA"/>
                </a:solidFill>
                <a:latin typeface="Inter"/>
              </a:rPr>
              <a:t>02</a:t>
            </a:r>
          </a:p>
        </p:txBody>
      </p:sp>
      <p:sp>
        <p:nvSpPr>
          <p:cNvPr id="15" name="TextBox 14"/>
          <p:cNvSpPr txBox="1"/>
          <p:nvPr/>
        </p:nvSpPr>
        <p:spPr>
          <a:xfrm>
            <a:off x="4527194" y="2194560"/>
            <a:ext cx="3137306" cy="274320"/>
          </a:xfrm>
          <a:prstGeom prst="rect">
            <a:avLst/>
          </a:prstGeom>
          <a:noFill/>
        </p:spPr>
        <p:txBody>
          <a:bodyPr wrap="square" anchor="t" lIns="0" rIns="0" tIns="0" bIns="0">
            <a:spAutoFit/>
          </a:bodyPr>
          <a:lstStyle/>
          <a:p>
            <a:pPr algn="l">
              <a:lnSpc>
                <a:spcPct val="118000"/>
              </a:lnSpc>
              <a:spcAft>
                <a:spcPts val="400"/>
              </a:spcAft>
            </a:pPr>
            <a:r>
              <a:rPr sz="1400" b="1" i="0">
                <a:solidFill>
                  <a:srgbClr val="F1F5F9"/>
                </a:solidFill>
                <a:latin typeface="Inter"/>
              </a:rPr>
              <a:t>Improve</a:t>
            </a:r>
          </a:p>
        </p:txBody>
      </p:sp>
      <p:sp>
        <p:nvSpPr>
          <p:cNvPr id="16" name="TextBox 15"/>
          <p:cNvSpPr txBox="1"/>
          <p:nvPr/>
        </p:nvSpPr>
        <p:spPr>
          <a:xfrm>
            <a:off x="4527194" y="2542032"/>
            <a:ext cx="3137306" cy="777240"/>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Inter"/>
              </a:rPr>
              <a:t>Design a defensible architecture: multi-scale local features, learned chunk selection, gated fusion.</a:t>
            </a:r>
          </a:p>
        </p:txBody>
      </p:sp>
      <p:sp>
        <p:nvSpPr>
          <p:cNvPr id="17" name="Rounded Rectangle 16"/>
          <p:cNvSpPr/>
          <p:nvPr/>
        </p:nvSpPr>
        <p:spPr>
          <a:xfrm>
            <a:off x="8048548" y="1627632"/>
            <a:ext cx="3576218" cy="178308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8004" y="1810512"/>
            <a:ext cx="914400" cy="329184"/>
          </a:xfrm>
          <a:prstGeom prst="rect">
            <a:avLst/>
          </a:prstGeom>
          <a:noFill/>
        </p:spPr>
        <p:txBody>
          <a:bodyPr wrap="square" anchor="t" lIns="0" rIns="0" tIns="0" bIns="0">
            <a:spAutoFit/>
          </a:bodyPr>
          <a:lstStyle/>
          <a:p>
            <a:pPr algn="l">
              <a:lnSpc>
                <a:spcPct val="118000"/>
              </a:lnSpc>
              <a:spcAft>
                <a:spcPts val="400"/>
              </a:spcAft>
            </a:pPr>
            <a:r>
              <a:rPr sz="1500" b="1" i="0">
                <a:solidFill>
                  <a:srgbClr val="60A5FA"/>
                </a:solidFill>
                <a:latin typeface="Inter"/>
              </a:rPr>
              <a:t>03</a:t>
            </a:r>
          </a:p>
        </p:txBody>
      </p:sp>
      <p:sp>
        <p:nvSpPr>
          <p:cNvPr id="19" name="TextBox 18"/>
          <p:cNvSpPr txBox="1"/>
          <p:nvPr/>
        </p:nvSpPr>
        <p:spPr>
          <a:xfrm>
            <a:off x="8268004" y="2194560"/>
            <a:ext cx="3137306" cy="274320"/>
          </a:xfrm>
          <a:prstGeom prst="rect">
            <a:avLst/>
          </a:prstGeom>
          <a:noFill/>
        </p:spPr>
        <p:txBody>
          <a:bodyPr wrap="square" anchor="t" lIns="0" rIns="0" tIns="0" bIns="0">
            <a:spAutoFit/>
          </a:bodyPr>
          <a:lstStyle/>
          <a:p>
            <a:pPr algn="l">
              <a:lnSpc>
                <a:spcPct val="118000"/>
              </a:lnSpc>
              <a:spcAft>
                <a:spcPts val="400"/>
              </a:spcAft>
            </a:pPr>
            <a:r>
              <a:rPr sz="1400" b="1" i="0">
                <a:solidFill>
                  <a:srgbClr val="F1F5F9"/>
                </a:solidFill>
                <a:latin typeface="Inter"/>
              </a:rPr>
              <a:t>Encrypt</a:t>
            </a:r>
          </a:p>
        </p:txBody>
      </p:sp>
      <p:sp>
        <p:nvSpPr>
          <p:cNvPr id="20" name="TextBox 19"/>
          <p:cNvSpPr txBox="1"/>
          <p:nvPr/>
        </p:nvSpPr>
        <p:spPr>
          <a:xfrm>
            <a:off x="8268004" y="2542032"/>
            <a:ext cx="3137306" cy="777240"/>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Inter"/>
              </a:rPr>
              <a:t>Implement genuine CKKS inference with a stated threat model and measured overhead.</a:t>
            </a:r>
          </a:p>
        </p:txBody>
      </p:sp>
      <p:sp>
        <p:nvSpPr>
          <p:cNvPr id="21" name="Rounded Rectangle 20"/>
          <p:cNvSpPr/>
          <p:nvPr/>
        </p:nvSpPr>
        <p:spPr>
          <a:xfrm>
            <a:off x="566928" y="3621024"/>
            <a:ext cx="3576218" cy="178308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3803904"/>
            <a:ext cx="914400" cy="329184"/>
          </a:xfrm>
          <a:prstGeom prst="rect">
            <a:avLst/>
          </a:prstGeom>
          <a:noFill/>
        </p:spPr>
        <p:txBody>
          <a:bodyPr wrap="square" anchor="t" lIns="0" rIns="0" tIns="0" bIns="0">
            <a:spAutoFit/>
          </a:bodyPr>
          <a:lstStyle/>
          <a:p>
            <a:pPr algn="l">
              <a:lnSpc>
                <a:spcPct val="118000"/>
              </a:lnSpc>
              <a:spcAft>
                <a:spcPts val="400"/>
              </a:spcAft>
            </a:pPr>
            <a:r>
              <a:rPr sz="1500" b="1" i="0">
                <a:solidFill>
                  <a:srgbClr val="60A5FA"/>
                </a:solidFill>
                <a:latin typeface="Inter"/>
              </a:rPr>
              <a:t>04</a:t>
            </a:r>
          </a:p>
        </p:txBody>
      </p:sp>
      <p:sp>
        <p:nvSpPr>
          <p:cNvPr id="23" name="TextBox 22"/>
          <p:cNvSpPr txBox="1"/>
          <p:nvPr/>
        </p:nvSpPr>
        <p:spPr>
          <a:xfrm>
            <a:off x="786384" y="4187952"/>
            <a:ext cx="3137306" cy="274320"/>
          </a:xfrm>
          <a:prstGeom prst="rect">
            <a:avLst/>
          </a:prstGeom>
          <a:noFill/>
        </p:spPr>
        <p:txBody>
          <a:bodyPr wrap="square" anchor="t" lIns="0" rIns="0" tIns="0" bIns="0">
            <a:spAutoFit/>
          </a:bodyPr>
          <a:lstStyle/>
          <a:p>
            <a:pPr algn="l">
              <a:lnSpc>
                <a:spcPct val="118000"/>
              </a:lnSpc>
              <a:spcAft>
                <a:spcPts val="400"/>
              </a:spcAft>
            </a:pPr>
            <a:r>
              <a:rPr sz="1400" b="1" i="0">
                <a:solidFill>
                  <a:srgbClr val="F1F5F9"/>
                </a:solidFill>
                <a:latin typeface="Inter"/>
              </a:rPr>
              <a:t>Measure</a:t>
            </a:r>
          </a:p>
        </p:txBody>
      </p:sp>
      <p:sp>
        <p:nvSpPr>
          <p:cNvPr id="24" name="TextBox 23"/>
          <p:cNvSpPr txBox="1"/>
          <p:nvPr/>
        </p:nvSpPr>
        <p:spPr>
          <a:xfrm>
            <a:off x="786384" y="4535424"/>
            <a:ext cx="3137306" cy="777240"/>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Inter"/>
              </a:rPr>
              <a:t>Accuracy, macro P/R/F1, confusion, ablation, encryption cost — on one identical held-out split.</a:t>
            </a:r>
          </a:p>
        </p:txBody>
      </p:sp>
      <p:sp>
        <p:nvSpPr>
          <p:cNvPr id="25" name="Rounded Rectangle 24"/>
          <p:cNvSpPr/>
          <p:nvPr/>
        </p:nvSpPr>
        <p:spPr>
          <a:xfrm>
            <a:off x="4307738" y="3621024"/>
            <a:ext cx="3576218" cy="178308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7194" y="3803904"/>
            <a:ext cx="914400" cy="329184"/>
          </a:xfrm>
          <a:prstGeom prst="rect">
            <a:avLst/>
          </a:prstGeom>
          <a:noFill/>
        </p:spPr>
        <p:txBody>
          <a:bodyPr wrap="square" anchor="t" lIns="0" rIns="0" tIns="0" bIns="0">
            <a:spAutoFit/>
          </a:bodyPr>
          <a:lstStyle/>
          <a:p>
            <a:pPr algn="l">
              <a:lnSpc>
                <a:spcPct val="118000"/>
              </a:lnSpc>
              <a:spcAft>
                <a:spcPts val="400"/>
              </a:spcAft>
            </a:pPr>
            <a:r>
              <a:rPr sz="1500" b="1" i="0">
                <a:solidFill>
                  <a:srgbClr val="60A5FA"/>
                </a:solidFill>
                <a:latin typeface="Inter"/>
              </a:rPr>
              <a:t>05</a:t>
            </a:r>
          </a:p>
        </p:txBody>
      </p:sp>
      <p:sp>
        <p:nvSpPr>
          <p:cNvPr id="27" name="TextBox 26"/>
          <p:cNvSpPr txBox="1"/>
          <p:nvPr/>
        </p:nvSpPr>
        <p:spPr>
          <a:xfrm>
            <a:off x="4527194" y="4187952"/>
            <a:ext cx="3137306" cy="274320"/>
          </a:xfrm>
          <a:prstGeom prst="rect">
            <a:avLst/>
          </a:prstGeom>
          <a:noFill/>
        </p:spPr>
        <p:txBody>
          <a:bodyPr wrap="square" anchor="t" lIns="0" rIns="0" tIns="0" bIns="0">
            <a:spAutoFit/>
          </a:bodyPr>
          <a:lstStyle/>
          <a:p>
            <a:pPr algn="l">
              <a:lnSpc>
                <a:spcPct val="118000"/>
              </a:lnSpc>
              <a:spcAft>
                <a:spcPts val="400"/>
              </a:spcAft>
            </a:pPr>
            <a:r>
              <a:rPr sz="1400" b="1" i="0">
                <a:solidFill>
                  <a:srgbClr val="F1F5F9"/>
                </a:solidFill>
                <a:latin typeface="Inter"/>
              </a:rPr>
              <a:t>Explain</a:t>
            </a:r>
          </a:p>
        </p:txBody>
      </p:sp>
      <p:sp>
        <p:nvSpPr>
          <p:cNvPr id="28" name="TextBox 27"/>
          <p:cNvSpPr txBox="1"/>
          <p:nvPr/>
        </p:nvSpPr>
        <p:spPr>
          <a:xfrm>
            <a:off x="4527194" y="4535424"/>
            <a:ext cx="3137306" cy="777240"/>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Inter"/>
              </a:rPr>
              <a:t>Grad-CAM and attention maps, including the failure cases.</a:t>
            </a:r>
          </a:p>
        </p:txBody>
      </p:sp>
      <p:sp>
        <p:nvSpPr>
          <p:cNvPr id="29" name="Rounded Rectangle 28"/>
          <p:cNvSpPr/>
          <p:nvPr/>
        </p:nvSpPr>
        <p:spPr>
          <a:xfrm>
            <a:off x="8048548" y="3621024"/>
            <a:ext cx="3576218" cy="178308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68004" y="3803904"/>
            <a:ext cx="914400" cy="329184"/>
          </a:xfrm>
          <a:prstGeom prst="rect">
            <a:avLst/>
          </a:prstGeom>
          <a:noFill/>
        </p:spPr>
        <p:txBody>
          <a:bodyPr wrap="square" anchor="t" lIns="0" rIns="0" tIns="0" bIns="0">
            <a:spAutoFit/>
          </a:bodyPr>
          <a:lstStyle/>
          <a:p>
            <a:pPr algn="l">
              <a:lnSpc>
                <a:spcPct val="118000"/>
              </a:lnSpc>
              <a:spcAft>
                <a:spcPts val="400"/>
              </a:spcAft>
            </a:pPr>
            <a:r>
              <a:rPr sz="1500" b="1" i="0">
                <a:solidFill>
                  <a:srgbClr val="60A5FA"/>
                </a:solidFill>
                <a:latin typeface="Inter"/>
              </a:rPr>
              <a:t>06</a:t>
            </a:r>
          </a:p>
        </p:txBody>
      </p:sp>
      <p:sp>
        <p:nvSpPr>
          <p:cNvPr id="31" name="TextBox 30"/>
          <p:cNvSpPr txBox="1"/>
          <p:nvPr/>
        </p:nvSpPr>
        <p:spPr>
          <a:xfrm>
            <a:off x="8268004" y="4187952"/>
            <a:ext cx="3137306" cy="274320"/>
          </a:xfrm>
          <a:prstGeom prst="rect">
            <a:avLst/>
          </a:prstGeom>
          <a:noFill/>
        </p:spPr>
        <p:txBody>
          <a:bodyPr wrap="square" anchor="t" lIns="0" rIns="0" tIns="0" bIns="0">
            <a:spAutoFit/>
          </a:bodyPr>
          <a:lstStyle/>
          <a:p>
            <a:pPr algn="l">
              <a:lnSpc>
                <a:spcPct val="118000"/>
              </a:lnSpc>
              <a:spcAft>
                <a:spcPts val="400"/>
              </a:spcAft>
            </a:pPr>
            <a:r>
              <a:rPr sz="1400" b="1" i="0">
                <a:solidFill>
                  <a:srgbClr val="F1F5F9"/>
                </a:solidFill>
                <a:latin typeface="Inter"/>
              </a:rPr>
              <a:t>Report honestly</a:t>
            </a:r>
          </a:p>
        </p:txBody>
      </p:sp>
      <p:sp>
        <p:nvSpPr>
          <p:cNvPr id="32" name="TextBox 31"/>
          <p:cNvSpPr txBox="1"/>
          <p:nvPr/>
        </p:nvSpPr>
        <p:spPr>
          <a:xfrm>
            <a:off x="8268004" y="4535424"/>
            <a:ext cx="3137306" cy="777240"/>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Inter"/>
              </a:rPr>
              <a:t>State the dataset ceiling, the negative results, and the limits of the privacy claim.</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350"/>
                                        <p:tgtEl>
                                          <p:spTgt spid="11"/>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350"/>
                                        <p:tgtEl>
                                          <p:spTgt spid="12"/>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350"/>
                                        <p:tgtEl>
                                          <p:spTgt spid="14"/>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350"/>
                                        <p:tgtEl>
                                          <p:spTgt spid="15"/>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Dataset  ·  NEU-CLS</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Verified against the published specification, not assumed</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1551977"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8</a:t>
            </a:r>
          </a:p>
        </p:txBody>
      </p:sp>
      <p:sp>
        <p:nvSpPr>
          <p:cNvPr id="10" name="Rounded Rectangle 9"/>
          <p:cNvSpPr/>
          <p:nvPr/>
        </p:nvSpPr>
        <p:spPr>
          <a:xfrm>
            <a:off x="566928" y="1627632"/>
            <a:ext cx="2641015" cy="1207008"/>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783080"/>
            <a:ext cx="2238679"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60A5FA"/>
                </a:solidFill>
                <a:latin typeface="Inter"/>
              </a:rPr>
              <a:t>1800</a:t>
            </a:r>
          </a:p>
        </p:txBody>
      </p:sp>
      <p:sp>
        <p:nvSpPr>
          <p:cNvPr id="12" name="TextBox 11"/>
          <p:cNvSpPr txBox="1"/>
          <p:nvPr/>
        </p:nvSpPr>
        <p:spPr>
          <a:xfrm>
            <a:off x="768096" y="2377440"/>
            <a:ext cx="2238679"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images, 200×200 grayscale</a:t>
            </a:r>
          </a:p>
        </p:txBody>
      </p:sp>
      <p:sp>
        <p:nvSpPr>
          <p:cNvPr id="13" name="Rounded Rectangle 12"/>
          <p:cNvSpPr/>
          <p:nvPr/>
        </p:nvSpPr>
        <p:spPr>
          <a:xfrm>
            <a:off x="3372535" y="1627632"/>
            <a:ext cx="2641015" cy="1207008"/>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3703" y="1783080"/>
            <a:ext cx="2238679"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60A5FA"/>
                </a:solidFill>
                <a:latin typeface="Inter"/>
              </a:rPr>
              <a:t>6</a:t>
            </a:r>
          </a:p>
        </p:txBody>
      </p:sp>
      <p:sp>
        <p:nvSpPr>
          <p:cNvPr id="15" name="TextBox 14"/>
          <p:cNvSpPr txBox="1"/>
          <p:nvPr/>
        </p:nvSpPr>
        <p:spPr>
          <a:xfrm>
            <a:off x="3573703" y="2377440"/>
            <a:ext cx="2238679"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defect classes, 300 each</a:t>
            </a:r>
          </a:p>
        </p:txBody>
      </p:sp>
      <p:sp>
        <p:nvSpPr>
          <p:cNvPr id="16" name="Rounded Rectangle 15"/>
          <p:cNvSpPr/>
          <p:nvPr/>
        </p:nvSpPr>
        <p:spPr>
          <a:xfrm>
            <a:off x="6178143" y="1627632"/>
            <a:ext cx="2641015" cy="1207008"/>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9311" y="1783080"/>
            <a:ext cx="2238679"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FAB219"/>
                </a:solidFill>
                <a:latin typeface="Inter"/>
              </a:rPr>
              <a:t>1</a:t>
            </a:r>
          </a:p>
        </p:txBody>
      </p:sp>
      <p:sp>
        <p:nvSpPr>
          <p:cNvPr id="18" name="TextBox 17"/>
          <p:cNvSpPr txBox="1"/>
          <p:nvPr/>
        </p:nvSpPr>
        <p:spPr>
          <a:xfrm>
            <a:off x="6379311" y="2377440"/>
            <a:ext cx="2238679"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exact duplicate pair found and removed</a:t>
            </a:r>
          </a:p>
        </p:txBody>
      </p:sp>
      <p:sp>
        <p:nvSpPr>
          <p:cNvPr id="19" name="Rounded Rectangle 18"/>
          <p:cNvSpPr/>
          <p:nvPr/>
        </p:nvSpPr>
        <p:spPr>
          <a:xfrm>
            <a:off x="8983751" y="1627632"/>
            <a:ext cx="2641015" cy="1207008"/>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4919" y="1783080"/>
            <a:ext cx="2238679"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0CA30C"/>
                </a:solidFill>
                <a:latin typeface="Inter"/>
              </a:rPr>
              <a:t>0</a:t>
            </a:r>
          </a:p>
        </p:txBody>
      </p:sp>
      <p:sp>
        <p:nvSpPr>
          <p:cNvPr id="21" name="TextBox 20"/>
          <p:cNvSpPr txBox="1"/>
          <p:nvPr/>
        </p:nvSpPr>
        <p:spPr>
          <a:xfrm>
            <a:off x="9184919" y="2377440"/>
            <a:ext cx="2238679"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near-duplicate leakage after audit</a:t>
            </a:r>
          </a:p>
        </p:txBody>
      </p:sp>
      <p:sp>
        <p:nvSpPr>
          <p:cNvPr id="22" name="TextBox 21"/>
          <p:cNvSpPr txBox="1"/>
          <p:nvPr/>
        </p:nvSpPr>
        <p:spPr>
          <a:xfrm>
            <a:off x="566928" y="3227832"/>
            <a:ext cx="137160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split</a:t>
            </a:r>
          </a:p>
        </p:txBody>
      </p:sp>
      <p:sp>
        <p:nvSpPr>
          <p:cNvPr id="23" name="TextBox 22"/>
          <p:cNvSpPr txBox="1"/>
          <p:nvPr/>
        </p:nvSpPr>
        <p:spPr>
          <a:xfrm>
            <a:off x="1938528" y="3227832"/>
            <a:ext cx="118872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images</a:t>
            </a:r>
          </a:p>
        </p:txBody>
      </p:sp>
      <p:sp>
        <p:nvSpPr>
          <p:cNvPr id="24" name="TextBox 23"/>
          <p:cNvSpPr txBox="1"/>
          <p:nvPr/>
        </p:nvSpPr>
        <p:spPr>
          <a:xfrm>
            <a:off x="3127248" y="3227832"/>
            <a:ext cx="3821506"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per class</a:t>
            </a:r>
          </a:p>
        </p:txBody>
      </p:sp>
      <p:sp>
        <p:nvSpPr>
          <p:cNvPr id="25" name="Rectangle 24"/>
          <p:cNvSpPr/>
          <p:nvPr/>
        </p:nvSpPr>
        <p:spPr>
          <a:xfrm>
            <a:off x="566928" y="3520440"/>
            <a:ext cx="6381826"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611880"/>
            <a:ext cx="137160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train</a:t>
            </a:r>
          </a:p>
        </p:txBody>
      </p:sp>
      <p:sp>
        <p:nvSpPr>
          <p:cNvPr id="27" name="TextBox 26"/>
          <p:cNvSpPr txBox="1"/>
          <p:nvPr/>
        </p:nvSpPr>
        <p:spPr>
          <a:xfrm>
            <a:off x="1938528" y="3611880"/>
            <a:ext cx="118872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1223</a:t>
            </a:r>
          </a:p>
        </p:txBody>
      </p:sp>
      <p:sp>
        <p:nvSpPr>
          <p:cNvPr id="28" name="TextBox 27"/>
          <p:cNvSpPr txBox="1"/>
          <p:nvPr/>
        </p:nvSpPr>
        <p:spPr>
          <a:xfrm>
            <a:off x="3127248" y="3611880"/>
            <a:ext cx="3821506"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204, 204, 203, 204, 204, 204</a:t>
            </a:r>
          </a:p>
        </p:txBody>
      </p:sp>
      <p:sp>
        <p:nvSpPr>
          <p:cNvPr id="29" name="TextBox 28"/>
          <p:cNvSpPr txBox="1"/>
          <p:nvPr/>
        </p:nvSpPr>
        <p:spPr>
          <a:xfrm>
            <a:off x="566928" y="3922776"/>
            <a:ext cx="137160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val</a:t>
            </a:r>
          </a:p>
        </p:txBody>
      </p:sp>
      <p:sp>
        <p:nvSpPr>
          <p:cNvPr id="30" name="TextBox 29"/>
          <p:cNvSpPr txBox="1"/>
          <p:nvPr/>
        </p:nvSpPr>
        <p:spPr>
          <a:xfrm>
            <a:off x="1938528" y="3922776"/>
            <a:ext cx="118872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216</a:t>
            </a:r>
          </a:p>
        </p:txBody>
      </p:sp>
      <p:sp>
        <p:nvSpPr>
          <p:cNvPr id="31" name="TextBox 30"/>
          <p:cNvSpPr txBox="1"/>
          <p:nvPr/>
        </p:nvSpPr>
        <p:spPr>
          <a:xfrm>
            <a:off x="3127248" y="3922776"/>
            <a:ext cx="3821506"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36, 36, 36, 36, 36, 36</a:t>
            </a:r>
          </a:p>
        </p:txBody>
      </p:sp>
      <p:sp>
        <p:nvSpPr>
          <p:cNvPr id="32" name="TextBox 31"/>
          <p:cNvSpPr txBox="1"/>
          <p:nvPr/>
        </p:nvSpPr>
        <p:spPr>
          <a:xfrm>
            <a:off x="566928" y="4233672"/>
            <a:ext cx="137160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test</a:t>
            </a:r>
          </a:p>
        </p:txBody>
      </p:sp>
      <p:sp>
        <p:nvSpPr>
          <p:cNvPr id="33" name="TextBox 32"/>
          <p:cNvSpPr txBox="1"/>
          <p:nvPr/>
        </p:nvSpPr>
        <p:spPr>
          <a:xfrm>
            <a:off x="1938528" y="4233672"/>
            <a:ext cx="118872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360</a:t>
            </a:r>
          </a:p>
        </p:txBody>
      </p:sp>
      <p:sp>
        <p:nvSpPr>
          <p:cNvPr id="34" name="TextBox 33"/>
          <p:cNvSpPr txBox="1"/>
          <p:nvPr/>
        </p:nvSpPr>
        <p:spPr>
          <a:xfrm>
            <a:off x="3127248" y="4233672"/>
            <a:ext cx="3821506"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60, 60, 60, 60, 60, 60</a:t>
            </a:r>
          </a:p>
        </p:txBody>
      </p:sp>
      <p:sp>
        <p:nvSpPr>
          <p:cNvPr id="35" name="Rounded Rectangle 34"/>
          <p:cNvSpPr/>
          <p:nvPr/>
        </p:nvSpPr>
        <p:spPr>
          <a:xfrm>
            <a:off x="8048548" y="3227832"/>
            <a:ext cx="3576218" cy="182880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8548" y="3227832"/>
            <a:ext cx="41148" cy="1828800"/>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68004" y="3364992"/>
            <a:ext cx="3155594"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0CA30C"/>
                </a:solidFill>
                <a:latin typeface="Inter"/>
              </a:rPr>
              <a:t>Integrity checks</a:t>
            </a:r>
          </a:p>
        </p:txBody>
      </p:sp>
      <p:sp>
        <p:nvSpPr>
          <p:cNvPr id="38" name="TextBox 37"/>
          <p:cNvSpPr txBox="1"/>
          <p:nvPr/>
        </p:nvSpPr>
        <p:spPr>
          <a:xfrm>
            <a:off x="8268004" y="3703320"/>
            <a:ext cx="3155594" cy="1207007"/>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SHA-256 pixel hashing found one duplicate pair; it is removed before splitting so no image can span train and test.</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350"/>
                                        <p:tgtEl>
                                          <p:spTgt spid="12"/>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50"/>
                                        <p:tgtEl>
                                          <p:spTgt spid="14"/>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50"/>
                                        <p:tgtEl>
                                          <p:spTgt spid="15"/>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350"/>
                                        <p:tgtEl>
                                          <p:spTgt spid="17"/>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Dataset Integrity  ·  near-duplicate audit</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250" b="0" i="0">
                <a:solidFill>
                  <a:srgbClr val="94A3B8"/>
                </a:solidFill>
                <a:latin typeface="Inter"/>
              </a:rPr>
              <a:t>NEU-CLS patches come from a limited set of source photographs, so pixel-hashing alone is not enough</a:t>
            </a:r>
          </a:p>
        </p:txBody>
      </p:sp>
      <p:sp>
        <p:nvSpPr>
          <p:cNvPr id="5" name="Rectangle 4"/>
          <p:cNvSpPr/>
          <p:nvPr/>
        </p:nvSpPr>
        <p:spPr>
          <a:xfrm>
            <a:off x="566928" y="1719072"/>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1745974"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9</a:t>
            </a:r>
          </a:p>
        </p:txBody>
      </p:sp>
      <p:sp>
        <p:nvSpPr>
          <p:cNvPr id="10" name="TextBox 9"/>
          <p:cNvSpPr txBox="1"/>
          <p:nvPr/>
        </p:nvSpPr>
        <p:spPr>
          <a:xfrm>
            <a:off x="566928" y="1627632"/>
            <a:ext cx="192024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representation</a:t>
            </a:r>
          </a:p>
        </p:txBody>
      </p:sp>
      <p:sp>
        <p:nvSpPr>
          <p:cNvPr id="11" name="TextBox 10"/>
          <p:cNvSpPr txBox="1"/>
          <p:nvPr/>
        </p:nvSpPr>
        <p:spPr>
          <a:xfrm>
            <a:off x="2487168" y="1627632"/>
            <a:ext cx="100584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max sim</a:t>
            </a:r>
          </a:p>
        </p:txBody>
      </p:sp>
      <p:sp>
        <p:nvSpPr>
          <p:cNvPr id="12" name="TextBox 11"/>
          <p:cNvSpPr txBox="1"/>
          <p:nvPr/>
        </p:nvSpPr>
        <p:spPr>
          <a:xfrm>
            <a:off x="3493008" y="1627632"/>
            <a:ext cx="73152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≥0.90</a:t>
            </a:r>
          </a:p>
        </p:txBody>
      </p:sp>
      <p:sp>
        <p:nvSpPr>
          <p:cNvPr id="13" name="TextBox 12"/>
          <p:cNvSpPr txBox="1"/>
          <p:nvPr/>
        </p:nvSpPr>
        <p:spPr>
          <a:xfrm>
            <a:off x="4224528" y="1627632"/>
            <a:ext cx="118872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same-class</a:t>
            </a:r>
          </a:p>
        </p:txBody>
      </p:sp>
      <p:sp>
        <p:nvSpPr>
          <p:cNvPr id="14" name="TextBox 13"/>
          <p:cNvSpPr txBox="1"/>
          <p:nvPr/>
        </p:nvSpPr>
        <p:spPr>
          <a:xfrm>
            <a:off x="5413248" y="1627632"/>
            <a:ext cx="137160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cross-class max</a:t>
            </a:r>
          </a:p>
        </p:txBody>
      </p:sp>
      <p:sp>
        <p:nvSpPr>
          <p:cNvPr id="15" name="Rectangle 14"/>
          <p:cNvSpPr/>
          <p:nvPr/>
        </p:nvSpPr>
        <p:spPr>
          <a:xfrm>
            <a:off x="566928" y="1920240"/>
            <a:ext cx="6381826"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011680"/>
            <a:ext cx="19202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32px</a:t>
            </a:r>
          </a:p>
        </p:txBody>
      </p:sp>
      <p:sp>
        <p:nvSpPr>
          <p:cNvPr id="17" name="TextBox 16"/>
          <p:cNvSpPr txBox="1"/>
          <p:nvPr/>
        </p:nvSpPr>
        <p:spPr>
          <a:xfrm>
            <a:off x="2487168" y="2011680"/>
            <a:ext cx="10058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0.990</a:t>
            </a:r>
          </a:p>
        </p:txBody>
      </p:sp>
      <p:sp>
        <p:nvSpPr>
          <p:cNvPr id="18" name="TextBox 17"/>
          <p:cNvSpPr txBox="1"/>
          <p:nvPr/>
        </p:nvSpPr>
        <p:spPr>
          <a:xfrm>
            <a:off x="3493008" y="2011680"/>
            <a:ext cx="73152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66</a:t>
            </a:r>
          </a:p>
        </p:txBody>
      </p:sp>
      <p:sp>
        <p:nvSpPr>
          <p:cNvPr id="19" name="TextBox 18"/>
          <p:cNvSpPr txBox="1"/>
          <p:nvPr/>
        </p:nvSpPr>
        <p:spPr>
          <a:xfrm>
            <a:off x="4224528" y="2011680"/>
            <a:ext cx="118872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50%</a:t>
            </a:r>
          </a:p>
        </p:txBody>
      </p:sp>
      <p:sp>
        <p:nvSpPr>
          <p:cNvPr id="20" name="TextBox 19"/>
          <p:cNvSpPr txBox="1"/>
          <p:nvPr/>
        </p:nvSpPr>
        <p:spPr>
          <a:xfrm>
            <a:off x="5413248" y="2011680"/>
            <a:ext cx="137160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0.984</a:t>
            </a:r>
          </a:p>
        </p:txBody>
      </p:sp>
      <p:sp>
        <p:nvSpPr>
          <p:cNvPr id="21" name="TextBox 20"/>
          <p:cNvSpPr txBox="1"/>
          <p:nvPr/>
        </p:nvSpPr>
        <p:spPr>
          <a:xfrm>
            <a:off x="566928" y="2322576"/>
            <a:ext cx="19202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64px</a:t>
            </a:r>
          </a:p>
        </p:txBody>
      </p:sp>
      <p:sp>
        <p:nvSpPr>
          <p:cNvPr id="22" name="TextBox 21"/>
          <p:cNvSpPr txBox="1"/>
          <p:nvPr/>
        </p:nvSpPr>
        <p:spPr>
          <a:xfrm>
            <a:off x="2487168" y="2322576"/>
            <a:ext cx="10058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0.987</a:t>
            </a:r>
          </a:p>
        </p:txBody>
      </p:sp>
      <p:sp>
        <p:nvSpPr>
          <p:cNvPr id="23" name="TextBox 22"/>
          <p:cNvSpPr txBox="1"/>
          <p:nvPr/>
        </p:nvSpPr>
        <p:spPr>
          <a:xfrm>
            <a:off x="3493008" y="2322576"/>
            <a:ext cx="73152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58</a:t>
            </a:r>
          </a:p>
        </p:txBody>
      </p:sp>
      <p:sp>
        <p:nvSpPr>
          <p:cNvPr id="24" name="TextBox 23"/>
          <p:cNvSpPr txBox="1"/>
          <p:nvPr/>
        </p:nvSpPr>
        <p:spPr>
          <a:xfrm>
            <a:off x="4224528" y="2322576"/>
            <a:ext cx="118872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48%</a:t>
            </a:r>
          </a:p>
        </p:txBody>
      </p:sp>
      <p:sp>
        <p:nvSpPr>
          <p:cNvPr id="25" name="TextBox 24"/>
          <p:cNvSpPr txBox="1"/>
          <p:nvPr/>
        </p:nvSpPr>
        <p:spPr>
          <a:xfrm>
            <a:off x="5413248" y="2322576"/>
            <a:ext cx="137160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0.980</a:t>
            </a:r>
          </a:p>
        </p:txBody>
      </p:sp>
      <p:sp>
        <p:nvSpPr>
          <p:cNvPr id="26" name="TextBox 25"/>
          <p:cNvSpPr txBox="1"/>
          <p:nvPr/>
        </p:nvSpPr>
        <p:spPr>
          <a:xfrm>
            <a:off x="566928" y="2633472"/>
            <a:ext cx="19202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128px</a:t>
            </a:r>
          </a:p>
        </p:txBody>
      </p:sp>
      <p:sp>
        <p:nvSpPr>
          <p:cNvPr id="27" name="TextBox 26"/>
          <p:cNvSpPr txBox="1"/>
          <p:nvPr/>
        </p:nvSpPr>
        <p:spPr>
          <a:xfrm>
            <a:off x="2487168" y="2633472"/>
            <a:ext cx="10058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0.986</a:t>
            </a:r>
          </a:p>
        </p:txBody>
      </p:sp>
      <p:sp>
        <p:nvSpPr>
          <p:cNvPr id="28" name="TextBox 27"/>
          <p:cNvSpPr txBox="1"/>
          <p:nvPr/>
        </p:nvSpPr>
        <p:spPr>
          <a:xfrm>
            <a:off x="3493008" y="2633472"/>
            <a:ext cx="73152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48</a:t>
            </a:r>
          </a:p>
        </p:txBody>
      </p:sp>
      <p:sp>
        <p:nvSpPr>
          <p:cNvPr id="29" name="TextBox 28"/>
          <p:cNvSpPr txBox="1"/>
          <p:nvPr/>
        </p:nvSpPr>
        <p:spPr>
          <a:xfrm>
            <a:off x="4224528" y="2633472"/>
            <a:ext cx="118872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44%</a:t>
            </a:r>
          </a:p>
        </p:txBody>
      </p:sp>
      <p:sp>
        <p:nvSpPr>
          <p:cNvPr id="30" name="TextBox 29"/>
          <p:cNvSpPr txBox="1"/>
          <p:nvPr/>
        </p:nvSpPr>
        <p:spPr>
          <a:xfrm>
            <a:off x="5413248" y="2633472"/>
            <a:ext cx="137160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0.977</a:t>
            </a:r>
          </a:p>
        </p:txBody>
      </p:sp>
      <p:sp>
        <p:nvSpPr>
          <p:cNvPr id="31" name="Rounded Rectangle 30"/>
          <p:cNvSpPr/>
          <p:nvPr/>
        </p:nvSpPr>
        <p:spPr>
          <a:xfrm>
            <a:off x="475488" y="2894076"/>
            <a:ext cx="6564706" cy="292608"/>
          </a:xfrm>
          <a:prstGeom prst="roundRect">
            <a:avLst>
              <a:gd name="adj" fmla="val 6000"/>
            </a:avLst>
          </a:prstGeom>
          <a:solidFill>
            <a:srgbClr val="16213C"/>
          </a:solidFill>
          <a:ln w="12700">
            <a:solidFill>
              <a:srgbClr val="16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2944368"/>
            <a:ext cx="1920240" cy="310896"/>
          </a:xfrm>
          <a:prstGeom prst="rect">
            <a:avLst/>
          </a:prstGeom>
          <a:noFill/>
        </p:spPr>
        <p:txBody>
          <a:bodyPr wrap="square" anchor="t" lIns="0" rIns="0" tIns="0" bIns="0">
            <a:spAutoFit/>
          </a:bodyPr>
          <a:lstStyle/>
          <a:p>
            <a:pPr algn="l">
              <a:lnSpc>
                <a:spcPct val="118000"/>
              </a:lnSpc>
              <a:spcAft>
                <a:spcPts val="400"/>
              </a:spcAft>
            </a:pPr>
            <a:r>
              <a:rPr sz="1100" b="1" i="0">
                <a:solidFill>
                  <a:srgbClr val="F1F5F9"/>
                </a:solidFill>
                <a:latin typeface="Inter"/>
              </a:rPr>
              <a:t>128px high-pass</a:t>
            </a:r>
          </a:p>
        </p:txBody>
      </p:sp>
      <p:sp>
        <p:nvSpPr>
          <p:cNvPr id="33" name="TextBox 32"/>
          <p:cNvSpPr txBox="1"/>
          <p:nvPr/>
        </p:nvSpPr>
        <p:spPr>
          <a:xfrm>
            <a:off x="2487168" y="2944368"/>
            <a:ext cx="1005840" cy="310896"/>
          </a:xfrm>
          <a:prstGeom prst="rect">
            <a:avLst/>
          </a:prstGeom>
          <a:noFill/>
        </p:spPr>
        <p:txBody>
          <a:bodyPr wrap="square" anchor="t" lIns="0" rIns="0" tIns="0" bIns="0">
            <a:spAutoFit/>
          </a:bodyPr>
          <a:lstStyle/>
          <a:p>
            <a:pPr algn="l">
              <a:lnSpc>
                <a:spcPct val="118000"/>
              </a:lnSpc>
              <a:spcAft>
                <a:spcPts val="400"/>
              </a:spcAft>
            </a:pPr>
            <a:r>
              <a:rPr sz="1100" b="1" i="0">
                <a:solidFill>
                  <a:srgbClr val="0CA30C"/>
                </a:solidFill>
                <a:latin typeface="Source Code Pro"/>
              </a:rPr>
              <a:t>0.848</a:t>
            </a:r>
          </a:p>
        </p:txBody>
      </p:sp>
      <p:sp>
        <p:nvSpPr>
          <p:cNvPr id="34" name="TextBox 33"/>
          <p:cNvSpPr txBox="1"/>
          <p:nvPr/>
        </p:nvSpPr>
        <p:spPr>
          <a:xfrm>
            <a:off x="3493008" y="2944368"/>
            <a:ext cx="731520" cy="310896"/>
          </a:xfrm>
          <a:prstGeom prst="rect">
            <a:avLst/>
          </a:prstGeom>
          <a:noFill/>
        </p:spPr>
        <p:txBody>
          <a:bodyPr wrap="square" anchor="t" lIns="0" rIns="0" tIns="0" bIns="0">
            <a:spAutoFit/>
          </a:bodyPr>
          <a:lstStyle/>
          <a:p>
            <a:pPr algn="l">
              <a:lnSpc>
                <a:spcPct val="118000"/>
              </a:lnSpc>
              <a:spcAft>
                <a:spcPts val="400"/>
              </a:spcAft>
            </a:pPr>
            <a:r>
              <a:rPr sz="1100" b="1" i="0">
                <a:solidFill>
                  <a:srgbClr val="0CA30C"/>
                </a:solidFill>
                <a:latin typeface="Source Code Pro"/>
              </a:rPr>
              <a:t>0</a:t>
            </a:r>
          </a:p>
        </p:txBody>
      </p:sp>
      <p:sp>
        <p:nvSpPr>
          <p:cNvPr id="35" name="TextBox 34"/>
          <p:cNvSpPr txBox="1"/>
          <p:nvPr/>
        </p:nvSpPr>
        <p:spPr>
          <a:xfrm>
            <a:off x="4224528" y="2944368"/>
            <a:ext cx="1188720" cy="310896"/>
          </a:xfrm>
          <a:prstGeom prst="rect">
            <a:avLst/>
          </a:prstGeom>
          <a:noFill/>
        </p:spPr>
        <p:txBody>
          <a:bodyPr wrap="square" anchor="t" lIns="0" rIns="0" tIns="0" bIns="0">
            <a:spAutoFit/>
          </a:bodyPr>
          <a:lstStyle/>
          <a:p>
            <a:pPr algn="l">
              <a:lnSpc>
                <a:spcPct val="118000"/>
              </a:lnSpc>
              <a:spcAft>
                <a:spcPts val="400"/>
              </a:spcAft>
            </a:pPr>
            <a:r>
              <a:rPr sz="1100" b="1" i="0">
                <a:solidFill>
                  <a:srgbClr val="0CA30C"/>
                </a:solidFill>
                <a:latin typeface="Source Code Pro"/>
              </a:rPr>
              <a:t>50%</a:t>
            </a:r>
          </a:p>
        </p:txBody>
      </p:sp>
      <p:sp>
        <p:nvSpPr>
          <p:cNvPr id="36" name="TextBox 35"/>
          <p:cNvSpPr txBox="1"/>
          <p:nvPr/>
        </p:nvSpPr>
        <p:spPr>
          <a:xfrm>
            <a:off x="5413248" y="2944368"/>
            <a:ext cx="1371600" cy="310896"/>
          </a:xfrm>
          <a:prstGeom prst="rect">
            <a:avLst/>
          </a:prstGeom>
          <a:noFill/>
        </p:spPr>
        <p:txBody>
          <a:bodyPr wrap="square" anchor="t" lIns="0" rIns="0" tIns="0" bIns="0">
            <a:spAutoFit/>
          </a:bodyPr>
          <a:lstStyle/>
          <a:p>
            <a:pPr algn="l">
              <a:lnSpc>
                <a:spcPct val="118000"/>
              </a:lnSpc>
              <a:spcAft>
                <a:spcPts val="400"/>
              </a:spcAft>
            </a:pPr>
            <a:r>
              <a:rPr sz="1100" b="1" i="0">
                <a:solidFill>
                  <a:srgbClr val="0CA30C"/>
                </a:solidFill>
                <a:latin typeface="Source Code Pro"/>
              </a:rPr>
              <a:t>0.545</a:t>
            </a:r>
          </a:p>
        </p:txBody>
      </p:sp>
      <p:sp>
        <p:nvSpPr>
          <p:cNvPr id="37" name="Rounded Rectangle 36"/>
          <p:cNvSpPr/>
          <p:nvPr/>
        </p:nvSpPr>
        <p:spPr>
          <a:xfrm>
            <a:off x="8048548" y="1627632"/>
            <a:ext cx="3576218" cy="274320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48548" y="1627632"/>
            <a:ext cx="41148" cy="2743200"/>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68004" y="1764792"/>
            <a:ext cx="3155594"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0CA30C"/>
                </a:solidFill>
                <a:latin typeface="Inter"/>
              </a:rPr>
              <a:t>Conclusion: no leakage</a:t>
            </a:r>
          </a:p>
        </p:txBody>
      </p:sp>
      <p:sp>
        <p:nvSpPr>
          <p:cNvPr id="40" name="TextBox 39"/>
          <p:cNvSpPr txBox="1"/>
          <p:nvPr/>
        </p:nvSpPr>
        <p:spPr>
          <a:xfrm>
            <a:off x="8268004" y="2103120"/>
            <a:ext cx="3155594" cy="212140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Raw-pixel similarity is high at low resolution, but the best cross-class match is just as high — the signature of shared illumination, not repeated content. With illumination removed, no test image matches any training image above 0.85.</a:t>
            </a:r>
          </a:p>
        </p:txBody>
      </p:sp>
      <p:sp>
        <p:nvSpPr>
          <p:cNvPr id="41" name="TextBox 40"/>
          <p:cNvSpPr txBox="1"/>
          <p:nvPr/>
        </p:nvSpPr>
        <p:spPr>
          <a:xfrm>
            <a:off x="566928" y="3959352"/>
            <a:ext cx="6381826" cy="822960"/>
          </a:xfrm>
          <a:prstGeom prst="rect">
            <a:avLst/>
          </a:prstGeom>
          <a:noFill/>
        </p:spPr>
        <p:txBody>
          <a:bodyPr wrap="square" anchor="t" lIns="0" rIns="0" tIns="0" bIns="0">
            <a:spAutoFit/>
          </a:bodyPr>
          <a:lstStyle/>
          <a:p>
            <a:pPr algn="l">
              <a:lnSpc>
                <a:spcPct val="118000"/>
              </a:lnSpc>
              <a:spcAft>
                <a:spcPts val="400"/>
              </a:spcAft>
            </a:pPr>
            <a:r>
              <a:rPr sz="1150" b="0" i="1">
                <a:solidFill>
                  <a:srgbClr val="94A3B8"/>
                </a:solidFill>
                <a:latin typeface="Inter"/>
              </a:rPr>
              <a:t>This matters: a 100% test accuracy would otherwise be indistinguishable from memorising duplicated crops. The audit is what licenses the result.</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350"/>
                                        <p:tgtEl>
                                          <p:spTgt spid="16"/>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350"/>
                                        <p:tgtEl>
                                          <p:spTgt spid="17"/>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350"/>
                                        <p:tgtEl>
                                          <p:spTgt spid="18"/>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350"/>
                                        <p:tgtEl>
                                          <p:spTgt spid="19"/>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Literature Review</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All citations machine-verified against Crossref / arXiv</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1939971"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10</a:t>
            </a:r>
          </a:p>
        </p:txBody>
      </p:sp>
      <p:sp>
        <p:nvSpPr>
          <p:cNvPr id="10" name="TextBox 9"/>
          <p:cNvSpPr txBox="1"/>
          <p:nvPr/>
        </p:nvSpPr>
        <p:spPr>
          <a:xfrm>
            <a:off x="566928" y="1627632"/>
            <a:ext cx="265176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work</a:t>
            </a:r>
          </a:p>
        </p:txBody>
      </p:sp>
      <p:sp>
        <p:nvSpPr>
          <p:cNvPr id="11" name="TextBox 10"/>
          <p:cNvSpPr txBox="1"/>
          <p:nvPr/>
        </p:nvSpPr>
        <p:spPr>
          <a:xfrm>
            <a:off x="3218688" y="1627632"/>
            <a:ext cx="173736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dataset</a:t>
            </a:r>
          </a:p>
        </p:txBody>
      </p:sp>
      <p:sp>
        <p:nvSpPr>
          <p:cNvPr id="12" name="TextBox 11"/>
          <p:cNvSpPr txBox="1"/>
          <p:nvPr/>
        </p:nvSpPr>
        <p:spPr>
          <a:xfrm>
            <a:off x="4956048" y="1627632"/>
            <a:ext cx="283464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method</a:t>
            </a:r>
          </a:p>
        </p:txBody>
      </p:sp>
      <p:sp>
        <p:nvSpPr>
          <p:cNvPr id="13" name="TextBox 12"/>
          <p:cNvSpPr txBox="1"/>
          <p:nvPr/>
        </p:nvSpPr>
        <p:spPr>
          <a:xfrm>
            <a:off x="7790688" y="1627632"/>
            <a:ext cx="3834079"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relevance</a:t>
            </a:r>
          </a:p>
        </p:txBody>
      </p:sp>
      <p:sp>
        <p:nvSpPr>
          <p:cNvPr id="14" name="Rectangle 13"/>
          <p:cNvSpPr/>
          <p:nvPr/>
        </p:nvSpPr>
        <p:spPr>
          <a:xfrm>
            <a:off x="566928" y="1920240"/>
            <a:ext cx="11057839"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011680"/>
            <a:ext cx="265176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Song &amp; Yan (2013)</a:t>
            </a:r>
          </a:p>
        </p:txBody>
      </p:sp>
      <p:sp>
        <p:nvSpPr>
          <p:cNvPr id="16" name="TextBox 15"/>
          <p:cNvSpPr txBox="1"/>
          <p:nvPr/>
        </p:nvSpPr>
        <p:spPr>
          <a:xfrm>
            <a:off x="3218688" y="2011680"/>
            <a:ext cx="173736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NEU-CLS</a:t>
            </a:r>
          </a:p>
        </p:txBody>
      </p:sp>
      <p:sp>
        <p:nvSpPr>
          <p:cNvPr id="17" name="TextBox 16"/>
          <p:cNvSpPr txBox="1"/>
          <p:nvPr/>
        </p:nvSpPr>
        <p:spPr>
          <a:xfrm>
            <a:off x="4956048" y="2011680"/>
            <a:ext cx="28346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Completed LBP</a:t>
            </a:r>
          </a:p>
        </p:txBody>
      </p:sp>
      <p:sp>
        <p:nvSpPr>
          <p:cNvPr id="18" name="TextBox 17"/>
          <p:cNvSpPr txBox="1"/>
          <p:nvPr/>
        </p:nvSpPr>
        <p:spPr>
          <a:xfrm>
            <a:off x="7790688" y="2011680"/>
            <a:ext cx="3834079"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originating dataset paper</a:t>
            </a:r>
          </a:p>
        </p:txBody>
      </p:sp>
      <p:sp>
        <p:nvSpPr>
          <p:cNvPr id="19" name="TextBox 18"/>
          <p:cNvSpPr txBox="1"/>
          <p:nvPr/>
        </p:nvSpPr>
        <p:spPr>
          <a:xfrm>
            <a:off x="566928" y="2322576"/>
            <a:ext cx="265176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Jia et al. (2023)</a:t>
            </a:r>
          </a:p>
        </p:txBody>
      </p:sp>
      <p:sp>
        <p:nvSpPr>
          <p:cNvPr id="20" name="TextBox 19"/>
          <p:cNvSpPr txBox="1"/>
          <p:nvPr/>
        </p:nvSpPr>
        <p:spPr>
          <a:xfrm>
            <a:off x="3218688" y="2322576"/>
            <a:ext cx="173736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NEU-CLS</a:t>
            </a:r>
          </a:p>
        </p:txBody>
      </p:sp>
      <p:sp>
        <p:nvSpPr>
          <p:cNvPr id="21" name="TextBox 20"/>
          <p:cNvSpPr txBox="1"/>
          <p:nvPr/>
        </p:nvSpPr>
        <p:spPr>
          <a:xfrm>
            <a:off x="4956048" y="2322576"/>
            <a:ext cx="28346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chunk CNN + CKKS</a:t>
            </a:r>
          </a:p>
        </p:txBody>
      </p:sp>
      <p:sp>
        <p:nvSpPr>
          <p:cNvPr id="22" name="TextBox 21"/>
          <p:cNvSpPr txBox="1"/>
          <p:nvPr/>
        </p:nvSpPr>
        <p:spPr>
          <a:xfrm>
            <a:off x="7790688" y="2322576"/>
            <a:ext cx="3834079"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97.1% — base paper</a:t>
            </a:r>
          </a:p>
        </p:txBody>
      </p:sp>
      <p:sp>
        <p:nvSpPr>
          <p:cNvPr id="23" name="TextBox 22"/>
          <p:cNvSpPr txBox="1"/>
          <p:nvPr/>
        </p:nvSpPr>
        <p:spPr>
          <a:xfrm>
            <a:off x="566928" y="2633472"/>
            <a:ext cx="265176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Cheon et al. (2017)</a:t>
            </a:r>
          </a:p>
        </p:txBody>
      </p:sp>
      <p:sp>
        <p:nvSpPr>
          <p:cNvPr id="24" name="TextBox 23"/>
          <p:cNvSpPr txBox="1"/>
          <p:nvPr/>
        </p:nvSpPr>
        <p:spPr>
          <a:xfrm>
            <a:off x="3218688" y="2633472"/>
            <a:ext cx="173736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a:t>
            </a:r>
          </a:p>
        </p:txBody>
      </p:sp>
      <p:sp>
        <p:nvSpPr>
          <p:cNvPr id="25" name="TextBox 24"/>
          <p:cNvSpPr txBox="1"/>
          <p:nvPr/>
        </p:nvSpPr>
        <p:spPr>
          <a:xfrm>
            <a:off x="4956048" y="2633472"/>
            <a:ext cx="28346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CKKS scheme</a:t>
            </a:r>
          </a:p>
        </p:txBody>
      </p:sp>
      <p:sp>
        <p:nvSpPr>
          <p:cNvPr id="26" name="TextBox 25"/>
          <p:cNvSpPr txBox="1"/>
          <p:nvPr/>
        </p:nvSpPr>
        <p:spPr>
          <a:xfrm>
            <a:off x="7790688" y="2633472"/>
            <a:ext cx="3834079"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the encryption we use</a:t>
            </a:r>
          </a:p>
        </p:txBody>
      </p:sp>
      <p:sp>
        <p:nvSpPr>
          <p:cNvPr id="27" name="TextBox 26"/>
          <p:cNvSpPr txBox="1"/>
          <p:nvPr/>
        </p:nvSpPr>
        <p:spPr>
          <a:xfrm>
            <a:off x="566928" y="2944368"/>
            <a:ext cx="265176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Tan &amp; Le (2019)</a:t>
            </a:r>
          </a:p>
        </p:txBody>
      </p:sp>
      <p:sp>
        <p:nvSpPr>
          <p:cNvPr id="28" name="TextBox 27"/>
          <p:cNvSpPr txBox="1"/>
          <p:nvPr/>
        </p:nvSpPr>
        <p:spPr>
          <a:xfrm>
            <a:off x="3218688" y="2944368"/>
            <a:ext cx="173736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ImageNet</a:t>
            </a:r>
          </a:p>
        </p:txBody>
      </p:sp>
      <p:sp>
        <p:nvSpPr>
          <p:cNvPr id="29" name="TextBox 28"/>
          <p:cNvSpPr txBox="1"/>
          <p:nvPr/>
        </p:nvSpPr>
        <p:spPr>
          <a:xfrm>
            <a:off x="4956048" y="2944368"/>
            <a:ext cx="28346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EfficientNet</a:t>
            </a:r>
          </a:p>
        </p:txBody>
      </p:sp>
      <p:sp>
        <p:nvSpPr>
          <p:cNvPr id="30" name="TextBox 29"/>
          <p:cNvSpPr txBox="1"/>
          <p:nvPr/>
        </p:nvSpPr>
        <p:spPr>
          <a:xfrm>
            <a:off x="7790688" y="2944368"/>
            <a:ext cx="3834079"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our global branch</a:t>
            </a:r>
          </a:p>
        </p:txBody>
      </p:sp>
      <p:sp>
        <p:nvSpPr>
          <p:cNvPr id="31" name="TextBox 30"/>
          <p:cNvSpPr txBox="1"/>
          <p:nvPr/>
        </p:nvSpPr>
        <p:spPr>
          <a:xfrm>
            <a:off x="566928" y="3255264"/>
            <a:ext cx="265176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Hu et al. (2018)</a:t>
            </a:r>
          </a:p>
        </p:txBody>
      </p:sp>
      <p:sp>
        <p:nvSpPr>
          <p:cNvPr id="32" name="TextBox 31"/>
          <p:cNvSpPr txBox="1"/>
          <p:nvPr/>
        </p:nvSpPr>
        <p:spPr>
          <a:xfrm>
            <a:off x="3218688" y="3255264"/>
            <a:ext cx="173736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ImageNet</a:t>
            </a:r>
          </a:p>
        </p:txBody>
      </p:sp>
      <p:sp>
        <p:nvSpPr>
          <p:cNvPr id="33" name="TextBox 32"/>
          <p:cNvSpPr txBox="1"/>
          <p:nvPr/>
        </p:nvSpPr>
        <p:spPr>
          <a:xfrm>
            <a:off x="4956048" y="3255264"/>
            <a:ext cx="28346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Squeeze-and-Excitation</a:t>
            </a:r>
          </a:p>
        </p:txBody>
      </p:sp>
      <p:sp>
        <p:nvSpPr>
          <p:cNvPr id="34" name="TextBox 33"/>
          <p:cNvSpPr txBox="1"/>
          <p:nvPr/>
        </p:nvSpPr>
        <p:spPr>
          <a:xfrm>
            <a:off x="7790688" y="3255264"/>
            <a:ext cx="3834079"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channel-gating precedent</a:t>
            </a:r>
          </a:p>
        </p:txBody>
      </p:sp>
      <p:sp>
        <p:nvSpPr>
          <p:cNvPr id="35" name="TextBox 34"/>
          <p:cNvSpPr txBox="1"/>
          <p:nvPr/>
        </p:nvSpPr>
        <p:spPr>
          <a:xfrm>
            <a:off x="566928" y="3566160"/>
            <a:ext cx="265176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Lee et al. (2022)</a:t>
            </a:r>
          </a:p>
        </p:txBody>
      </p:sp>
      <p:sp>
        <p:nvSpPr>
          <p:cNvPr id="36" name="TextBox 35"/>
          <p:cNvSpPr txBox="1"/>
          <p:nvPr/>
        </p:nvSpPr>
        <p:spPr>
          <a:xfrm>
            <a:off x="3218688" y="3566160"/>
            <a:ext cx="173736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a:t>
            </a:r>
          </a:p>
        </p:txBody>
      </p:sp>
      <p:sp>
        <p:nvSpPr>
          <p:cNvPr id="37" name="TextBox 36"/>
          <p:cNvSpPr txBox="1"/>
          <p:nvPr/>
        </p:nvSpPr>
        <p:spPr>
          <a:xfrm>
            <a:off x="4956048" y="3566160"/>
            <a:ext cx="28346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minimax polynomial</a:t>
            </a:r>
          </a:p>
        </p:txBody>
      </p:sp>
      <p:sp>
        <p:nvSpPr>
          <p:cNvPr id="38" name="TextBox 37"/>
          <p:cNvSpPr txBox="1"/>
          <p:nvPr/>
        </p:nvSpPr>
        <p:spPr>
          <a:xfrm>
            <a:off x="7790688" y="3566160"/>
            <a:ext cx="3834079"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higher-degree alternative to square</a:t>
            </a:r>
          </a:p>
        </p:txBody>
      </p:sp>
      <p:sp>
        <p:nvSpPr>
          <p:cNvPr id="39" name="TextBox 38"/>
          <p:cNvSpPr txBox="1"/>
          <p:nvPr/>
        </p:nvSpPr>
        <p:spPr>
          <a:xfrm>
            <a:off x="566928" y="3877056"/>
            <a:ext cx="265176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Elkhatib et al. (2025)</a:t>
            </a:r>
          </a:p>
        </p:txBody>
      </p:sp>
      <p:sp>
        <p:nvSpPr>
          <p:cNvPr id="40" name="TextBox 39"/>
          <p:cNvSpPr txBox="1"/>
          <p:nvPr/>
        </p:nvSpPr>
        <p:spPr>
          <a:xfrm>
            <a:off x="3218688" y="3877056"/>
            <a:ext cx="173736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CIFAR-10</a:t>
            </a:r>
          </a:p>
        </p:txBody>
      </p:sp>
      <p:sp>
        <p:nvSpPr>
          <p:cNvPr id="41" name="TextBox 40"/>
          <p:cNvSpPr txBox="1"/>
          <p:nvPr/>
        </p:nvSpPr>
        <p:spPr>
          <a:xfrm>
            <a:off x="4956048" y="3877056"/>
            <a:ext cx="28346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PRISM, CKKS + poly</a:t>
            </a:r>
          </a:p>
        </p:txBody>
      </p:sp>
      <p:sp>
        <p:nvSpPr>
          <p:cNvPr id="42" name="TextBox 41"/>
          <p:cNvSpPr txBox="1"/>
          <p:nvPr/>
        </p:nvSpPr>
        <p:spPr>
          <a:xfrm>
            <a:off x="7790688" y="3877056"/>
            <a:ext cx="3834079"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closest prior art on boundary design</a:t>
            </a:r>
          </a:p>
        </p:txBody>
      </p:sp>
      <p:sp>
        <p:nvSpPr>
          <p:cNvPr id="43" name="TextBox 42"/>
          <p:cNvSpPr txBox="1"/>
          <p:nvPr/>
        </p:nvSpPr>
        <p:spPr>
          <a:xfrm>
            <a:off x="566928" y="4645152"/>
            <a:ext cx="11057839" cy="731520"/>
          </a:xfrm>
          <a:prstGeom prst="rect">
            <a:avLst/>
          </a:prstGeom>
          <a:noFill/>
        </p:spPr>
        <p:txBody>
          <a:bodyPr wrap="square" anchor="t" lIns="0" rIns="0" tIns="0" bIns="0">
            <a:spAutoFit/>
          </a:bodyPr>
          <a:lstStyle/>
          <a:p>
            <a:pPr algn="l">
              <a:lnSpc>
                <a:spcPct val="118000"/>
              </a:lnSpc>
              <a:spcAft>
                <a:spcPts val="400"/>
              </a:spcAft>
            </a:pPr>
            <a:r>
              <a:rPr sz="1100" b="0" i="1">
                <a:solidFill>
                  <a:srgbClr val="94A3B8"/>
                </a:solidFill>
                <a:latin typeface="Inter"/>
              </a:rPr>
              <a:t>15 of 15 citations resolved to verifiable publisher metadata (scripts/verify_citations.py → reports/citations_verified.json). Works that could not be verified are listed in the report but are not cited as evidence.</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350"/>
                                        <p:tgtEl>
                                          <p:spTgt spid="17"/>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350"/>
                                        <p:tgtEl>
                                          <p:spTgt spid="18"/>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Existing Approaches  ·  the benchmark is saturated</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This single fact shapes the entire experimental design</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2133968"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11</a:t>
            </a:r>
          </a:p>
        </p:txBody>
      </p:sp>
      <p:sp>
        <p:nvSpPr>
          <p:cNvPr id="10" name="TextBox 9"/>
          <p:cNvSpPr txBox="1"/>
          <p:nvPr/>
        </p:nvSpPr>
        <p:spPr>
          <a:xfrm>
            <a:off x="566928" y="1627632"/>
            <a:ext cx="5446623" cy="3108960"/>
          </a:xfrm>
          <a:prstGeom prst="rect">
            <a:avLst/>
          </a:prstGeom>
          <a:noFill/>
        </p:spPr>
        <p:txBody>
          <a:bodyPr wrap="square" lIns="0" rIns="0" tIns="0" bIns="0">
            <a:spAutoFit/>
          </a:bodyPr>
          <a:lstStyle/>
          <a:p>
            <a:pPr>
              <a:lnSpc>
                <a:spcPct val="122000"/>
              </a:lnSpc>
              <a:spcAft>
                <a:spcPts val="900"/>
              </a:spcAft>
            </a:pPr>
            <a:r>
              <a:rPr sz="1300" b="1">
                <a:solidFill>
                  <a:srgbClr val="3987E5"/>
                </a:solidFill>
                <a:latin typeface="Inter"/>
              </a:rPr>
              <a:t>— </a:t>
            </a:r>
            <a:r>
              <a:rPr sz="1300">
                <a:solidFill>
                  <a:srgbClr val="CBD5E1"/>
                </a:solidFill>
                <a:latin typeface="Inter"/>
              </a:rPr>
              <a:t>Published NEU-CLS results cluster at 99%+: shallow attention CNNs, wavelet texture descriptors and modern backbones all report near-ceiling accuracy.</a:t>
            </a:r>
          </a:p>
          <a:p>
            <a:pPr>
              <a:lnSpc>
                <a:spcPct val="122000"/>
              </a:lnSpc>
              <a:spcAft>
                <a:spcPts val="900"/>
              </a:spcAft>
            </a:pPr>
            <a:r>
              <a:rPr sz="1300" b="1">
                <a:solidFill>
                  <a:srgbClr val="3987E5"/>
                </a:solidFill>
                <a:latin typeface="Inter"/>
              </a:rPr>
              <a:t>— </a:t>
            </a:r>
            <a:r>
              <a:rPr sz="1300">
                <a:solidFill>
                  <a:srgbClr val="CBD5E1"/>
                </a:solidFill>
                <a:latin typeface="Inter"/>
              </a:rPr>
              <a:t>We reproduce that ceiling directly: a pretrained EfficientNet-B0 reaches 100% test accuracy on our split within two epochs.</a:t>
            </a:r>
          </a:p>
          <a:p>
            <a:pPr>
              <a:lnSpc>
                <a:spcPct val="122000"/>
              </a:lnSpc>
              <a:spcAft>
                <a:spcPts val="900"/>
              </a:spcAft>
            </a:pPr>
            <a:r>
              <a:rPr sz="1300" b="1">
                <a:solidFill>
                  <a:srgbClr val="3987E5"/>
                </a:solidFill>
                <a:latin typeface="Inter"/>
              </a:rPr>
              <a:t>— </a:t>
            </a:r>
            <a:r>
              <a:rPr sz="1300">
                <a:solidFill>
                  <a:srgbClr val="CBD5E1"/>
                </a:solidFill>
                <a:latin typeface="Inter"/>
              </a:rPr>
              <a:t>At ceiling, every architectural variant scores identically. An ablation run at full training size would rank noise and present it as evidence.</a:t>
            </a:r>
          </a:p>
        </p:txBody>
      </p:sp>
      <p:sp>
        <p:nvSpPr>
          <p:cNvPr id="11" name="Rounded Rectangle 10"/>
          <p:cNvSpPr/>
          <p:nvPr/>
        </p:nvSpPr>
        <p:spPr>
          <a:xfrm>
            <a:off x="7113346" y="1627632"/>
            <a:ext cx="4511421" cy="310896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13346" y="1627632"/>
            <a:ext cx="41148" cy="3108960"/>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32802" y="1764792"/>
            <a:ext cx="4090797"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FAB219"/>
                </a:solidFill>
                <a:latin typeface="Inter"/>
              </a:rPr>
              <a:t>Consequence for this project</a:t>
            </a:r>
          </a:p>
        </p:txBody>
      </p:sp>
      <p:sp>
        <p:nvSpPr>
          <p:cNvPr id="14" name="TextBox 13"/>
          <p:cNvSpPr txBox="1"/>
          <p:nvPr/>
        </p:nvSpPr>
        <p:spPr>
          <a:xfrm>
            <a:off x="7332802" y="2103120"/>
            <a:ext cx="4090797" cy="248716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Component contributions are measured in a reduced-data regime (15% of the training split, ~30 images per class), where the objective still has dynamic range. Full-data numbers are reported too — and reported as a ceiling, not as a ranking.</a:t>
            </a:r>
          </a:p>
          <a:p>
            <a:pPr algn="l">
              <a:lnSpc>
                <a:spcPct val="124000"/>
              </a:lnSpc>
              <a:spcAft>
                <a:spcPts val="400"/>
              </a:spcAft>
            </a:pPr>
            <a:r>
              <a:rPr sz="1150" b="0" i="0">
                <a:solidFill>
                  <a:srgbClr val="CBD5E1"/>
                </a:solidFill>
                <a:latin typeface="Inter"/>
              </a:rPr>
              <a:t/>
            </a:r>
          </a:p>
          <a:p>
            <a:pPr algn="l">
              <a:lnSpc>
                <a:spcPct val="124000"/>
              </a:lnSpc>
              <a:spcAft>
                <a:spcPts val="400"/>
              </a:spcAft>
            </a:pPr>
            <a:r>
              <a:rPr sz="1150" b="0" i="0">
                <a:solidFill>
                  <a:srgbClr val="CBD5E1"/>
                </a:solidFill>
                <a:latin typeface="Inter"/>
              </a:rPr>
              <a:t>This is the difference between an ablation that measures something and an ablation that decorates a conclusion.</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Base Paper  ·  Jia et al. (2023)</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Journal of Cloud Computing 12:175 · DOI 10.1186/s13677-023-00537-0 · CC BY 4.0</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2327966"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12</a:t>
            </a:r>
          </a:p>
        </p:txBody>
      </p:sp>
      <p:sp>
        <p:nvSpPr>
          <p:cNvPr id="10" name="TextBox 9"/>
          <p:cNvSpPr txBox="1"/>
          <p:nvPr/>
        </p:nvSpPr>
        <p:spPr>
          <a:xfrm>
            <a:off x="566928" y="1627632"/>
            <a:ext cx="5446623" cy="3291840"/>
          </a:xfrm>
          <a:prstGeom prst="rect">
            <a:avLst/>
          </a:prstGeom>
          <a:noFill/>
        </p:spPr>
        <p:txBody>
          <a:bodyPr wrap="square" lIns="0" rIns="0" tIns="0" bIns="0">
            <a:spAutoFit/>
          </a:bodyPr>
          <a:lstStyle/>
          <a:p>
            <a:pPr>
              <a:lnSpc>
                <a:spcPct val="122000"/>
              </a:lnSpc>
              <a:spcAft>
                <a:spcPts val="900"/>
              </a:spcAft>
            </a:pPr>
            <a:r>
              <a:rPr sz="1250" b="1">
                <a:solidFill>
                  <a:srgbClr val="3987E5"/>
                </a:solidFill>
                <a:latin typeface="Inter"/>
              </a:rPr>
              <a:t>— </a:t>
            </a:r>
            <a:r>
              <a:rPr sz="1250" b="1">
                <a:solidFill>
                  <a:srgbClr val="F1F5F9"/>
                </a:solidFill>
                <a:latin typeface="Inter"/>
              </a:rPr>
              <a:t>Preprocess. </a:t>
            </a:r>
            <a:r>
              <a:rPr sz="1250">
                <a:solidFill>
                  <a:srgbClr val="CBD5E1"/>
                </a:solidFill>
                <a:latin typeface="Inter"/>
              </a:rPr>
              <a:t>resize 112×112, grayscale, global histogram equalisation.</a:t>
            </a:r>
          </a:p>
          <a:p>
            <a:pPr>
              <a:lnSpc>
                <a:spcPct val="122000"/>
              </a:lnSpc>
              <a:spcAft>
                <a:spcPts val="900"/>
              </a:spcAft>
            </a:pPr>
            <a:r>
              <a:rPr sz="1250" b="1">
                <a:solidFill>
                  <a:srgbClr val="3987E5"/>
                </a:solidFill>
                <a:latin typeface="Inter"/>
              </a:rPr>
              <a:t>— </a:t>
            </a:r>
            <a:r>
              <a:rPr sz="1250" b="1">
                <a:solidFill>
                  <a:srgbClr val="F1F5F9"/>
                </a:solidFill>
                <a:latin typeface="Inter"/>
              </a:rPr>
              <a:t>Chunk. </a:t>
            </a:r>
            <a:r>
              <a:rPr sz="1250">
                <a:solidFill>
                  <a:srgbClr val="CBD5E1"/>
                </a:solidFill>
                <a:latin typeface="Inter"/>
              </a:rPr>
              <a:t>28×28 subregions → a 4×4 grid of 16 chunks.</a:t>
            </a:r>
          </a:p>
          <a:p>
            <a:pPr>
              <a:lnSpc>
                <a:spcPct val="122000"/>
              </a:lnSpc>
              <a:spcAft>
                <a:spcPts val="900"/>
              </a:spcAft>
            </a:pPr>
            <a:r>
              <a:rPr sz="1250" b="1">
                <a:solidFill>
                  <a:srgbClr val="3987E5"/>
                </a:solidFill>
                <a:latin typeface="Inter"/>
              </a:rPr>
              <a:t>— </a:t>
            </a:r>
            <a:r>
              <a:rPr sz="1250" b="1">
                <a:solidFill>
                  <a:srgbClr val="F1F5F9"/>
                </a:solidFill>
                <a:latin typeface="Inter"/>
              </a:rPr>
              <a:t>Select. </a:t>
            </a:r>
            <a:r>
              <a:rPr sz="1250">
                <a:solidFill>
                  <a:srgbClr val="CBD5E1"/>
                </a:solidFill>
                <a:latin typeface="Inter"/>
              </a:rPr>
              <a:t>Sobel gradient per chunk; keep those above a threshold.</a:t>
            </a:r>
          </a:p>
          <a:p>
            <a:pPr>
              <a:lnSpc>
                <a:spcPct val="122000"/>
              </a:lnSpc>
              <a:spcAft>
                <a:spcPts val="900"/>
              </a:spcAft>
            </a:pPr>
            <a:r>
              <a:rPr sz="1250" b="1">
                <a:solidFill>
                  <a:srgbClr val="3987E5"/>
                </a:solidFill>
                <a:latin typeface="Inter"/>
              </a:rPr>
              <a:t>— </a:t>
            </a:r>
            <a:r>
              <a:rPr sz="1250" b="1">
                <a:solidFill>
                  <a:srgbClr val="F1F5F9"/>
                </a:solidFill>
                <a:latin typeface="Inter"/>
              </a:rPr>
              <a:t>Encrypt. </a:t>
            </a:r>
            <a:r>
              <a:rPr sz="1250">
                <a:solidFill>
                  <a:srgbClr val="CBD5E1"/>
                </a:solidFill>
                <a:latin typeface="Inter"/>
              </a:rPr>
              <a:t>CKKS on the retained chunks, polynomial modulus 16384.</a:t>
            </a:r>
          </a:p>
          <a:p>
            <a:pPr>
              <a:lnSpc>
                <a:spcPct val="122000"/>
              </a:lnSpc>
              <a:spcAft>
                <a:spcPts val="900"/>
              </a:spcAft>
            </a:pPr>
            <a:r>
              <a:rPr sz="1250" b="1">
                <a:solidFill>
                  <a:srgbClr val="3987E5"/>
                </a:solidFill>
                <a:latin typeface="Inter"/>
              </a:rPr>
              <a:t>— </a:t>
            </a:r>
            <a:r>
              <a:rPr sz="1250" b="1">
                <a:solidFill>
                  <a:srgbClr val="F1F5F9"/>
                </a:solidFill>
                <a:latin typeface="Inter"/>
              </a:rPr>
              <a:t>Classify. </a:t>
            </a:r>
            <a:r>
              <a:rPr sz="1250">
                <a:solidFill>
                  <a:srgbClr val="CBD5E1"/>
                </a:solidFill>
                <a:latin typeface="Inter"/>
              </a:rPr>
              <a:t>7×7 conv → FC 256→128 → FC 128→6; square activation under encryption.</a:t>
            </a:r>
          </a:p>
        </p:txBody>
      </p:sp>
      <p:sp>
        <p:nvSpPr>
          <p:cNvPr id="11" name="Rounded Rectangle 10"/>
          <p:cNvSpPr/>
          <p:nvPr/>
        </p:nvSpPr>
        <p:spPr>
          <a:xfrm>
            <a:off x="566928" y="4645152"/>
            <a:ext cx="3576218" cy="105156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4800600"/>
            <a:ext cx="3173882"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60A5FA"/>
                </a:solidFill>
                <a:latin typeface="Inter"/>
              </a:rPr>
              <a:t>97.1%</a:t>
            </a:r>
          </a:p>
        </p:txBody>
      </p:sp>
      <p:sp>
        <p:nvSpPr>
          <p:cNvPr id="13" name="TextBox 12"/>
          <p:cNvSpPr txBox="1"/>
          <p:nvPr/>
        </p:nvSpPr>
        <p:spPr>
          <a:xfrm>
            <a:off x="768096" y="5394960"/>
            <a:ext cx="3173882"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reported NEU-CLS accuracy (Table 3)</a:t>
            </a:r>
          </a:p>
        </p:txBody>
      </p:sp>
      <p:sp>
        <p:nvSpPr>
          <p:cNvPr id="14" name="Rounded Rectangle 13"/>
          <p:cNvSpPr/>
          <p:nvPr/>
        </p:nvSpPr>
        <p:spPr>
          <a:xfrm>
            <a:off x="4307738" y="4645152"/>
            <a:ext cx="3576218" cy="105156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8906" y="4800600"/>
            <a:ext cx="3173882"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60A5FA"/>
                </a:solidFill>
                <a:latin typeface="Inter"/>
              </a:rPr>
              <a:t>235 ms</a:t>
            </a:r>
          </a:p>
        </p:txBody>
      </p:sp>
      <p:sp>
        <p:nvSpPr>
          <p:cNvPr id="16" name="TextBox 15"/>
          <p:cNvSpPr txBox="1"/>
          <p:nvPr/>
        </p:nvSpPr>
        <p:spPr>
          <a:xfrm>
            <a:off x="4508906" y="5394960"/>
            <a:ext cx="3173882"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encrypt feature chunks only (Table 2)</a:t>
            </a:r>
          </a:p>
        </p:txBody>
      </p:sp>
      <p:sp>
        <p:nvSpPr>
          <p:cNvPr id="17" name="Rounded Rectangle 16"/>
          <p:cNvSpPr/>
          <p:nvPr/>
        </p:nvSpPr>
        <p:spPr>
          <a:xfrm>
            <a:off x="8048548" y="4645152"/>
            <a:ext cx="3576218" cy="105156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9716" y="4800600"/>
            <a:ext cx="3173882"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60A5FA"/>
                </a:solidFill>
                <a:latin typeface="Inter"/>
              </a:rPr>
              <a:t>806 MB</a:t>
            </a:r>
          </a:p>
        </p:txBody>
      </p:sp>
      <p:sp>
        <p:nvSpPr>
          <p:cNvPr id="19" name="TextBox 18"/>
          <p:cNvSpPr txBox="1"/>
          <p:nvPr/>
        </p:nvSpPr>
        <p:spPr>
          <a:xfrm>
            <a:off x="8249716" y="5394960"/>
            <a:ext cx="3173882"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Galois keys at n=16384 (Table 1)</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350"/>
                                        <p:tgtEl>
                                          <p:spTgt spid="12"/>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50"/>
                                        <p:tgtEl>
                                          <p:spTgt spid="13"/>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350"/>
                                        <p:tgtEl>
                                          <p:spTgt spid="14"/>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350"/>
                                        <p:tgtEl>
                                          <p:spTgt spid="15"/>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Base Paper Architecture</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Reproduced; amber marks what the paper does not state</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2521963"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13</a:t>
            </a:r>
          </a:p>
        </p:txBody>
      </p:sp>
      <p:pic>
        <p:nvPicPr>
          <p:cNvPr id="10" name="Picture 9" descr="02_baseline_architecture_1418.png"/>
          <p:cNvPicPr>
            <a:picLocks noChangeAspect="1"/>
          </p:cNvPicPr>
          <p:nvPr/>
        </p:nvPicPr>
        <p:blipFill>
          <a:blip r:embed="rId2"/>
          <a:stretch>
            <a:fillRect/>
          </a:stretch>
        </p:blipFill>
        <p:spPr>
          <a:xfrm>
            <a:off x="1774227" y="1536192"/>
            <a:ext cx="8643240" cy="4572000"/>
          </a:xfrm>
          <a:prstGeom prst="rect">
            <a:avLst/>
          </a:prstGeom>
        </p:spPr>
      </p:pic>
    </p:spTree>
  </p:cSld>
  <p:clrMapOvr>
    <a:masterClrMapping/>
  </p:clrMapOvr>
  <p:transition xmlns:ns0="http://schemas.microsoft.com/office/powerpoint/2010/main" spd="med" ns0:dur="400">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Base Paper  ·  limitations found on close reading</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Stated to scope a fair comparison, not to disparage the work</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2715960"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14</a:t>
            </a:r>
          </a:p>
        </p:txBody>
      </p:sp>
      <p:sp>
        <p:nvSpPr>
          <p:cNvPr id="10" name="Rounded Rectangle 9"/>
          <p:cNvSpPr/>
          <p:nvPr/>
        </p:nvSpPr>
        <p:spPr>
          <a:xfrm>
            <a:off x="566928" y="1627632"/>
            <a:ext cx="5446623" cy="1261872"/>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27632"/>
            <a:ext cx="41148" cy="1261872"/>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1764792"/>
            <a:ext cx="502599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D03B3B"/>
                </a:solidFill>
                <a:latin typeface="Inter"/>
              </a:rPr>
              <a:t>Cross-dataset comparison</a:t>
            </a:r>
          </a:p>
        </p:txBody>
      </p:sp>
      <p:sp>
        <p:nvSpPr>
          <p:cNvPr id="13" name="TextBox 12"/>
          <p:cNvSpPr txBox="1"/>
          <p:nvPr/>
        </p:nvSpPr>
        <p:spPr>
          <a:xfrm>
            <a:off x="786384" y="2103120"/>
            <a:ext cx="5025999" cy="640079"/>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Table 3 ranks their NEU-CLS result against TCGA genomics, Fashion-MNIST and CIFAR-10.</a:t>
            </a:r>
          </a:p>
        </p:txBody>
      </p:sp>
      <p:sp>
        <p:nvSpPr>
          <p:cNvPr id="14" name="Rounded Rectangle 13"/>
          <p:cNvSpPr/>
          <p:nvPr/>
        </p:nvSpPr>
        <p:spPr>
          <a:xfrm>
            <a:off x="6178143" y="1627632"/>
            <a:ext cx="5446623" cy="1261872"/>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8143" y="1627632"/>
            <a:ext cx="41148" cy="1261872"/>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7599" y="1764792"/>
            <a:ext cx="502599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FAB219"/>
                </a:solidFill>
                <a:latin typeface="Inter"/>
              </a:rPr>
              <a:t>No P / R / F1 for NEU-CLS</a:t>
            </a:r>
          </a:p>
        </p:txBody>
      </p:sp>
      <p:sp>
        <p:nvSpPr>
          <p:cNvPr id="17" name="TextBox 16"/>
          <p:cNvSpPr txBox="1"/>
          <p:nvPr/>
        </p:nvSpPr>
        <p:spPr>
          <a:xfrm>
            <a:off x="6397599" y="2103120"/>
            <a:ext cx="5025999" cy="640079"/>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Accuracy only; NEU-CLS results appear as figures, not tables.</a:t>
            </a:r>
          </a:p>
        </p:txBody>
      </p:sp>
      <p:sp>
        <p:nvSpPr>
          <p:cNvPr id="18" name="Rounded Rectangle 17"/>
          <p:cNvSpPr/>
          <p:nvPr/>
        </p:nvSpPr>
        <p:spPr>
          <a:xfrm>
            <a:off x="566928" y="3044952"/>
            <a:ext cx="5446623" cy="1261872"/>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3044952"/>
            <a:ext cx="41148" cy="1261872"/>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3182112"/>
            <a:ext cx="502599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FAB219"/>
                </a:solidFill>
                <a:latin typeface="Inter"/>
              </a:rPr>
              <a:t>Protocol unreported</a:t>
            </a:r>
          </a:p>
        </p:txBody>
      </p:sp>
      <p:sp>
        <p:nvSpPr>
          <p:cNvPr id="21" name="TextBox 20"/>
          <p:cNvSpPr txBox="1"/>
          <p:nvPr/>
        </p:nvSpPr>
        <p:spPr>
          <a:xfrm>
            <a:off x="786384" y="3520440"/>
            <a:ext cx="5025999" cy="640079"/>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Split sizes, epochs, learning rate and batch size are absent.</a:t>
            </a:r>
          </a:p>
        </p:txBody>
      </p:sp>
      <p:sp>
        <p:nvSpPr>
          <p:cNvPr id="22" name="Rounded Rectangle 21"/>
          <p:cNvSpPr/>
          <p:nvPr/>
        </p:nvSpPr>
        <p:spPr>
          <a:xfrm>
            <a:off x="6178143" y="3044952"/>
            <a:ext cx="5446623" cy="1261872"/>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8143" y="3044952"/>
            <a:ext cx="41148" cy="1261872"/>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97599" y="3182112"/>
            <a:ext cx="502599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FAB219"/>
                </a:solidFill>
                <a:latin typeface="Inter"/>
              </a:rPr>
              <a:t>Chunk size inconsistent</a:t>
            </a:r>
          </a:p>
        </p:txBody>
      </p:sp>
      <p:sp>
        <p:nvSpPr>
          <p:cNvPr id="25" name="TextBox 24"/>
          <p:cNvSpPr txBox="1"/>
          <p:nvPr/>
        </p:nvSpPr>
        <p:spPr>
          <a:xfrm>
            <a:off x="6397599" y="3520440"/>
            <a:ext cx="5025999" cy="640079"/>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28×28 in one section, 28×26 in two others; only 28×28 fits Table 2.</a:t>
            </a:r>
          </a:p>
        </p:txBody>
      </p:sp>
      <p:sp>
        <p:nvSpPr>
          <p:cNvPr id="26" name="Rounded Rectangle 25"/>
          <p:cNvSpPr/>
          <p:nvPr/>
        </p:nvSpPr>
        <p:spPr>
          <a:xfrm>
            <a:off x="566928" y="4462272"/>
            <a:ext cx="5446623" cy="1261872"/>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462272"/>
            <a:ext cx="41148" cy="1261872"/>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4599432"/>
            <a:ext cx="502599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94A3B8"/>
                </a:solidFill>
                <a:latin typeface="Inter"/>
              </a:rPr>
              <a:t>CKKS expanded incorrectly</a:t>
            </a:r>
          </a:p>
        </p:txBody>
      </p:sp>
      <p:sp>
        <p:nvSpPr>
          <p:cNvPr id="29" name="TextBox 28"/>
          <p:cNvSpPr txBox="1"/>
          <p:nvPr/>
        </p:nvSpPr>
        <p:spPr>
          <a:xfrm>
            <a:off x="786384" y="4937760"/>
            <a:ext cx="5025999" cy="640079"/>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“Complex Key-Value Storage” in one section.</a:t>
            </a:r>
          </a:p>
        </p:txBody>
      </p:sp>
      <p:sp>
        <p:nvSpPr>
          <p:cNvPr id="30" name="Rounded Rectangle 29"/>
          <p:cNvSpPr/>
          <p:nvPr/>
        </p:nvSpPr>
        <p:spPr>
          <a:xfrm>
            <a:off x="6178143" y="4462272"/>
            <a:ext cx="5446623" cy="1261872"/>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78143" y="4462272"/>
            <a:ext cx="41148" cy="1261872"/>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97599" y="4599432"/>
            <a:ext cx="502599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D03B3B"/>
                </a:solidFill>
                <a:latin typeface="Inter"/>
              </a:rPr>
              <a:t>Encryption improves accuracy</a:t>
            </a:r>
          </a:p>
        </p:txBody>
      </p:sp>
      <p:sp>
        <p:nvSpPr>
          <p:cNvPr id="33" name="TextBox 32"/>
          <p:cNvSpPr txBox="1"/>
          <p:nvPr/>
        </p:nvSpPr>
        <p:spPr>
          <a:xfrm>
            <a:off x="6397599" y="4937760"/>
            <a:ext cx="5025999" cy="640079"/>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Reported, but CKKS is approximate — it adds error, not signal.</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350"/>
                                        <p:tgtEl>
                                          <p:spTgt spid="17"/>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350"/>
                                        <p:tgtEl>
                                          <p:spTgt spid="18"/>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350"/>
                                        <p:tgtEl>
                                          <p:spTgt spid="19"/>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350"/>
                                        <p:tgtEl>
                                          <p:spTgt spid="20"/>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42032"/>
            <a:ext cx="1705813" cy="914400"/>
          </a:xfrm>
          <a:prstGeom prst="rect">
            <a:avLst/>
          </a:prstGeom>
          <a:noFill/>
        </p:spPr>
        <p:txBody>
          <a:bodyPr wrap="square" anchor="t" lIns="0" rIns="0" tIns="0" bIns="0">
            <a:spAutoFit/>
          </a:bodyPr>
          <a:lstStyle/>
          <a:p>
            <a:pPr algn="l">
              <a:lnSpc>
                <a:spcPct val="118000"/>
              </a:lnSpc>
              <a:spcAft>
                <a:spcPts val="400"/>
              </a:spcAft>
            </a:pPr>
            <a:r>
              <a:rPr sz="5800" b="1" i="0">
                <a:solidFill>
                  <a:srgbClr val="60A5FA"/>
                </a:solidFill>
                <a:latin typeface="Inter"/>
              </a:rPr>
              <a:t>01</a:t>
            </a:r>
          </a:p>
        </p:txBody>
      </p:sp>
      <p:sp>
        <p:nvSpPr>
          <p:cNvPr id="4" name="Rectangle 3"/>
          <p:cNvSpPr/>
          <p:nvPr/>
        </p:nvSpPr>
        <p:spPr>
          <a:xfrm>
            <a:off x="566928" y="3584448"/>
            <a:ext cx="1097280" cy="32004"/>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22191"/>
            <a:ext cx="8252231" cy="640080"/>
          </a:xfrm>
          <a:prstGeom prst="rect">
            <a:avLst/>
          </a:prstGeom>
          <a:noFill/>
        </p:spPr>
        <p:txBody>
          <a:bodyPr wrap="square" anchor="t" lIns="0" rIns="0" tIns="0" bIns="0">
            <a:spAutoFit/>
          </a:bodyPr>
          <a:lstStyle/>
          <a:p>
            <a:pPr algn="l">
              <a:lnSpc>
                <a:spcPct val="118000"/>
              </a:lnSpc>
              <a:spcAft>
                <a:spcPts val="400"/>
              </a:spcAft>
            </a:pPr>
            <a:r>
              <a:rPr sz="3000" b="1" i="0">
                <a:solidFill>
                  <a:srgbClr val="F1F5F9"/>
                </a:solidFill>
                <a:latin typeface="Inter"/>
              </a:rPr>
              <a:t>Research Gap and Proposed Solution</a:t>
            </a:r>
          </a:p>
        </p:txBody>
      </p:sp>
      <p:sp>
        <p:nvSpPr>
          <p:cNvPr id="6" name="TextBox 5"/>
          <p:cNvSpPr txBox="1"/>
          <p:nvPr/>
        </p:nvSpPr>
        <p:spPr>
          <a:xfrm>
            <a:off x="566928" y="4590288"/>
            <a:ext cx="7317028" cy="548640"/>
          </a:xfrm>
          <a:prstGeom prst="rect">
            <a:avLst/>
          </a:prstGeom>
          <a:noFill/>
        </p:spPr>
        <p:txBody>
          <a:bodyPr wrap="square" anchor="t" lIns="0" rIns="0" tIns="0" bIns="0">
            <a:spAutoFit/>
          </a:bodyPr>
          <a:lstStyle/>
          <a:p>
            <a:pPr algn="l">
              <a:lnSpc>
                <a:spcPct val="118000"/>
              </a:lnSpc>
              <a:spcAft>
                <a:spcPts val="400"/>
              </a:spcAft>
            </a:pPr>
            <a:r>
              <a:rPr sz="1350" b="0" i="0">
                <a:solidFill>
                  <a:srgbClr val="94A3B8"/>
                </a:solidFill>
                <a:latin typeface="Inter"/>
              </a:rPr>
              <a:t>From a fixed photometric threshold to a learned, measured selection</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50"/>
                                        <p:tgtEl>
                                          <p:spTgt spid="3"/>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350"/>
                                        <p:tgtEl>
                                          <p:spTgt spid="4"/>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350"/>
                                        <p:tgtEl>
                                          <p:spTgt spid="5"/>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Research Gap</a:t>
            </a:r>
          </a:p>
        </p:txBody>
      </p:sp>
      <p:sp>
        <p:nvSpPr>
          <p:cNvPr id="4" name="Rectangle 3"/>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3103954"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8" name="TextBox 7"/>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16</a:t>
            </a:r>
          </a:p>
        </p:txBody>
      </p:sp>
      <p:sp>
        <p:nvSpPr>
          <p:cNvPr id="9" name="TextBox 8"/>
          <p:cNvSpPr txBox="1"/>
          <p:nvPr/>
        </p:nvSpPr>
        <p:spPr>
          <a:xfrm>
            <a:off x="566928" y="1627632"/>
            <a:ext cx="256032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dimension</a:t>
            </a:r>
          </a:p>
        </p:txBody>
      </p:sp>
      <p:sp>
        <p:nvSpPr>
          <p:cNvPr id="10" name="TextBox 9"/>
          <p:cNvSpPr txBox="1"/>
          <p:nvPr/>
        </p:nvSpPr>
        <p:spPr>
          <a:xfrm>
            <a:off x="3127248" y="1627632"/>
            <a:ext cx="384048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Jia et al. (2023)</a:t>
            </a:r>
          </a:p>
        </p:txBody>
      </p:sp>
      <p:sp>
        <p:nvSpPr>
          <p:cNvPr id="11" name="TextBox 10"/>
          <p:cNvSpPr txBox="1"/>
          <p:nvPr/>
        </p:nvSpPr>
        <p:spPr>
          <a:xfrm>
            <a:off x="6967728" y="1627632"/>
            <a:ext cx="4657039"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SAGE-HE</a:t>
            </a:r>
          </a:p>
        </p:txBody>
      </p:sp>
      <p:sp>
        <p:nvSpPr>
          <p:cNvPr id="12" name="Rectangle 11"/>
          <p:cNvSpPr/>
          <p:nvPr/>
        </p:nvSpPr>
        <p:spPr>
          <a:xfrm>
            <a:off x="566928" y="1920240"/>
            <a:ext cx="11057839"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011680"/>
            <a:ext cx="256032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chunk selection</a:t>
            </a:r>
          </a:p>
        </p:txBody>
      </p:sp>
      <p:sp>
        <p:nvSpPr>
          <p:cNvPr id="14" name="TextBox 13"/>
          <p:cNvSpPr txBox="1"/>
          <p:nvPr/>
        </p:nvSpPr>
        <p:spPr>
          <a:xfrm>
            <a:off x="3127248" y="2011680"/>
            <a:ext cx="384048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fixed threshold |∇| &gt; τ</a:t>
            </a:r>
          </a:p>
        </p:txBody>
      </p:sp>
      <p:sp>
        <p:nvSpPr>
          <p:cNvPr id="15" name="TextBox 14"/>
          <p:cNvSpPr txBox="1"/>
          <p:nvPr/>
        </p:nvSpPr>
        <p:spPr>
          <a:xfrm>
            <a:off x="6967728" y="2011680"/>
            <a:ext cx="4657039"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learned score + Sobel prior, λ measured</a:t>
            </a:r>
          </a:p>
        </p:txBody>
      </p:sp>
      <p:sp>
        <p:nvSpPr>
          <p:cNvPr id="16" name="TextBox 15"/>
          <p:cNvSpPr txBox="1"/>
          <p:nvPr/>
        </p:nvSpPr>
        <p:spPr>
          <a:xfrm>
            <a:off x="566928" y="2322576"/>
            <a:ext cx="256032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spatial scales</a:t>
            </a:r>
          </a:p>
        </p:txBody>
      </p:sp>
      <p:sp>
        <p:nvSpPr>
          <p:cNvPr id="17" name="TextBox 16"/>
          <p:cNvSpPr txBox="1"/>
          <p:nvPr/>
        </p:nvSpPr>
        <p:spPr>
          <a:xfrm>
            <a:off x="3127248" y="2322576"/>
            <a:ext cx="384048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single 7×7 receptive field</a:t>
            </a:r>
          </a:p>
        </p:txBody>
      </p:sp>
      <p:sp>
        <p:nvSpPr>
          <p:cNvPr id="18" name="TextBox 17"/>
          <p:cNvSpPr txBox="1"/>
          <p:nvPr/>
        </p:nvSpPr>
        <p:spPr>
          <a:xfrm>
            <a:off x="6967728" y="2322576"/>
            <a:ext cx="4657039"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1×1 / 3×3 / dilated / 5×5 in parallel</a:t>
            </a:r>
          </a:p>
        </p:txBody>
      </p:sp>
      <p:sp>
        <p:nvSpPr>
          <p:cNvPr id="19" name="TextBox 18"/>
          <p:cNvSpPr txBox="1"/>
          <p:nvPr/>
        </p:nvSpPr>
        <p:spPr>
          <a:xfrm>
            <a:off x="566928" y="2633472"/>
            <a:ext cx="256032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branch combination</a:t>
            </a:r>
          </a:p>
        </p:txBody>
      </p:sp>
      <p:sp>
        <p:nvSpPr>
          <p:cNvPr id="20" name="TextBox 19"/>
          <p:cNvSpPr txBox="1"/>
          <p:nvPr/>
        </p:nvSpPr>
        <p:spPr>
          <a:xfrm>
            <a:off x="3127248" y="2633472"/>
            <a:ext cx="384048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none (single path)</a:t>
            </a:r>
          </a:p>
        </p:txBody>
      </p:sp>
      <p:sp>
        <p:nvSpPr>
          <p:cNvPr id="21" name="TextBox 20"/>
          <p:cNvSpPr txBox="1"/>
          <p:nvPr/>
        </p:nvSpPr>
        <p:spPr>
          <a:xfrm>
            <a:off x="6967728" y="2633472"/>
            <a:ext cx="4657039"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channel-wise gated fusion</a:t>
            </a:r>
          </a:p>
        </p:txBody>
      </p:sp>
      <p:sp>
        <p:nvSpPr>
          <p:cNvPr id="22" name="TextBox 21"/>
          <p:cNvSpPr txBox="1"/>
          <p:nvPr/>
        </p:nvSpPr>
        <p:spPr>
          <a:xfrm>
            <a:off x="566928" y="2944368"/>
            <a:ext cx="256032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what is encrypted</a:t>
            </a:r>
          </a:p>
        </p:txBody>
      </p:sp>
      <p:sp>
        <p:nvSpPr>
          <p:cNvPr id="23" name="TextBox 22"/>
          <p:cNvSpPr txBox="1"/>
          <p:nvPr/>
        </p:nvSpPr>
        <p:spPr>
          <a:xfrm>
            <a:off x="3127248" y="2944368"/>
            <a:ext cx="384048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selected image chunks</a:t>
            </a:r>
          </a:p>
        </p:txBody>
      </p:sp>
      <p:sp>
        <p:nvSpPr>
          <p:cNvPr id="24" name="TextBox 23"/>
          <p:cNvSpPr txBox="1"/>
          <p:nvPr/>
        </p:nvSpPr>
        <p:spPr>
          <a:xfrm>
            <a:off x="6967728" y="2944368"/>
            <a:ext cx="4657039"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compressed 64-d feature vector</a:t>
            </a:r>
          </a:p>
        </p:txBody>
      </p:sp>
      <p:sp>
        <p:nvSpPr>
          <p:cNvPr id="25" name="TextBox 24"/>
          <p:cNvSpPr txBox="1"/>
          <p:nvPr/>
        </p:nvSpPr>
        <p:spPr>
          <a:xfrm>
            <a:off x="566928" y="3255264"/>
            <a:ext cx="256032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evaluation</a:t>
            </a:r>
          </a:p>
        </p:txBody>
      </p:sp>
      <p:sp>
        <p:nvSpPr>
          <p:cNvPr id="26" name="TextBox 25"/>
          <p:cNvSpPr txBox="1"/>
          <p:nvPr/>
        </p:nvSpPr>
        <p:spPr>
          <a:xfrm>
            <a:off x="3127248" y="3255264"/>
            <a:ext cx="384048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accuracy only</a:t>
            </a:r>
          </a:p>
        </p:txBody>
      </p:sp>
      <p:sp>
        <p:nvSpPr>
          <p:cNvPr id="27" name="TextBox 26"/>
          <p:cNvSpPr txBox="1"/>
          <p:nvPr/>
        </p:nvSpPr>
        <p:spPr>
          <a:xfrm>
            <a:off x="6967728" y="3255264"/>
            <a:ext cx="4657039"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macro P/R/F1, confusion, CI, ablation</a:t>
            </a:r>
          </a:p>
        </p:txBody>
      </p:sp>
      <p:sp>
        <p:nvSpPr>
          <p:cNvPr id="28" name="TextBox 27"/>
          <p:cNvSpPr txBox="1"/>
          <p:nvPr/>
        </p:nvSpPr>
        <p:spPr>
          <a:xfrm>
            <a:off x="566928" y="3566160"/>
            <a:ext cx="256032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comparison</a:t>
            </a:r>
          </a:p>
        </p:txBody>
      </p:sp>
      <p:sp>
        <p:nvSpPr>
          <p:cNvPr id="29" name="TextBox 28"/>
          <p:cNvSpPr txBox="1"/>
          <p:nvPr/>
        </p:nvSpPr>
        <p:spPr>
          <a:xfrm>
            <a:off x="3127248" y="3566160"/>
            <a:ext cx="384048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across different datasets</a:t>
            </a:r>
          </a:p>
        </p:txBody>
      </p:sp>
      <p:sp>
        <p:nvSpPr>
          <p:cNvPr id="30" name="TextBox 29"/>
          <p:cNvSpPr txBox="1"/>
          <p:nvPr/>
        </p:nvSpPr>
        <p:spPr>
          <a:xfrm>
            <a:off x="6967728" y="3566160"/>
            <a:ext cx="4657039"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same held-out split for both models</a:t>
            </a:r>
          </a:p>
        </p:txBody>
      </p:sp>
      <p:sp>
        <p:nvSpPr>
          <p:cNvPr id="31" name="Rounded Rectangle 30"/>
          <p:cNvSpPr/>
          <p:nvPr/>
        </p:nvSpPr>
        <p:spPr>
          <a:xfrm>
            <a:off x="566928" y="4325112"/>
            <a:ext cx="5259583" cy="137160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4325112"/>
            <a:ext cx="41148" cy="137160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 y="4462272"/>
            <a:ext cx="483895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3987E5"/>
                </a:solidFill>
                <a:latin typeface="Inter"/>
              </a:rPr>
              <a:t>Every row is a testable claim</a:t>
            </a:r>
          </a:p>
        </p:txBody>
      </p:sp>
      <p:sp>
        <p:nvSpPr>
          <p:cNvPr id="34" name="TextBox 33"/>
          <p:cNvSpPr txBox="1"/>
          <p:nvPr/>
        </p:nvSpPr>
        <p:spPr>
          <a:xfrm>
            <a:off x="786384" y="4800600"/>
            <a:ext cx="4838959" cy="74980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Each line maps to a component slide and to a numbered ablation stage, so none of them has to be taken on trust.</a:t>
            </a:r>
          </a:p>
        </p:txBody>
      </p:sp>
      <p:sp>
        <p:nvSpPr>
          <p:cNvPr id="35" name="Rounded Rectangle 34"/>
          <p:cNvSpPr/>
          <p:nvPr/>
        </p:nvSpPr>
        <p:spPr>
          <a:xfrm>
            <a:off x="6365184" y="4325112"/>
            <a:ext cx="5259583" cy="137160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65184" y="4325112"/>
            <a:ext cx="41148" cy="1371600"/>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4640" y="4462272"/>
            <a:ext cx="483895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FAB219"/>
                </a:solidFill>
                <a:latin typeface="Inter"/>
              </a:rPr>
              <a:t>Spoiler, stated up front</a:t>
            </a:r>
          </a:p>
        </p:txBody>
      </p:sp>
      <p:sp>
        <p:nvSpPr>
          <p:cNvPr id="38" name="TextBox 37"/>
          <p:cNvSpPr txBox="1"/>
          <p:nvPr/>
        </p:nvSpPr>
        <p:spPr>
          <a:xfrm>
            <a:off x="6584640" y="4800600"/>
            <a:ext cx="4838959" cy="74980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The last two rows survive contact with the evidence. Most of the first four do not — the ablation later in this deck is where that is shown.</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50"/>
                                        <p:tgtEl>
                                          <p:spTgt spid="12"/>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50"/>
                                        <p:tgtEl>
                                          <p:spTgt spid="14"/>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50"/>
                                        <p:tgtEl>
                                          <p:spTgt spid="15"/>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350"/>
                                        <p:tgtEl>
                                          <p:spTgt spid="16"/>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3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Proposed Solution  ·  SAGE-HE</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Secure Adaptive Gated Ensemble with Homomorphic Encryption</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3297952"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17</a:t>
            </a:r>
          </a:p>
        </p:txBody>
      </p:sp>
      <p:sp>
        <p:nvSpPr>
          <p:cNvPr id="10" name="TextBox 9"/>
          <p:cNvSpPr txBox="1"/>
          <p:nvPr/>
        </p:nvSpPr>
        <p:spPr>
          <a:xfrm>
            <a:off x="566928" y="1627632"/>
            <a:ext cx="5446623" cy="3291840"/>
          </a:xfrm>
          <a:prstGeom prst="rect">
            <a:avLst/>
          </a:prstGeom>
          <a:noFill/>
        </p:spPr>
        <p:txBody>
          <a:bodyPr wrap="square" lIns="0" rIns="0" tIns="0" bIns="0">
            <a:spAutoFit/>
          </a:bodyPr>
          <a:lstStyle/>
          <a:p>
            <a:pPr>
              <a:lnSpc>
                <a:spcPct val="122000"/>
              </a:lnSpc>
              <a:spcAft>
                <a:spcPts val="900"/>
              </a:spcAft>
            </a:pPr>
            <a:r>
              <a:rPr sz="1250" b="1">
                <a:solidFill>
                  <a:srgbClr val="3987E5"/>
                </a:solidFill>
                <a:latin typeface="Inter"/>
              </a:rPr>
              <a:t>— </a:t>
            </a:r>
            <a:r>
              <a:rPr sz="1250" b="1">
                <a:solidFill>
                  <a:srgbClr val="F1F5F9"/>
                </a:solidFill>
                <a:latin typeface="Inter"/>
              </a:rPr>
              <a:t>Global branch. </a:t>
            </a:r>
            <a:r>
              <a:rPr sz="1250">
                <a:solidFill>
                  <a:srgbClr val="CBD5E1"/>
                </a:solidFill>
                <a:latin typeface="Inter"/>
              </a:rPr>
              <a:t>EfficientNet-B0, ImageNet-pretrained, adapted to one input channel.</a:t>
            </a:r>
          </a:p>
          <a:p>
            <a:pPr>
              <a:lnSpc>
                <a:spcPct val="122000"/>
              </a:lnSpc>
              <a:spcAft>
                <a:spcPts val="900"/>
              </a:spcAft>
            </a:pPr>
            <a:r>
              <a:rPr sz="1250" b="1">
                <a:solidFill>
                  <a:srgbClr val="3987E5"/>
                </a:solidFill>
                <a:latin typeface="Inter"/>
              </a:rPr>
              <a:t>— </a:t>
            </a:r>
            <a:r>
              <a:rPr sz="1250" b="1">
                <a:solidFill>
                  <a:srgbClr val="F1F5F9"/>
                </a:solidFill>
                <a:latin typeface="Inter"/>
              </a:rPr>
              <a:t>Local branch. </a:t>
            </a:r>
            <a:r>
              <a:rPr sz="1250">
                <a:solidFill>
                  <a:srgbClr val="CBD5E1"/>
                </a:solidFill>
                <a:latin typeface="Inter"/>
              </a:rPr>
              <a:t>Multi-scale CNN with four parallel receptive fields per block.</a:t>
            </a:r>
          </a:p>
          <a:p>
            <a:pPr>
              <a:lnSpc>
                <a:spcPct val="122000"/>
              </a:lnSpc>
              <a:spcAft>
                <a:spcPts val="900"/>
              </a:spcAft>
            </a:pPr>
            <a:r>
              <a:rPr sz="1250" b="1">
                <a:solidFill>
                  <a:srgbClr val="3987E5"/>
                </a:solidFill>
                <a:latin typeface="Inter"/>
              </a:rPr>
              <a:t>— </a:t>
            </a:r>
            <a:r>
              <a:rPr sz="1250" b="1">
                <a:solidFill>
                  <a:srgbClr val="F1F5F9"/>
                </a:solidFill>
                <a:latin typeface="Inter"/>
              </a:rPr>
              <a:t>Adaptive selection. </a:t>
            </a:r>
            <a:r>
              <a:rPr sz="1250">
                <a:solidFill>
                  <a:srgbClr val="CBD5E1"/>
                </a:solidFill>
                <a:latin typeface="Inter"/>
              </a:rPr>
              <a:t>Chunk attention scored by a learned MLP plus a Sobel prior weighted by a learnable λ.</a:t>
            </a:r>
          </a:p>
          <a:p>
            <a:pPr>
              <a:lnSpc>
                <a:spcPct val="122000"/>
              </a:lnSpc>
              <a:spcAft>
                <a:spcPts val="900"/>
              </a:spcAft>
            </a:pPr>
            <a:r>
              <a:rPr sz="1250" b="1">
                <a:solidFill>
                  <a:srgbClr val="3987E5"/>
                </a:solidFill>
                <a:latin typeface="Inter"/>
              </a:rPr>
              <a:t>— </a:t>
            </a:r>
            <a:r>
              <a:rPr sz="1250" b="1">
                <a:solidFill>
                  <a:srgbClr val="F1F5F9"/>
                </a:solidFill>
                <a:latin typeface="Inter"/>
              </a:rPr>
              <a:t>Gated fusion. </a:t>
            </a:r>
            <a:r>
              <a:rPr sz="1250">
                <a:solidFill>
                  <a:srgbClr val="CBD5E1"/>
                </a:solidFill>
                <a:latin typeface="Inter"/>
              </a:rPr>
              <a:t>A per-channel gate z mixes the branches: z·g + (1−z)·l.</a:t>
            </a:r>
          </a:p>
          <a:p>
            <a:pPr>
              <a:lnSpc>
                <a:spcPct val="122000"/>
              </a:lnSpc>
              <a:spcAft>
                <a:spcPts val="900"/>
              </a:spcAft>
            </a:pPr>
            <a:r>
              <a:rPr sz="1250" b="1">
                <a:solidFill>
                  <a:srgbClr val="3987E5"/>
                </a:solidFill>
                <a:latin typeface="Inter"/>
              </a:rPr>
              <a:t>— </a:t>
            </a:r>
            <a:r>
              <a:rPr sz="1250" b="1">
                <a:solidFill>
                  <a:srgbClr val="F1F5F9"/>
                </a:solidFill>
                <a:latin typeface="Inter"/>
              </a:rPr>
              <a:t>Compression. </a:t>
            </a:r>
            <a:r>
              <a:rPr sz="1250">
                <a:solidFill>
                  <a:srgbClr val="CBD5E1"/>
                </a:solidFill>
                <a:latin typeface="Inter"/>
              </a:rPr>
              <a:t>256 → 64, tanh-bounded — the vector that gets encrypted.</a:t>
            </a:r>
          </a:p>
          <a:p>
            <a:pPr>
              <a:lnSpc>
                <a:spcPct val="122000"/>
              </a:lnSpc>
              <a:spcAft>
                <a:spcPts val="900"/>
              </a:spcAft>
            </a:pPr>
            <a:r>
              <a:rPr sz="1250" b="1">
                <a:solidFill>
                  <a:srgbClr val="3987E5"/>
                </a:solidFill>
                <a:latin typeface="Inter"/>
              </a:rPr>
              <a:t>— </a:t>
            </a:r>
            <a:r>
              <a:rPr sz="1250" b="1">
                <a:solidFill>
                  <a:srgbClr val="F1F5F9"/>
                </a:solidFill>
                <a:latin typeface="Inter"/>
              </a:rPr>
              <a:t>Encrypted head. </a:t>
            </a:r>
            <a:r>
              <a:rPr sz="1250">
                <a:solidFill>
                  <a:srgbClr val="CBD5E1"/>
                </a:solidFill>
                <a:latin typeface="Inter"/>
              </a:rPr>
              <a:t>W₂·square(W₁v + b₁) + b₂ evaluated under CKKS.</a:t>
            </a:r>
          </a:p>
        </p:txBody>
      </p:sp>
      <p:sp>
        <p:nvSpPr>
          <p:cNvPr id="11" name="Rounded Rectangle 10"/>
          <p:cNvSpPr/>
          <p:nvPr/>
        </p:nvSpPr>
        <p:spPr>
          <a:xfrm>
            <a:off x="7113346" y="1627632"/>
            <a:ext cx="4511421" cy="155448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13346" y="1627632"/>
            <a:ext cx="41148" cy="155448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32802" y="1764792"/>
            <a:ext cx="4090797"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3987E5"/>
                </a:solidFill>
                <a:latin typeface="Inter"/>
              </a:rPr>
              <a:t>Design constraint that drives everything</a:t>
            </a:r>
          </a:p>
        </p:txBody>
      </p:sp>
      <p:sp>
        <p:nvSpPr>
          <p:cNvPr id="14" name="TextBox 13"/>
          <p:cNvSpPr txBox="1"/>
          <p:nvPr/>
        </p:nvSpPr>
        <p:spPr>
          <a:xfrm>
            <a:off x="7332802" y="2103120"/>
            <a:ext cx="4090797" cy="93268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Only a depth-3 polynomial is affordable under CKKS. So the network is split: arbitrary operations client-side, polynomial-only server-side.</a:t>
            </a:r>
          </a:p>
        </p:txBody>
      </p:sp>
      <p:sp>
        <p:nvSpPr>
          <p:cNvPr id="15" name="Rounded Rectangle 14"/>
          <p:cNvSpPr/>
          <p:nvPr/>
        </p:nvSpPr>
        <p:spPr>
          <a:xfrm>
            <a:off x="7113346" y="3410712"/>
            <a:ext cx="4511421" cy="150876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13346" y="3410712"/>
            <a:ext cx="41148" cy="1508760"/>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32802" y="3547872"/>
            <a:ext cx="4090797"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0CA30C"/>
                </a:solidFill>
                <a:latin typeface="Inter"/>
              </a:rPr>
              <a:t>Trained as deployed</a:t>
            </a:r>
          </a:p>
        </p:txBody>
      </p:sp>
      <p:sp>
        <p:nvSpPr>
          <p:cNvPr id="18" name="TextBox 17"/>
          <p:cNvSpPr txBox="1"/>
          <p:nvPr/>
        </p:nvSpPr>
        <p:spPr>
          <a:xfrm>
            <a:off x="7332802" y="3886200"/>
            <a:ext cx="4090797" cy="886967"/>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The head is trained with the square activation it will be evaluated with — not trained with ReLU and swapped afterwards.</a:t>
            </a:r>
          </a:p>
        </p:txBody>
      </p:sp>
      <p:sp>
        <p:nvSpPr>
          <p:cNvPr id="19" name="TextBox 18"/>
          <p:cNvSpPr txBox="1"/>
          <p:nvPr/>
        </p:nvSpPr>
        <p:spPr>
          <a:xfrm>
            <a:off x="566928" y="5724144"/>
            <a:ext cx="11057839" cy="548640"/>
          </a:xfrm>
          <a:prstGeom prst="rect">
            <a:avLst/>
          </a:prstGeom>
          <a:noFill/>
        </p:spPr>
        <p:txBody>
          <a:bodyPr wrap="square" anchor="t" lIns="0" rIns="0" tIns="0" bIns="0">
            <a:spAutoFit/>
          </a:bodyPr>
          <a:lstStyle/>
          <a:p>
            <a:pPr algn="l">
              <a:lnSpc>
                <a:spcPct val="120000"/>
              </a:lnSpc>
              <a:spcAft>
                <a:spcPts val="400"/>
              </a:spcAft>
            </a:pPr>
            <a:r>
              <a:rPr sz="1050" b="0" i="1">
                <a:solidFill>
                  <a:srgbClr val="FAB219"/>
                </a:solidFill>
                <a:latin typeface="Inter"/>
              </a:rPr>
              <a:t>The next slides explain each component and why it was expected to help. Treat them as hypotheses: the ablation later in this deck tests every one of them against the bare backbone, and most do not survive.</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350"/>
                                        <p:tgtEl>
                                          <p:spTgt spid="17"/>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350"/>
                                        <p:tgtEl>
                                          <p:spTgt spid="18"/>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Novelty and Contributions</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Stated narrowly, because the surrounding literature is dense</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3491949"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18</a:t>
            </a:r>
          </a:p>
        </p:txBody>
      </p:sp>
      <p:sp>
        <p:nvSpPr>
          <p:cNvPr id="10" name="TextBox 9"/>
          <p:cNvSpPr txBox="1"/>
          <p:nvPr/>
        </p:nvSpPr>
        <p:spPr>
          <a:xfrm>
            <a:off x="566928" y="1627632"/>
            <a:ext cx="5259583" cy="274320"/>
          </a:xfrm>
          <a:prstGeom prst="rect">
            <a:avLst/>
          </a:prstGeom>
          <a:noFill/>
        </p:spPr>
        <p:txBody>
          <a:bodyPr wrap="square" anchor="t" lIns="0" rIns="0" tIns="0" bIns="0">
            <a:spAutoFit/>
          </a:bodyPr>
          <a:lstStyle/>
          <a:p>
            <a:pPr algn="l">
              <a:lnSpc>
                <a:spcPct val="118000"/>
              </a:lnSpc>
              <a:spcAft>
                <a:spcPts val="400"/>
              </a:spcAft>
            </a:pPr>
            <a:r>
              <a:rPr sz="1100" b="1" i="0">
                <a:solidFill>
                  <a:srgbClr val="D03B3B"/>
                </a:solidFill>
                <a:latin typeface="Inter"/>
              </a:rPr>
              <a:t>NOT CLAIMED AS NOVEL</a:t>
            </a:r>
          </a:p>
        </p:txBody>
      </p:sp>
      <p:sp>
        <p:nvSpPr>
          <p:cNvPr id="11" name="TextBox 10"/>
          <p:cNvSpPr txBox="1"/>
          <p:nvPr/>
        </p:nvSpPr>
        <p:spPr>
          <a:xfrm>
            <a:off x="566928" y="2011680"/>
            <a:ext cx="5259583" cy="2377440"/>
          </a:xfrm>
          <a:prstGeom prst="rect">
            <a:avLst/>
          </a:prstGeom>
          <a:noFill/>
        </p:spPr>
        <p:txBody>
          <a:bodyPr wrap="square" lIns="0" rIns="0" tIns="0" bIns="0">
            <a:spAutoFit/>
          </a:bodyPr>
          <a:lstStyle/>
          <a:p>
            <a:pPr>
              <a:lnSpc>
                <a:spcPct val="122000"/>
              </a:lnSpc>
              <a:spcAft>
                <a:spcPts val="900"/>
              </a:spcAft>
            </a:pPr>
            <a:r>
              <a:rPr sz="1150" b="1">
                <a:solidFill>
                  <a:srgbClr val="D03B3B"/>
                </a:solidFill>
                <a:latin typeface="Inter"/>
              </a:rPr>
              <a:t>— </a:t>
            </a:r>
            <a:r>
              <a:rPr sz="1150">
                <a:solidFill>
                  <a:srgbClr val="CBD5E1"/>
                </a:solidFill>
                <a:latin typeface="Inter"/>
              </a:rPr>
              <a:t>Splitting a network so only a polynomial head is encrypted — this is PRISM (2025) and others.</a:t>
            </a:r>
          </a:p>
          <a:p>
            <a:pPr>
              <a:lnSpc>
                <a:spcPct val="122000"/>
              </a:lnSpc>
              <a:spcAft>
                <a:spcPts val="900"/>
              </a:spcAft>
            </a:pPr>
            <a:r>
              <a:rPr sz="1150" b="1">
                <a:solidFill>
                  <a:srgbClr val="D03B3B"/>
                </a:solidFill>
                <a:latin typeface="Inter"/>
              </a:rPr>
              <a:t>— </a:t>
            </a:r>
            <a:r>
              <a:rPr sz="1150">
                <a:solidFill>
                  <a:srgbClr val="CBD5E1"/>
                </a:solidFill>
                <a:latin typeface="Inter"/>
              </a:rPr>
              <a:t>The square activation for CKKS — the base paper and CryptoNets lineage.</a:t>
            </a:r>
          </a:p>
          <a:p>
            <a:pPr>
              <a:lnSpc>
                <a:spcPct val="122000"/>
              </a:lnSpc>
              <a:spcAft>
                <a:spcPts val="900"/>
              </a:spcAft>
            </a:pPr>
            <a:r>
              <a:rPr sz="1150" b="1">
                <a:solidFill>
                  <a:srgbClr val="D03B3B"/>
                </a:solidFill>
                <a:latin typeface="Inter"/>
              </a:rPr>
              <a:t>— </a:t>
            </a:r>
            <a:r>
              <a:rPr sz="1150">
                <a:solidFill>
                  <a:srgbClr val="CBD5E1"/>
                </a:solidFill>
                <a:latin typeface="Inter"/>
              </a:rPr>
              <a:t>Dual-branch global/local designs, or gating as a mechanism.</a:t>
            </a:r>
          </a:p>
          <a:p>
            <a:pPr>
              <a:lnSpc>
                <a:spcPct val="122000"/>
              </a:lnSpc>
              <a:spcAft>
                <a:spcPts val="900"/>
              </a:spcAft>
            </a:pPr>
            <a:r>
              <a:rPr sz="1150" b="1">
                <a:solidFill>
                  <a:srgbClr val="D03B3B"/>
                </a:solidFill>
                <a:latin typeface="Inter"/>
              </a:rPr>
              <a:t>— </a:t>
            </a:r>
            <a:r>
              <a:rPr sz="1150">
                <a:solidFill>
                  <a:srgbClr val="CBD5E1"/>
                </a:solidFill>
                <a:latin typeface="Inter"/>
              </a:rPr>
              <a:t>EfficientNet on NEU-CLS.</a:t>
            </a:r>
          </a:p>
        </p:txBody>
      </p:sp>
      <p:sp>
        <p:nvSpPr>
          <p:cNvPr id="12" name="TextBox 11"/>
          <p:cNvSpPr txBox="1"/>
          <p:nvPr/>
        </p:nvSpPr>
        <p:spPr>
          <a:xfrm>
            <a:off x="6365184" y="1627632"/>
            <a:ext cx="5259583" cy="274320"/>
          </a:xfrm>
          <a:prstGeom prst="rect">
            <a:avLst/>
          </a:prstGeom>
          <a:noFill/>
        </p:spPr>
        <p:txBody>
          <a:bodyPr wrap="square" anchor="t" lIns="0" rIns="0" tIns="0" bIns="0">
            <a:spAutoFit/>
          </a:bodyPr>
          <a:lstStyle/>
          <a:p>
            <a:pPr algn="l">
              <a:lnSpc>
                <a:spcPct val="118000"/>
              </a:lnSpc>
              <a:spcAft>
                <a:spcPts val="400"/>
              </a:spcAft>
            </a:pPr>
            <a:r>
              <a:rPr sz="1100" b="1" i="0">
                <a:solidFill>
                  <a:srgbClr val="0CA30C"/>
                </a:solidFill>
                <a:latin typeface="Inter"/>
              </a:rPr>
              <a:t>WHAT ACTUALLY HOLDS UP</a:t>
            </a:r>
          </a:p>
        </p:txBody>
      </p:sp>
      <p:sp>
        <p:nvSpPr>
          <p:cNvPr id="13" name="TextBox 12"/>
          <p:cNvSpPr txBox="1"/>
          <p:nvPr/>
        </p:nvSpPr>
        <p:spPr>
          <a:xfrm>
            <a:off x="6365184" y="2011680"/>
            <a:ext cx="5259583" cy="3108960"/>
          </a:xfrm>
          <a:prstGeom prst="rect">
            <a:avLst/>
          </a:prstGeom>
          <a:noFill/>
        </p:spPr>
        <p:txBody>
          <a:bodyPr wrap="square" lIns="0" rIns="0" tIns="0" bIns="0">
            <a:spAutoFit/>
          </a:bodyPr>
          <a:lstStyle/>
          <a:p>
            <a:pPr>
              <a:lnSpc>
                <a:spcPct val="122000"/>
              </a:lnSpc>
              <a:spcAft>
                <a:spcPts val="900"/>
              </a:spcAft>
            </a:pPr>
            <a:r>
              <a:rPr sz="1150" b="1">
                <a:solidFill>
                  <a:srgbClr val="0CA30C"/>
                </a:solidFill>
                <a:latin typeface="Inter"/>
              </a:rPr>
              <a:t>— </a:t>
            </a:r>
            <a:r>
              <a:rPr sz="1150">
                <a:solidFill>
                  <a:srgbClr val="CBD5E1"/>
                </a:solidFill>
                <a:latin typeface="Inter"/>
              </a:rPr>
              <a:t>A reproduction and audit of the base paper it does not provide: macro metrics, confusion, CIs, and eight documented under-specifications.</a:t>
            </a:r>
          </a:p>
          <a:p>
            <a:pPr>
              <a:lnSpc>
                <a:spcPct val="122000"/>
              </a:lnSpc>
              <a:spcAft>
                <a:spcPts val="900"/>
              </a:spcAft>
            </a:pPr>
            <a:r>
              <a:rPr sz="1150" b="1">
                <a:solidFill>
                  <a:srgbClr val="0CA30C"/>
                </a:solidFill>
                <a:latin typeface="Inter"/>
              </a:rPr>
              <a:t>— </a:t>
            </a:r>
            <a:r>
              <a:rPr sz="1150">
                <a:solidFill>
                  <a:srgbClr val="CBD5E1"/>
                </a:solidFill>
                <a:latin typeface="Inter"/>
              </a:rPr>
              <a:t>Genuine CKKS inference with a quantified exactness bound, not just an agreement count.</a:t>
            </a:r>
          </a:p>
          <a:p>
            <a:pPr>
              <a:lnSpc>
                <a:spcPct val="122000"/>
              </a:lnSpc>
              <a:spcAft>
                <a:spcPts val="900"/>
              </a:spcAft>
            </a:pPr>
            <a:r>
              <a:rPr sz="1150" b="1">
                <a:solidFill>
                  <a:srgbClr val="0CA30C"/>
                </a:solidFill>
                <a:latin typeface="Inter"/>
              </a:rPr>
              <a:t>— </a:t>
            </a:r>
            <a:r>
              <a:rPr sz="1150">
                <a:solidFill>
                  <a:srgbClr val="CBD5E1"/>
                </a:solidFill>
                <a:latin typeface="Inter"/>
              </a:rPr>
              <a:t>An evaluation protocol that stays informative on a saturated benchmark — and that is what exposed the result below.</a:t>
            </a:r>
          </a:p>
          <a:p>
            <a:pPr>
              <a:lnSpc>
                <a:spcPct val="122000"/>
              </a:lnSpc>
              <a:spcAft>
                <a:spcPts val="900"/>
              </a:spcAft>
            </a:pPr>
            <a:r>
              <a:rPr sz="1150" b="1">
                <a:solidFill>
                  <a:srgbClr val="0CA30C"/>
                </a:solidFill>
                <a:latin typeface="Inter"/>
              </a:rPr>
              <a:t>— </a:t>
            </a:r>
            <a:r>
              <a:rPr sz="1150">
                <a:solidFill>
                  <a:srgbClr val="CBD5E1"/>
                </a:solidFill>
                <a:latin typeface="Inter"/>
              </a:rPr>
              <a:t>An explicit threat-model comparison that states what is NOT protected.</a:t>
            </a:r>
          </a:p>
        </p:txBody>
      </p:sp>
      <p:sp>
        <p:nvSpPr>
          <p:cNvPr id="14" name="Rounded Rectangle 13"/>
          <p:cNvSpPr/>
          <p:nvPr/>
        </p:nvSpPr>
        <p:spPr>
          <a:xfrm>
            <a:off x="566928" y="4599432"/>
            <a:ext cx="11057839" cy="96012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599432"/>
            <a:ext cx="41148" cy="96012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736592"/>
            <a:ext cx="10637215"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D03B3B"/>
                </a:solidFill>
                <a:latin typeface="Inter"/>
              </a:rPr>
              <a:t>The proposed architecture is NOT among the contributions</a:t>
            </a:r>
          </a:p>
        </p:txBody>
      </p:sp>
      <p:sp>
        <p:nvSpPr>
          <p:cNvPr id="17" name="TextBox 16"/>
          <p:cNvSpPr txBox="1"/>
          <p:nvPr/>
        </p:nvSpPr>
        <p:spPr>
          <a:xfrm>
            <a:off x="786384" y="5074920"/>
            <a:ext cx="10637215" cy="33832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The learned Sobel-conditioned chunk selection was the one genuinely new piece. Measured against its own backbone under matched seeds, it costs accuracy. We report that rather than claim an architectural advance — see the ablation.</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50"/>
                                        <p:tgtEl>
                                          <p:spTgt spid="14"/>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50"/>
                                        <p:tgtEl>
                                          <p:spTgt spid="15"/>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350"/>
                                        <p:tgtEl>
                                          <p:spTgt spid="16"/>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3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Complete Proposed Architecture</a:t>
            </a:r>
          </a:p>
        </p:txBody>
      </p:sp>
      <p:sp>
        <p:nvSpPr>
          <p:cNvPr id="4" name="Rectangle 3"/>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3685946"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8" name="TextBox 7"/>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19</a:t>
            </a:r>
          </a:p>
        </p:txBody>
      </p:sp>
      <p:pic>
        <p:nvPicPr>
          <p:cNvPr id="9" name="Picture 8" descr="01_complete_architecture_1335.png"/>
          <p:cNvPicPr>
            <a:picLocks noChangeAspect="1"/>
          </p:cNvPicPr>
          <p:nvPr/>
        </p:nvPicPr>
        <p:blipFill>
          <a:blip r:embed="rId2"/>
          <a:stretch>
            <a:fillRect/>
          </a:stretch>
        </p:blipFill>
        <p:spPr>
          <a:xfrm>
            <a:off x="2027204" y="1490472"/>
            <a:ext cx="8137286" cy="4617720"/>
          </a:xfrm>
          <a:prstGeom prst="rect">
            <a:avLst/>
          </a:prstGeom>
        </p:spPr>
      </p:pic>
    </p:spTree>
  </p:cSld>
  <p:clrMapOvr>
    <a:masterClrMapping/>
  </p:clrMapOvr>
  <p:transition xmlns:ns0="http://schemas.microsoft.com/office/powerpoint/2010/main" spd="med" ns0:dur="400">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Data Preprocessing</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CLAHE replaces the base paper's global equalisation — a choice the design study measures</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3879943"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20</a:t>
            </a:r>
          </a:p>
        </p:txBody>
      </p:sp>
      <p:pic>
        <p:nvPicPr>
          <p:cNvPr id="10" name="Picture 9" descr="03_preprocessing_pipeline_1486.png"/>
          <p:cNvPicPr>
            <a:picLocks noChangeAspect="1"/>
          </p:cNvPicPr>
          <p:nvPr/>
        </p:nvPicPr>
        <p:blipFill>
          <a:blip r:embed="rId2"/>
          <a:stretch>
            <a:fillRect/>
          </a:stretch>
        </p:blipFill>
        <p:spPr>
          <a:xfrm>
            <a:off x="1566979" y="1581912"/>
            <a:ext cx="9057735" cy="4572000"/>
          </a:xfrm>
          <a:prstGeom prst="rect">
            <a:avLst/>
          </a:prstGeom>
        </p:spPr>
      </p:pic>
    </p:spTree>
  </p:cSld>
  <p:clrMapOvr>
    <a:masterClrMapping/>
  </p:clrMapOvr>
  <p:transition xmlns:ns0="http://schemas.microsoft.com/office/powerpoint/2010/main" spd="med" ns0:dur="400">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Preprocessing  ·  before and after</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The same six images under the base paper's contrast step and ours</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4073940"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21</a:t>
            </a:r>
          </a:p>
        </p:txBody>
      </p:sp>
      <p:pic>
        <p:nvPicPr>
          <p:cNvPr id="10" name="Picture 9" descr="ba_preprocessing_1639.png"/>
          <p:cNvPicPr>
            <a:picLocks noChangeAspect="1"/>
          </p:cNvPicPr>
          <p:nvPr/>
        </p:nvPicPr>
        <p:blipFill>
          <a:blip r:embed="rId2"/>
          <a:stretch>
            <a:fillRect/>
          </a:stretch>
        </p:blipFill>
        <p:spPr>
          <a:xfrm>
            <a:off x="1100520" y="1627632"/>
            <a:ext cx="9990654" cy="4480560"/>
          </a:xfrm>
          <a:prstGeom prst="rect">
            <a:avLst/>
          </a:prstGeom>
        </p:spPr>
      </p:pic>
    </p:spTree>
  </p:cSld>
  <p:clrMapOvr>
    <a:masterClrMapping/>
  </p:clrMapOvr>
  <p:transition xmlns:ns0="http://schemas.microsoft.com/office/powerpoint/2010/main" spd="med" ns0:dur="400">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Global Feature Extraction  ·  EfficientNet-B0</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Pretrained weights, adapted to a single-channel input</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4267937"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22</a:t>
            </a:r>
          </a:p>
        </p:txBody>
      </p:sp>
      <p:sp>
        <p:nvSpPr>
          <p:cNvPr id="10" name="TextBox 9"/>
          <p:cNvSpPr txBox="1"/>
          <p:nvPr/>
        </p:nvSpPr>
        <p:spPr>
          <a:xfrm>
            <a:off x="566928" y="1627632"/>
            <a:ext cx="5446623" cy="2926080"/>
          </a:xfrm>
          <a:prstGeom prst="rect">
            <a:avLst/>
          </a:prstGeom>
          <a:noFill/>
        </p:spPr>
        <p:txBody>
          <a:bodyPr wrap="square" lIns="0" rIns="0" tIns="0" bIns="0">
            <a:spAutoFit/>
          </a:bodyPr>
          <a:lstStyle/>
          <a:p>
            <a:pPr>
              <a:lnSpc>
                <a:spcPct val="122000"/>
              </a:lnSpc>
              <a:spcAft>
                <a:spcPts val="900"/>
              </a:spcAft>
            </a:pPr>
            <a:r>
              <a:rPr sz="1250" b="1">
                <a:solidFill>
                  <a:srgbClr val="3987E5"/>
                </a:solidFill>
                <a:latin typeface="Inter"/>
              </a:rPr>
              <a:t>— </a:t>
            </a:r>
            <a:r>
              <a:rPr sz="1250" b="1">
                <a:solidFill>
                  <a:srgbClr val="F1F5F9"/>
                </a:solidFill>
                <a:latin typeface="Inter"/>
              </a:rPr>
              <a:t>Why EfficientNet-B0. </a:t>
            </a:r>
            <a:r>
              <a:rPr sz="1250">
                <a:solidFill>
                  <a:srgbClr val="CBD5E1"/>
                </a:solidFill>
                <a:latin typeface="Inter"/>
              </a:rPr>
              <a:t>Compound scaling gives strong ImageNet features at ~4.0 M parameters — the accuracy/compute point that fits a CPU-trained project.</a:t>
            </a:r>
          </a:p>
          <a:p>
            <a:pPr>
              <a:lnSpc>
                <a:spcPct val="122000"/>
              </a:lnSpc>
              <a:spcAft>
                <a:spcPts val="900"/>
              </a:spcAft>
            </a:pPr>
            <a:r>
              <a:rPr sz="1250" b="1">
                <a:solidFill>
                  <a:srgbClr val="3987E5"/>
                </a:solidFill>
                <a:latin typeface="Inter"/>
              </a:rPr>
              <a:t>— </a:t>
            </a:r>
            <a:r>
              <a:rPr sz="1250" b="1">
                <a:solidFill>
                  <a:srgbClr val="F1F5F9"/>
                </a:solidFill>
                <a:latin typeface="Inter"/>
              </a:rPr>
              <a:t>Grayscale adaptation. </a:t>
            </a:r>
            <a:r>
              <a:rPr sz="1250">
                <a:solidFill>
                  <a:srgbClr val="CBD5E1"/>
                </a:solidFill>
                <a:latin typeface="Inter"/>
              </a:rPr>
              <a:t>timm's in_chans=1 sums the pretrained RGB stem filters rather than replicating the channel, preserving filter response magnitude.</a:t>
            </a:r>
          </a:p>
          <a:p>
            <a:pPr>
              <a:lnSpc>
                <a:spcPct val="122000"/>
              </a:lnSpc>
              <a:spcAft>
                <a:spcPts val="900"/>
              </a:spcAft>
            </a:pPr>
            <a:r>
              <a:rPr sz="1250" b="1">
                <a:solidFill>
                  <a:srgbClr val="3987E5"/>
                </a:solidFill>
                <a:latin typeface="Inter"/>
              </a:rPr>
              <a:t>— </a:t>
            </a:r>
            <a:r>
              <a:rPr sz="1250" b="1">
                <a:solidFill>
                  <a:srgbClr val="F1F5F9"/>
                </a:solidFill>
                <a:latin typeface="Inter"/>
              </a:rPr>
              <a:t>Projection. </a:t>
            </a:r>
            <a:r>
              <a:rPr sz="1250">
                <a:solidFill>
                  <a:srgbClr val="CBD5E1"/>
                </a:solidFill>
                <a:latin typeface="Inter"/>
              </a:rPr>
              <a:t>1280-d pooled features → Linear + LayerNorm → 256-d, matching the local branch.</a:t>
            </a:r>
          </a:p>
          <a:p>
            <a:pPr>
              <a:lnSpc>
                <a:spcPct val="122000"/>
              </a:lnSpc>
              <a:spcAft>
                <a:spcPts val="900"/>
              </a:spcAft>
            </a:pPr>
            <a:r>
              <a:rPr sz="1250" b="1">
                <a:solidFill>
                  <a:srgbClr val="3987E5"/>
                </a:solidFill>
                <a:latin typeface="Inter"/>
              </a:rPr>
              <a:t>— </a:t>
            </a:r>
            <a:r>
              <a:rPr sz="1250" b="1">
                <a:solidFill>
                  <a:srgbClr val="F1F5F9"/>
                </a:solidFill>
                <a:latin typeface="Inter"/>
              </a:rPr>
              <a:t>Transfer matters most when data is scarce. </a:t>
            </a:r>
            <a:r>
              <a:rPr sz="1250">
                <a:solidFill>
                  <a:srgbClr val="CBD5E1"/>
                </a:solidFill>
                <a:latin typeface="Inter"/>
              </a:rPr>
              <a:t>This is visible in the learning curve: the gap over a from-scratch CNN widens as training data shrinks.</a:t>
            </a:r>
          </a:p>
        </p:txBody>
      </p:sp>
      <p:sp>
        <p:nvSpPr>
          <p:cNvPr id="11" name="TextBox 10"/>
          <p:cNvSpPr txBox="1"/>
          <p:nvPr/>
        </p:nvSpPr>
        <p:spPr>
          <a:xfrm>
            <a:off x="7113346" y="1627632"/>
            <a:ext cx="237744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component</a:t>
            </a:r>
          </a:p>
        </p:txBody>
      </p:sp>
      <p:sp>
        <p:nvSpPr>
          <p:cNvPr id="12" name="TextBox 11"/>
          <p:cNvSpPr txBox="1"/>
          <p:nvPr/>
        </p:nvSpPr>
        <p:spPr>
          <a:xfrm>
            <a:off x="9490786" y="1627632"/>
            <a:ext cx="2133981"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parameters</a:t>
            </a:r>
          </a:p>
        </p:txBody>
      </p:sp>
      <p:sp>
        <p:nvSpPr>
          <p:cNvPr id="13" name="Rectangle 12"/>
          <p:cNvSpPr/>
          <p:nvPr/>
        </p:nvSpPr>
        <p:spPr>
          <a:xfrm>
            <a:off x="7113346" y="1920240"/>
            <a:ext cx="4511421"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13346" y="2011680"/>
            <a:ext cx="23774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global branch</a:t>
            </a:r>
          </a:p>
        </p:txBody>
      </p:sp>
      <p:sp>
        <p:nvSpPr>
          <p:cNvPr id="15" name="TextBox 14"/>
          <p:cNvSpPr txBox="1"/>
          <p:nvPr/>
        </p:nvSpPr>
        <p:spPr>
          <a:xfrm>
            <a:off x="9490786" y="2011680"/>
            <a:ext cx="2133981"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4,335,420</a:t>
            </a:r>
          </a:p>
        </p:txBody>
      </p:sp>
      <p:sp>
        <p:nvSpPr>
          <p:cNvPr id="16" name="TextBox 15"/>
          <p:cNvSpPr txBox="1"/>
          <p:nvPr/>
        </p:nvSpPr>
        <p:spPr>
          <a:xfrm>
            <a:off x="7113346" y="2322576"/>
            <a:ext cx="23774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local branch</a:t>
            </a:r>
          </a:p>
        </p:txBody>
      </p:sp>
      <p:sp>
        <p:nvSpPr>
          <p:cNvPr id="17" name="TextBox 16"/>
          <p:cNvSpPr txBox="1"/>
          <p:nvPr/>
        </p:nvSpPr>
        <p:spPr>
          <a:xfrm>
            <a:off x="9490786" y="2322576"/>
            <a:ext cx="2133981"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190,816</a:t>
            </a:r>
          </a:p>
        </p:txBody>
      </p:sp>
      <p:sp>
        <p:nvSpPr>
          <p:cNvPr id="18" name="TextBox 17"/>
          <p:cNvSpPr txBox="1"/>
          <p:nvPr/>
        </p:nvSpPr>
        <p:spPr>
          <a:xfrm>
            <a:off x="7113346" y="2633472"/>
            <a:ext cx="23774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chunk attention</a:t>
            </a:r>
          </a:p>
        </p:txBody>
      </p:sp>
      <p:sp>
        <p:nvSpPr>
          <p:cNvPr id="19" name="TextBox 18"/>
          <p:cNvSpPr txBox="1"/>
          <p:nvPr/>
        </p:nvSpPr>
        <p:spPr>
          <a:xfrm>
            <a:off x="9490786" y="2633472"/>
            <a:ext cx="2133981"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8,322</a:t>
            </a:r>
          </a:p>
        </p:txBody>
      </p:sp>
      <p:sp>
        <p:nvSpPr>
          <p:cNvPr id="20" name="TextBox 19"/>
          <p:cNvSpPr txBox="1"/>
          <p:nvPr/>
        </p:nvSpPr>
        <p:spPr>
          <a:xfrm>
            <a:off x="7113346" y="2944368"/>
            <a:ext cx="23774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fusion</a:t>
            </a:r>
          </a:p>
        </p:txBody>
      </p:sp>
      <p:sp>
        <p:nvSpPr>
          <p:cNvPr id="21" name="TextBox 20"/>
          <p:cNvSpPr txBox="1"/>
          <p:nvPr/>
        </p:nvSpPr>
        <p:spPr>
          <a:xfrm>
            <a:off x="9490786" y="2944368"/>
            <a:ext cx="2133981"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197,120</a:t>
            </a:r>
          </a:p>
        </p:txBody>
      </p:sp>
      <p:sp>
        <p:nvSpPr>
          <p:cNvPr id="22" name="TextBox 21"/>
          <p:cNvSpPr txBox="1"/>
          <p:nvPr/>
        </p:nvSpPr>
        <p:spPr>
          <a:xfrm>
            <a:off x="7113346" y="3255264"/>
            <a:ext cx="23774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compression</a:t>
            </a:r>
          </a:p>
        </p:txBody>
      </p:sp>
      <p:sp>
        <p:nvSpPr>
          <p:cNvPr id="23" name="TextBox 22"/>
          <p:cNvSpPr txBox="1"/>
          <p:nvPr/>
        </p:nvSpPr>
        <p:spPr>
          <a:xfrm>
            <a:off x="9490786" y="3255264"/>
            <a:ext cx="2133981"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16,448</a:t>
            </a:r>
          </a:p>
        </p:txBody>
      </p:sp>
      <p:sp>
        <p:nvSpPr>
          <p:cNvPr id="24" name="TextBox 23"/>
          <p:cNvSpPr txBox="1"/>
          <p:nvPr/>
        </p:nvSpPr>
        <p:spPr>
          <a:xfrm>
            <a:off x="7113346" y="3566160"/>
            <a:ext cx="23774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encrypted head</a:t>
            </a:r>
          </a:p>
        </p:txBody>
      </p:sp>
      <p:sp>
        <p:nvSpPr>
          <p:cNvPr id="25" name="TextBox 24"/>
          <p:cNvSpPr txBox="1"/>
          <p:nvPr/>
        </p:nvSpPr>
        <p:spPr>
          <a:xfrm>
            <a:off x="9490786" y="3566160"/>
            <a:ext cx="2133981"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2,278</a:t>
            </a:r>
          </a:p>
        </p:txBody>
      </p:sp>
      <p:sp>
        <p:nvSpPr>
          <p:cNvPr id="26" name="Rounded Rectangle 25"/>
          <p:cNvSpPr/>
          <p:nvPr/>
        </p:nvSpPr>
        <p:spPr>
          <a:xfrm>
            <a:off x="7021906" y="3826764"/>
            <a:ext cx="4694301" cy="292608"/>
          </a:xfrm>
          <a:prstGeom prst="roundRect">
            <a:avLst>
              <a:gd name="adj" fmla="val 6000"/>
            </a:avLst>
          </a:prstGeom>
          <a:solidFill>
            <a:srgbClr val="16213C"/>
          </a:solidFill>
          <a:ln w="12700">
            <a:solidFill>
              <a:srgbClr val="16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13346" y="3877056"/>
            <a:ext cx="2377440" cy="310896"/>
          </a:xfrm>
          <a:prstGeom prst="rect">
            <a:avLst/>
          </a:prstGeom>
          <a:noFill/>
        </p:spPr>
        <p:txBody>
          <a:bodyPr wrap="square" anchor="t" lIns="0" rIns="0" tIns="0" bIns="0">
            <a:spAutoFit/>
          </a:bodyPr>
          <a:lstStyle/>
          <a:p>
            <a:pPr algn="l">
              <a:lnSpc>
                <a:spcPct val="118000"/>
              </a:lnSpc>
              <a:spcAft>
                <a:spcPts val="400"/>
              </a:spcAft>
            </a:pPr>
            <a:r>
              <a:rPr sz="1100" b="1" i="0">
                <a:solidFill>
                  <a:srgbClr val="F1F5F9"/>
                </a:solidFill>
                <a:latin typeface="Inter"/>
              </a:rPr>
              <a:t>TOTAL</a:t>
            </a:r>
          </a:p>
        </p:txBody>
      </p:sp>
      <p:sp>
        <p:nvSpPr>
          <p:cNvPr id="28" name="TextBox 27"/>
          <p:cNvSpPr txBox="1"/>
          <p:nvPr/>
        </p:nvSpPr>
        <p:spPr>
          <a:xfrm>
            <a:off x="9490786" y="3877056"/>
            <a:ext cx="2133981" cy="310896"/>
          </a:xfrm>
          <a:prstGeom prst="rect">
            <a:avLst/>
          </a:prstGeom>
          <a:noFill/>
        </p:spPr>
        <p:txBody>
          <a:bodyPr wrap="square" anchor="t" lIns="0" rIns="0" tIns="0" bIns="0">
            <a:spAutoFit/>
          </a:bodyPr>
          <a:lstStyle/>
          <a:p>
            <a:pPr algn="l">
              <a:lnSpc>
                <a:spcPct val="118000"/>
              </a:lnSpc>
              <a:spcAft>
                <a:spcPts val="400"/>
              </a:spcAft>
            </a:pPr>
            <a:r>
              <a:rPr sz="1100" b="1" i="0">
                <a:solidFill>
                  <a:srgbClr val="F1F5F9"/>
                </a:solidFill>
                <a:latin typeface="Source Code Pro"/>
              </a:rPr>
              <a:t>4,750,404</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350"/>
                                        <p:tgtEl>
                                          <p:spTgt spid="14"/>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350"/>
                                        <p:tgtEl>
                                          <p:spTgt spid="15"/>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350"/>
                                        <p:tgtEl>
                                          <p:spTgt spid="16"/>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350"/>
                                        <p:tgtEl>
                                          <p:spTgt spid="17"/>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Multi-Scale Local Branch</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Four parallel receptive fields per block, fused by a 1×1 convolution.</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4461935"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23</a:t>
            </a:r>
          </a:p>
        </p:txBody>
      </p:sp>
      <p:pic>
        <p:nvPicPr>
          <p:cNvPr id="10" name="Picture 9" descr="04_multiscale_extraction_1407.png"/>
          <p:cNvPicPr>
            <a:picLocks noChangeAspect="1"/>
          </p:cNvPicPr>
          <p:nvPr/>
        </p:nvPicPr>
        <p:blipFill>
          <a:blip r:embed="rId2"/>
          <a:stretch>
            <a:fillRect/>
          </a:stretch>
        </p:blipFill>
        <p:spPr>
          <a:xfrm>
            <a:off x="1808280" y="1581912"/>
            <a:ext cx="8575133" cy="4572000"/>
          </a:xfrm>
          <a:prstGeom prst="rect">
            <a:avLst/>
          </a:prstGeom>
        </p:spPr>
      </p:pic>
    </p:spTree>
  </p:cSld>
  <p:clrMapOvr>
    <a:masterClrMapping/>
  </p:clrMapOvr>
  <p:transition xmlns:ns0="http://schemas.microsoft.com/office/powerpoint/2010/main" spd="med" ns0:dur="400">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Adaptive Chunk Selection</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250" b="0" i="0">
                <a:solidFill>
                  <a:srgbClr val="94A3B8"/>
                </a:solidFill>
                <a:latin typeface="Inter"/>
              </a:rPr>
              <a:t>The base paper's rule is photometric and non-differentiable; ours is learned and conditioned on it.</a:t>
            </a:r>
          </a:p>
        </p:txBody>
      </p:sp>
      <p:sp>
        <p:nvSpPr>
          <p:cNvPr id="5" name="Rectangle 4"/>
          <p:cNvSpPr/>
          <p:nvPr/>
        </p:nvSpPr>
        <p:spPr>
          <a:xfrm>
            <a:off x="566928" y="1719072"/>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4655932"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24</a:t>
            </a:r>
          </a:p>
        </p:txBody>
      </p:sp>
      <p:pic>
        <p:nvPicPr>
          <p:cNvPr id="10" name="Picture 9" descr="05_adaptive_chunk_selection_1386.png"/>
          <p:cNvPicPr>
            <a:picLocks noChangeAspect="1"/>
          </p:cNvPicPr>
          <p:nvPr/>
        </p:nvPicPr>
        <p:blipFill>
          <a:blip r:embed="rId2"/>
          <a:stretch>
            <a:fillRect/>
          </a:stretch>
        </p:blipFill>
        <p:spPr>
          <a:xfrm>
            <a:off x="1872445" y="1581912"/>
            <a:ext cx="8446803" cy="4572000"/>
          </a:xfrm>
          <a:prstGeom prst="rect">
            <a:avLst/>
          </a:prstGeom>
        </p:spPr>
      </p:pic>
    </p:spTree>
  </p:cSld>
  <p:clrMapOvr>
    <a:masterClrMapping/>
  </p:clrMapOvr>
  <p:transition xmlns:ns0="http://schemas.microsoft.com/office/powerpoint/2010/main" spd="med" ns0:dur="400">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Chunk Attention Mechanism</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Soft, differentiable selection over the 4×4 chunk grid.</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4849929"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25</a:t>
            </a:r>
          </a:p>
        </p:txBody>
      </p:sp>
      <p:pic>
        <p:nvPicPr>
          <p:cNvPr id="10" name="Picture 9" descr="06_attention_mechanism_1407.png"/>
          <p:cNvPicPr>
            <a:picLocks noChangeAspect="1"/>
          </p:cNvPicPr>
          <p:nvPr/>
        </p:nvPicPr>
        <p:blipFill>
          <a:blip r:embed="rId2"/>
          <a:stretch>
            <a:fillRect/>
          </a:stretch>
        </p:blipFill>
        <p:spPr>
          <a:xfrm>
            <a:off x="1808280" y="1581912"/>
            <a:ext cx="8575133" cy="4572000"/>
          </a:xfrm>
          <a:prstGeom prst="rect">
            <a:avLst/>
          </a:prstGeom>
        </p:spPr>
      </p:pic>
    </p:spTree>
  </p:cSld>
  <p:clrMapOvr>
    <a:masterClrMapping/>
  </p:clrMapOvr>
  <p:transition xmlns:ns0="http://schemas.microsoft.com/office/powerpoint/2010/main" spd="med" ns0:dur="400">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Gated Feature Fusion</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A channel-wise gate, not a scalar weight.</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5043926"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26</a:t>
            </a:r>
          </a:p>
        </p:txBody>
      </p:sp>
      <p:pic>
        <p:nvPicPr>
          <p:cNvPr id="10" name="Picture 9" descr="07_gated_fusion_1394.png"/>
          <p:cNvPicPr>
            <a:picLocks noChangeAspect="1"/>
          </p:cNvPicPr>
          <p:nvPr/>
        </p:nvPicPr>
        <p:blipFill>
          <a:blip r:embed="rId2"/>
          <a:stretch>
            <a:fillRect/>
          </a:stretch>
        </p:blipFill>
        <p:spPr>
          <a:xfrm>
            <a:off x="1845540" y="1581912"/>
            <a:ext cx="8500613" cy="4572000"/>
          </a:xfrm>
          <a:prstGeom prst="rect">
            <a:avLst/>
          </a:prstGeom>
        </p:spPr>
      </p:pic>
    </p:spTree>
  </p:cSld>
  <p:clrMapOvr>
    <a:masterClrMapping/>
  </p:clrMapOvr>
  <p:transition xmlns:ns0="http://schemas.microsoft.com/office/powerpoint/2010/main" spd="med" ns0:dur="400">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Feature Compression</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The compressed width d is the encryption-cost lever.</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5237923"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27</a:t>
            </a:r>
          </a:p>
        </p:txBody>
      </p:sp>
      <p:pic>
        <p:nvPicPr>
          <p:cNvPr id="10" name="Picture 9" descr="08_feature_compression_1514.png"/>
          <p:cNvPicPr>
            <a:picLocks noChangeAspect="1"/>
          </p:cNvPicPr>
          <p:nvPr/>
        </p:nvPicPr>
        <p:blipFill>
          <a:blip r:embed="rId2"/>
          <a:stretch>
            <a:fillRect/>
          </a:stretch>
        </p:blipFill>
        <p:spPr>
          <a:xfrm>
            <a:off x="1482283" y="1581912"/>
            <a:ext cx="9227127" cy="4572000"/>
          </a:xfrm>
          <a:prstGeom prst="rect">
            <a:avLst/>
          </a:prstGeom>
        </p:spPr>
      </p:pic>
    </p:spTree>
  </p:cSld>
  <p:clrMapOvr>
    <a:masterClrMapping/>
  </p:clrMapOvr>
  <p:transition xmlns:ns0="http://schemas.microsoft.com/office/powerpoint/2010/main" spd="med" ns0:dur="400">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CKKS Encryption</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A five-prime modulus chain supports exactly the three multiplications the head needs.</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5431921"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28</a:t>
            </a:r>
          </a:p>
        </p:txBody>
      </p:sp>
      <p:pic>
        <p:nvPicPr>
          <p:cNvPr id="10" name="Picture 9" descr="09_ckks_workflow_1418.png"/>
          <p:cNvPicPr>
            <a:picLocks noChangeAspect="1"/>
          </p:cNvPicPr>
          <p:nvPr/>
        </p:nvPicPr>
        <p:blipFill>
          <a:blip r:embed="rId2"/>
          <a:stretch>
            <a:fillRect/>
          </a:stretch>
        </p:blipFill>
        <p:spPr>
          <a:xfrm>
            <a:off x="1774227" y="1581912"/>
            <a:ext cx="8643240" cy="4572000"/>
          </a:xfrm>
          <a:prstGeom prst="rect">
            <a:avLst/>
          </a:prstGeom>
        </p:spPr>
      </p:pic>
    </p:spTree>
  </p:cSld>
  <p:clrMapOvr>
    <a:masterClrMapping/>
  </p:clrMapOvr>
  <p:transition xmlns:ns0="http://schemas.microsoft.com/office/powerpoint/2010/main" spd="med" ns0:dur="400">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Encrypted Inference Workflow</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Honest-but-curious server; the secret key never leaves the client.</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5625918"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29</a:t>
            </a:r>
          </a:p>
        </p:txBody>
      </p:sp>
      <p:pic>
        <p:nvPicPr>
          <p:cNvPr id="10" name="Picture 9" descr="10_client_server_protocol_1325.png"/>
          <p:cNvPicPr>
            <a:picLocks noChangeAspect="1"/>
          </p:cNvPicPr>
          <p:nvPr/>
        </p:nvPicPr>
        <p:blipFill>
          <a:blip r:embed="rId2"/>
          <a:stretch>
            <a:fillRect/>
          </a:stretch>
        </p:blipFill>
        <p:spPr>
          <a:xfrm>
            <a:off x="2056072" y="1581912"/>
            <a:ext cx="8079551" cy="4572000"/>
          </a:xfrm>
          <a:prstGeom prst="rect">
            <a:avLst/>
          </a:prstGeom>
        </p:spPr>
      </p:pic>
    </p:spTree>
  </p:cSld>
  <p:clrMapOvr>
    <a:masterClrMapping/>
  </p:clrMapOvr>
  <p:transition xmlns:ns0="http://schemas.microsoft.com/office/powerpoint/2010/main" spd="med" ns0:dur="400">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Training Methodology</a:t>
            </a:r>
          </a:p>
        </p:txBody>
      </p:sp>
      <p:sp>
        <p:nvSpPr>
          <p:cNvPr id="4" name="Rectangle 3"/>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5819915"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8" name="TextBox 7"/>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30</a:t>
            </a:r>
          </a:p>
        </p:txBody>
      </p:sp>
      <p:sp>
        <p:nvSpPr>
          <p:cNvPr id="9" name="TextBox 8"/>
          <p:cNvSpPr txBox="1"/>
          <p:nvPr/>
        </p:nvSpPr>
        <p:spPr>
          <a:xfrm>
            <a:off x="566928" y="1627632"/>
            <a:ext cx="5446623" cy="3291840"/>
          </a:xfrm>
          <a:prstGeom prst="rect">
            <a:avLst/>
          </a:prstGeom>
          <a:noFill/>
        </p:spPr>
        <p:txBody>
          <a:bodyPr wrap="square" lIns="0" rIns="0" tIns="0" bIns="0">
            <a:spAutoFit/>
          </a:bodyPr>
          <a:lstStyle/>
          <a:p>
            <a:pPr>
              <a:lnSpc>
                <a:spcPct val="122000"/>
              </a:lnSpc>
              <a:spcAft>
                <a:spcPts val="900"/>
              </a:spcAft>
            </a:pPr>
            <a:r>
              <a:rPr sz="1250" b="1">
                <a:solidFill>
                  <a:srgbClr val="3987E5"/>
                </a:solidFill>
                <a:latin typeface="Inter"/>
              </a:rPr>
              <a:t>— </a:t>
            </a:r>
            <a:r>
              <a:rPr sz="1250" b="1">
                <a:solidFill>
                  <a:srgbClr val="F1F5F9"/>
                </a:solidFill>
                <a:latin typeface="Inter"/>
              </a:rPr>
              <a:t>Optimiser. </a:t>
            </a:r>
            <a:r>
              <a:rPr sz="1250">
                <a:solidFill>
                  <a:srgbClr val="CBD5E1"/>
                </a:solidFill>
                <a:latin typeface="Inter"/>
              </a:rPr>
              <a:t>AdamW, cosine schedule with linear warm-up, gradient clipping at 5.0.</a:t>
            </a:r>
          </a:p>
          <a:p>
            <a:pPr>
              <a:lnSpc>
                <a:spcPct val="122000"/>
              </a:lnSpc>
              <a:spcAft>
                <a:spcPts val="900"/>
              </a:spcAft>
            </a:pPr>
            <a:r>
              <a:rPr sz="1250" b="1">
                <a:solidFill>
                  <a:srgbClr val="3987E5"/>
                </a:solidFill>
                <a:latin typeface="Inter"/>
              </a:rPr>
              <a:t>— </a:t>
            </a:r>
            <a:r>
              <a:rPr sz="1250" b="1">
                <a:solidFill>
                  <a:srgbClr val="F1F5F9"/>
                </a:solidFill>
                <a:latin typeface="Inter"/>
              </a:rPr>
              <a:t>Loss. </a:t>
            </a:r>
            <a:r>
              <a:rPr sz="1250">
                <a:solidFill>
                  <a:srgbClr val="CBD5E1"/>
                </a:solidFill>
                <a:latin typeface="Inter"/>
              </a:rPr>
              <a:t>Cross-entropy with 0.05 label smoothing.</a:t>
            </a:r>
          </a:p>
          <a:p>
            <a:pPr>
              <a:lnSpc>
                <a:spcPct val="122000"/>
              </a:lnSpc>
              <a:spcAft>
                <a:spcPts val="900"/>
              </a:spcAft>
            </a:pPr>
            <a:r>
              <a:rPr sz="1250" b="1">
                <a:solidFill>
                  <a:srgbClr val="3987E5"/>
                </a:solidFill>
                <a:latin typeface="Inter"/>
              </a:rPr>
              <a:t>— </a:t>
            </a:r>
            <a:r>
              <a:rPr sz="1250" b="1">
                <a:solidFill>
                  <a:srgbClr val="F1F5F9"/>
                </a:solidFill>
                <a:latin typeface="Inter"/>
              </a:rPr>
              <a:t>Selection. </a:t>
            </a:r>
            <a:r>
              <a:rPr sz="1250">
                <a:solidFill>
                  <a:srgbClr val="CBD5E1"/>
                </a:solidFill>
                <a:latin typeface="Inter"/>
              </a:rPr>
              <a:t>Validation macro-F1, with validation loss as tiebreak — NEU-CLS saturates macro-F1 within a couple of epochs, so the tiebreak is what picks a well-calibrated model rather than the first lucky epoch.</a:t>
            </a:r>
          </a:p>
          <a:p>
            <a:pPr>
              <a:lnSpc>
                <a:spcPct val="122000"/>
              </a:lnSpc>
              <a:spcAft>
                <a:spcPts val="900"/>
              </a:spcAft>
            </a:pPr>
            <a:r>
              <a:rPr sz="1250" b="1">
                <a:solidFill>
                  <a:srgbClr val="3987E5"/>
                </a:solidFill>
                <a:latin typeface="Inter"/>
              </a:rPr>
              <a:t>— </a:t>
            </a:r>
            <a:r>
              <a:rPr sz="1250" b="1">
                <a:solidFill>
                  <a:srgbClr val="F1F5F9"/>
                </a:solidFill>
                <a:latin typeface="Inter"/>
              </a:rPr>
              <a:t>Hygiene. </a:t>
            </a:r>
            <a:r>
              <a:rPr sz="1250">
                <a:solidFill>
                  <a:srgbClr val="CBD5E1"/>
                </a:solidFill>
                <a:latin typeface="Inter"/>
              </a:rPr>
              <a:t>Fixed seeds, saved split manifests, resumable checkpoints; the test split is read exactly once, after selection.</a:t>
            </a:r>
          </a:p>
        </p:txBody>
      </p:sp>
      <p:pic>
        <p:nvPicPr>
          <p:cNvPr id="10" name="Picture 9" descr="11_training_workflow_801.png"/>
          <p:cNvPicPr>
            <a:picLocks noChangeAspect="1"/>
          </p:cNvPicPr>
          <p:nvPr/>
        </p:nvPicPr>
        <p:blipFill>
          <a:blip r:embed="rId2"/>
          <a:stretch>
            <a:fillRect/>
          </a:stretch>
        </p:blipFill>
        <p:spPr>
          <a:xfrm>
            <a:off x="6739265" y="2406304"/>
            <a:ext cx="4885502" cy="2466015"/>
          </a:xfrm>
          <a:prstGeom prst="rect">
            <a:avLst/>
          </a:prstGeom>
        </p:spPr>
      </p:pic>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Experimental Configuration</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Identical data and protocol for both models</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6013912"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31</a:t>
            </a:r>
          </a:p>
        </p:txBody>
      </p:sp>
      <p:sp>
        <p:nvSpPr>
          <p:cNvPr id="10" name="TextBox 9"/>
          <p:cNvSpPr txBox="1"/>
          <p:nvPr/>
        </p:nvSpPr>
        <p:spPr>
          <a:xfrm>
            <a:off x="566928" y="1627632"/>
            <a:ext cx="237744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setting</a:t>
            </a:r>
          </a:p>
        </p:txBody>
      </p:sp>
      <p:sp>
        <p:nvSpPr>
          <p:cNvPr id="11" name="TextBox 10"/>
          <p:cNvSpPr txBox="1"/>
          <p:nvPr/>
        </p:nvSpPr>
        <p:spPr>
          <a:xfrm>
            <a:off x="2944368" y="1627632"/>
            <a:ext cx="4004386"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value</a:t>
            </a:r>
          </a:p>
        </p:txBody>
      </p:sp>
      <p:sp>
        <p:nvSpPr>
          <p:cNvPr id="12" name="Rectangle 11"/>
          <p:cNvSpPr/>
          <p:nvPr/>
        </p:nvSpPr>
        <p:spPr>
          <a:xfrm>
            <a:off x="566928" y="1920240"/>
            <a:ext cx="6381826"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011680"/>
            <a:ext cx="237744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dataset</a:t>
            </a:r>
          </a:p>
        </p:txBody>
      </p:sp>
      <p:sp>
        <p:nvSpPr>
          <p:cNvPr id="14" name="TextBox 13"/>
          <p:cNvSpPr txBox="1"/>
          <p:nvPr/>
        </p:nvSpPr>
        <p:spPr>
          <a:xfrm>
            <a:off x="2944368" y="2011680"/>
            <a:ext cx="4004386"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NEU-CLS, 1799 images after deduplication</a:t>
            </a:r>
          </a:p>
        </p:txBody>
      </p:sp>
      <p:sp>
        <p:nvSpPr>
          <p:cNvPr id="15" name="TextBox 14"/>
          <p:cNvSpPr txBox="1"/>
          <p:nvPr/>
        </p:nvSpPr>
        <p:spPr>
          <a:xfrm>
            <a:off x="566928" y="2322576"/>
            <a:ext cx="237744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split</a:t>
            </a:r>
          </a:p>
        </p:txBody>
      </p:sp>
      <p:sp>
        <p:nvSpPr>
          <p:cNvPr id="16" name="TextBox 15"/>
          <p:cNvSpPr txBox="1"/>
          <p:nvPr/>
        </p:nvSpPr>
        <p:spPr>
          <a:xfrm>
            <a:off x="2944368" y="2322576"/>
            <a:ext cx="4004386"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1223 train / 216 val / 360 test, stratified, seed 1337</a:t>
            </a:r>
          </a:p>
        </p:txBody>
      </p:sp>
      <p:sp>
        <p:nvSpPr>
          <p:cNvPr id="17" name="TextBox 16"/>
          <p:cNvSpPr txBox="1"/>
          <p:nvPr/>
        </p:nvSpPr>
        <p:spPr>
          <a:xfrm>
            <a:off x="566928" y="2633472"/>
            <a:ext cx="237744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seeds</a:t>
            </a:r>
          </a:p>
        </p:txBody>
      </p:sp>
      <p:sp>
        <p:nvSpPr>
          <p:cNvPr id="18" name="TextBox 17"/>
          <p:cNvSpPr txBox="1"/>
          <p:nvPr/>
        </p:nvSpPr>
        <p:spPr>
          <a:xfrm>
            <a:off x="2944368" y="2633472"/>
            <a:ext cx="4004386"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3 independent training seeds per architecture</a:t>
            </a:r>
          </a:p>
        </p:txBody>
      </p:sp>
      <p:sp>
        <p:nvSpPr>
          <p:cNvPr id="19" name="TextBox 18"/>
          <p:cNvSpPr txBox="1"/>
          <p:nvPr/>
        </p:nvSpPr>
        <p:spPr>
          <a:xfrm>
            <a:off x="566928" y="2944368"/>
            <a:ext cx="237744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SAGE-HE input</a:t>
            </a:r>
          </a:p>
        </p:txBody>
      </p:sp>
      <p:sp>
        <p:nvSpPr>
          <p:cNvPr id="20" name="TextBox 19"/>
          <p:cNvSpPr txBox="1"/>
          <p:nvPr/>
        </p:nvSpPr>
        <p:spPr>
          <a:xfrm>
            <a:off x="2944368" y="2944368"/>
            <a:ext cx="4004386"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160×160, CLAHE</a:t>
            </a:r>
          </a:p>
        </p:txBody>
      </p:sp>
      <p:sp>
        <p:nvSpPr>
          <p:cNvPr id="21" name="TextBox 20"/>
          <p:cNvSpPr txBox="1"/>
          <p:nvPr/>
        </p:nvSpPr>
        <p:spPr>
          <a:xfrm>
            <a:off x="566928" y="3255264"/>
            <a:ext cx="237744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baseline input</a:t>
            </a:r>
          </a:p>
        </p:txBody>
      </p:sp>
      <p:sp>
        <p:nvSpPr>
          <p:cNvPr id="22" name="TextBox 21"/>
          <p:cNvSpPr txBox="1"/>
          <p:nvPr/>
        </p:nvSpPr>
        <p:spPr>
          <a:xfrm>
            <a:off x="2944368" y="3255264"/>
            <a:ext cx="4004386"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112×112, histogram equalisation (as published)</a:t>
            </a:r>
          </a:p>
        </p:txBody>
      </p:sp>
      <p:sp>
        <p:nvSpPr>
          <p:cNvPr id="23" name="TextBox 22"/>
          <p:cNvSpPr txBox="1"/>
          <p:nvPr/>
        </p:nvSpPr>
        <p:spPr>
          <a:xfrm>
            <a:off x="566928" y="3566160"/>
            <a:ext cx="237744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hardware</a:t>
            </a:r>
          </a:p>
        </p:txBody>
      </p:sp>
      <p:sp>
        <p:nvSpPr>
          <p:cNvPr id="24" name="TextBox 23"/>
          <p:cNvSpPr txBox="1"/>
          <p:nvPr/>
        </p:nvSpPr>
        <p:spPr>
          <a:xfrm>
            <a:off x="2944368" y="3566160"/>
            <a:ext cx="4004386"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4-vCPU x86-64, no GPU — all timings are CPU timings</a:t>
            </a:r>
          </a:p>
        </p:txBody>
      </p:sp>
      <p:sp>
        <p:nvSpPr>
          <p:cNvPr id="25" name="TextBox 24"/>
          <p:cNvSpPr txBox="1"/>
          <p:nvPr/>
        </p:nvSpPr>
        <p:spPr>
          <a:xfrm>
            <a:off x="566928" y="3877056"/>
            <a:ext cx="237744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CKKS</a:t>
            </a:r>
          </a:p>
        </p:txBody>
      </p:sp>
      <p:sp>
        <p:nvSpPr>
          <p:cNvPr id="26" name="TextBox 25"/>
          <p:cNvSpPr txBox="1"/>
          <p:nvPr/>
        </p:nvSpPr>
        <p:spPr>
          <a:xfrm>
            <a:off x="2944368" y="3877056"/>
            <a:ext cx="4004386"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n=16384, [60,40,40,40,60], scale 2⁴⁰, depth 3</a:t>
            </a:r>
          </a:p>
        </p:txBody>
      </p:sp>
      <p:sp>
        <p:nvSpPr>
          <p:cNvPr id="27" name="Rounded Rectangle 26"/>
          <p:cNvSpPr/>
          <p:nvPr/>
        </p:nvSpPr>
        <p:spPr>
          <a:xfrm>
            <a:off x="8048548" y="1627632"/>
            <a:ext cx="3576218" cy="219456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48548" y="1627632"/>
            <a:ext cx="41148" cy="2194560"/>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68004" y="1764792"/>
            <a:ext cx="3155594"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FAB219"/>
                </a:solidFill>
                <a:latin typeface="Inter"/>
              </a:rPr>
              <a:t>No GPU was used</a:t>
            </a:r>
          </a:p>
        </p:txBody>
      </p:sp>
      <p:sp>
        <p:nvSpPr>
          <p:cNvPr id="30" name="TextBox 29"/>
          <p:cNvSpPr txBox="1"/>
          <p:nvPr/>
        </p:nvSpPr>
        <p:spPr>
          <a:xfrm>
            <a:off x="8268004" y="2103120"/>
            <a:ext cx="3155594" cy="1572767"/>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The project brief specifies GPU training. None was available, so every model was trained on CPU and every latency is a CPU latency. Reported rather than papered over; the code selects CUDA automatically where present.</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50"/>
                                        <p:tgtEl>
                                          <p:spTgt spid="12"/>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50"/>
                                        <p:tgtEl>
                                          <p:spTgt spid="14"/>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50"/>
                                        <p:tgtEl>
                                          <p:spTgt spid="15"/>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350"/>
                                        <p:tgtEl>
                                          <p:spTgt spid="16"/>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3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Hyperparameter Optimisation  ·  Optuna</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Run in the reduced-data regime, where the objective still has dynamic range</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6207909"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32</a:t>
            </a:r>
          </a:p>
        </p:txBody>
      </p:sp>
      <p:sp>
        <p:nvSpPr>
          <p:cNvPr id="10" name="Rounded Rectangle 9"/>
          <p:cNvSpPr/>
          <p:nvPr/>
        </p:nvSpPr>
        <p:spPr>
          <a:xfrm>
            <a:off x="566928" y="1627632"/>
            <a:ext cx="2641015" cy="109728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783080"/>
            <a:ext cx="2238679"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60A5FA"/>
                </a:solidFill>
                <a:latin typeface="Inter"/>
              </a:rPr>
              <a:t>15</a:t>
            </a:r>
          </a:p>
        </p:txBody>
      </p:sp>
      <p:sp>
        <p:nvSpPr>
          <p:cNvPr id="12" name="TextBox 11"/>
          <p:cNvSpPr txBox="1"/>
          <p:nvPr/>
        </p:nvSpPr>
        <p:spPr>
          <a:xfrm>
            <a:off x="768096" y="2377440"/>
            <a:ext cx="2238679"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TPE trials</a:t>
            </a:r>
          </a:p>
        </p:txBody>
      </p:sp>
      <p:sp>
        <p:nvSpPr>
          <p:cNvPr id="13" name="Rounded Rectangle 12"/>
          <p:cNvSpPr/>
          <p:nvPr/>
        </p:nvSpPr>
        <p:spPr>
          <a:xfrm>
            <a:off x="3372535" y="1627632"/>
            <a:ext cx="2641015" cy="109728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3703" y="1783080"/>
            <a:ext cx="2238679"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60A5FA"/>
                </a:solidFill>
                <a:latin typeface="Inter"/>
              </a:rPr>
              <a:t>0.9862</a:t>
            </a:r>
          </a:p>
        </p:txBody>
      </p:sp>
      <p:sp>
        <p:nvSpPr>
          <p:cNvPr id="15" name="TextBox 14"/>
          <p:cNvSpPr txBox="1"/>
          <p:nvPr/>
        </p:nvSpPr>
        <p:spPr>
          <a:xfrm>
            <a:off x="3573703" y="2377440"/>
            <a:ext cx="2238679"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best validation macro-F1</a:t>
            </a:r>
          </a:p>
        </p:txBody>
      </p:sp>
      <p:sp>
        <p:nvSpPr>
          <p:cNvPr id="16" name="Rounded Rectangle 15"/>
          <p:cNvSpPr/>
          <p:nvPr/>
        </p:nvSpPr>
        <p:spPr>
          <a:xfrm>
            <a:off x="6178143" y="1627632"/>
            <a:ext cx="2641015" cy="109728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9311" y="1783080"/>
            <a:ext cx="2238679"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60A5FA"/>
                </a:solidFill>
                <a:latin typeface="Inter"/>
              </a:rPr>
              <a:t>10%</a:t>
            </a:r>
          </a:p>
        </p:txBody>
      </p:sp>
      <p:sp>
        <p:nvSpPr>
          <p:cNvPr id="18" name="TextBox 17"/>
          <p:cNvSpPr txBox="1"/>
          <p:nvPr/>
        </p:nvSpPr>
        <p:spPr>
          <a:xfrm>
            <a:off x="6379311" y="2377440"/>
            <a:ext cx="2238679"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training data per trial</a:t>
            </a:r>
          </a:p>
        </p:txBody>
      </p:sp>
      <p:sp>
        <p:nvSpPr>
          <p:cNvPr id="19" name="Rounded Rectangle 18"/>
          <p:cNvSpPr/>
          <p:nvPr/>
        </p:nvSpPr>
        <p:spPr>
          <a:xfrm>
            <a:off x="8983751" y="1627632"/>
            <a:ext cx="2641015" cy="109728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4919" y="1783080"/>
            <a:ext cx="2238679"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60A5FA"/>
                </a:solidFill>
                <a:latin typeface="Inter"/>
              </a:rPr>
              <a:t>8</a:t>
            </a:r>
          </a:p>
        </p:txBody>
      </p:sp>
      <p:sp>
        <p:nvSpPr>
          <p:cNvPr id="21" name="TextBox 20"/>
          <p:cNvSpPr txBox="1"/>
          <p:nvPr/>
        </p:nvSpPr>
        <p:spPr>
          <a:xfrm>
            <a:off x="9184919" y="2377440"/>
            <a:ext cx="2238679"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epochs per trial</a:t>
            </a:r>
          </a:p>
        </p:txBody>
      </p:sp>
      <p:sp>
        <p:nvSpPr>
          <p:cNvPr id="22" name="TextBox 21"/>
          <p:cNvSpPr txBox="1"/>
          <p:nvPr/>
        </p:nvSpPr>
        <p:spPr>
          <a:xfrm>
            <a:off x="566928" y="3044952"/>
            <a:ext cx="210312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parameter</a:t>
            </a:r>
          </a:p>
        </p:txBody>
      </p:sp>
      <p:sp>
        <p:nvSpPr>
          <p:cNvPr id="23" name="TextBox 22"/>
          <p:cNvSpPr txBox="1"/>
          <p:nvPr/>
        </p:nvSpPr>
        <p:spPr>
          <a:xfrm>
            <a:off x="2670048" y="3044952"/>
            <a:ext cx="2408301"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best value</a:t>
            </a:r>
          </a:p>
        </p:txBody>
      </p:sp>
      <p:sp>
        <p:nvSpPr>
          <p:cNvPr id="24" name="Rectangle 23"/>
          <p:cNvSpPr/>
          <p:nvPr/>
        </p:nvSpPr>
        <p:spPr>
          <a:xfrm>
            <a:off x="566928" y="3337560"/>
            <a:ext cx="4511421"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429000"/>
            <a:ext cx="210312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contrast</a:t>
            </a:r>
          </a:p>
        </p:txBody>
      </p:sp>
      <p:sp>
        <p:nvSpPr>
          <p:cNvPr id="26" name="TextBox 25"/>
          <p:cNvSpPr txBox="1"/>
          <p:nvPr/>
        </p:nvSpPr>
        <p:spPr>
          <a:xfrm>
            <a:off x="2670048" y="3429000"/>
            <a:ext cx="2408301"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histeq</a:t>
            </a:r>
          </a:p>
        </p:txBody>
      </p:sp>
      <p:sp>
        <p:nvSpPr>
          <p:cNvPr id="27" name="TextBox 26"/>
          <p:cNvSpPr txBox="1"/>
          <p:nvPr/>
        </p:nvSpPr>
        <p:spPr>
          <a:xfrm>
            <a:off x="566928" y="3739896"/>
            <a:ext cx="210312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lr</a:t>
            </a:r>
          </a:p>
        </p:txBody>
      </p:sp>
      <p:sp>
        <p:nvSpPr>
          <p:cNvPr id="28" name="TextBox 27"/>
          <p:cNvSpPr txBox="1"/>
          <p:nvPr/>
        </p:nvSpPr>
        <p:spPr>
          <a:xfrm>
            <a:off x="2670048" y="3739896"/>
            <a:ext cx="2408301"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0.0005304883441224623</a:t>
            </a:r>
          </a:p>
        </p:txBody>
      </p:sp>
      <p:sp>
        <p:nvSpPr>
          <p:cNvPr id="29" name="TextBox 28"/>
          <p:cNvSpPr txBox="1"/>
          <p:nvPr/>
        </p:nvSpPr>
        <p:spPr>
          <a:xfrm>
            <a:off x="566928" y="4050791"/>
            <a:ext cx="210312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weight_decay</a:t>
            </a:r>
          </a:p>
        </p:txBody>
      </p:sp>
      <p:sp>
        <p:nvSpPr>
          <p:cNvPr id="30" name="TextBox 29"/>
          <p:cNvSpPr txBox="1"/>
          <p:nvPr/>
        </p:nvSpPr>
        <p:spPr>
          <a:xfrm>
            <a:off x="2670048" y="4050791"/>
            <a:ext cx="2408301"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1.2242594760084797e-06</a:t>
            </a:r>
          </a:p>
        </p:txBody>
      </p:sp>
      <p:sp>
        <p:nvSpPr>
          <p:cNvPr id="31" name="TextBox 30"/>
          <p:cNvSpPr txBox="1"/>
          <p:nvPr/>
        </p:nvSpPr>
        <p:spPr>
          <a:xfrm>
            <a:off x="566928" y="4361688"/>
            <a:ext cx="210312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batch_size</a:t>
            </a:r>
          </a:p>
        </p:txBody>
      </p:sp>
      <p:sp>
        <p:nvSpPr>
          <p:cNvPr id="32" name="TextBox 31"/>
          <p:cNvSpPr txBox="1"/>
          <p:nvPr/>
        </p:nvSpPr>
        <p:spPr>
          <a:xfrm>
            <a:off x="2670048" y="4361688"/>
            <a:ext cx="2408301"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16</a:t>
            </a:r>
          </a:p>
        </p:txBody>
      </p:sp>
      <p:sp>
        <p:nvSpPr>
          <p:cNvPr id="33" name="TextBox 32"/>
          <p:cNvSpPr txBox="1"/>
          <p:nvPr/>
        </p:nvSpPr>
        <p:spPr>
          <a:xfrm>
            <a:off x="566928" y="4672584"/>
            <a:ext cx="210312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compressed_dim</a:t>
            </a:r>
          </a:p>
        </p:txBody>
      </p:sp>
      <p:sp>
        <p:nvSpPr>
          <p:cNvPr id="34" name="TextBox 33"/>
          <p:cNvSpPr txBox="1"/>
          <p:nvPr/>
        </p:nvSpPr>
        <p:spPr>
          <a:xfrm>
            <a:off x="2670048" y="4672584"/>
            <a:ext cx="2408301"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64</a:t>
            </a:r>
          </a:p>
        </p:txBody>
      </p:sp>
      <p:sp>
        <p:nvSpPr>
          <p:cNvPr id="35" name="TextBox 34"/>
          <p:cNvSpPr txBox="1"/>
          <p:nvPr/>
        </p:nvSpPr>
        <p:spPr>
          <a:xfrm>
            <a:off x="566928" y="4983480"/>
            <a:ext cx="210312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head_hidden</a:t>
            </a:r>
          </a:p>
        </p:txBody>
      </p:sp>
      <p:sp>
        <p:nvSpPr>
          <p:cNvPr id="36" name="TextBox 35"/>
          <p:cNvSpPr txBox="1"/>
          <p:nvPr/>
        </p:nvSpPr>
        <p:spPr>
          <a:xfrm>
            <a:off x="2670048" y="4983480"/>
            <a:ext cx="2408301"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64</a:t>
            </a:r>
          </a:p>
        </p:txBody>
      </p:sp>
      <p:sp>
        <p:nvSpPr>
          <p:cNvPr id="37" name="TextBox 36"/>
          <p:cNvSpPr txBox="1"/>
          <p:nvPr/>
        </p:nvSpPr>
        <p:spPr>
          <a:xfrm>
            <a:off x="566928" y="5294376"/>
            <a:ext cx="210312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fusion</a:t>
            </a:r>
          </a:p>
        </p:txBody>
      </p:sp>
      <p:sp>
        <p:nvSpPr>
          <p:cNvPr id="38" name="TextBox 37"/>
          <p:cNvSpPr txBox="1"/>
          <p:nvPr/>
        </p:nvSpPr>
        <p:spPr>
          <a:xfrm>
            <a:off x="2670048" y="5294376"/>
            <a:ext cx="2408301"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gated</a:t>
            </a:r>
          </a:p>
        </p:txBody>
      </p:sp>
      <p:sp>
        <p:nvSpPr>
          <p:cNvPr id="39" name="TextBox 38"/>
          <p:cNvSpPr txBox="1"/>
          <p:nvPr/>
        </p:nvSpPr>
        <p:spPr>
          <a:xfrm>
            <a:off x="566928" y="5605272"/>
            <a:ext cx="210312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use_sobel</a:t>
            </a:r>
          </a:p>
        </p:txBody>
      </p:sp>
      <p:sp>
        <p:nvSpPr>
          <p:cNvPr id="40" name="TextBox 39"/>
          <p:cNvSpPr txBox="1"/>
          <p:nvPr/>
        </p:nvSpPr>
        <p:spPr>
          <a:xfrm>
            <a:off x="2670048" y="5605272"/>
            <a:ext cx="2408301"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False</a:t>
            </a:r>
          </a:p>
        </p:txBody>
      </p:sp>
      <p:sp>
        <p:nvSpPr>
          <p:cNvPr id="41" name="TextBox 40"/>
          <p:cNvSpPr txBox="1"/>
          <p:nvPr/>
        </p:nvSpPr>
        <p:spPr>
          <a:xfrm>
            <a:off x="6645744" y="3044952"/>
            <a:ext cx="237744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parameter</a:t>
            </a:r>
          </a:p>
        </p:txBody>
      </p:sp>
      <p:sp>
        <p:nvSpPr>
          <p:cNvPr id="42" name="TextBox 41"/>
          <p:cNvSpPr txBox="1"/>
          <p:nvPr/>
        </p:nvSpPr>
        <p:spPr>
          <a:xfrm>
            <a:off x="9023184" y="3044952"/>
            <a:ext cx="2601582"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importance</a:t>
            </a:r>
          </a:p>
        </p:txBody>
      </p:sp>
      <p:sp>
        <p:nvSpPr>
          <p:cNvPr id="43" name="Rectangle 42"/>
          <p:cNvSpPr/>
          <p:nvPr/>
        </p:nvSpPr>
        <p:spPr>
          <a:xfrm>
            <a:off x="6645744" y="3337560"/>
            <a:ext cx="4979022"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45744" y="3429000"/>
            <a:ext cx="23774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lr</a:t>
            </a:r>
          </a:p>
        </p:txBody>
      </p:sp>
      <p:sp>
        <p:nvSpPr>
          <p:cNvPr id="45" name="TextBox 44"/>
          <p:cNvSpPr txBox="1"/>
          <p:nvPr/>
        </p:nvSpPr>
        <p:spPr>
          <a:xfrm>
            <a:off x="9023184" y="3429000"/>
            <a:ext cx="2601582"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0.899</a:t>
            </a:r>
          </a:p>
        </p:txBody>
      </p:sp>
      <p:sp>
        <p:nvSpPr>
          <p:cNvPr id="46" name="TextBox 45"/>
          <p:cNvSpPr txBox="1"/>
          <p:nvPr/>
        </p:nvSpPr>
        <p:spPr>
          <a:xfrm>
            <a:off x="6645744" y="3739896"/>
            <a:ext cx="23774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use_sobel</a:t>
            </a:r>
          </a:p>
        </p:txBody>
      </p:sp>
      <p:sp>
        <p:nvSpPr>
          <p:cNvPr id="47" name="TextBox 46"/>
          <p:cNvSpPr txBox="1"/>
          <p:nvPr/>
        </p:nvSpPr>
        <p:spPr>
          <a:xfrm>
            <a:off x="9023184" y="3739896"/>
            <a:ext cx="2601582"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0.039</a:t>
            </a:r>
          </a:p>
        </p:txBody>
      </p:sp>
      <p:sp>
        <p:nvSpPr>
          <p:cNvPr id="48" name="TextBox 47"/>
          <p:cNvSpPr txBox="1"/>
          <p:nvPr/>
        </p:nvSpPr>
        <p:spPr>
          <a:xfrm>
            <a:off x="6645744" y="4050791"/>
            <a:ext cx="23774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contrast</a:t>
            </a:r>
          </a:p>
        </p:txBody>
      </p:sp>
      <p:sp>
        <p:nvSpPr>
          <p:cNvPr id="49" name="TextBox 48"/>
          <p:cNvSpPr txBox="1"/>
          <p:nvPr/>
        </p:nvSpPr>
        <p:spPr>
          <a:xfrm>
            <a:off x="9023184" y="4050791"/>
            <a:ext cx="2601582"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0.025</a:t>
            </a:r>
          </a:p>
        </p:txBody>
      </p:sp>
      <p:sp>
        <p:nvSpPr>
          <p:cNvPr id="50" name="TextBox 49"/>
          <p:cNvSpPr txBox="1"/>
          <p:nvPr/>
        </p:nvSpPr>
        <p:spPr>
          <a:xfrm>
            <a:off x="6645744" y="4361688"/>
            <a:ext cx="23774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fusion</a:t>
            </a:r>
          </a:p>
        </p:txBody>
      </p:sp>
      <p:sp>
        <p:nvSpPr>
          <p:cNvPr id="51" name="TextBox 50"/>
          <p:cNvSpPr txBox="1"/>
          <p:nvPr/>
        </p:nvSpPr>
        <p:spPr>
          <a:xfrm>
            <a:off x="9023184" y="4361688"/>
            <a:ext cx="2601582"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0.017</a:t>
            </a:r>
          </a:p>
        </p:txBody>
      </p:sp>
      <p:sp>
        <p:nvSpPr>
          <p:cNvPr id="52" name="TextBox 51"/>
          <p:cNvSpPr txBox="1"/>
          <p:nvPr/>
        </p:nvSpPr>
        <p:spPr>
          <a:xfrm>
            <a:off x="6645744" y="4672584"/>
            <a:ext cx="23774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head_hidden</a:t>
            </a:r>
          </a:p>
        </p:txBody>
      </p:sp>
      <p:sp>
        <p:nvSpPr>
          <p:cNvPr id="53" name="TextBox 52"/>
          <p:cNvSpPr txBox="1"/>
          <p:nvPr/>
        </p:nvSpPr>
        <p:spPr>
          <a:xfrm>
            <a:off x="9023184" y="4672584"/>
            <a:ext cx="2601582"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0.013</a:t>
            </a:r>
          </a:p>
        </p:txBody>
      </p:sp>
      <p:sp>
        <p:nvSpPr>
          <p:cNvPr id="54" name="TextBox 53"/>
          <p:cNvSpPr txBox="1"/>
          <p:nvPr/>
        </p:nvSpPr>
        <p:spPr>
          <a:xfrm>
            <a:off x="6645744" y="4983480"/>
            <a:ext cx="237744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compressed_dim</a:t>
            </a:r>
          </a:p>
        </p:txBody>
      </p:sp>
      <p:sp>
        <p:nvSpPr>
          <p:cNvPr id="55" name="TextBox 54"/>
          <p:cNvSpPr txBox="1"/>
          <p:nvPr/>
        </p:nvSpPr>
        <p:spPr>
          <a:xfrm>
            <a:off x="9023184" y="4983480"/>
            <a:ext cx="2601582"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0.006</a:t>
            </a:r>
          </a:p>
        </p:txBody>
      </p:sp>
      <p:sp>
        <p:nvSpPr>
          <p:cNvPr id="56" name="TextBox 55"/>
          <p:cNvSpPr txBox="1"/>
          <p:nvPr/>
        </p:nvSpPr>
        <p:spPr>
          <a:xfrm>
            <a:off x="566928" y="5650992"/>
            <a:ext cx="11057839" cy="603504"/>
          </a:xfrm>
          <a:prstGeom prst="rect">
            <a:avLst/>
          </a:prstGeom>
          <a:noFill/>
        </p:spPr>
        <p:txBody>
          <a:bodyPr wrap="square" anchor="t" lIns="0" rIns="0" tIns="0" bIns="0">
            <a:spAutoFit/>
          </a:bodyPr>
          <a:lstStyle/>
          <a:p>
            <a:pPr algn="l">
              <a:lnSpc>
                <a:spcPct val="118000"/>
              </a:lnSpc>
              <a:spcAft>
                <a:spcPts val="400"/>
              </a:spcAft>
            </a:pPr>
            <a:r>
              <a:rPr sz="1050" b="0" i="1">
                <a:solidFill>
                  <a:srgbClr val="FAB219"/>
                </a:solidFill>
                <a:latin typeface="Inter"/>
              </a:rPr>
              <a:t>The search could pick the fusion strategy, the compressed width, the head width, the contrast step and whether to use the Sobel prior at all. It puts 0.899 of the importance on `lr` alone and 0.099 on every architectural choice combined — and its best trial switches the Sobel prior off. A completely different procedure, pointing the same way as the ablation.</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350"/>
                                        <p:tgtEl>
                                          <p:spTgt spid="12"/>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50"/>
                                        <p:tgtEl>
                                          <p:spTgt spid="14"/>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50"/>
                                        <p:tgtEl>
                                          <p:spTgt spid="15"/>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350"/>
                                        <p:tgtEl>
                                          <p:spTgt spid="17"/>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42032"/>
            <a:ext cx="1705813" cy="914400"/>
          </a:xfrm>
          <a:prstGeom prst="rect">
            <a:avLst/>
          </a:prstGeom>
          <a:noFill/>
        </p:spPr>
        <p:txBody>
          <a:bodyPr wrap="square" anchor="t" lIns="0" rIns="0" tIns="0" bIns="0">
            <a:spAutoFit/>
          </a:bodyPr>
          <a:lstStyle/>
          <a:p>
            <a:pPr algn="l">
              <a:lnSpc>
                <a:spcPct val="118000"/>
              </a:lnSpc>
              <a:spcAft>
                <a:spcPts val="400"/>
              </a:spcAft>
            </a:pPr>
            <a:r>
              <a:rPr sz="5800" b="1" i="0">
                <a:solidFill>
                  <a:srgbClr val="60A5FA"/>
                </a:solidFill>
                <a:latin typeface="Inter"/>
              </a:rPr>
              <a:t>02</a:t>
            </a:r>
          </a:p>
        </p:txBody>
      </p:sp>
      <p:sp>
        <p:nvSpPr>
          <p:cNvPr id="4" name="Rectangle 3"/>
          <p:cNvSpPr/>
          <p:nvPr/>
        </p:nvSpPr>
        <p:spPr>
          <a:xfrm>
            <a:off x="566928" y="3584448"/>
            <a:ext cx="1097280" cy="32004"/>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22191"/>
            <a:ext cx="8252231" cy="640080"/>
          </a:xfrm>
          <a:prstGeom prst="rect">
            <a:avLst/>
          </a:prstGeom>
          <a:noFill/>
        </p:spPr>
        <p:txBody>
          <a:bodyPr wrap="square" anchor="t" lIns="0" rIns="0" tIns="0" bIns="0">
            <a:spAutoFit/>
          </a:bodyPr>
          <a:lstStyle/>
          <a:p>
            <a:pPr algn="l">
              <a:lnSpc>
                <a:spcPct val="118000"/>
              </a:lnSpc>
              <a:spcAft>
                <a:spcPts val="400"/>
              </a:spcAft>
            </a:pPr>
            <a:r>
              <a:rPr sz="3000" b="1" i="0">
                <a:solidFill>
                  <a:srgbClr val="F1F5F9"/>
                </a:solidFill>
                <a:latin typeface="Inter"/>
              </a:rPr>
              <a:t>Experimental Results</a:t>
            </a:r>
          </a:p>
        </p:txBody>
      </p:sp>
      <p:sp>
        <p:nvSpPr>
          <p:cNvPr id="6" name="TextBox 5"/>
          <p:cNvSpPr txBox="1"/>
          <p:nvPr/>
        </p:nvSpPr>
        <p:spPr>
          <a:xfrm>
            <a:off x="566928" y="4590288"/>
            <a:ext cx="7317028" cy="548640"/>
          </a:xfrm>
          <a:prstGeom prst="rect">
            <a:avLst/>
          </a:prstGeom>
          <a:noFill/>
        </p:spPr>
        <p:txBody>
          <a:bodyPr wrap="square" anchor="t" lIns="0" rIns="0" tIns="0" bIns="0">
            <a:spAutoFit/>
          </a:bodyPr>
          <a:lstStyle/>
          <a:p>
            <a:pPr algn="l">
              <a:lnSpc>
                <a:spcPct val="118000"/>
              </a:lnSpc>
              <a:spcAft>
                <a:spcPts val="400"/>
              </a:spcAft>
            </a:pPr>
            <a:r>
              <a:rPr sz="1350" b="0" i="0">
                <a:solidFill>
                  <a:srgbClr val="94A3B8"/>
                </a:solidFill>
                <a:latin typeface="Inter"/>
              </a:rPr>
              <a:t>One held-out test split, read once, for every number that follows</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50"/>
                                        <p:tgtEl>
                                          <p:spTgt spid="3"/>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350"/>
                                        <p:tgtEl>
                                          <p:spTgt spid="4"/>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350"/>
                                        <p:tgtEl>
                                          <p:spTgt spid="5"/>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Accuracy Comparison</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Mean ± standard deviation over 3 seeds, identical held-out split</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6595904"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34</a:t>
            </a:r>
          </a:p>
        </p:txBody>
      </p:sp>
      <p:pic>
        <p:nvPicPr>
          <p:cNvPr id="10" name="Picture 9" descr="accuracy_comparison_986.png"/>
          <p:cNvPicPr>
            <a:picLocks noChangeAspect="1"/>
          </p:cNvPicPr>
          <p:nvPr/>
        </p:nvPicPr>
        <p:blipFill>
          <a:blip r:embed="rId2"/>
          <a:stretch>
            <a:fillRect/>
          </a:stretch>
        </p:blipFill>
        <p:spPr>
          <a:xfrm>
            <a:off x="566928" y="1740828"/>
            <a:ext cx="6007745" cy="3614086"/>
          </a:xfrm>
          <a:prstGeom prst="rect">
            <a:avLst/>
          </a:prstGeom>
        </p:spPr>
      </p:pic>
      <p:sp>
        <p:nvSpPr>
          <p:cNvPr id="11" name="Rounded Rectangle 10"/>
          <p:cNvSpPr/>
          <p:nvPr/>
        </p:nvSpPr>
        <p:spPr>
          <a:xfrm>
            <a:off x="7113346" y="1627632"/>
            <a:ext cx="4511421" cy="173736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13346" y="1627632"/>
            <a:ext cx="41148" cy="1737360"/>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32802" y="1764792"/>
            <a:ext cx="4090797"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FAB219"/>
                </a:solidFill>
                <a:latin typeface="Inter"/>
              </a:rPr>
              <a:t>Read this carefully</a:t>
            </a:r>
          </a:p>
        </p:txBody>
      </p:sp>
      <p:sp>
        <p:nvSpPr>
          <p:cNvPr id="14" name="TextBox 13"/>
          <p:cNvSpPr txBox="1"/>
          <p:nvPr/>
        </p:nvSpPr>
        <p:spPr>
          <a:xfrm>
            <a:off x="7332802" y="2103120"/>
            <a:ext cx="4090797" cy="1115567"/>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SAGE-HE beats our reproduced baseline by 6.0 points. It does NOT follow that it beats the published 97.1%, which was measured on an unknown split.</a:t>
            </a:r>
          </a:p>
        </p:txBody>
      </p:sp>
      <p:sp>
        <p:nvSpPr>
          <p:cNvPr id="15" name="Rounded Rectangle 14"/>
          <p:cNvSpPr/>
          <p:nvPr/>
        </p:nvSpPr>
        <p:spPr>
          <a:xfrm>
            <a:off x="7113346" y="3593591"/>
            <a:ext cx="4511421" cy="160020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13346" y="3593591"/>
            <a:ext cx="41148" cy="160020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32802" y="3730752"/>
            <a:ext cx="4090797"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D03B3B"/>
                </a:solidFill>
                <a:latin typeface="Inter"/>
              </a:rPr>
              <a:t>Reproduction finding</a:t>
            </a:r>
          </a:p>
        </p:txBody>
      </p:sp>
      <p:sp>
        <p:nvSpPr>
          <p:cNvPr id="18" name="TextBox 17"/>
          <p:cNvSpPr txBox="1"/>
          <p:nvPr/>
        </p:nvSpPr>
        <p:spPr>
          <a:xfrm>
            <a:off x="7332802" y="4069079"/>
            <a:ext cx="4090797" cy="978407"/>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Our faithful reproduction reaches 93.98%, below the published 97.1%. We could not reproduce the paper's figure from its own description — reported as a result in its own right.</a:t>
            </a:r>
          </a:p>
        </p:txBody>
      </p:sp>
      <p:sp>
        <p:nvSpPr>
          <p:cNvPr id="19" name="TextBox 18"/>
          <p:cNvSpPr txBox="1"/>
          <p:nvPr/>
        </p:nvSpPr>
        <p:spPr>
          <a:xfrm>
            <a:off x="566928" y="5650992"/>
            <a:ext cx="11057839" cy="640080"/>
          </a:xfrm>
          <a:prstGeom prst="rect">
            <a:avLst/>
          </a:prstGeom>
          <a:noFill/>
        </p:spPr>
        <p:txBody>
          <a:bodyPr wrap="square" anchor="t" lIns="0" rIns="0" tIns="0" bIns="0">
            <a:spAutoFit/>
          </a:bodyPr>
          <a:lstStyle/>
          <a:p>
            <a:pPr algn="l">
              <a:lnSpc>
                <a:spcPct val="120000"/>
              </a:lnSpc>
              <a:spcAft>
                <a:spcPts val="400"/>
              </a:spcAft>
            </a:pPr>
            <a:r>
              <a:rPr sz="1050" b="0" i="1">
                <a:solidFill>
                  <a:srgbClr val="FAB219"/>
                </a:solidFill>
                <a:latin typeface="Inter"/>
              </a:rPr>
              <a:t>This margin is NOT evidence for the proposed components. SAGE-HE uses a pretrained 4.7 M-parameter backbone; the baseline is a 35 k-parameter network trained from scratch, because that is what the paper describes. Transfer learning and capacity explain much of the gap — the architectural contribution is isolated in the ablation, where every stage shares the same backbone.</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350"/>
                                        <p:tgtEl>
                                          <p:spTgt spid="17"/>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350"/>
                                        <p:tgtEl>
                                          <p:spTgt spid="18"/>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Did the reproduction fail because of OUR assumptions?</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The 97.1% claim rests on choices the paper never states — so we attacked our own finding</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6789901"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35</a:t>
            </a:r>
          </a:p>
        </p:txBody>
      </p:sp>
      <p:sp>
        <p:nvSpPr>
          <p:cNvPr id="10" name="TextBox 9"/>
          <p:cNvSpPr txBox="1"/>
          <p:nvPr/>
        </p:nvSpPr>
        <p:spPr>
          <a:xfrm>
            <a:off x="566928" y="1627632"/>
            <a:ext cx="384048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baseline variant (seed 42, full data)</a:t>
            </a:r>
          </a:p>
        </p:txBody>
      </p:sp>
      <p:sp>
        <p:nvSpPr>
          <p:cNvPr id="11" name="TextBox 10"/>
          <p:cNvSpPr txBox="1"/>
          <p:nvPr/>
        </p:nvSpPr>
        <p:spPr>
          <a:xfrm>
            <a:off x="4407408" y="1627632"/>
            <a:ext cx="1980224"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accuracy %</a:t>
            </a:r>
          </a:p>
        </p:txBody>
      </p:sp>
      <p:sp>
        <p:nvSpPr>
          <p:cNvPr id="12" name="Rectangle 11"/>
          <p:cNvSpPr/>
          <p:nvPr/>
        </p:nvSpPr>
        <p:spPr>
          <a:xfrm>
            <a:off x="566928" y="1920240"/>
            <a:ext cx="5820704"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011680"/>
            <a:ext cx="384048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16 channels, square</a:t>
            </a:r>
          </a:p>
        </p:txBody>
      </p:sp>
      <p:sp>
        <p:nvSpPr>
          <p:cNvPr id="14" name="TextBox 13"/>
          <p:cNvSpPr txBox="1"/>
          <p:nvPr/>
        </p:nvSpPr>
        <p:spPr>
          <a:xfrm>
            <a:off x="4407408" y="2011680"/>
            <a:ext cx="1980224"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95.00</a:t>
            </a:r>
          </a:p>
        </p:txBody>
      </p:sp>
      <p:sp>
        <p:nvSpPr>
          <p:cNvPr id="15" name="TextBox 14"/>
          <p:cNvSpPr txBox="1"/>
          <p:nvPr/>
        </p:nvSpPr>
        <p:spPr>
          <a:xfrm>
            <a:off x="566928" y="2322576"/>
            <a:ext cx="384048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32 channels, square  (our reproduction)</a:t>
            </a:r>
          </a:p>
        </p:txBody>
      </p:sp>
      <p:sp>
        <p:nvSpPr>
          <p:cNvPr id="16" name="TextBox 15"/>
          <p:cNvSpPr txBox="1"/>
          <p:nvPr/>
        </p:nvSpPr>
        <p:spPr>
          <a:xfrm>
            <a:off x="4407408" y="2322576"/>
            <a:ext cx="1980224"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94.72</a:t>
            </a:r>
          </a:p>
        </p:txBody>
      </p:sp>
      <p:sp>
        <p:nvSpPr>
          <p:cNvPr id="17" name="TextBox 16"/>
          <p:cNvSpPr txBox="1"/>
          <p:nvPr/>
        </p:nvSpPr>
        <p:spPr>
          <a:xfrm>
            <a:off x="566928" y="2633472"/>
            <a:ext cx="384048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64 channels, square</a:t>
            </a:r>
          </a:p>
        </p:txBody>
      </p:sp>
      <p:sp>
        <p:nvSpPr>
          <p:cNvPr id="18" name="TextBox 17"/>
          <p:cNvSpPr txBox="1"/>
          <p:nvPr/>
        </p:nvSpPr>
        <p:spPr>
          <a:xfrm>
            <a:off x="4407408" y="2633472"/>
            <a:ext cx="1980224"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90.28</a:t>
            </a:r>
          </a:p>
        </p:txBody>
      </p:sp>
      <p:sp>
        <p:nvSpPr>
          <p:cNvPr id="19" name="TextBox 18"/>
          <p:cNvSpPr txBox="1"/>
          <p:nvPr/>
        </p:nvSpPr>
        <p:spPr>
          <a:xfrm>
            <a:off x="566928" y="2944368"/>
            <a:ext cx="384048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32 channels, ReLU</a:t>
            </a:r>
          </a:p>
        </p:txBody>
      </p:sp>
      <p:sp>
        <p:nvSpPr>
          <p:cNvPr id="20" name="TextBox 19"/>
          <p:cNvSpPr txBox="1"/>
          <p:nvPr/>
        </p:nvSpPr>
        <p:spPr>
          <a:xfrm>
            <a:off x="4407408" y="2944368"/>
            <a:ext cx="1980224"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86.94</a:t>
            </a:r>
          </a:p>
        </p:txBody>
      </p:sp>
      <p:sp>
        <p:nvSpPr>
          <p:cNvPr id="21" name="TextBox 20"/>
          <p:cNvSpPr txBox="1"/>
          <p:nvPr/>
        </p:nvSpPr>
        <p:spPr>
          <a:xfrm>
            <a:off x="566928" y="3255264"/>
            <a:ext cx="3840480"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F1F5F9"/>
                </a:solidFill>
                <a:latin typeface="Inter"/>
              </a:rPr>
              <a:t>128 channels, square</a:t>
            </a:r>
          </a:p>
        </p:txBody>
      </p:sp>
      <p:sp>
        <p:nvSpPr>
          <p:cNvPr id="22" name="TextBox 21"/>
          <p:cNvSpPr txBox="1"/>
          <p:nvPr/>
        </p:nvSpPr>
        <p:spPr>
          <a:xfrm>
            <a:off x="4407408" y="3255264"/>
            <a:ext cx="1980224" cy="310896"/>
          </a:xfrm>
          <a:prstGeom prst="rect">
            <a:avLst/>
          </a:prstGeom>
          <a:noFill/>
        </p:spPr>
        <p:txBody>
          <a:bodyPr wrap="square" anchor="t" lIns="0" rIns="0" tIns="0" bIns="0">
            <a:spAutoFit/>
          </a:bodyPr>
          <a:lstStyle/>
          <a:p>
            <a:pPr algn="l">
              <a:lnSpc>
                <a:spcPct val="118000"/>
              </a:lnSpc>
              <a:spcAft>
                <a:spcPts val="400"/>
              </a:spcAft>
            </a:pPr>
            <a:r>
              <a:rPr sz="1100" b="0" i="0">
                <a:solidFill>
                  <a:srgbClr val="CBD5E1"/>
                </a:solidFill>
                <a:latin typeface="Source Code Pro"/>
              </a:rPr>
              <a:t>86.67</a:t>
            </a:r>
          </a:p>
        </p:txBody>
      </p:sp>
      <p:sp>
        <p:nvSpPr>
          <p:cNvPr id="23" name="Rounded Rectangle 22"/>
          <p:cNvSpPr/>
          <p:nvPr/>
        </p:nvSpPr>
        <p:spPr>
          <a:xfrm>
            <a:off x="475488" y="3515868"/>
            <a:ext cx="6003584" cy="292608"/>
          </a:xfrm>
          <a:prstGeom prst="roundRect">
            <a:avLst>
              <a:gd name="adj" fmla="val 6000"/>
            </a:avLst>
          </a:prstGeom>
          <a:solidFill>
            <a:srgbClr val="16213C"/>
          </a:solidFill>
          <a:ln w="12700">
            <a:solidFill>
              <a:srgbClr val="16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3566160"/>
            <a:ext cx="3840480" cy="310896"/>
          </a:xfrm>
          <a:prstGeom prst="rect">
            <a:avLst/>
          </a:prstGeom>
          <a:noFill/>
        </p:spPr>
        <p:txBody>
          <a:bodyPr wrap="square" anchor="t" lIns="0" rIns="0" tIns="0" bIns="0">
            <a:spAutoFit/>
          </a:bodyPr>
          <a:lstStyle/>
          <a:p>
            <a:pPr algn="l">
              <a:lnSpc>
                <a:spcPct val="118000"/>
              </a:lnSpc>
              <a:spcAft>
                <a:spcPts val="400"/>
              </a:spcAft>
            </a:pPr>
            <a:r>
              <a:rPr sz="1100" b="1" i="0">
                <a:solidFill>
                  <a:srgbClr val="F1F5F9"/>
                </a:solidFill>
                <a:latin typeface="Inter"/>
              </a:rPr>
              <a:t>published claim (Jia et al., Table 3)</a:t>
            </a:r>
          </a:p>
        </p:txBody>
      </p:sp>
      <p:sp>
        <p:nvSpPr>
          <p:cNvPr id="25" name="TextBox 24"/>
          <p:cNvSpPr txBox="1"/>
          <p:nvPr/>
        </p:nvSpPr>
        <p:spPr>
          <a:xfrm>
            <a:off x="4407408" y="3566160"/>
            <a:ext cx="1980224" cy="310896"/>
          </a:xfrm>
          <a:prstGeom prst="rect">
            <a:avLst/>
          </a:prstGeom>
          <a:noFill/>
        </p:spPr>
        <p:txBody>
          <a:bodyPr wrap="square" anchor="t" lIns="0" rIns="0" tIns="0" bIns="0">
            <a:spAutoFit/>
          </a:bodyPr>
          <a:lstStyle/>
          <a:p>
            <a:pPr algn="l">
              <a:lnSpc>
                <a:spcPct val="118000"/>
              </a:lnSpc>
              <a:spcAft>
                <a:spcPts val="400"/>
              </a:spcAft>
            </a:pPr>
            <a:r>
              <a:rPr sz="1100" b="1" i="0">
                <a:solidFill>
                  <a:srgbClr val="FAB219"/>
                </a:solidFill>
                <a:latin typeface="Source Code Pro"/>
              </a:rPr>
              <a:t>97.10</a:t>
            </a:r>
          </a:p>
        </p:txBody>
      </p:sp>
      <p:sp>
        <p:nvSpPr>
          <p:cNvPr id="26" name="Rounded Rectangle 25"/>
          <p:cNvSpPr/>
          <p:nvPr/>
        </p:nvSpPr>
        <p:spPr>
          <a:xfrm>
            <a:off x="7113346" y="1627632"/>
            <a:ext cx="4511421" cy="224028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113346" y="1627632"/>
            <a:ext cx="41148" cy="2240280"/>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2802" y="1764792"/>
            <a:ext cx="4090797"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0CA30C"/>
                </a:solidFill>
                <a:latin typeface="Inter"/>
              </a:rPr>
              <a:t>The finding survives the attack</a:t>
            </a:r>
          </a:p>
        </p:txBody>
      </p:sp>
      <p:sp>
        <p:nvSpPr>
          <p:cNvPr id="29" name="TextBox 28"/>
          <p:cNvSpPr txBox="1"/>
          <p:nvPr/>
        </p:nvSpPr>
        <p:spPr>
          <a:xfrm>
            <a:off x="7332802" y="2103120"/>
            <a:ext cx="4090797" cy="161848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Varying the two things the paper leaves unspecified — convolution width and activation — the best variant reaches 95.00%, still 2.10 points short of the published figure.</a:t>
            </a:r>
          </a:p>
          <a:p>
            <a:pPr algn="l">
              <a:lnSpc>
                <a:spcPct val="124000"/>
              </a:lnSpc>
              <a:spcAft>
                <a:spcPts val="400"/>
              </a:spcAft>
            </a:pPr>
            <a:r>
              <a:rPr sz="1150" b="0" i="0">
                <a:solidFill>
                  <a:srgbClr val="CBD5E1"/>
                </a:solidFill>
                <a:latin typeface="Inter"/>
              </a:rPr>
              <a:t/>
            </a:r>
          </a:p>
          <a:p>
            <a:pPr algn="l">
              <a:lnSpc>
                <a:spcPct val="124000"/>
              </a:lnSpc>
              <a:spcAft>
                <a:spcPts val="400"/>
              </a:spcAft>
            </a:pPr>
            <a:r>
              <a:rPr sz="1150" b="0" i="0">
                <a:solidFill>
                  <a:srgbClr val="CBD5E1"/>
                </a:solidFill>
                <a:latin typeface="Inter"/>
              </a:rPr>
              <a:t>So the gap is not an artefact of our assumptions. Some other unreported detail may explain it; we cannot test what is not described.</a:t>
            </a:r>
          </a:p>
        </p:txBody>
      </p:sp>
      <p:sp>
        <p:nvSpPr>
          <p:cNvPr id="30" name="Rounded Rectangle 29"/>
          <p:cNvSpPr/>
          <p:nvPr/>
        </p:nvSpPr>
        <p:spPr>
          <a:xfrm>
            <a:off x="7113346" y="4096512"/>
            <a:ext cx="4511421" cy="169164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113346" y="4096512"/>
            <a:ext cx="41148" cy="169164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32802" y="4233672"/>
            <a:ext cx="4090797"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3987E5"/>
                </a:solidFill>
                <a:latin typeface="Inter"/>
              </a:rPr>
              <a:t>A side finding</a:t>
            </a:r>
          </a:p>
        </p:txBody>
      </p:sp>
      <p:sp>
        <p:nvSpPr>
          <p:cNvPr id="33" name="TextBox 32"/>
          <p:cNvSpPr txBox="1"/>
          <p:nvPr/>
        </p:nvSpPr>
        <p:spPr>
          <a:xfrm>
            <a:off x="7332802" y="4572000"/>
            <a:ext cx="4090797" cy="106984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Swapping to ReLU costs 7.8 points against the square activation. On this architecture the CKKS-compatible choice is also the better-performing one — the opposite of the usual 'polynomial activation is the price of encryption' trade-off.</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50"/>
                                        <p:tgtEl>
                                          <p:spTgt spid="12"/>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50"/>
                                        <p:tgtEl>
                                          <p:spTgt spid="14"/>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50"/>
                                        <p:tgtEl>
                                          <p:spTgt spid="15"/>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350"/>
                                        <p:tgtEl>
                                          <p:spTgt spid="16"/>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3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Is the difference statistically real?</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Both models scored on the identical 360 test images, so the comparison is paired</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6983898"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36</a:t>
            </a:r>
          </a:p>
        </p:txBody>
      </p:sp>
      <p:sp>
        <p:nvSpPr>
          <p:cNvPr id="10" name="Rounded Rectangle 9"/>
          <p:cNvSpPr/>
          <p:nvPr/>
        </p:nvSpPr>
        <p:spPr>
          <a:xfrm>
            <a:off x="566928" y="1627632"/>
            <a:ext cx="2641015" cy="1207008"/>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783080"/>
            <a:ext cx="2238679"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0CA30C"/>
                </a:solidFill>
                <a:latin typeface="Inter"/>
              </a:rPr>
              <a:t>+5.28 pts</a:t>
            </a:r>
          </a:p>
        </p:txBody>
      </p:sp>
      <p:sp>
        <p:nvSpPr>
          <p:cNvPr id="12" name="TextBox 11"/>
          <p:cNvSpPr txBox="1"/>
          <p:nvPr/>
        </p:nvSpPr>
        <p:spPr>
          <a:xfrm>
            <a:off x="768096" y="2377440"/>
            <a:ext cx="2238679"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accuracy improvement</a:t>
            </a:r>
          </a:p>
        </p:txBody>
      </p:sp>
      <p:sp>
        <p:nvSpPr>
          <p:cNvPr id="13" name="Rounded Rectangle 12"/>
          <p:cNvSpPr/>
          <p:nvPr/>
        </p:nvSpPr>
        <p:spPr>
          <a:xfrm>
            <a:off x="3372535" y="1627632"/>
            <a:ext cx="2641015" cy="1207008"/>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3703" y="1783080"/>
            <a:ext cx="2238679"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60A5FA"/>
                </a:solidFill>
                <a:latin typeface="Inter"/>
              </a:rPr>
              <a:t>+3.1 to +7.8</a:t>
            </a:r>
          </a:p>
        </p:txBody>
      </p:sp>
      <p:sp>
        <p:nvSpPr>
          <p:cNvPr id="15" name="TextBox 14"/>
          <p:cNvSpPr txBox="1"/>
          <p:nvPr/>
        </p:nvSpPr>
        <p:spPr>
          <a:xfrm>
            <a:off x="3573703" y="2377440"/>
            <a:ext cx="2238679"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95% bootstrap CI on the delta (pts)</a:t>
            </a:r>
          </a:p>
        </p:txBody>
      </p:sp>
      <p:sp>
        <p:nvSpPr>
          <p:cNvPr id="16" name="Rounded Rectangle 15"/>
          <p:cNvSpPr/>
          <p:nvPr/>
        </p:nvSpPr>
        <p:spPr>
          <a:xfrm>
            <a:off x="6178143" y="1627632"/>
            <a:ext cx="2641015" cy="1207008"/>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9311" y="1783080"/>
            <a:ext cx="2238679"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0CA30C"/>
                </a:solidFill>
                <a:latin typeface="Inter"/>
              </a:rPr>
              <a:t>p = 3.8e-06</a:t>
            </a:r>
          </a:p>
        </p:txBody>
      </p:sp>
      <p:sp>
        <p:nvSpPr>
          <p:cNvPr id="18" name="TextBox 17"/>
          <p:cNvSpPr txBox="1"/>
          <p:nvPr/>
        </p:nvSpPr>
        <p:spPr>
          <a:xfrm>
            <a:off x="6379311" y="2377440"/>
            <a:ext cx="2238679"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McNemar, exact binomial</a:t>
            </a:r>
          </a:p>
        </p:txBody>
      </p:sp>
      <p:sp>
        <p:nvSpPr>
          <p:cNvPr id="19" name="Rounded Rectangle 18"/>
          <p:cNvSpPr/>
          <p:nvPr/>
        </p:nvSpPr>
        <p:spPr>
          <a:xfrm>
            <a:off x="8983751" y="1627632"/>
            <a:ext cx="2641015" cy="1207008"/>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4919" y="1783080"/>
            <a:ext cx="2238679"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0CA30C"/>
                </a:solidFill>
                <a:latin typeface="Inter"/>
              </a:rPr>
              <a:t>19 : 0</a:t>
            </a:r>
          </a:p>
        </p:txBody>
      </p:sp>
      <p:sp>
        <p:nvSpPr>
          <p:cNvPr id="21" name="TextBox 20"/>
          <p:cNvSpPr txBox="1"/>
          <p:nvPr/>
        </p:nvSpPr>
        <p:spPr>
          <a:xfrm>
            <a:off x="9184919" y="2377440"/>
            <a:ext cx="2238679"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images gained : lost</a:t>
            </a:r>
          </a:p>
        </p:txBody>
      </p:sp>
      <p:sp>
        <p:nvSpPr>
          <p:cNvPr id="22" name="TextBox 21"/>
          <p:cNvSpPr txBox="1"/>
          <p:nvPr/>
        </p:nvSpPr>
        <p:spPr>
          <a:xfrm>
            <a:off x="566928" y="3136391"/>
            <a:ext cx="292608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outcome on a test image</a:t>
            </a:r>
          </a:p>
        </p:txBody>
      </p:sp>
      <p:sp>
        <p:nvSpPr>
          <p:cNvPr id="23" name="TextBox 22"/>
          <p:cNvSpPr txBox="1"/>
          <p:nvPr/>
        </p:nvSpPr>
        <p:spPr>
          <a:xfrm>
            <a:off x="3493008" y="3136391"/>
            <a:ext cx="1959422"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count</a:t>
            </a:r>
          </a:p>
        </p:txBody>
      </p:sp>
      <p:sp>
        <p:nvSpPr>
          <p:cNvPr id="24" name="Rectangle 23"/>
          <p:cNvSpPr/>
          <p:nvPr/>
        </p:nvSpPr>
        <p:spPr>
          <a:xfrm>
            <a:off x="566928" y="3428999"/>
            <a:ext cx="4885502"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520439"/>
            <a:ext cx="292608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both correct</a:t>
            </a:r>
          </a:p>
        </p:txBody>
      </p:sp>
      <p:sp>
        <p:nvSpPr>
          <p:cNvPr id="26" name="TextBox 25"/>
          <p:cNvSpPr txBox="1"/>
          <p:nvPr/>
        </p:nvSpPr>
        <p:spPr>
          <a:xfrm>
            <a:off x="3493008" y="3520439"/>
            <a:ext cx="1959422"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341</a:t>
            </a:r>
          </a:p>
        </p:txBody>
      </p:sp>
      <p:sp>
        <p:nvSpPr>
          <p:cNvPr id="27" name="TextBox 26"/>
          <p:cNvSpPr txBox="1"/>
          <p:nvPr/>
        </p:nvSpPr>
        <p:spPr>
          <a:xfrm>
            <a:off x="566928" y="3831335"/>
            <a:ext cx="292608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SAGE-HE only correct</a:t>
            </a:r>
          </a:p>
        </p:txBody>
      </p:sp>
      <p:sp>
        <p:nvSpPr>
          <p:cNvPr id="28" name="TextBox 27"/>
          <p:cNvSpPr txBox="1"/>
          <p:nvPr/>
        </p:nvSpPr>
        <p:spPr>
          <a:xfrm>
            <a:off x="3493008" y="3831335"/>
            <a:ext cx="1959422"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19</a:t>
            </a:r>
          </a:p>
        </p:txBody>
      </p:sp>
      <p:sp>
        <p:nvSpPr>
          <p:cNvPr id="29" name="TextBox 28"/>
          <p:cNvSpPr txBox="1"/>
          <p:nvPr/>
        </p:nvSpPr>
        <p:spPr>
          <a:xfrm>
            <a:off x="566928" y="4142231"/>
            <a:ext cx="292608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baseline only correct</a:t>
            </a:r>
          </a:p>
        </p:txBody>
      </p:sp>
      <p:sp>
        <p:nvSpPr>
          <p:cNvPr id="30" name="TextBox 29"/>
          <p:cNvSpPr txBox="1"/>
          <p:nvPr/>
        </p:nvSpPr>
        <p:spPr>
          <a:xfrm>
            <a:off x="3493008" y="4142231"/>
            <a:ext cx="1959422"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0</a:t>
            </a:r>
          </a:p>
        </p:txBody>
      </p:sp>
      <p:sp>
        <p:nvSpPr>
          <p:cNvPr id="31" name="TextBox 30"/>
          <p:cNvSpPr txBox="1"/>
          <p:nvPr/>
        </p:nvSpPr>
        <p:spPr>
          <a:xfrm>
            <a:off x="566928" y="4453127"/>
            <a:ext cx="292608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both wrong</a:t>
            </a:r>
          </a:p>
        </p:txBody>
      </p:sp>
      <p:sp>
        <p:nvSpPr>
          <p:cNvPr id="32" name="TextBox 31"/>
          <p:cNvSpPr txBox="1"/>
          <p:nvPr/>
        </p:nvSpPr>
        <p:spPr>
          <a:xfrm>
            <a:off x="3493008" y="4453127"/>
            <a:ext cx="1959422"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0</a:t>
            </a:r>
          </a:p>
        </p:txBody>
      </p:sp>
      <p:sp>
        <p:nvSpPr>
          <p:cNvPr id="33" name="TextBox 32"/>
          <p:cNvSpPr txBox="1"/>
          <p:nvPr/>
        </p:nvSpPr>
        <p:spPr>
          <a:xfrm>
            <a:off x="566928" y="4764024"/>
            <a:ext cx="292608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discordant pairs</a:t>
            </a:r>
          </a:p>
        </p:txBody>
      </p:sp>
      <p:sp>
        <p:nvSpPr>
          <p:cNvPr id="34" name="TextBox 33"/>
          <p:cNvSpPr txBox="1"/>
          <p:nvPr/>
        </p:nvSpPr>
        <p:spPr>
          <a:xfrm>
            <a:off x="3493008" y="4764024"/>
            <a:ext cx="1959422"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19</a:t>
            </a:r>
          </a:p>
        </p:txBody>
      </p:sp>
      <p:sp>
        <p:nvSpPr>
          <p:cNvPr id="35" name="Rounded Rectangle 34"/>
          <p:cNvSpPr/>
          <p:nvPr/>
        </p:nvSpPr>
        <p:spPr>
          <a:xfrm>
            <a:off x="6365184" y="3136391"/>
            <a:ext cx="5259583" cy="219456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65184" y="3136391"/>
            <a:ext cx="41148" cy="2194560"/>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4640" y="3273551"/>
            <a:ext cx="483895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0CA30C"/>
                </a:solidFill>
                <a:latin typeface="Inter"/>
              </a:rPr>
              <a:t>Why McNemar and not a two-sample test</a:t>
            </a:r>
          </a:p>
        </p:txBody>
      </p:sp>
      <p:sp>
        <p:nvSpPr>
          <p:cNvPr id="38" name="TextBox 37"/>
          <p:cNvSpPr txBox="1"/>
          <p:nvPr/>
        </p:nvSpPr>
        <p:spPr>
          <a:xfrm>
            <a:off x="6584640" y="3611879"/>
            <a:ext cx="4838959" cy="1572767"/>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The two models see the same images, so the predictions are paired. McNemar looks only at the images where they disagree and asks whether the split is more lopsided than a coin flip.</a:t>
            </a:r>
          </a:p>
          <a:p>
            <a:pPr algn="l">
              <a:lnSpc>
                <a:spcPct val="124000"/>
              </a:lnSpc>
              <a:spcAft>
                <a:spcPts val="400"/>
              </a:spcAft>
            </a:pPr>
            <a:r>
              <a:rPr sz="1150" b="0" i="0">
                <a:solidFill>
                  <a:srgbClr val="CBD5E1"/>
                </a:solidFill>
                <a:latin typeface="Inter"/>
              </a:rPr>
              <a:t/>
            </a:r>
          </a:p>
          <a:p>
            <a:pPr algn="l">
              <a:lnSpc>
                <a:spcPct val="124000"/>
              </a:lnSpc>
              <a:spcAft>
                <a:spcPts val="400"/>
              </a:spcAft>
            </a:pPr>
            <a:r>
              <a:rPr sz="1150" b="0" i="0">
                <a:solidFill>
                  <a:srgbClr val="CBD5E1"/>
                </a:solidFill>
                <a:latin typeface="Inter"/>
              </a:rPr>
              <a:t>Here every one of the 19 disagreements went the same way: SAGE-HE never missed an image the baseline got right.</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350"/>
                                        <p:tgtEl>
                                          <p:spTgt spid="12"/>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50"/>
                                        <p:tgtEl>
                                          <p:spTgt spid="14"/>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50"/>
                                        <p:tgtEl>
                                          <p:spTgt spid="15"/>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350"/>
                                        <p:tgtEl>
                                          <p:spTgt spid="17"/>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Chunk Selection  ·  before and after, on real test images</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Fixed Sobel threshold (base paper) against the learned attention, same images</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7177895"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37</a:t>
            </a:r>
          </a:p>
        </p:txBody>
      </p:sp>
      <p:pic>
        <p:nvPicPr>
          <p:cNvPr id="10" name="Picture 9" descr="ba_chunk_selection_1076.png"/>
          <p:cNvPicPr>
            <a:picLocks noChangeAspect="1"/>
          </p:cNvPicPr>
          <p:nvPr/>
        </p:nvPicPr>
        <p:blipFill>
          <a:blip r:embed="rId2"/>
          <a:stretch>
            <a:fillRect/>
          </a:stretch>
        </p:blipFill>
        <p:spPr>
          <a:xfrm>
            <a:off x="2815027" y="1627632"/>
            <a:ext cx="6561640" cy="4114800"/>
          </a:xfrm>
          <a:prstGeom prst="rect">
            <a:avLst/>
          </a:prstGeom>
        </p:spPr>
      </p:pic>
      <p:sp>
        <p:nvSpPr>
          <p:cNvPr id="11" name="TextBox 10"/>
          <p:cNvSpPr txBox="1"/>
          <p:nvPr/>
        </p:nvSpPr>
        <p:spPr>
          <a:xfrm>
            <a:off x="566928" y="5760720"/>
            <a:ext cx="11057839" cy="502920"/>
          </a:xfrm>
          <a:prstGeom prst="rect">
            <a:avLst/>
          </a:prstGeom>
          <a:noFill/>
        </p:spPr>
        <p:txBody>
          <a:bodyPr wrap="square" anchor="t" lIns="0" rIns="0" tIns="0" bIns="0">
            <a:spAutoFit/>
          </a:bodyPr>
          <a:lstStyle/>
          <a:p>
            <a:pPr algn="l">
              <a:lnSpc>
                <a:spcPct val="120000"/>
              </a:lnSpc>
              <a:spcAft>
                <a:spcPts val="400"/>
              </a:spcAft>
            </a:pPr>
            <a:r>
              <a:rPr sz="1100" b="0" i="1">
                <a:solidFill>
                  <a:srgbClr val="94A3B8"/>
                </a:solidFill>
                <a:latin typeface="Inter"/>
              </a:rPr>
              <a:t>The attention is not uniform noise: it concentrates on localised defects (inclusion, concentration 0.42) and spreads out on diffuse texture (pitted_surface, 0.04) — the behaviour a useful selector should show.</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Precision and Recall</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Macro-averaged — the base paper reports none of these for NEU-CLS</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7371892"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38</a:t>
            </a:r>
          </a:p>
        </p:txBody>
      </p:sp>
      <p:pic>
        <p:nvPicPr>
          <p:cNvPr id="10" name="Picture 9" descr="metric_comparison_1054.png"/>
          <p:cNvPicPr>
            <a:picLocks noChangeAspect="1"/>
          </p:cNvPicPr>
          <p:nvPr/>
        </p:nvPicPr>
        <p:blipFill>
          <a:blip r:embed="rId2"/>
          <a:stretch>
            <a:fillRect/>
          </a:stretch>
        </p:blipFill>
        <p:spPr>
          <a:xfrm>
            <a:off x="2881817" y="1627632"/>
            <a:ext cx="6428060" cy="3474720"/>
          </a:xfrm>
          <a:prstGeom prst="rect">
            <a:avLst/>
          </a:prstGeom>
        </p:spPr>
      </p:pic>
      <p:sp>
        <p:nvSpPr>
          <p:cNvPr id="11" name="Rounded Rectangle 10"/>
          <p:cNvSpPr/>
          <p:nvPr/>
        </p:nvSpPr>
        <p:spPr>
          <a:xfrm>
            <a:off x="566928" y="5330952"/>
            <a:ext cx="3576218" cy="91440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5486400"/>
            <a:ext cx="3173882"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60A5FA"/>
                </a:solidFill>
                <a:latin typeface="Inter"/>
              </a:rPr>
              <a:t>100.00%</a:t>
            </a:r>
          </a:p>
        </p:txBody>
      </p:sp>
      <p:sp>
        <p:nvSpPr>
          <p:cNvPr id="13" name="TextBox 12"/>
          <p:cNvSpPr txBox="1"/>
          <p:nvPr/>
        </p:nvSpPr>
        <p:spPr>
          <a:xfrm>
            <a:off x="768096" y="6080760"/>
            <a:ext cx="3173882"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SAGE-HE macro precision</a:t>
            </a:r>
          </a:p>
        </p:txBody>
      </p:sp>
      <p:sp>
        <p:nvSpPr>
          <p:cNvPr id="14" name="Rounded Rectangle 13"/>
          <p:cNvSpPr/>
          <p:nvPr/>
        </p:nvSpPr>
        <p:spPr>
          <a:xfrm>
            <a:off x="4307738" y="5330952"/>
            <a:ext cx="3576218" cy="91440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8906" y="5486400"/>
            <a:ext cx="3173882"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60A5FA"/>
                </a:solidFill>
                <a:latin typeface="Inter"/>
              </a:rPr>
              <a:t>100.00%</a:t>
            </a:r>
          </a:p>
        </p:txBody>
      </p:sp>
      <p:sp>
        <p:nvSpPr>
          <p:cNvPr id="16" name="TextBox 15"/>
          <p:cNvSpPr txBox="1"/>
          <p:nvPr/>
        </p:nvSpPr>
        <p:spPr>
          <a:xfrm>
            <a:off x="4508906" y="6080760"/>
            <a:ext cx="3173882"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SAGE-HE macro recall</a:t>
            </a:r>
          </a:p>
        </p:txBody>
      </p:sp>
      <p:sp>
        <p:nvSpPr>
          <p:cNvPr id="17" name="Rounded Rectangle 16"/>
          <p:cNvSpPr/>
          <p:nvPr/>
        </p:nvSpPr>
        <p:spPr>
          <a:xfrm>
            <a:off x="8048548" y="5330952"/>
            <a:ext cx="3576218" cy="91440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9716" y="5486400"/>
            <a:ext cx="3173882"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60A5FA"/>
                </a:solidFill>
                <a:latin typeface="Inter"/>
              </a:rPr>
              <a:t>100.00%</a:t>
            </a:r>
          </a:p>
        </p:txBody>
      </p:sp>
      <p:sp>
        <p:nvSpPr>
          <p:cNvPr id="19" name="TextBox 18"/>
          <p:cNvSpPr txBox="1"/>
          <p:nvPr/>
        </p:nvSpPr>
        <p:spPr>
          <a:xfrm>
            <a:off x="8249716" y="6080760"/>
            <a:ext cx="3173882"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SAGE-HE macro F1</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350"/>
                                        <p:tgtEl>
                                          <p:spTgt spid="12"/>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50"/>
                                        <p:tgtEl>
                                          <p:spTgt spid="13"/>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350"/>
                                        <p:tgtEl>
                                          <p:spTgt spid="14"/>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350"/>
                                        <p:tgtEl>
                                          <p:spTgt spid="15"/>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Confusion Matrices  ·  before and after</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Identical 360 test images, identical colour scale</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7565889"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39</a:t>
            </a:r>
          </a:p>
        </p:txBody>
      </p:sp>
      <p:pic>
        <p:nvPicPr>
          <p:cNvPr id="10" name="Picture 9" descr="ba_confusion_1418.png"/>
          <p:cNvPicPr>
            <a:picLocks noChangeAspect="1"/>
          </p:cNvPicPr>
          <p:nvPr/>
        </p:nvPicPr>
        <p:blipFill>
          <a:blip r:embed="rId2"/>
          <a:stretch>
            <a:fillRect/>
          </a:stretch>
        </p:blipFill>
        <p:spPr>
          <a:xfrm>
            <a:off x="1773625" y="1627632"/>
            <a:ext cx="8644443" cy="4114800"/>
          </a:xfrm>
          <a:prstGeom prst="rect">
            <a:avLst/>
          </a:prstGeom>
        </p:spPr>
      </p:pic>
    </p:spTree>
  </p:cSld>
  <p:clrMapOvr>
    <a:masterClrMapping/>
  </p:clrMapOvr>
  <p:transition xmlns:ns0="http://schemas.microsoft.com/office/powerpoint/2010/main" spd="med" ns0:dur="400">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Per-Class Performance  ·  before and after</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Per-class F1 for every defect type, same test split</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7759887"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40</a:t>
            </a:r>
          </a:p>
        </p:txBody>
      </p:sp>
      <p:pic>
        <p:nvPicPr>
          <p:cNvPr id="10" name="Picture 9" descr="ba_per_class_1407.png"/>
          <p:cNvPicPr>
            <a:picLocks noChangeAspect="1"/>
          </p:cNvPicPr>
          <p:nvPr/>
        </p:nvPicPr>
        <p:blipFill>
          <a:blip r:embed="rId2"/>
          <a:stretch>
            <a:fillRect/>
          </a:stretch>
        </p:blipFill>
        <p:spPr>
          <a:xfrm>
            <a:off x="1807460" y="1627632"/>
            <a:ext cx="8576773" cy="4114800"/>
          </a:xfrm>
          <a:prstGeom prst="rect">
            <a:avLst/>
          </a:prstGeom>
        </p:spPr>
      </p:pic>
    </p:spTree>
  </p:cSld>
  <p:clrMapOvr>
    <a:masterClrMapping/>
  </p:clrMapOvr>
  <p:transition xmlns:ns0="http://schemas.microsoft.com/office/powerpoint/2010/main" spd="med" ns0:dur="400">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Training and Validation Curves</a:t>
            </a:r>
          </a:p>
        </p:txBody>
      </p:sp>
      <p:sp>
        <p:nvSpPr>
          <p:cNvPr id="4" name="Rectangle 3"/>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7953884"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8" name="TextBox 7"/>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41</a:t>
            </a:r>
          </a:p>
        </p:txBody>
      </p:sp>
      <p:pic>
        <p:nvPicPr>
          <p:cNvPr id="9" name="Picture 8" descr="curves_sage_1535.png"/>
          <p:cNvPicPr>
            <a:picLocks noChangeAspect="1"/>
          </p:cNvPicPr>
          <p:nvPr/>
        </p:nvPicPr>
        <p:blipFill>
          <a:blip r:embed="rId2"/>
          <a:stretch>
            <a:fillRect/>
          </a:stretch>
        </p:blipFill>
        <p:spPr>
          <a:xfrm>
            <a:off x="1416244" y="1627632"/>
            <a:ext cx="9359206" cy="3566160"/>
          </a:xfrm>
          <a:prstGeom prst="rect">
            <a:avLst/>
          </a:prstGeom>
        </p:spPr>
      </p:pic>
      <p:sp>
        <p:nvSpPr>
          <p:cNvPr id="10" name="TextBox 9"/>
          <p:cNvSpPr txBox="1"/>
          <p:nvPr/>
        </p:nvSpPr>
        <p:spPr>
          <a:xfrm>
            <a:off x="566928" y="5394960"/>
            <a:ext cx="11057839" cy="548640"/>
          </a:xfrm>
          <a:prstGeom prst="rect">
            <a:avLst/>
          </a:prstGeom>
          <a:noFill/>
        </p:spPr>
        <p:txBody>
          <a:bodyPr wrap="square" anchor="t" lIns="0" rIns="0" tIns="0" bIns="0">
            <a:spAutoFit/>
          </a:bodyPr>
          <a:lstStyle/>
          <a:p>
            <a:pPr algn="l">
              <a:lnSpc>
                <a:spcPct val="118000"/>
              </a:lnSpc>
              <a:spcAft>
                <a:spcPts val="400"/>
              </a:spcAft>
            </a:pPr>
            <a:r>
              <a:rPr sz="1150" b="0" i="1">
                <a:solidFill>
                  <a:srgbClr val="94A3B8"/>
                </a:solidFill>
                <a:latin typeface="Inter"/>
              </a:rPr>
              <a:t>Validation macro-F1 reaches 1.0 within two epochs — the saturation that motivates the reduced-data ablation protocol. Validation loss keeps improving afterwards, which is what the selection tiebreak uses.</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Learning Curve  ·  where the architectures actually separate</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Test macro-F1 against training-set size, same held-out test split throughout</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8147881"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42</a:t>
            </a:r>
          </a:p>
        </p:txBody>
      </p:sp>
      <p:pic>
        <p:nvPicPr>
          <p:cNvPr id="10" name="Picture 9" descr="learning_curve_1078.png"/>
          <p:cNvPicPr>
            <a:picLocks noChangeAspect="1"/>
          </p:cNvPicPr>
          <p:nvPr/>
        </p:nvPicPr>
        <p:blipFill>
          <a:blip r:embed="rId2"/>
          <a:stretch>
            <a:fillRect/>
          </a:stretch>
        </p:blipFill>
        <p:spPr>
          <a:xfrm>
            <a:off x="566928" y="1763815"/>
            <a:ext cx="6568866" cy="3750993"/>
          </a:xfrm>
          <a:prstGeom prst="rect">
            <a:avLst/>
          </a:prstGeom>
        </p:spPr>
      </p:pic>
      <p:sp>
        <p:nvSpPr>
          <p:cNvPr id="11" name="Rounded Rectangle 10"/>
          <p:cNvSpPr/>
          <p:nvPr/>
        </p:nvSpPr>
        <p:spPr>
          <a:xfrm>
            <a:off x="7487427" y="1627632"/>
            <a:ext cx="4137339" cy="201168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87427" y="1627632"/>
            <a:ext cx="41148" cy="2011680"/>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6883" y="1764792"/>
            <a:ext cx="3716715"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0CA30C"/>
                </a:solidFill>
                <a:latin typeface="Inter"/>
              </a:rPr>
              <a:t>Why this is the honest comparison</a:t>
            </a:r>
          </a:p>
        </p:txBody>
      </p:sp>
      <p:sp>
        <p:nvSpPr>
          <p:cNvPr id="14" name="TextBox 13"/>
          <p:cNvSpPr txBox="1"/>
          <p:nvPr/>
        </p:nvSpPr>
        <p:spPr>
          <a:xfrm>
            <a:off x="7706883" y="2103120"/>
            <a:ext cx="3716715" cy="138988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At full data both models are near ceiling and the difference is within noise. The gap is real and large in the low-data regime — which is also the regime where a factory has few labelled defect examples.</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Ablation Study</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Reduced-data regime (15% of training split) so components are separable</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8341878"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43</a:t>
            </a:r>
          </a:p>
        </p:txBody>
      </p:sp>
      <p:pic>
        <p:nvPicPr>
          <p:cNvPr id="10" name="Picture 9" descr="ablation_1287.png"/>
          <p:cNvPicPr>
            <a:picLocks noChangeAspect="1"/>
          </p:cNvPicPr>
          <p:nvPr/>
        </p:nvPicPr>
        <p:blipFill>
          <a:blip r:embed="rId2"/>
          <a:stretch>
            <a:fillRect/>
          </a:stretch>
        </p:blipFill>
        <p:spPr>
          <a:xfrm>
            <a:off x="2172468" y="1627632"/>
            <a:ext cx="7846758" cy="4023360"/>
          </a:xfrm>
          <a:prstGeom prst="rect">
            <a:avLst/>
          </a:prstGeom>
        </p:spPr>
      </p:pic>
    </p:spTree>
  </p:cSld>
  <p:clrMapOvr>
    <a:masterClrMapping/>
  </p:clrMapOvr>
  <p:transition xmlns:ns0="http://schemas.microsoft.com/office/powerpoint/2010/main" spd="med" ns0:dur="400">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Ablation  ·  what the numbers say</a:t>
            </a:r>
          </a:p>
        </p:txBody>
      </p:sp>
      <p:sp>
        <p:nvSpPr>
          <p:cNvPr id="4" name="Rectangle 3"/>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8535875"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8" name="TextBox 7"/>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44</a:t>
            </a:r>
          </a:p>
        </p:txBody>
      </p:sp>
      <p:sp>
        <p:nvSpPr>
          <p:cNvPr id="9" name="TextBox 8"/>
          <p:cNvSpPr txBox="1"/>
          <p:nvPr/>
        </p:nvSpPr>
        <p:spPr>
          <a:xfrm>
            <a:off x="566928" y="1627632"/>
            <a:ext cx="274320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configuration</a:t>
            </a:r>
          </a:p>
        </p:txBody>
      </p:sp>
      <p:sp>
        <p:nvSpPr>
          <p:cNvPr id="10" name="TextBox 9"/>
          <p:cNvSpPr txBox="1"/>
          <p:nvPr/>
        </p:nvSpPr>
        <p:spPr>
          <a:xfrm>
            <a:off x="3310128" y="1627632"/>
            <a:ext cx="192024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macro F1 (mean ± sd)</a:t>
            </a:r>
          </a:p>
        </p:txBody>
      </p:sp>
      <p:sp>
        <p:nvSpPr>
          <p:cNvPr id="11" name="TextBox 10"/>
          <p:cNvSpPr txBox="1"/>
          <p:nvPr/>
        </p:nvSpPr>
        <p:spPr>
          <a:xfrm>
            <a:off x="5230368" y="1627632"/>
            <a:ext cx="1157264"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accuracy</a:t>
            </a:r>
          </a:p>
        </p:txBody>
      </p:sp>
      <p:sp>
        <p:nvSpPr>
          <p:cNvPr id="12" name="Rectangle 11"/>
          <p:cNvSpPr/>
          <p:nvPr/>
        </p:nvSpPr>
        <p:spPr>
          <a:xfrm>
            <a:off x="566928" y="1920240"/>
            <a:ext cx="5820704"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011680"/>
            <a:ext cx="2743200"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baseline cnn</a:t>
            </a:r>
          </a:p>
        </p:txBody>
      </p:sp>
      <p:sp>
        <p:nvSpPr>
          <p:cNvPr id="14" name="TextBox 13"/>
          <p:cNvSpPr txBox="1"/>
          <p:nvPr/>
        </p:nvSpPr>
        <p:spPr>
          <a:xfrm>
            <a:off x="3310128" y="2011680"/>
            <a:ext cx="1920240"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50.6 ± 1.2</a:t>
            </a:r>
          </a:p>
        </p:txBody>
      </p:sp>
      <p:sp>
        <p:nvSpPr>
          <p:cNvPr id="15" name="TextBox 14"/>
          <p:cNvSpPr txBox="1"/>
          <p:nvPr/>
        </p:nvSpPr>
        <p:spPr>
          <a:xfrm>
            <a:off x="5230368" y="2011680"/>
            <a:ext cx="1157264"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51.6</a:t>
            </a:r>
          </a:p>
        </p:txBody>
      </p:sp>
      <p:sp>
        <p:nvSpPr>
          <p:cNvPr id="16" name="TextBox 15"/>
          <p:cNvSpPr txBox="1"/>
          <p:nvPr/>
        </p:nvSpPr>
        <p:spPr>
          <a:xfrm>
            <a:off x="566928" y="2313432"/>
            <a:ext cx="2743200"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global only</a:t>
            </a:r>
          </a:p>
        </p:txBody>
      </p:sp>
      <p:sp>
        <p:nvSpPr>
          <p:cNvPr id="17" name="TextBox 16"/>
          <p:cNvSpPr txBox="1"/>
          <p:nvPr/>
        </p:nvSpPr>
        <p:spPr>
          <a:xfrm>
            <a:off x="3310128" y="2313432"/>
            <a:ext cx="1920240"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93.5 ± 0.4</a:t>
            </a:r>
          </a:p>
        </p:txBody>
      </p:sp>
      <p:sp>
        <p:nvSpPr>
          <p:cNvPr id="18" name="TextBox 17"/>
          <p:cNvSpPr txBox="1"/>
          <p:nvPr/>
        </p:nvSpPr>
        <p:spPr>
          <a:xfrm>
            <a:off x="5230368" y="2313432"/>
            <a:ext cx="1157264"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93.5</a:t>
            </a:r>
          </a:p>
        </p:txBody>
      </p:sp>
      <p:sp>
        <p:nvSpPr>
          <p:cNvPr id="19" name="TextBox 18"/>
          <p:cNvSpPr txBox="1"/>
          <p:nvPr/>
        </p:nvSpPr>
        <p:spPr>
          <a:xfrm>
            <a:off x="566928" y="2615184"/>
            <a:ext cx="2743200"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local only</a:t>
            </a:r>
          </a:p>
        </p:txBody>
      </p:sp>
      <p:sp>
        <p:nvSpPr>
          <p:cNvPr id="20" name="TextBox 19"/>
          <p:cNvSpPr txBox="1"/>
          <p:nvPr/>
        </p:nvSpPr>
        <p:spPr>
          <a:xfrm>
            <a:off x="3310128" y="2615184"/>
            <a:ext cx="1920240"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33.9 ± 33.5</a:t>
            </a:r>
          </a:p>
        </p:txBody>
      </p:sp>
      <p:sp>
        <p:nvSpPr>
          <p:cNvPr id="21" name="TextBox 20"/>
          <p:cNvSpPr txBox="1"/>
          <p:nvPr/>
        </p:nvSpPr>
        <p:spPr>
          <a:xfrm>
            <a:off x="5230368" y="2615184"/>
            <a:ext cx="1157264"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40.0</a:t>
            </a:r>
          </a:p>
        </p:txBody>
      </p:sp>
      <p:sp>
        <p:nvSpPr>
          <p:cNvPr id="22" name="TextBox 21"/>
          <p:cNvSpPr txBox="1"/>
          <p:nvPr/>
        </p:nvSpPr>
        <p:spPr>
          <a:xfrm>
            <a:off x="566928" y="2916936"/>
            <a:ext cx="2743200"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dual concat</a:t>
            </a:r>
          </a:p>
        </p:txBody>
      </p:sp>
      <p:sp>
        <p:nvSpPr>
          <p:cNvPr id="23" name="TextBox 22"/>
          <p:cNvSpPr txBox="1"/>
          <p:nvPr/>
        </p:nvSpPr>
        <p:spPr>
          <a:xfrm>
            <a:off x="3310128" y="2916936"/>
            <a:ext cx="1920240"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90.0 ± 2.1</a:t>
            </a:r>
          </a:p>
        </p:txBody>
      </p:sp>
      <p:sp>
        <p:nvSpPr>
          <p:cNvPr id="24" name="TextBox 23"/>
          <p:cNvSpPr txBox="1"/>
          <p:nvPr/>
        </p:nvSpPr>
        <p:spPr>
          <a:xfrm>
            <a:off x="5230368" y="2916936"/>
            <a:ext cx="1157264"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90.0</a:t>
            </a:r>
          </a:p>
        </p:txBody>
      </p:sp>
      <p:sp>
        <p:nvSpPr>
          <p:cNvPr id="25" name="TextBox 24"/>
          <p:cNvSpPr txBox="1"/>
          <p:nvPr/>
        </p:nvSpPr>
        <p:spPr>
          <a:xfrm>
            <a:off x="566928" y="3218688"/>
            <a:ext cx="2743200"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dual attention</a:t>
            </a:r>
          </a:p>
        </p:txBody>
      </p:sp>
      <p:sp>
        <p:nvSpPr>
          <p:cNvPr id="26" name="TextBox 25"/>
          <p:cNvSpPr txBox="1"/>
          <p:nvPr/>
        </p:nvSpPr>
        <p:spPr>
          <a:xfrm>
            <a:off x="3310128" y="3218688"/>
            <a:ext cx="1920240"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91.1 ± 1.2</a:t>
            </a:r>
          </a:p>
        </p:txBody>
      </p:sp>
      <p:sp>
        <p:nvSpPr>
          <p:cNvPr id="27" name="TextBox 26"/>
          <p:cNvSpPr txBox="1"/>
          <p:nvPr/>
        </p:nvSpPr>
        <p:spPr>
          <a:xfrm>
            <a:off x="5230368" y="3218688"/>
            <a:ext cx="1157264"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91.2</a:t>
            </a:r>
          </a:p>
        </p:txBody>
      </p:sp>
      <p:sp>
        <p:nvSpPr>
          <p:cNvPr id="28" name="TextBox 27"/>
          <p:cNvSpPr txBox="1"/>
          <p:nvPr/>
        </p:nvSpPr>
        <p:spPr>
          <a:xfrm>
            <a:off x="566928" y="3520440"/>
            <a:ext cx="2743200"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dual gated</a:t>
            </a:r>
          </a:p>
        </p:txBody>
      </p:sp>
      <p:sp>
        <p:nvSpPr>
          <p:cNvPr id="29" name="TextBox 28"/>
          <p:cNvSpPr txBox="1"/>
          <p:nvPr/>
        </p:nvSpPr>
        <p:spPr>
          <a:xfrm>
            <a:off x="3310128" y="3520440"/>
            <a:ext cx="1920240"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90.6 ± 2.9</a:t>
            </a:r>
          </a:p>
        </p:txBody>
      </p:sp>
      <p:sp>
        <p:nvSpPr>
          <p:cNvPr id="30" name="TextBox 29"/>
          <p:cNvSpPr txBox="1"/>
          <p:nvPr/>
        </p:nvSpPr>
        <p:spPr>
          <a:xfrm>
            <a:off x="5230368" y="3520440"/>
            <a:ext cx="1157264"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90.9</a:t>
            </a:r>
          </a:p>
        </p:txBody>
      </p:sp>
      <p:sp>
        <p:nvSpPr>
          <p:cNvPr id="31" name="TextBox 30"/>
          <p:cNvSpPr txBox="1"/>
          <p:nvPr/>
        </p:nvSpPr>
        <p:spPr>
          <a:xfrm>
            <a:off x="566928" y="3822191"/>
            <a:ext cx="2743200"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chunk attention</a:t>
            </a:r>
          </a:p>
        </p:txBody>
      </p:sp>
      <p:sp>
        <p:nvSpPr>
          <p:cNvPr id="32" name="TextBox 31"/>
          <p:cNvSpPr txBox="1"/>
          <p:nvPr/>
        </p:nvSpPr>
        <p:spPr>
          <a:xfrm>
            <a:off x="3310128" y="3822191"/>
            <a:ext cx="1920240"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89.4 ± 3.6</a:t>
            </a:r>
          </a:p>
        </p:txBody>
      </p:sp>
      <p:sp>
        <p:nvSpPr>
          <p:cNvPr id="33" name="TextBox 32"/>
          <p:cNvSpPr txBox="1"/>
          <p:nvPr/>
        </p:nvSpPr>
        <p:spPr>
          <a:xfrm>
            <a:off x="5230368" y="3822191"/>
            <a:ext cx="1157264"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89.6</a:t>
            </a:r>
          </a:p>
        </p:txBody>
      </p:sp>
      <p:sp>
        <p:nvSpPr>
          <p:cNvPr id="34" name="TextBox 33"/>
          <p:cNvSpPr txBox="1"/>
          <p:nvPr/>
        </p:nvSpPr>
        <p:spPr>
          <a:xfrm>
            <a:off x="566928" y="4123944"/>
            <a:ext cx="2743200"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chunk attention no sobel</a:t>
            </a:r>
          </a:p>
        </p:txBody>
      </p:sp>
      <p:sp>
        <p:nvSpPr>
          <p:cNvPr id="35" name="TextBox 34"/>
          <p:cNvSpPr txBox="1"/>
          <p:nvPr/>
        </p:nvSpPr>
        <p:spPr>
          <a:xfrm>
            <a:off x="3310128" y="4123944"/>
            <a:ext cx="1920240"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67.8 ± 42.3</a:t>
            </a:r>
          </a:p>
        </p:txBody>
      </p:sp>
      <p:sp>
        <p:nvSpPr>
          <p:cNvPr id="36" name="TextBox 35"/>
          <p:cNvSpPr txBox="1"/>
          <p:nvPr/>
        </p:nvSpPr>
        <p:spPr>
          <a:xfrm>
            <a:off x="5230368" y="4123944"/>
            <a:ext cx="1157264" cy="301752"/>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70.6</a:t>
            </a:r>
          </a:p>
        </p:txBody>
      </p:sp>
      <p:sp>
        <p:nvSpPr>
          <p:cNvPr id="37" name="Rounded Rectangle 36"/>
          <p:cNvSpPr/>
          <p:nvPr/>
        </p:nvSpPr>
        <p:spPr>
          <a:xfrm>
            <a:off x="7113346" y="1627632"/>
            <a:ext cx="4511421" cy="192024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113346" y="1627632"/>
            <a:ext cx="41148" cy="192024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32802" y="1764792"/>
            <a:ext cx="4090797"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D03B3B"/>
                </a:solidFill>
                <a:latin typeface="Inter"/>
              </a:rPr>
              <a:t>Every proposed component costs accuracy</a:t>
            </a:r>
          </a:p>
        </p:txBody>
      </p:sp>
      <p:sp>
        <p:nvSpPr>
          <p:cNvPr id="40" name="TextBox 39"/>
          <p:cNvSpPr txBox="1"/>
          <p:nvPr/>
        </p:nvSpPr>
        <p:spPr>
          <a:xfrm>
            <a:off x="7332802" y="2103120"/>
            <a:ext cx="4090797" cy="129844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adding the local branch   -2.82 pts</a:t>
            </a:r>
          </a:p>
          <a:p>
            <a:pPr algn="l">
              <a:lnSpc>
                <a:spcPct val="124000"/>
              </a:lnSpc>
              <a:spcAft>
                <a:spcPts val="400"/>
              </a:spcAft>
            </a:pPr>
            <a:r>
              <a:rPr sz="1150" b="0" i="0">
                <a:solidFill>
                  <a:srgbClr val="CBD5E1"/>
                </a:solidFill>
                <a:latin typeface="Inter"/>
              </a:rPr>
              <a:t>adding chunk attention   -1.26 pts</a:t>
            </a:r>
          </a:p>
          <a:p>
            <a:pPr algn="l">
              <a:lnSpc>
                <a:spcPct val="124000"/>
              </a:lnSpc>
              <a:spcAft>
                <a:spcPts val="400"/>
              </a:spcAft>
            </a:pPr>
            <a:r>
              <a:rPr sz="1150" b="0" i="0">
                <a:solidFill>
                  <a:srgbClr val="CBD5E1"/>
                </a:solidFill>
                <a:latin typeface="Inter"/>
              </a:rPr>
              <a:t>adding the Sobel prior   -1.28 pts</a:t>
            </a:r>
          </a:p>
          <a:p>
            <a:pPr algn="l">
              <a:lnSpc>
                <a:spcPct val="124000"/>
              </a:lnSpc>
              <a:spcAft>
                <a:spcPts val="400"/>
              </a:spcAft>
            </a:pPr>
            <a:r>
              <a:rPr sz="1150" b="0" i="0">
                <a:solidFill>
                  <a:srgbClr val="CBD5E1"/>
                </a:solidFill>
                <a:latin typeface="Inter"/>
              </a:rPr>
              <a:t>full model vs its backbone   -4.08 pts</a:t>
            </a:r>
          </a:p>
        </p:txBody>
      </p:sp>
      <p:sp>
        <p:nvSpPr>
          <p:cNvPr id="41" name="Rounded Rectangle 40"/>
          <p:cNvSpPr/>
          <p:nvPr/>
        </p:nvSpPr>
        <p:spPr>
          <a:xfrm>
            <a:off x="7113346" y="3776472"/>
            <a:ext cx="4511421" cy="169164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113346" y="3776472"/>
            <a:ext cx="41148" cy="1691640"/>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32802" y="3913632"/>
            <a:ext cx="4090797"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FAB219"/>
                </a:solidFill>
                <a:latin typeface="Inter"/>
              </a:rPr>
              <a:t>What is actually established</a:t>
            </a:r>
          </a:p>
        </p:txBody>
      </p:sp>
      <p:sp>
        <p:nvSpPr>
          <p:cNvPr id="44" name="TextBox 43"/>
          <p:cNvSpPr txBox="1"/>
          <p:nvPr/>
        </p:nvSpPr>
        <p:spPr>
          <a:xfrm>
            <a:off x="7332802" y="4251960"/>
            <a:ext cx="4090797" cy="106984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Two contrasts hold on every seed and carry the conclusion: the local branch costs accuracy, and the full model scores below its own backbone (−0.6 to −7.0 pts, negative on all three seeds).</a:t>
            </a:r>
          </a:p>
          <a:p>
            <a:pPr algn="l">
              <a:lnSpc>
                <a:spcPct val="124000"/>
              </a:lnSpc>
              <a:spcAft>
                <a:spcPts val="400"/>
              </a:spcAft>
            </a:pPr>
            <a:r>
              <a:rPr sz="1150" b="0" i="0">
                <a:solidFill>
                  <a:srgbClr val="CBD5E1"/>
                </a:solidFill>
                <a:latin typeface="Inter"/>
              </a:rPr>
              <a:t>Finer attributions — chunk attention vs. Sobel prior — do not separate cleanly at this sample size and are not claimed.</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50"/>
                                        <p:tgtEl>
                                          <p:spTgt spid="12"/>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50"/>
                                        <p:tgtEl>
                                          <p:spTgt spid="14"/>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50"/>
                                        <p:tgtEl>
                                          <p:spTgt spid="15"/>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350"/>
                                        <p:tgtEl>
                                          <p:spTgt spid="16"/>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3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Design Studies</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Each variant changes one choice against the specified configuration (89.38% macro F1)</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8729873"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45</a:t>
            </a:r>
          </a:p>
        </p:txBody>
      </p:sp>
      <p:sp>
        <p:nvSpPr>
          <p:cNvPr id="10" name="TextBox 9"/>
          <p:cNvSpPr txBox="1"/>
          <p:nvPr/>
        </p:nvSpPr>
        <p:spPr>
          <a:xfrm>
            <a:off x="566928" y="1627632"/>
            <a:ext cx="5259583" cy="256032"/>
          </a:xfrm>
          <a:prstGeom prst="rect">
            <a:avLst/>
          </a:prstGeom>
          <a:noFill/>
        </p:spPr>
        <p:txBody>
          <a:bodyPr wrap="square" anchor="t" lIns="0" rIns="0" tIns="0" bIns="0">
            <a:spAutoFit/>
          </a:bodyPr>
          <a:lstStyle/>
          <a:p>
            <a:pPr algn="l">
              <a:lnSpc>
                <a:spcPct val="118000"/>
              </a:lnSpc>
              <a:spcAft>
                <a:spcPts val="400"/>
              </a:spcAft>
            </a:pPr>
            <a:r>
              <a:rPr sz="1050" b="1" i="0">
                <a:solidFill>
                  <a:srgbClr val="60A5FA"/>
                </a:solidFill>
                <a:latin typeface="Inter"/>
              </a:rPr>
              <a:t>INPUT RESOLUTION</a:t>
            </a:r>
          </a:p>
        </p:txBody>
      </p:sp>
      <p:sp>
        <p:nvSpPr>
          <p:cNvPr id="11" name="TextBox 10"/>
          <p:cNvSpPr txBox="1"/>
          <p:nvPr/>
        </p:nvSpPr>
        <p:spPr>
          <a:xfrm>
            <a:off x="566928" y="1993392"/>
            <a:ext cx="237744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variant</a:t>
            </a:r>
          </a:p>
        </p:txBody>
      </p:sp>
      <p:sp>
        <p:nvSpPr>
          <p:cNvPr id="12" name="TextBox 11"/>
          <p:cNvSpPr txBox="1"/>
          <p:nvPr/>
        </p:nvSpPr>
        <p:spPr>
          <a:xfrm>
            <a:off x="2944368" y="1993392"/>
            <a:ext cx="2882143"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macro F1 %</a:t>
            </a:r>
          </a:p>
        </p:txBody>
      </p:sp>
      <p:sp>
        <p:nvSpPr>
          <p:cNvPr id="13" name="Rectangle 12"/>
          <p:cNvSpPr/>
          <p:nvPr/>
        </p:nvSpPr>
        <p:spPr>
          <a:xfrm>
            <a:off x="566928" y="2286000"/>
            <a:ext cx="5259583"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377440"/>
            <a:ext cx="2377440"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112</a:t>
            </a:r>
          </a:p>
        </p:txBody>
      </p:sp>
      <p:sp>
        <p:nvSpPr>
          <p:cNvPr id="15" name="TextBox 14"/>
          <p:cNvSpPr txBox="1"/>
          <p:nvPr/>
        </p:nvSpPr>
        <p:spPr>
          <a:xfrm>
            <a:off x="2944368" y="2377440"/>
            <a:ext cx="2882143"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87.4 ± 5.4</a:t>
            </a:r>
          </a:p>
        </p:txBody>
      </p:sp>
      <p:sp>
        <p:nvSpPr>
          <p:cNvPr id="16" name="TextBox 15"/>
          <p:cNvSpPr txBox="1"/>
          <p:nvPr/>
        </p:nvSpPr>
        <p:spPr>
          <a:xfrm>
            <a:off x="566928" y="2651760"/>
            <a:ext cx="2377440"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200</a:t>
            </a:r>
          </a:p>
        </p:txBody>
      </p:sp>
      <p:sp>
        <p:nvSpPr>
          <p:cNvPr id="17" name="TextBox 16"/>
          <p:cNvSpPr txBox="1"/>
          <p:nvPr/>
        </p:nvSpPr>
        <p:spPr>
          <a:xfrm>
            <a:off x="2944368" y="2651760"/>
            <a:ext cx="2882143"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91.8 ± 2.0</a:t>
            </a:r>
          </a:p>
        </p:txBody>
      </p:sp>
      <p:sp>
        <p:nvSpPr>
          <p:cNvPr id="18" name="TextBox 17"/>
          <p:cNvSpPr txBox="1"/>
          <p:nvPr/>
        </p:nvSpPr>
        <p:spPr>
          <a:xfrm>
            <a:off x="6365184" y="1627632"/>
            <a:ext cx="5259583" cy="256032"/>
          </a:xfrm>
          <a:prstGeom prst="rect">
            <a:avLst/>
          </a:prstGeom>
          <a:noFill/>
        </p:spPr>
        <p:txBody>
          <a:bodyPr wrap="square" anchor="t" lIns="0" rIns="0" tIns="0" bIns="0">
            <a:spAutoFit/>
          </a:bodyPr>
          <a:lstStyle/>
          <a:p>
            <a:pPr algn="l">
              <a:lnSpc>
                <a:spcPct val="118000"/>
              </a:lnSpc>
              <a:spcAft>
                <a:spcPts val="400"/>
              </a:spcAft>
            </a:pPr>
            <a:r>
              <a:rPr sz="1050" b="1" i="0">
                <a:solidFill>
                  <a:srgbClr val="60A5FA"/>
                </a:solidFill>
                <a:latin typeface="Inter"/>
              </a:rPr>
              <a:t>CONTRAST ENHANCEMENT</a:t>
            </a:r>
          </a:p>
        </p:txBody>
      </p:sp>
      <p:sp>
        <p:nvSpPr>
          <p:cNvPr id="19" name="TextBox 18"/>
          <p:cNvSpPr txBox="1"/>
          <p:nvPr/>
        </p:nvSpPr>
        <p:spPr>
          <a:xfrm>
            <a:off x="6365184" y="1993392"/>
            <a:ext cx="237744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variant</a:t>
            </a:r>
          </a:p>
        </p:txBody>
      </p:sp>
      <p:sp>
        <p:nvSpPr>
          <p:cNvPr id="20" name="TextBox 19"/>
          <p:cNvSpPr txBox="1"/>
          <p:nvPr/>
        </p:nvSpPr>
        <p:spPr>
          <a:xfrm>
            <a:off x="8742624" y="1993392"/>
            <a:ext cx="2882143"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macro F1 %</a:t>
            </a:r>
          </a:p>
        </p:txBody>
      </p:sp>
      <p:sp>
        <p:nvSpPr>
          <p:cNvPr id="21" name="Rectangle 20"/>
          <p:cNvSpPr/>
          <p:nvPr/>
        </p:nvSpPr>
        <p:spPr>
          <a:xfrm>
            <a:off x="6365184" y="2286000"/>
            <a:ext cx="5259583"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5184" y="2377440"/>
            <a:ext cx="2377440"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histeq</a:t>
            </a:r>
          </a:p>
        </p:txBody>
      </p:sp>
      <p:sp>
        <p:nvSpPr>
          <p:cNvPr id="23" name="TextBox 22"/>
          <p:cNvSpPr txBox="1"/>
          <p:nvPr/>
        </p:nvSpPr>
        <p:spPr>
          <a:xfrm>
            <a:off x="8742624" y="2377440"/>
            <a:ext cx="2882143"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87.9 ± 4.3</a:t>
            </a:r>
          </a:p>
        </p:txBody>
      </p:sp>
      <p:sp>
        <p:nvSpPr>
          <p:cNvPr id="24" name="TextBox 23"/>
          <p:cNvSpPr txBox="1"/>
          <p:nvPr/>
        </p:nvSpPr>
        <p:spPr>
          <a:xfrm>
            <a:off x="6365184" y="2651760"/>
            <a:ext cx="2377440"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none</a:t>
            </a:r>
          </a:p>
        </p:txBody>
      </p:sp>
      <p:sp>
        <p:nvSpPr>
          <p:cNvPr id="25" name="TextBox 24"/>
          <p:cNvSpPr txBox="1"/>
          <p:nvPr/>
        </p:nvSpPr>
        <p:spPr>
          <a:xfrm>
            <a:off x="8742624" y="2651760"/>
            <a:ext cx="2882143"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91.2 ± 4.7</a:t>
            </a:r>
          </a:p>
        </p:txBody>
      </p:sp>
      <p:sp>
        <p:nvSpPr>
          <p:cNvPr id="26" name="TextBox 25"/>
          <p:cNvSpPr txBox="1"/>
          <p:nvPr/>
        </p:nvSpPr>
        <p:spPr>
          <a:xfrm>
            <a:off x="566928" y="3776472"/>
            <a:ext cx="5259583" cy="256032"/>
          </a:xfrm>
          <a:prstGeom prst="rect">
            <a:avLst/>
          </a:prstGeom>
          <a:noFill/>
        </p:spPr>
        <p:txBody>
          <a:bodyPr wrap="square" anchor="t" lIns="0" rIns="0" tIns="0" bIns="0">
            <a:spAutoFit/>
          </a:bodyPr>
          <a:lstStyle/>
          <a:p>
            <a:pPr algn="l">
              <a:lnSpc>
                <a:spcPct val="118000"/>
              </a:lnSpc>
              <a:spcAft>
                <a:spcPts val="400"/>
              </a:spcAft>
            </a:pPr>
            <a:r>
              <a:rPr sz="1050" b="1" i="0">
                <a:solidFill>
                  <a:srgbClr val="60A5FA"/>
                </a:solidFill>
                <a:latin typeface="Inter"/>
              </a:rPr>
              <a:t>COMPRESSED DIMENSION</a:t>
            </a:r>
          </a:p>
        </p:txBody>
      </p:sp>
      <p:sp>
        <p:nvSpPr>
          <p:cNvPr id="27" name="TextBox 26"/>
          <p:cNvSpPr txBox="1"/>
          <p:nvPr/>
        </p:nvSpPr>
        <p:spPr>
          <a:xfrm>
            <a:off x="566928" y="4142232"/>
            <a:ext cx="237744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variant</a:t>
            </a:r>
          </a:p>
        </p:txBody>
      </p:sp>
      <p:sp>
        <p:nvSpPr>
          <p:cNvPr id="28" name="TextBox 27"/>
          <p:cNvSpPr txBox="1"/>
          <p:nvPr/>
        </p:nvSpPr>
        <p:spPr>
          <a:xfrm>
            <a:off x="2944368" y="4142232"/>
            <a:ext cx="2882143"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macro F1 %</a:t>
            </a:r>
          </a:p>
        </p:txBody>
      </p:sp>
      <p:sp>
        <p:nvSpPr>
          <p:cNvPr id="29" name="Rectangle 28"/>
          <p:cNvSpPr/>
          <p:nvPr/>
        </p:nvSpPr>
        <p:spPr>
          <a:xfrm>
            <a:off x="566928" y="4434840"/>
            <a:ext cx="5259583"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4526280"/>
            <a:ext cx="2377440"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128</a:t>
            </a:r>
          </a:p>
        </p:txBody>
      </p:sp>
      <p:sp>
        <p:nvSpPr>
          <p:cNvPr id="31" name="TextBox 30"/>
          <p:cNvSpPr txBox="1"/>
          <p:nvPr/>
        </p:nvSpPr>
        <p:spPr>
          <a:xfrm>
            <a:off x="2944368" y="4526280"/>
            <a:ext cx="2882143"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91.1 ± 1.8</a:t>
            </a:r>
          </a:p>
        </p:txBody>
      </p:sp>
      <p:sp>
        <p:nvSpPr>
          <p:cNvPr id="32" name="TextBox 31"/>
          <p:cNvSpPr txBox="1"/>
          <p:nvPr/>
        </p:nvSpPr>
        <p:spPr>
          <a:xfrm>
            <a:off x="566928" y="4800600"/>
            <a:ext cx="2377440"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256</a:t>
            </a:r>
          </a:p>
        </p:txBody>
      </p:sp>
      <p:sp>
        <p:nvSpPr>
          <p:cNvPr id="33" name="TextBox 32"/>
          <p:cNvSpPr txBox="1"/>
          <p:nvPr/>
        </p:nvSpPr>
        <p:spPr>
          <a:xfrm>
            <a:off x="2944368" y="4800600"/>
            <a:ext cx="2882143"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90.7 ± 1.9</a:t>
            </a:r>
          </a:p>
        </p:txBody>
      </p:sp>
      <p:sp>
        <p:nvSpPr>
          <p:cNvPr id="34" name="TextBox 33"/>
          <p:cNvSpPr txBox="1"/>
          <p:nvPr/>
        </p:nvSpPr>
        <p:spPr>
          <a:xfrm>
            <a:off x="566928" y="5074920"/>
            <a:ext cx="2377440"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32</a:t>
            </a:r>
          </a:p>
        </p:txBody>
      </p:sp>
      <p:sp>
        <p:nvSpPr>
          <p:cNvPr id="35" name="TextBox 34"/>
          <p:cNvSpPr txBox="1"/>
          <p:nvPr/>
        </p:nvSpPr>
        <p:spPr>
          <a:xfrm>
            <a:off x="2944368" y="5074920"/>
            <a:ext cx="2882143"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56.9 ± 39.6</a:t>
            </a:r>
          </a:p>
        </p:txBody>
      </p:sp>
      <p:sp>
        <p:nvSpPr>
          <p:cNvPr id="36" name="TextBox 35"/>
          <p:cNvSpPr txBox="1"/>
          <p:nvPr/>
        </p:nvSpPr>
        <p:spPr>
          <a:xfrm>
            <a:off x="6365184" y="3776472"/>
            <a:ext cx="5259583" cy="256032"/>
          </a:xfrm>
          <a:prstGeom prst="rect">
            <a:avLst/>
          </a:prstGeom>
          <a:noFill/>
        </p:spPr>
        <p:txBody>
          <a:bodyPr wrap="square" anchor="t" lIns="0" rIns="0" tIns="0" bIns="0">
            <a:spAutoFit/>
          </a:bodyPr>
          <a:lstStyle/>
          <a:p>
            <a:pPr algn="l">
              <a:lnSpc>
                <a:spcPct val="118000"/>
              </a:lnSpc>
              <a:spcAft>
                <a:spcPts val="400"/>
              </a:spcAft>
            </a:pPr>
            <a:r>
              <a:rPr sz="1050" b="1" i="0">
                <a:solidFill>
                  <a:srgbClr val="60A5FA"/>
                </a:solidFill>
                <a:latin typeface="Inter"/>
              </a:rPr>
              <a:t>HARD TOP-K SELECTION</a:t>
            </a:r>
          </a:p>
        </p:txBody>
      </p:sp>
      <p:sp>
        <p:nvSpPr>
          <p:cNvPr id="37" name="TextBox 36"/>
          <p:cNvSpPr txBox="1"/>
          <p:nvPr/>
        </p:nvSpPr>
        <p:spPr>
          <a:xfrm>
            <a:off x="6365184" y="4142232"/>
            <a:ext cx="237744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variant</a:t>
            </a:r>
          </a:p>
        </p:txBody>
      </p:sp>
      <p:sp>
        <p:nvSpPr>
          <p:cNvPr id="38" name="TextBox 37"/>
          <p:cNvSpPr txBox="1"/>
          <p:nvPr/>
        </p:nvSpPr>
        <p:spPr>
          <a:xfrm>
            <a:off x="8742624" y="4142232"/>
            <a:ext cx="2882143"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macro F1 %</a:t>
            </a:r>
          </a:p>
        </p:txBody>
      </p:sp>
      <p:sp>
        <p:nvSpPr>
          <p:cNvPr id="39" name="Rectangle 38"/>
          <p:cNvSpPr/>
          <p:nvPr/>
        </p:nvSpPr>
        <p:spPr>
          <a:xfrm>
            <a:off x="6365184" y="4434840"/>
            <a:ext cx="5259583"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65184" y="4526280"/>
            <a:ext cx="2377440"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4</a:t>
            </a:r>
          </a:p>
        </p:txBody>
      </p:sp>
      <p:sp>
        <p:nvSpPr>
          <p:cNvPr id="41" name="TextBox 40"/>
          <p:cNvSpPr txBox="1"/>
          <p:nvPr/>
        </p:nvSpPr>
        <p:spPr>
          <a:xfrm>
            <a:off x="8742624" y="4526280"/>
            <a:ext cx="2882143"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43.0 ± 41.9</a:t>
            </a:r>
          </a:p>
        </p:txBody>
      </p:sp>
      <p:sp>
        <p:nvSpPr>
          <p:cNvPr id="42" name="TextBox 41"/>
          <p:cNvSpPr txBox="1"/>
          <p:nvPr/>
        </p:nvSpPr>
        <p:spPr>
          <a:xfrm>
            <a:off x="6365184" y="4800600"/>
            <a:ext cx="2377440"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8</a:t>
            </a:r>
          </a:p>
        </p:txBody>
      </p:sp>
      <p:sp>
        <p:nvSpPr>
          <p:cNvPr id="43" name="TextBox 42"/>
          <p:cNvSpPr txBox="1"/>
          <p:nvPr/>
        </p:nvSpPr>
        <p:spPr>
          <a:xfrm>
            <a:off x="8742624" y="4800600"/>
            <a:ext cx="2882143"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90.5 ± 2.9</a:t>
            </a:r>
          </a:p>
        </p:txBody>
      </p:sp>
      <p:sp>
        <p:nvSpPr>
          <p:cNvPr id="44" name="TextBox 43"/>
          <p:cNvSpPr txBox="1"/>
          <p:nvPr/>
        </p:nvSpPr>
        <p:spPr>
          <a:xfrm>
            <a:off x="566928" y="5559552"/>
            <a:ext cx="11057839" cy="603504"/>
          </a:xfrm>
          <a:prstGeom prst="rect">
            <a:avLst/>
          </a:prstGeom>
          <a:noFill/>
        </p:spPr>
        <p:txBody>
          <a:bodyPr wrap="square" anchor="t" lIns="0" rIns="0" tIns="0" bIns="0">
            <a:spAutoFit/>
          </a:bodyPr>
          <a:lstStyle/>
          <a:p>
            <a:pPr algn="l">
              <a:lnSpc>
                <a:spcPct val="118000"/>
              </a:lnSpc>
              <a:spcAft>
                <a:spcPts val="400"/>
              </a:spcAft>
            </a:pPr>
            <a:r>
              <a:rPr sz="1050" b="0" i="1">
                <a:solidFill>
                  <a:srgbClr val="FAB219"/>
                </a:solidFill>
                <a:latin typeface="Inter"/>
              </a:rPr>
              <a:t>Only 2 of 9 variants differ from the reference by more than their own seed-to-seed spread — the rest are indistinguishable, not ranked. Measured at 61 training images: at full training size every variant sits at ceiling and these studies would show nothing, which is the same reason the ablation is run here.</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350"/>
                                        <p:tgtEl>
                                          <p:spTgt spid="12"/>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50"/>
                                        <p:tgtEl>
                                          <p:spTgt spid="13"/>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350"/>
                                        <p:tgtEl>
                                          <p:spTgt spid="14"/>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350"/>
                                        <p:tgtEl>
                                          <p:spTgt spid="15"/>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What did not work</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Reported because the evidence says so, not because it helps the story</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8923870"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46</a:t>
            </a:r>
          </a:p>
        </p:txBody>
      </p:sp>
      <p:sp>
        <p:nvSpPr>
          <p:cNvPr id="10" name="Rounded Rectangle 9"/>
          <p:cNvSpPr/>
          <p:nvPr/>
        </p:nvSpPr>
        <p:spPr>
          <a:xfrm>
            <a:off x="566928" y="1627632"/>
            <a:ext cx="5259583" cy="214884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27632"/>
            <a:ext cx="41148" cy="214884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1764792"/>
            <a:ext cx="483895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D03B3B"/>
                </a:solidFill>
                <a:latin typeface="Inter"/>
              </a:rPr>
              <a:t>λ never learned anything</a:t>
            </a:r>
          </a:p>
        </p:txBody>
      </p:sp>
      <p:sp>
        <p:nvSpPr>
          <p:cNvPr id="13" name="TextBox 12"/>
          <p:cNvSpPr txBox="1"/>
          <p:nvPr/>
        </p:nvSpPr>
        <p:spPr>
          <a:xfrm>
            <a:off x="786384" y="2103120"/>
            <a:ext cx="4838959" cy="152704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The learnable Sobel trust was meant to be a readout: drive it to zero and the model is telling us the prior is useless.</a:t>
            </a:r>
          </a:p>
          <a:p>
            <a:pPr algn="l">
              <a:lnSpc>
                <a:spcPct val="124000"/>
              </a:lnSpc>
              <a:spcAft>
                <a:spcPts val="400"/>
              </a:spcAft>
            </a:pPr>
            <a:r>
              <a:rPr sz="1150" b="0" i="0">
                <a:solidFill>
                  <a:srgbClr val="CBD5E1"/>
                </a:solidFill>
                <a:latin typeface="Inter"/>
              </a:rPr>
              <a:t/>
            </a:r>
          </a:p>
          <a:p>
            <a:pPr algn="l">
              <a:lnSpc>
                <a:spcPct val="124000"/>
              </a:lnSpc>
              <a:spcAft>
                <a:spcPts val="400"/>
              </a:spcAft>
            </a:pPr>
            <a:r>
              <a:rPr sz="1150" b="0" i="0">
                <a:solidFill>
                  <a:srgbClr val="CBD5E1"/>
                </a:solidFill>
                <a:latin typeface="Inter"/>
              </a:rPr>
              <a:t>It moves by at most 0.0097 from its initialisation of 1.0 in every run. One unregularised scalar among 4.7 M parameters gets negligible gradient.</a:t>
            </a:r>
          </a:p>
        </p:txBody>
      </p:sp>
      <p:sp>
        <p:nvSpPr>
          <p:cNvPr id="14" name="Rounded Rectangle 13"/>
          <p:cNvSpPr/>
          <p:nvPr/>
        </p:nvSpPr>
        <p:spPr>
          <a:xfrm>
            <a:off x="6365184" y="1627632"/>
            <a:ext cx="5259583" cy="214884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65184" y="1627632"/>
            <a:ext cx="41148" cy="214884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4640" y="1764792"/>
            <a:ext cx="483895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D03B3B"/>
                </a:solidFill>
                <a:latin typeface="Inter"/>
              </a:rPr>
              <a:t>Training collapses at 61 images</a:t>
            </a:r>
          </a:p>
        </p:txBody>
      </p:sp>
      <p:sp>
        <p:nvSpPr>
          <p:cNvPr id="17" name="TextBox 16"/>
          <p:cNvSpPr txBox="1"/>
          <p:nvPr/>
        </p:nvSpPr>
        <p:spPr>
          <a:xfrm>
            <a:off x="6584640" y="2103120"/>
            <a:ext cx="4838959" cy="152704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Some low-data configurations fail to train entirely — the no-Sobel control scored 19% macro F1 on one seed and 92% on another. Collapsed runs are flagged and excluded from the robust deltas rather than averaged in, because one collapse inverts the sign of a three-seed mean.</a:t>
            </a:r>
          </a:p>
        </p:txBody>
      </p:sp>
      <p:sp>
        <p:nvSpPr>
          <p:cNvPr id="18" name="TextBox 17"/>
          <p:cNvSpPr txBox="1"/>
          <p:nvPr/>
        </p:nvSpPr>
        <p:spPr>
          <a:xfrm>
            <a:off x="566928" y="3913632"/>
            <a:ext cx="11057839" cy="256032"/>
          </a:xfrm>
          <a:prstGeom prst="rect">
            <a:avLst/>
          </a:prstGeom>
          <a:noFill/>
        </p:spPr>
        <p:txBody>
          <a:bodyPr wrap="square" anchor="t" lIns="0" rIns="0" tIns="0" bIns="0">
            <a:spAutoFit/>
          </a:bodyPr>
          <a:lstStyle/>
          <a:p>
            <a:pPr algn="l">
              <a:lnSpc>
                <a:spcPct val="118000"/>
              </a:lnSpc>
              <a:spcAft>
                <a:spcPts val="400"/>
              </a:spcAft>
            </a:pPr>
            <a:r>
              <a:rPr sz="1050" b="1" i="0">
                <a:solidFill>
                  <a:srgbClr val="60A5FA"/>
                </a:solidFill>
                <a:latin typeface="Inter"/>
              </a:rPr>
              <a:t>BACKBONE ALONE vs THE FULL MODEL, MATCHED SEEDS</a:t>
            </a:r>
          </a:p>
        </p:txBody>
      </p:sp>
      <p:sp>
        <p:nvSpPr>
          <p:cNvPr id="19" name="TextBox 18"/>
          <p:cNvSpPr txBox="1"/>
          <p:nvPr/>
        </p:nvSpPr>
        <p:spPr>
          <a:xfrm>
            <a:off x="566928" y="4279392"/>
            <a:ext cx="137160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training data</a:t>
            </a:r>
          </a:p>
        </p:txBody>
      </p:sp>
      <p:sp>
        <p:nvSpPr>
          <p:cNvPr id="20" name="TextBox 19"/>
          <p:cNvSpPr txBox="1"/>
          <p:nvPr/>
        </p:nvSpPr>
        <p:spPr>
          <a:xfrm>
            <a:off x="1938528" y="4279392"/>
            <a:ext cx="118872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backbone</a:t>
            </a:r>
          </a:p>
        </p:txBody>
      </p:sp>
      <p:sp>
        <p:nvSpPr>
          <p:cNvPr id="21" name="TextBox 20"/>
          <p:cNvSpPr txBox="1"/>
          <p:nvPr/>
        </p:nvSpPr>
        <p:spPr>
          <a:xfrm>
            <a:off x="3127248" y="4279392"/>
            <a:ext cx="128016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full model</a:t>
            </a:r>
          </a:p>
        </p:txBody>
      </p:sp>
      <p:sp>
        <p:nvSpPr>
          <p:cNvPr id="22" name="TextBox 21"/>
          <p:cNvSpPr txBox="1"/>
          <p:nvPr/>
        </p:nvSpPr>
        <p:spPr>
          <a:xfrm>
            <a:off x="4407408" y="4279392"/>
            <a:ext cx="91440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Δ</a:t>
            </a:r>
          </a:p>
        </p:txBody>
      </p:sp>
      <p:sp>
        <p:nvSpPr>
          <p:cNvPr id="23" name="TextBox 22"/>
          <p:cNvSpPr txBox="1"/>
          <p:nvPr/>
        </p:nvSpPr>
        <p:spPr>
          <a:xfrm>
            <a:off x="5321808" y="4279392"/>
            <a:ext cx="2001027"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per-seed</a:t>
            </a:r>
          </a:p>
        </p:txBody>
      </p:sp>
      <p:sp>
        <p:nvSpPr>
          <p:cNvPr id="24" name="Rectangle 23"/>
          <p:cNvSpPr/>
          <p:nvPr/>
        </p:nvSpPr>
        <p:spPr>
          <a:xfrm>
            <a:off x="566928" y="4572000"/>
            <a:ext cx="6755907"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4663440"/>
            <a:ext cx="1371600"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5%</a:t>
            </a:r>
          </a:p>
        </p:txBody>
      </p:sp>
      <p:sp>
        <p:nvSpPr>
          <p:cNvPr id="26" name="TextBox 25"/>
          <p:cNvSpPr txBox="1"/>
          <p:nvPr/>
        </p:nvSpPr>
        <p:spPr>
          <a:xfrm>
            <a:off x="1938528" y="4663440"/>
            <a:ext cx="1188720"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93.46</a:t>
            </a:r>
          </a:p>
        </p:txBody>
      </p:sp>
      <p:sp>
        <p:nvSpPr>
          <p:cNvPr id="27" name="TextBox 26"/>
          <p:cNvSpPr txBox="1"/>
          <p:nvPr/>
        </p:nvSpPr>
        <p:spPr>
          <a:xfrm>
            <a:off x="3127248" y="4663440"/>
            <a:ext cx="1280160"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89.38</a:t>
            </a:r>
          </a:p>
        </p:txBody>
      </p:sp>
      <p:sp>
        <p:nvSpPr>
          <p:cNvPr id="28" name="TextBox 27"/>
          <p:cNvSpPr txBox="1"/>
          <p:nvPr/>
        </p:nvSpPr>
        <p:spPr>
          <a:xfrm>
            <a:off x="4407408" y="4663440"/>
            <a:ext cx="914400"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-4.08</a:t>
            </a:r>
          </a:p>
        </p:txBody>
      </p:sp>
      <p:sp>
        <p:nvSpPr>
          <p:cNvPr id="29" name="TextBox 28"/>
          <p:cNvSpPr txBox="1"/>
          <p:nvPr/>
        </p:nvSpPr>
        <p:spPr>
          <a:xfrm>
            <a:off x="5321808" y="4663440"/>
            <a:ext cx="2001027"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all negative</a:t>
            </a:r>
          </a:p>
        </p:txBody>
      </p:sp>
      <p:sp>
        <p:nvSpPr>
          <p:cNvPr id="30" name="TextBox 29"/>
          <p:cNvSpPr txBox="1"/>
          <p:nvPr/>
        </p:nvSpPr>
        <p:spPr>
          <a:xfrm>
            <a:off x="566928" y="4956048"/>
            <a:ext cx="1371600"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10%</a:t>
            </a:r>
          </a:p>
        </p:txBody>
      </p:sp>
      <p:sp>
        <p:nvSpPr>
          <p:cNvPr id="31" name="TextBox 30"/>
          <p:cNvSpPr txBox="1"/>
          <p:nvPr/>
        </p:nvSpPr>
        <p:spPr>
          <a:xfrm>
            <a:off x="1938528" y="4956048"/>
            <a:ext cx="1188720"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98.81</a:t>
            </a:r>
          </a:p>
        </p:txBody>
      </p:sp>
      <p:sp>
        <p:nvSpPr>
          <p:cNvPr id="32" name="TextBox 31"/>
          <p:cNvSpPr txBox="1"/>
          <p:nvPr/>
        </p:nvSpPr>
        <p:spPr>
          <a:xfrm>
            <a:off x="3127248" y="4956048"/>
            <a:ext cx="1280160"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99.35</a:t>
            </a:r>
          </a:p>
        </p:txBody>
      </p:sp>
      <p:sp>
        <p:nvSpPr>
          <p:cNvPr id="33" name="TextBox 32"/>
          <p:cNvSpPr txBox="1"/>
          <p:nvPr/>
        </p:nvSpPr>
        <p:spPr>
          <a:xfrm>
            <a:off x="4407408" y="4956048"/>
            <a:ext cx="914400"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+0.55</a:t>
            </a:r>
          </a:p>
        </p:txBody>
      </p:sp>
      <p:sp>
        <p:nvSpPr>
          <p:cNvPr id="34" name="TextBox 33"/>
          <p:cNvSpPr txBox="1"/>
          <p:nvPr/>
        </p:nvSpPr>
        <p:spPr>
          <a:xfrm>
            <a:off x="5321808" y="4956048"/>
            <a:ext cx="2001027"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sign flips</a:t>
            </a:r>
          </a:p>
        </p:txBody>
      </p:sp>
      <p:sp>
        <p:nvSpPr>
          <p:cNvPr id="35" name="Rounded Rectangle 34"/>
          <p:cNvSpPr/>
          <p:nvPr/>
        </p:nvSpPr>
        <p:spPr>
          <a:xfrm>
            <a:off x="7861508" y="3913632"/>
            <a:ext cx="3763258" cy="178308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861508" y="3913632"/>
            <a:ext cx="41148" cy="1783080"/>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80964" y="4050792"/>
            <a:ext cx="3342634"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FAB219"/>
                </a:solidFill>
                <a:latin typeface="Inter"/>
              </a:rPr>
              <a:t>The effect is regime-dependent</a:t>
            </a:r>
          </a:p>
        </p:txBody>
      </p:sp>
      <p:sp>
        <p:nvSpPr>
          <p:cNvPr id="38" name="TextBox 37"/>
          <p:cNvSpPr txBox="1"/>
          <p:nvPr/>
        </p:nvSpPr>
        <p:spPr>
          <a:xfrm>
            <a:off x="8080964" y="4389120"/>
            <a:ext cx="3342634" cy="116128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Clearly harmful when labelled data is scarce; indistinguishable once it is not, as both arms reach the dataset ceiling. No measured regime shows a reliable benefit.</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350"/>
                                        <p:tgtEl>
                                          <p:spTgt spid="17"/>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350"/>
                                        <p:tgtEl>
                                          <p:spTgt spid="18"/>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350"/>
                                        <p:tgtEl>
                                          <p:spTgt spid="19"/>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350"/>
                                        <p:tgtEl>
                                          <p:spTgt spid="20"/>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What did not work  (continued)</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Mechanism, and why the architecture still gets documented in full</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9117867"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47</a:t>
            </a:r>
          </a:p>
        </p:txBody>
      </p:sp>
      <p:sp>
        <p:nvSpPr>
          <p:cNvPr id="10" name="Rounded Rectangle 9"/>
          <p:cNvSpPr/>
          <p:nvPr/>
        </p:nvSpPr>
        <p:spPr>
          <a:xfrm>
            <a:off x="566928" y="1627632"/>
            <a:ext cx="11057839" cy="160020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27632"/>
            <a:ext cx="41148" cy="1600200"/>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1764792"/>
            <a:ext cx="10637215"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FAB219"/>
                </a:solidFill>
                <a:latin typeface="Inter"/>
              </a:rPr>
              <a:t>The mechanism</a:t>
            </a:r>
          </a:p>
        </p:txBody>
      </p:sp>
      <p:sp>
        <p:nvSpPr>
          <p:cNvPr id="13" name="TextBox 12"/>
          <p:cNvSpPr txBox="1"/>
          <p:nvPr/>
        </p:nvSpPr>
        <p:spPr>
          <a:xfrm>
            <a:off x="786384" y="2103120"/>
            <a:ext cx="10637215" cy="978407"/>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The local branch has no pretraining and cannot learn from 61 images; fusing a near-random branch into a strong pretrained one adds variance and costs accuracy — that contrast is negative on every seed. The Sobel prior is photometric, so it scores a lighting seam as highly as a defect; that is the mechanism we expected to hurt, and the point estimate agrees, but the signs disagree across seeds so it is not claimed on its own.</a:t>
            </a:r>
          </a:p>
        </p:txBody>
      </p:sp>
      <p:sp>
        <p:nvSpPr>
          <p:cNvPr id="14" name="Rounded Rectangle 13"/>
          <p:cNvSpPr/>
          <p:nvPr/>
        </p:nvSpPr>
        <p:spPr>
          <a:xfrm>
            <a:off x="566928" y="3456432"/>
            <a:ext cx="5259583" cy="192024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456432"/>
            <a:ext cx="41148" cy="1920240"/>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3593592"/>
            <a:ext cx="483895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0CA30C"/>
                </a:solidFill>
                <a:latin typeface="Inter"/>
              </a:rPr>
              <a:t>What survives</a:t>
            </a:r>
          </a:p>
        </p:txBody>
      </p:sp>
      <p:sp>
        <p:nvSpPr>
          <p:cNvPr id="17" name="TextBox 16"/>
          <p:cNvSpPr txBox="1"/>
          <p:nvPr/>
        </p:nvSpPr>
        <p:spPr>
          <a:xfrm>
            <a:off x="786384" y="3931920"/>
            <a:ext cx="4838959" cy="129844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The negative result is about the architectural additions only. Untouched: the reproduction and audit of the base paper, the encrypted inference and its exactness bound, the dataset integrity audit — and the evaluation protocol, which is what made this visible instead of hiding it behind a saturated 100%.</a:t>
            </a:r>
          </a:p>
        </p:txBody>
      </p:sp>
      <p:sp>
        <p:nvSpPr>
          <p:cNvPr id="18" name="Rounded Rectangle 17"/>
          <p:cNvSpPr/>
          <p:nvPr/>
        </p:nvSpPr>
        <p:spPr>
          <a:xfrm>
            <a:off x="6365184" y="3456432"/>
            <a:ext cx="5259583" cy="192024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65184" y="3456432"/>
            <a:ext cx="41148" cy="192024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4640" y="3593592"/>
            <a:ext cx="483895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3987E5"/>
                </a:solidFill>
                <a:latin typeface="Inter"/>
              </a:rPr>
              <a:t>What a follow-up should build</a:t>
            </a:r>
          </a:p>
        </p:txBody>
      </p:sp>
      <p:sp>
        <p:nvSpPr>
          <p:cNvPr id="21" name="TextBox 20"/>
          <p:cNvSpPr txBox="1"/>
          <p:nvPr/>
        </p:nvSpPr>
        <p:spPr>
          <a:xfrm>
            <a:off x="6584640" y="3931920"/>
            <a:ext cx="4838959" cy="129844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EfficientNet-B0 + the compression layer + the CKKS polynomial head — the privacy architecture without the extra feature machinery. It is simpler than what was proposed, it is what the evidence supports, and the encrypted inference results carry over unchanged because the head is identical.</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350"/>
                                        <p:tgtEl>
                                          <p:spTgt spid="14"/>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350"/>
                                        <p:tgtEl>
                                          <p:spTgt spid="15"/>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350"/>
                                        <p:tgtEl>
                                          <p:spTgt spid="16"/>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350"/>
                                        <p:tgtEl>
                                          <p:spTgt spid="17"/>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Encrypted Inference  ·  correctness</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Does encryption change the prediction?</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9311864"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48</a:t>
            </a:r>
          </a:p>
        </p:txBody>
      </p:sp>
      <p:sp>
        <p:nvSpPr>
          <p:cNvPr id="10" name="Rounded Rectangle 9"/>
          <p:cNvSpPr/>
          <p:nvPr/>
        </p:nvSpPr>
        <p:spPr>
          <a:xfrm>
            <a:off x="566928" y="1627632"/>
            <a:ext cx="2641015" cy="1207008"/>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783080"/>
            <a:ext cx="2238679"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0CA30C"/>
                </a:solidFill>
                <a:latin typeface="Inter"/>
              </a:rPr>
              <a:t>100.00%</a:t>
            </a:r>
          </a:p>
        </p:txBody>
      </p:sp>
      <p:sp>
        <p:nvSpPr>
          <p:cNvPr id="12" name="TextBox 11"/>
          <p:cNvSpPr txBox="1"/>
          <p:nvPr/>
        </p:nvSpPr>
        <p:spPr>
          <a:xfrm>
            <a:off x="768096" y="2377440"/>
            <a:ext cx="2238679"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encrypted vs plaintext agreement</a:t>
            </a:r>
          </a:p>
        </p:txBody>
      </p:sp>
      <p:sp>
        <p:nvSpPr>
          <p:cNvPr id="13" name="Rounded Rectangle 12"/>
          <p:cNvSpPr/>
          <p:nvPr/>
        </p:nvSpPr>
        <p:spPr>
          <a:xfrm>
            <a:off x="3372535" y="1627632"/>
            <a:ext cx="2641015" cy="1207008"/>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3703" y="1783080"/>
            <a:ext cx="2238679"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60A5FA"/>
                </a:solidFill>
                <a:latin typeface="Inter"/>
              </a:rPr>
              <a:t>1.43e-02</a:t>
            </a:r>
          </a:p>
        </p:txBody>
      </p:sp>
      <p:sp>
        <p:nvSpPr>
          <p:cNvPr id="15" name="TextBox 14"/>
          <p:cNvSpPr txBox="1"/>
          <p:nvPr/>
        </p:nvSpPr>
        <p:spPr>
          <a:xfrm>
            <a:off x="3573703" y="2377440"/>
            <a:ext cx="2238679"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max absolute logit error</a:t>
            </a:r>
          </a:p>
        </p:txBody>
      </p:sp>
      <p:sp>
        <p:nvSpPr>
          <p:cNvPr id="16" name="Rounded Rectangle 15"/>
          <p:cNvSpPr/>
          <p:nvPr/>
        </p:nvSpPr>
        <p:spPr>
          <a:xfrm>
            <a:off x="6178143" y="1627632"/>
            <a:ext cx="2641015" cy="1207008"/>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9311" y="1783080"/>
            <a:ext cx="2238679"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0CA30C"/>
                </a:solidFill>
                <a:latin typeface="Inter"/>
              </a:rPr>
              <a:t>0</a:t>
            </a:r>
          </a:p>
        </p:txBody>
      </p:sp>
      <p:sp>
        <p:nvSpPr>
          <p:cNvPr id="18" name="TextBox 17"/>
          <p:cNvSpPr txBox="1"/>
          <p:nvPr/>
        </p:nvSpPr>
        <p:spPr>
          <a:xfrm>
            <a:off x="6379311" y="2377440"/>
            <a:ext cx="2238679"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prediction flips out of 360</a:t>
            </a:r>
          </a:p>
        </p:txBody>
      </p:sp>
      <p:sp>
        <p:nvSpPr>
          <p:cNvPr id="19" name="Rounded Rectangle 18"/>
          <p:cNvSpPr/>
          <p:nvPr/>
        </p:nvSpPr>
        <p:spPr>
          <a:xfrm>
            <a:off x="8983751" y="1627632"/>
            <a:ext cx="2641015" cy="1207008"/>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4919" y="1783080"/>
            <a:ext cx="2238679" cy="548640"/>
          </a:xfrm>
          <a:prstGeom prst="rect">
            <a:avLst/>
          </a:prstGeom>
          <a:noFill/>
        </p:spPr>
        <p:txBody>
          <a:bodyPr wrap="square" anchor="t" lIns="0" rIns="0" tIns="0" bIns="0">
            <a:spAutoFit/>
          </a:bodyPr>
          <a:lstStyle/>
          <a:p>
            <a:pPr algn="l">
              <a:lnSpc>
                <a:spcPct val="118000"/>
              </a:lnSpc>
              <a:spcAft>
                <a:spcPts val="400"/>
              </a:spcAft>
            </a:pPr>
            <a:r>
              <a:rPr sz="2800" b="1" i="0">
                <a:solidFill>
                  <a:srgbClr val="60A5FA"/>
                </a:solidFill>
                <a:latin typeface="Inter"/>
              </a:rPr>
              <a:t>100.00%</a:t>
            </a:r>
          </a:p>
        </p:txBody>
      </p:sp>
      <p:sp>
        <p:nvSpPr>
          <p:cNvPr id="21" name="TextBox 20"/>
          <p:cNvSpPr txBox="1"/>
          <p:nvPr/>
        </p:nvSpPr>
        <p:spPr>
          <a:xfrm>
            <a:off x="9184919" y="2377440"/>
            <a:ext cx="2238679" cy="384048"/>
          </a:xfrm>
          <a:prstGeom prst="rect">
            <a:avLst/>
          </a:prstGeom>
          <a:noFill/>
        </p:spPr>
        <p:txBody>
          <a:bodyPr wrap="square" anchor="t" lIns="0" rIns="0" tIns="0" bIns="0">
            <a:spAutoFit/>
          </a:bodyPr>
          <a:lstStyle/>
          <a:p>
            <a:pPr algn="l">
              <a:lnSpc>
                <a:spcPct val="108000"/>
              </a:lnSpc>
              <a:spcAft>
                <a:spcPts val="400"/>
              </a:spcAft>
            </a:pPr>
            <a:r>
              <a:rPr sz="1050" b="0" i="0">
                <a:solidFill>
                  <a:srgbClr val="94A3B8"/>
                </a:solidFill>
                <a:latin typeface="Inter"/>
              </a:rPr>
              <a:t>accuracy under encryption</a:t>
            </a:r>
          </a:p>
        </p:txBody>
      </p:sp>
      <p:sp>
        <p:nvSpPr>
          <p:cNvPr id="22" name="TextBox 21"/>
          <p:cNvSpPr txBox="1"/>
          <p:nvPr/>
        </p:nvSpPr>
        <p:spPr>
          <a:xfrm>
            <a:off x="566928" y="3090672"/>
            <a:ext cx="256032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quantity</a:t>
            </a:r>
          </a:p>
        </p:txBody>
      </p:sp>
      <p:sp>
        <p:nvSpPr>
          <p:cNvPr id="23" name="TextBox 22"/>
          <p:cNvSpPr txBox="1"/>
          <p:nvPr/>
        </p:nvSpPr>
        <p:spPr>
          <a:xfrm>
            <a:off x="3127248" y="3090672"/>
            <a:ext cx="2512222"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value</a:t>
            </a:r>
          </a:p>
        </p:txBody>
      </p:sp>
      <p:sp>
        <p:nvSpPr>
          <p:cNvPr id="24" name="Rectangle 23"/>
          <p:cNvSpPr/>
          <p:nvPr/>
        </p:nvSpPr>
        <p:spPr>
          <a:xfrm>
            <a:off x="566928" y="3383279"/>
            <a:ext cx="5072542"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474720"/>
            <a:ext cx="256032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plaintext accuracy</a:t>
            </a:r>
          </a:p>
        </p:txBody>
      </p:sp>
      <p:sp>
        <p:nvSpPr>
          <p:cNvPr id="26" name="TextBox 25"/>
          <p:cNvSpPr txBox="1"/>
          <p:nvPr/>
        </p:nvSpPr>
        <p:spPr>
          <a:xfrm>
            <a:off x="3127248" y="3474720"/>
            <a:ext cx="2512222"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100.00%</a:t>
            </a:r>
          </a:p>
        </p:txBody>
      </p:sp>
      <p:sp>
        <p:nvSpPr>
          <p:cNvPr id="27" name="TextBox 26"/>
          <p:cNvSpPr txBox="1"/>
          <p:nvPr/>
        </p:nvSpPr>
        <p:spPr>
          <a:xfrm>
            <a:off x="566928" y="3785615"/>
            <a:ext cx="256032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encrypted accuracy</a:t>
            </a:r>
          </a:p>
        </p:txBody>
      </p:sp>
      <p:sp>
        <p:nvSpPr>
          <p:cNvPr id="28" name="TextBox 27"/>
          <p:cNvSpPr txBox="1"/>
          <p:nvPr/>
        </p:nvSpPr>
        <p:spPr>
          <a:xfrm>
            <a:off x="3127248" y="3785615"/>
            <a:ext cx="2512222"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100.00%</a:t>
            </a:r>
          </a:p>
        </p:txBody>
      </p:sp>
      <p:sp>
        <p:nvSpPr>
          <p:cNvPr id="29" name="TextBox 28"/>
          <p:cNvSpPr txBox="1"/>
          <p:nvPr/>
        </p:nvSpPr>
        <p:spPr>
          <a:xfrm>
            <a:off x="566928" y="4096511"/>
            <a:ext cx="256032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mean |logit error|</a:t>
            </a:r>
          </a:p>
        </p:txBody>
      </p:sp>
      <p:sp>
        <p:nvSpPr>
          <p:cNvPr id="30" name="TextBox 29"/>
          <p:cNvSpPr txBox="1"/>
          <p:nvPr/>
        </p:nvSpPr>
        <p:spPr>
          <a:xfrm>
            <a:off x="3127248" y="4096511"/>
            <a:ext cx="2512222"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2.766e-03</a:t>
            </a:r>
          </a:p>
        </p:txBody>
      </p:sp>
      <p:sp>
        <p:nvSpPr>
          <p:cNvPr id="31" name="TextBox 30"/>
          <p:cNvSpPr txBox="1"/>
          <p:nvPr/>
        </p:nvSpPr>
        <p:spPr>
          <a:xfrm>
            <a:off x="566928" y="4407408"/>
            <a:ext cx="2560320"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F1F5F9"/>
                </a:solidFill>
                <a:latin typeface="Inter"/>
              </a:rPr>
              <a:t>test images evaluated</a:t>
            </a:r>
          </a:p>
        </p:txBody>
      </p:sp>
      <p:sp>
        <p:nvSpPr>
          <p:cNvPr id="32" name="TextBox 31"/>
          <p:cNvSpPr txBox="1"/>
          <p:nvPr/>
        </p:nvSpPr>
        <p:spPr>
          <a:xfrm>
            <a:off x="3127248" y="4407408"/>
            <a:ext cx="2512222" cy="310896"/>
          </a:xfrm>
          <a:prstGeom prst="rect">
            <a:avLst/>
          </a:prstGeom>
          <a:noFill/>
        </p:spPr>
        <p:txBody>
          <a:bodyPr wrap="square" anchor="t" lIns="0" rIns="0" tIns="0" bIns="0">
            <a:spAutoFit/>
          </a:bodyPr>
          <a:lstStyle/>
          <a:p>
            <a:pPr algn="l">
              <a:lnSpc>
                <a:spcPct val="118000"/>
              </a:lnSpc>
              <a:spcAft>
                <a:spcPts val="400"/>
              </a:spcAft>
            </a:pPr>
            <a:r>
              <a:rPr sz="1150" b="0" i="0">
                <a:solidFill>
                  <a:srgbClr val="CBD5E1"/>
                </a:solidFill>
                <a:latin typeface="Source Code Pro"/>
              </a:rPr>
              <a:t>360</a:t>
            </a:r>
          </a:p>
        </p:txBody>
      </p:sp>
      <p:sp>
        <p:nvSpPr>
          <p:cNvPr id="33" name="Rounded Rectangle 32"/>
          <p:cNvSpPr/>
          <p:nvPr/>
        </p:nvSpPr>
        <p:spPr>
          <a:xfrm>
            <a:off x="6552224" y="3090672"/>
            <a:ext cx="5072542" cy="201168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552224" y="3090672"/>
            <a:ext cx="41148" cy="2011680"/>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71680" y="3227832"/>
            <a:ext cx="4651918"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0CA30C"/>
                </a:solidFill>
                <a:latin typeface="Inter"/>
              </a:rPr>
              <a:t>Why this is robust, not lucky</a:t>
            </a:r>
          </a:p>
        </p:txBody>
      </p:sp>
      <p:sp>
        <p:nvSpPr>
          <p:cNvPr id="36" name="TextBox 35"/>
          <p:cNvSpPr txBox="1"/>
          <p:nvPr/>
        </p:nvSpPr>
        <p:spPr>
          <a:xfrm>
            <a:off x="6771680" y="3566160"/>
            <a:ext cx="4651918" cy="1389888"/>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A prediction can only flip if the CKKS error exceeds half the gap between the top-1 and top-2 logits. On the tightest decision in the test set the error consumes just 0.79% of that budget — it would have to be ~126× larger before anything could change.</a:t>
            </a:r>
          </a:p>
          <a:p>
            <a:pPr algn="l">
              <a:lnSpc>
                <a:spcPct val="124000"/>
              </a:lnSpc>
              <a:spcAft>
                <a:spcPts val="400"/>
              </a:spcAft>
            </a:pPr>
            <a:r>
              <a:rPr sz="1150" b="0" i="0">
                <a:solidFill>
                  <a:srgbClr val="CBD5E1"/>
                </a:solidFill>
                <a:latin typeface="Inter"/>
              </a:rPr>
              <a:t/>
            </a:r>
          </a:p>
          <a:p>
            <a:pPr algn="l">
              <a:lnSpc>
                <a:spcPct val="124000"/>
              </a:lnSpc>
              <a:spcAft>
                <a:spcPts val="400"/>
              </a:spcAft>
            </a:pPr>
            <a:r>
              <a:rPr sz="1150" b="0" i="0">
                <a:solidFill>
                  <a:srgbClr val="CBD5E1"/>
                </a:solidFill>
                <a:latin typeface="Inter"/>
              </a:rPr>
              <a:t>So agreement is a bound here, not a coincidence of this sample.</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350"/>
                                        <p:tgtEl>
                                          <p:spTgt spid="12"/>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50"/>
                                        <p:tgtEl>
                                          <p:spTgt spid="14"/>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50"/>
                                        <p:tgtEl>
                                          <p:spTgt spid="15"/>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350"/>
                                        <p:tgtEl>
                                          <p:spTgt spid="17"/>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Encrypted Inference  ·  cost</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All timings on 4 vCPU, no GPU</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9505861"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49</a:t>
            </a:r>
          </a:p>
        </p:txBody>
      </p:sp>
      <p:pic>
        <p:nvPicPr>
          <p:cNvPr id="10" name="Picture 9" descr="ba_encryption_1108.png"/>
          <p:cNvPicPr>
            <a:picLocks noChangeAspect="1"/>
          </p:cNvPicPr>
          <p:nvPr/>
        </p:nvPicPr>
        <p:blipFill>
          <a:blip r:embed="rId2"/>
          <a:stretch>
            <a:fillRect/>
          </a:stretch>
        </p:blipFill>
        <p:spPr>
          <a:xfrm>
            <a:off x="566928" y="2162644"/>
            <a:ext cx="6755907" cy="2496135"/>
          </a:xfrm>
          <a:prstGeom prst="rect">
            <a:avLst/>
          </a:prstGeom>
        </p:spPr>
      </p:pic>
      <p:sp>
        <p:nvSpPr>
          <p:cNvPr id="11" name="TextBox 10"/>
          <p:cNvSpPr txBox="1"/>
          <p:nvPr/>
        </p:nvSpPr>
        <p:spPr>
          <a:xfrm>
            <a:off x="7861508" y="1627632"/>
            <a:ext cx="2103120"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quantity</a:t>
            </a:r>
          </a:p>
        </p:txBody>
      </p:sp>
      <p:sp>
        <p:nvSpPr>
          <p:cNvPr id="12" name="TextBox 11"/>
          <p:cNvSpPr txBox="1"/>
          <p:nvPr/>
        </p:nvSpPr>
        <p:spPr>
          <a:xfrm>
            <a:off x="9964628" y="1627632"/>
            <a:ext cx="1660138"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value</a:t>
            </a:r>
          </a:p>
        </p:txBody>
      </p:sp>
      <p:sp>
        <p:nvSpPr>
          <p:cNvPr id="13" name="Rectangle 12"/>
          <p:cNvSpPr/>
          <p:nvPr/>
        </p:nvSpPr>
        <p:spPr>
          <a:xfrm>
            <a:off x="7861508" y="1920240"/>
            <a:ext cx="3763258" cy="10972"/>
          </a:xfrm>
          <a:prstGeom prst="rect">
            <a:avLst/>
          </a:prstGeom>
          <a:solidFill>
            <a:srgbClr val="2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1508" y="2011680"/>
            <a:ext cx="2103120"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client feature extraction</a:t>
            </a:r>
          </a:p>
        </p:txBody>
      </p:sp>
      <p:sp>
        <p:nvSpPr>
          <p:cNvPr id="15" name="TextBox 14"/>
          <p:cNvSpPr txBox="1"/>
          <p:nvPr/>
        </p:nvSpPr>
        <p:spPr>
          <a:xfrm>
            <a:off x="9964628" y="2011680"/>
            <a:ext cx="1660138"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38 ms</a:t>
            </a:r>
          </a:p>
        </p:txBody>
      </p:sp>
      <p:sp>
        <p:nvSpPr>
          <p:cNvPr id="16" name="TextBox 15"/>
          <p:cNvSpPr txBox="1"/>
          <p:nvPr/>
        </p:nvSpPr>
        <p:spPr>
          <a:xfrm>
            <a:off x="7861508" y="2304288"/>
            <a:ext cx="2103120"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encrypt (client)</a:t>
            </a:r>
          </a:p>
        </p:txBody>
      </p:sp>
      <p:sp>
        <p:nvSpPr>
          <p:cNvPr id="17" name="TextBox 16"/>
          <p:cNvSpPr txBox="1"/>
          <p:nvPr/>
        </p:nvSpPr>
        <p:spPr>
          <a:xfrm>
            <a:off x="9964628" y="2304288"/>
            <a:ext cx="1660138"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16.8 ms</a:t>
            </a:r>
          </a:p>
        </p:txBody>
      </p:sp>
      <p:sp>
        <p:nvSpPr>
          <p:cNvPr id="18" name="TextBox 17"/>
          <p:cNvSpPr txBox="1"/>
          <p:nvPr/>
        </p:nvSpPr>
        <p:spPr>
          <a:xfrm>
            <a:off x="7861508" y="2596896"/>
            <a:ext cx="2103120"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homomorphic evaluation</a:t>
            </a:r>
          </a:p>
        </p:txBody>
      </p:sp>
      <p:sp>
        <p:nvSpPr>
          <p:cNvPr id="19" name="TextBox 18"/>
          <p:cNvSpPr txBox="1"/>
          <p:nvPr/>
        </p:nvSpPr>
        <p:spPr>
          <a:xfrm>
            <a:off x="9964628" y="2596896"/>
            <a:ext cx="1660138"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1415 ms</a:t>
            </a:r>
          </a:p>
        </p:txBody>
      </p:sp>
      <p:sp>
        <p:nvSpPr>
          <p:cNvPr id="20" name="TextBox 19"/>
          <p:cNvSpPr txBox="1"/>
          <p:nvPr/>
        </p:nvSpPr>
        <p:spPr>
          <a:xfrm>
            <a:off x="7861508" y="2889504"/>
            <a:ext cx="2103120"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decrypt (client)</a:t>
            </a:r>
          </a:p>
        </p:txBody>
      </p:sp>
      <p:sp>
        <p:nvSpPr>
          <p:cNvPr id="21" name="TextBox 20"/>
          <p:cNvSpPr txBox="1"/>
          <p:nvPr/>
        </p:nvSpPr>
        <p:spPr>
          <a:xfrm>
            <a:off x="9964628" y="2889504"/>
            <a:ext cx="1660138"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1.73 ms</a:t>
            </a:r>
          </a:p>
        </p:txBody>
      </p:sp>
      <p:sp>
        <p:nvSpPr>
          <p:cNvPr id="22" name="TextBox 21"/>
          <p:cNvSpPr txBox="1"/>
          <p:nvPr/>
        </p:nvSpPr>
        <p:spPr>
          <a:xfrm>
            <a:off x="7861508" y="3182112"/>
            <a:ext cx="2103120"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ciphertext size</a:t>
            </a:r>
          </a:p>
        </p:txBody>
      </p:sp>
      <p:sp>
        <p:nvSpPr>
          <p:cNvPr id="23" name="TextBox 22"/>
          <p:cNvSpPr txBox="1"/>
          <p:nvPr/>
        </p:nvSpPr>
        <p:spPr>
          <a:xfrm>
            <a:off x="9964628" y="3182112"/>
            <a:ext cx="1660138"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836 KB</a:t>
            </a:r>
          </a:p>
        </p:txBody>
      </p:sp>
      <p:sp>
        <p:nvSpPr>
          <p:cNvPr id="24" name="TextBox 23"/>
          <p:cNvSpPr txBox="1"/>
          <p:nvPr/>
        </p:nvSpPr>
        <p:spPr>
          <a:xfrm>
            <a:off x="7861508" y="3474720"/>
            <a:ext cx="2103120"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expansion vs plaintext</a:t>
            </a:r>
          </a:p>
        </p:txBody>
      </p:sp>
      <p:sp>
        <p:nvSpPr>
          <p:cNvPr id="25" name="TextBox 24"/>
          <p:cNvSpPr txBox="1"/>
          <p:nvPr/>
        </p:nvSpPr>
        <p:spPr>
          <a:xfrm>
            <a:off x="9964628" y="3474720"/>
            <a:ext cx="1660138"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3342×</a:t>
            </a:r>
          </a:p>
        </p:txBody>
      </p:sp>
      <p:sp>
        <p:nvSpPr>
          <p:cNvPr id="26" name="TextBox 25"/>
          <p:cNvSpPr txBox="1"/>
          <p:nvPr/>
        </p:nvSpPr>
        <p:spPr>
          <a:xfrm>
            <a:off x="7861508" y="3767328"/>
            <a:ext cx="2103120"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server context (keys)</a:t>
            </a:r>
          </a:p>
        </p:txBody>
      </p:sp>
      <p:sp>
        <p:nvSpPr>
          <p:cNvPr id="27" name="TextBox 26"/>
          <p:cNvSpPr txBox="1"/>
          <p:nvPr/>
        </p:nvSpPr>
        <p:spPr>
          <a:xfrm>
            <a:off x="9964628" y="3767328"/>
            <a:ext cx="1660138"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122 MB</a:t>
            </a:r>
          </a:p>
        </p:txBody>
      </p:sp>
      <p:sp>
        <p:nvSpPr>
          <p:cNvPr id="28" name="TextBox 27"/>
          <p:cNvSpPr txBox="1"/>
          <p:nvPr/>
        </p:nvSpPr>
        <p:spPr>
          <a:xfrm>
            <a:off x="7861508" y="4059936"/>
            <a:ext cx="2103120"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F1F5F9"/>
                </a:solidFill>
                <a:latin typeface="Inter"/>
              </a:rPr>
              <a:t>peak RSS</a:t>
            </a:r>
          </a:p>
        </p:txBody>
      </p:sp>
      <p:sp>
        <p:nvSpPr>
          <p:cNvPr id="29" name="TextBox 28"/>
          <p:cNvSpPr txBox="1"/>
          <p:nvPr/>
        </p:nvSpPr>
        <p:spPr>
          <a:xfrm>
            <a:off x="9964628" y="4059936"/>
            <a:ext cx="1660138" cy="292608"/>
          </a:xfrm>
          <a:prstGeom prst="rect">
            <a:avLst/>
          </a:prstGeom>
          <a:noFill/>
        </p:spPr>
        <p:txBody>
          <a:bodyPr wrap="square" anchor="t" lIns="0" rIns="0" tIns="0" bIns="0">
            <a:spAutoFit/>
          </a:bodyPr>
          <a:lstStyle/>
          <a:p>
            <a:pPr algn="l">
              <a:lnSpc>
                <a:spcPct val="118000"/>
              </a:lnSpc>
              <a:spcAft>
                <a:spcPts val="400"/>
              </a:spcAft>
            </a:pPr>
            <a:r>
              <a:rPr sz="1050" b="0" i="0">
                <a:solidFill>
                  <a:srgbClr val="CBD5E1"/>
                </a:solidFill>
                <a:latin typeface="Source Code Pro"/>
              </a:rPr>
              <a:t>1478 MB</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50"/>
                                        <p:tgtEl>
                                          <p:spTgt spid="14"/>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50"/>
                                        <p:tgtEl>
                                          <p:spTgt spid="15"/>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350"/>
                                        <p:tgtEl>
                                          <p:spTgt spid="16"/>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3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Compression Trade-off</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The compressed width d is the lever between accuracy and encrypted cost</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9699858"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50</a:t>
            </a:r>
          </a:p>
        </p:txBody>
      </p:sp>
      <p:pic>
        <p:nvPicPr>
          <p:cNvPr id="10" name="Picture 9" descr="compression_tradeoff_1734.png"/>
          <p:cNvPicPr>
            <a:picLocks noChangeAspect="1"/>
          </p:cNvPicPr>
          <p:nvPr/>
        </p:nvPicPr>
        <p:blipFill>
          <a:blip r:embed="rId2"/>
          <a:stretch>
            <a:fillRect/>
          </a:stretch>
        </p:blipFill>
        <p:spPr>
          <a:xfrm>
            <a:off x="811778" y="1627632"/>
            <a:ext cx="10568137" cy="4023360"/>
          </a:xfrm>
          <a:prstGeom prst="rect">
            <a:avLst/>
          </a:prstGeom>
        </p:spPr>
      </p:pic>
      <p:sp>
        <p:nvSpPr>
          <p:cNvPr id="11" name="TextBox 10"/>
          <p:cNvSpPr txBox="1"/>
          <p:nvPr/>
        </p:nvSpPr>
        <p:spPr>
          <a:xfrm>
            <a:off x="566928" y="5760720"/>
            <a:ext cx="11057839" cy="457200"/>
          </a:xfrm>
          <a:prstGeom prst="rect">
            <a:avLst/>
          </a:prstGeom>
          <a:noFill/>
        </p:spPr>
        <p:txBody>
          <a:bodyPr wrap="square" anchor="t" lIns="0" rIns="0" tIns="0" bIns="0">
            <a:spAutoFit/>
          </a:bodyPr>
          <a:lstStyle/>
          <a:p>
            <a:pPr algn="l">
              <a:lnSpc>
                <a:spcPct val="120000"/>
              </a:lnSpc>
              <a:spcAft>
                <a:spcPts val="400"/>
              </a:spcAft>
            </a:pPr>
            <a:r>
              <a:rPr sz="1050" b="0" i="1">
                <a:solidFill>
                  <a:srgbClr val="94A3B8"/>
                </a:solidFill>
                <a:latin typeface="Inter"/>
              </a:rPr>
              <a:t>Accuracy here is measured in the reduced-data regime, where the dimensions are separable at all; at full training size they all sit at ceiling. Latency depends only on d and is independent of the training regime.</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Threat Model  ·  what is and is not protected</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The comparison with the base paper is not like-for-like, and we do not present it as such</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9893856"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51</a:t>
            </a:r>
          </a:p>
        </p:txBody>
      </p:sp>
      <p:sp>
        <p:nvSpPr>
          <p:cNvPr id="10" name="TextBox 9"/>
          <p:cNvSpPr txBox="1"/>
          <p:nvPr/>
        </p:nvSpPr>
        <p:spPr>
          <a:xfrm>
            <a:off x="566928" y="1627632"/>
            <a:ext cx="5259583" cy="274320"/>
          </a:xfrm>
          <a:prstGeom prst="rect">
            <a:avLst/>
          </a:prstGeom>
          <a:noFill/>
        </p:spPr>
        <p:txBody>
          <a:bodyPr wrap="square" anchor="t" lIns="0" rIns="0" tIns="0" bIns="0">
            <a:spAutoFit/>
          </a:bodyPr>
          <a:lstStyle/>
          <a:p>
            <a:pPr algn="l">
              <a:lnSpc>
                <a:spcPct val="118000"/>
              </a:lnSpc>
              <a:spcAft>
                <a:spcPts val="400"/>
              </a:spcAft>
            </a:pPr>
            <a:r>
              <a:rPr sz="1100" b="1" i="0">
                <a:solidFill>
                  <a:srgbClr val="0CA30C"/>
                </a:solidFill>
                <a:latin typeface="Inter"/>
              </a:rPr>
              <a:t>PROTECTED</a:t>
            </a:r>
          </a:p>
        </p:txBody>
      </p:sp>
      <p:sp>
        <p:nvSpPr>
          <p:cNvPr id="11" name="TextBox 10"/>
          <p:cNvSpPr txBox="1"/>
          <p:nvPr/>
        </p:nvSpPr>
        <p:spPr>
          <a:xfrm>
            <a:off x="566928" y="2011680"/>
            <a:ext cx="5259583" cy="2377440"/>
          </a:xfrm>
          <a:prstGeom prst="rect">
            <a:avLst/>
          </a:prstGeom>
          <a:noFill/>
        </p:spPr>
        <p:txBody>
          <a:bodyPr wrap="square" lIns="0" rIns="0" tIns="0" bIns="0">
            <a:spAutoFit/>
          </a:bodyPr>
          <a:lstStyle/>
          <a:p>
            <a:pPr>
              <a:lnSpc>
                <a:spcPct val="122000"/>
              </a:lnSpc>
              <a:spcAft>
                <a:spcPts val="900"/>
              </a:spcAft>
            </a:pPr>
            <a:r>
              <a:rPr sz="1150" b="1">
                <a:solidFill>
                  <a:srgbClr val="0CA30C"/>
                </a:solidFill>
                <a:latin typeface="Inter"/>
              </a:rPr>
              <a:t>— </a:t>
            </a:r>
            <a:r>
              <a:rPr sz="1150">
                <a:solidFill>
                  <a:srgbClr val="CBD5E1"/>
                </a:solidFill>
                <a:latin typeface="Inter"/>
              </a:rPr>
              <a:t>The feature vector in transit and at rest on the server.</a:t>
            </a:r>
          </a:p>
          <a:p>
            <a:pPr>
              <a:lnSpc>
                <a:spcPct val="122000"/>
              </a:lnSpc>
              <a:spcAft>
                <a:spcPts val="900"/>
              </a:spcAft>
            </a:pPr>
            <a:r>
              <a:rPr sz="1150" b="1">
                <a:solidFill>
                  <a:srgbClr val="0CA30C"/>
                </a:solidFill>
                <a:latin typeface="Inter"/>
              </a:rPr>
              <a:t>— </a:t>
            </a:r>
            <a:r>
              <a:rPr sz="1150">
                <a:solidFill>
                  <a:srgbClr val="CBD5E1"/>
                </a:solidFill>
                <a:latin typeface="Inter"/>
              </a:rPr>
              <a:t>The prediction: the server returns ciphertext it cannot read.</a:t>
            </a:r>
          </a:p>
          <a:p>
            <a:pPr>
              <a:lnSpc>
                <a:spcPct val="122000"/>
              </a:lnSpc>
              <a:spcAft>
                <a:spcPts val="900"/>
              </a:spcAft>
            </a:pPr>
            <a:r>
              <a:rPr sz="1150" b="1">
                <a:solidFill>
                  <a:srgbClr val="0CA30C"/>
                </a:solidFill>
                <a:latin typeface="Inter"/>
              </a:rPr>
              <a:t>— </a:t>
            </a:r>
            <a:r>
              <a:rPr sz="1150">
                <a:solidFill>
                  <a:srgbClr val="CBD5E1"/>
                </a:solidFill>
                <a:latin typeface="Inter"/>
              </a:rPr>
              <a:t>The secret key never leaves the client — asserted by test, not by assumption.</a:t>
            </a:r>
          </a:p>
        </p:txBody>
      </p:sp>
      <p:sp>
        <p:nvSpPr>
          <p:cNvPr id="12" name="TextBox 11"/>
          <p:cNvSpPr txBox="1"/>
          <p:nvPr/>
        </p:nvSpPr>
        <p:spPr>
          <a:xfrm>
            <a:off x="6365184" y="1627632"/>
            <a:ext cx="5259583" cy="274320"/>
          </a:xfrm>
          <a:prstGeom prst="rect">
            <a:avLst/>
          </a:prstGeom>
          <a:noFill/>
        </p:spPr>
        <p:txBody>
          <a:bodyPr wrap="square" anchor="t" lIns="0" rIns="0" tIns="0" bIns="0">
            <a:spAutoFit/>
          </a:bodyPr>
          <a:lstStyle/>
          <a:p>
            <a:pPr algn="l">
              <a:lnSpc>
                <a:spcPct val="118000"/>
              </a:lnSpc>
              <a:spcAft>
                <a:spcPts val="400"/>
              </a:spcAft>
            </a:pPr>
            <a:r>
              <a:rPr sz="1100" b="1" i="0">
                <a:solidFill>
                  <a:srgbClr val="D03B3B"/>
                </a:solidFill>
                <a:latin typeface="Inter"/>
              </a:rPr>
              <a:t>NOT PROTECTED</a:t>
            </a:r>
          </a:p>
        </p:txBody>
      </p:sp>
      <p:sp>
        <p:nvSpPr>
          <p:cNvPr id="13" name="TextBox 12"/>
          <p:cNvSpPr txBox="1"/>
          <p:nvPr/>
        </p:nvSpPr>
        <p:spPr>
          <a:xfrm>
            <a:off x="6365184" y="2011680"/>
            <a:ext cx="5259583" cy="2926080"/>
          </a:xfrm>
          <a:prstGeom prst="rect">
            <a:avLst/>
          </a:prstGeom>
          <a:noFill/>
        </p:spPr>
        <p:txBody>
          <a:bodyPr wrap="square" lIns="0" rIns="0" tIns="0" bIns="0">
            <a:spAutoFit/>
          </a:bodyPr>
          <a:lstStyle/>
          <a:p>
            <a:pPr>
              <a:lnSpc>
                <a:spcPct val="122000"/>
              </a:lnSpc>
              <a:spcAft>
                <a:spcPts val="900"/>
              </a:spcAft>
            </a:pPr>
            <a:r>
              <a:rPr sz="1150" b="1">
                <a:solidFill>
                  <a:srgbClr val="D03B3B"/>
                </a:solidFill>
                <a:latin typeface="Inter"/>
              </a:rPr>
              <a:t>— </a:t>
            </a:r>
            <a:r>
              <a:rPr sz="1150">
                <a:solidFill>
                  <a:srgbClr val="CBD5E1"/>
                </a:solidFill>
                <a:latin typeface="Inter"/>
              </a:rPr>
              <a:t>The client must run and therefore hold the feature extractor — unlike the base paper, where the client does little work.</a:t>
            </a:r>
          </a:p>
          <a:p>
            <a:pPr>
              <a:lnSpc>
                <a:spcPct val="122000"/>
              </a:lnSpc>
              <a:spcAft>
                <a:spcPts val="900"/>
              </a:spcAft>
            </a:pPr>
            <a:r>
              <a:rPr sz="1150" b="1">
                <a:solidFill>
                  <a:srgbClr val="D03B3B"/>
                </a:solidFill>
                <a:latin typeface="Inter"/>
              </a:rPr>
              <a:t>— </a:t>
            </a:r>
            <a:r>
              <a:rPr sz="1150">
                <a:solidFill>
                  <a:srgbClr val="CBD5E1"/>
                </a:solidFill>
                <a:latin typeface="Inter"/>
              </a:rPr>
              <a:t>Circuit privacy: an adaptive client could learn about the server's weights. Noise flooding is not implemented.</a:t>
            </a:r>
          </a:p>
          <a:p>
            <a:pPr>
              <a:lnSpc>
                <a:spcPct val="122000"/>
              </a:lnSpc>
              <a:spcAft>
                <a:spcPts val="900"/>
              </a:spcAft>
            </a:pPr>
            <a:r>
              <a:rPr sz="1150" b="1">
                <a:solidFill>
                  <a:srgbClr val="D03B3B"/>
                </a:solidFill>
                <a:latin typeface="Inter"/>
              </a:rPr>
              <a:t>— </a:t>
            </a:r>
            <a:r>
              <a:rPr sz="1150">
                <a:solidFill>
                  <a:srgbClr val="CBD5E1"/>
                </a:solidFill>
                <a:latin typeface="Inter"/>
              </a:rPr>
              <a:t>The compressed vector is a lossy but real function of the image; we do not claim it is a formal privacy bound.</a:t>
            </a:r>
          </a:p>
        </p:txBody>
      </p:sp>
      <p:sp>
        <p:nvSpPr>
          <p:cNvPr id="14" name="Rounded Rectangle 13"/>
          <p:cNvSpPr/>
          <p:nvPr/>
        </p:nvSpPr>
        <p:spPr>
          <a:xfrm>
            <a:off x="566928" y="4736592"/>
            <a:ext cx="11057839" cy="868680"/>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736592"/>
            <a:ext cx="41148" cy="868680"/>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873752"/>
            <a:ext cx="10637215"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FAB219"/>
                </a:solidFill>
                <a:latin typeface="Inter"/>
              </a:rPr>
              <a:t>Honest summary</a:t>
            </a:r>
          </a:p>
        </p:txBody>
      </p:sp>
      <p:sp>
        <p:nvSpPr>
          <p:cNvPr id="17" name="TextBox 16"/>
          <p:cNvSpPr txBox="1"/>
          <p:nvPr/>
        </p:nvSpPr>
        <p:spPr>
          <a:xfrm>
            <a:off x="786384" y="5212079"/>
            <a:ext cx="10637215" cy="246887"/>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SAGE-HE protects the server side of the boundary. Jia et al. aim to protect the image itself. Ours is cheaper and exact; theirs is a stronger goal. These are different trade-offs, not a ranking.</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50"/>
                                        <p:tgtEl>
                                          <p:spTgt spid="14"/>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50"/>
                                        <p:tgtEl>
                                          <p:spTgt spid="15"/>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350"/>
                                        <p:tgtEl>
                                          <p:spTgt spid="16"/>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3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Explainable AI  ·  Grad-CAM and chunk attention</a:t>
            </a:r>
          </a:p>
        </p:txBody>
      </p:sp>
      <p:sp>
        <p:nvSpPr>
          <p:cNvPr id="4" name="Rectangle 3"/>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0087853"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8" name="TextBox 7"/>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52</a:t>
            </a:r>
          </a:p>
        </p:txBody>
      </p:sp>
      <p:pic>
        <p:nvPicPr>
          <p:cNvPr id="9" name="Picture 8" descr="gradcam_per_class_1187.png"/>
          <p:cNvPicPr>
            <a:picLocks noChangeAspect="1"/>
          </p:cNvPicPr>
          <p:nvPr/>
        </p:nvPicPr>
        <p:blipFill>
          <a:blip r:embed="rId2"/>
          <a:stretch>
            <a:fillRect/>
          </a:stretch>
        </p:blipFill>
        <p:spPr>
          <a:xfrm>
            <a:off x="2478559" y="1627632"/>
            <a:ext cx="7234576" cy="3840480"/>
          </a:xfrm>
          <a:prstGeom prst="rect">
            <a:avLst/>
          </a:prstGeom>
        </p:spPr>
      </p:pic>
      <p:sp>
        <p:nvSpPr>
          <p:cNvPr id="10" name="TextBox 9"/>
          <p:cNvSpPr txBox="1"/>
          <p:nvPr/>
        </p:nvSpPr>
        <p:spPr>
          <a:xfrm>
            <a:off x="566928" y="5669280"/>
            <a:ext cx="11057839" cy="457200"/>
          </a:xfrm>
          <a:prstGeom prst="rect">
            <a:avLst/>
          </a:prstGeom>
          <a:noFill/>
        </p:spPr>
        <p:txBody>
          <a:bodyPr wrap="square" anchor="t" lIns="0" rIns="0" tIns="0" bIns="0">
            <a:spAutoFit/>
          </a:bodyPr>
          <a:lstStyle/>
          <a:p>
            <a:pPr algn="l">
              <a:lnSpc>
                <a:spcPct val="118000"/>
              </a:lnSpc>
              <a:spcAft>
                <a:spcPts val="400"/>
              </a:spcAft>
            </a:pPr>
            <a:r>
              <a:rPr sz="1100" b="0" i="1">
                <a:solidFill>
                  <a:srgbClr val="94A3B8"/>
                </a:solidFill>
                <a:latin typeface="Inter"/>
              </a:rPr>
              <a:t>Grad-CAM is a post-hoc gradient attribution; chunk attention is the model's own selection weight. Agreement is weak evidence the model uses the defect region — an attractive heatmap is not proof of correctness.</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Hard Cases</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250" b="0" i="0">
                <a:solidFill>
                  <a:srgbClr val="94A3B8"/>
                </a:solidFill>
                <a:latin typeface="Inter"/>
              </a:rPr>
              <a:t>SAGE-HE misclassifies nothing on this test set, so these are the 19 images the reproduced baseline got wrong</a:t>
            </a:r>
          </a:p>
        </p:txBody>
      </p:sp>
      <p:sp>
        <p:nvSpPr>
          <p:cNvPr id="5" name="Rectangle 4"/>
          <p:cNvSpPr/>
          <p:nvPr/>
        </p:nvSpPr>
        <p:spPr>
          <a:xfrm>
            <a:off x="566928" y="1719072"/>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10281850"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53</a:t>
            </a:r>
          </a:p>
        </p:txBody>
      </p:sp>
      <p:pic>
        <p:nvPicPr>
          <p:cNvPr id="10" name="Picture 9" descr="gradcam_hard_cases_1583.png"/>
          <p:cNvPicPr>
            <a:picLocks noChangeAspect="1"/>
          </p:cNvPicPr>
          <p:nvPr/>
        </p:nvPicPr>
        <p:blipFill>
          <a:blip r:embed="rId2"/>
          <a:stretch>
            <a:fillRect/>
          </a:stretch>
        </p:blipFill>
        <p:spPr>
          <a:xfrm>
            <a:off x="1269902" y="1627632"/>
            <a:ext cx="9651889" cy="3566160"/>
          </a:xfrm>
          <a:prstGeom prst="rect">
            <a:avLst/>
          </a:prstGeom>
        </p:spPr>
      </p:pic>
      <p:sp>
        <p:nvSpPr>
          <p:cNvPr id="11" name="TextBox 10"/>
          <p:cNvSpPr txBox="1"/>
          <p:nvPr/>
        </p:nvSpPr>
        <p:spPr>
          <a:xfrm>
            <a:off x="566928" y="5650992"/>
            <a:ext cx="11057839" cy="548640"/>
          </a:xfrm>
          <a:prstGeom prst="rect">
            <a:avLst/>
          </a:prstGeom>
          <a:noFill/>
        </p:spPr>
        <p:txBody>
          <a:bodyPr wrap="square" anchor="t" lIns="0" rIns="0" tIns="0" bIns="0">
            <a:spAutoFit/>
          </a:bodyPr>
          <a:lstStyle/>
          <a:p>
            <a:pPr algn="l">
              <a:lnSpc>
                <a:spcPct val="120000"/>
              </a:lnSpc>
              <a:spcAft>
                <a:spcPts val="400"/>
              </a:spcAft>
            </a:pPr>
            <a:r>
              <a:rPr sz="1050" b="0" i="1">
                <a:solidFill>
                  <a:srgbClr val="94A3B8"/>
                </a:solidFill>
                <a:latin typeface="Inter"/>
              </a:rPr>
              <a:t>The baseline's errors are concentrated in faint `inclusion` streaks it calls `pitted_surface` — the same two classes its per-class F1 singles out. These are shown instead of an empty failure slide; nothing here is curated.</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Discussion and Limitations</a:t>
            </a:r>
          </a:p>
        </p:txBody>
      </p:sp>
      <p:sp>
        <p:nvSpPr>
          <p:cNvPr id="4" name="Rectangle 3"/>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0475847"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8" name="TextBox 7"/>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54</a:t>
            </a:r>
          </a:p>
        </p:txBody>
      </p:sp>
      <p:sp>
        <p:nvSpPr>
          <p:cNvPr id="9" name="Rounded Rectangle 8"/>
          <p:cNvSpPr/>
          <p:nvPr/>
        </p:nvSpPr>
        <p:spPr>
          <a:xfrm>
            <a:off x="566928" y="1627632"/>
            <a:ext cx="5446623" cy="1261872"/>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627632"/>
            <a:ext cx="41148" cy="1261872"/>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764792"/>
            <a:ext cx="502599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FAB219"/>
                </a:solidFill>
                <a:latin typeface="Inter"/>
              </a:rPr>
              <a:t>Benchmark is saturated</a:t>
            </a:r>
          </a:p>
        </p:txBody>
      </p:sp>
      <p:sp>
        <p:nvSpPr>
          <p:cNvPr id="12" name="TextBox 11"/>
          <p:cNvSpPr txBox="1"/>
          <p:nvPr/>
        </p:nvSpPr>
        <p:spPr>
          <a:xfrm>
            <a:off x="786384" y="2103120"/>
            <a:ext cx="5025999" cy="640079"/>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NEU-CLS cannot separate strong modern architectures at full data. Conclusions about components come from the reduced-data regime.</a:t>
            </a:r>
          </a:p>
        </p:txBody>
      </p:sp>
      <p:sp>
        <p:nvSpPr>
          <p:cNvPr id="13" name="Rounded Rectangle 12"/>
          <p:cNvSpPr/>
          <p:nvPr/>
        </p:nvSpPr>
        <p:spPr>
          <a:xfrm>
            <a:off x="6178143" y="1627632"/>
            <a:ext cx="5446623" cy="1261872"/>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8143" y="1627632"/>
            <a:ext cx="41148" cy="1261872"/>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7599" y="1764792"/>
            <a:ext cx="502599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FAB219"/>
                </a:solidFill>
                <a:latin typeface="Inter"/>
              </a:rPr>
              <a:t>Small test set</a:t>
            </a:r>
          </a:p>
        </p:txBody>
      </p:sp>
      <p:sp>
        <p:nvSpPr>
          <p:cNvPr id="16" name="TextBox 15"/>
          <p:cNvSpPr txBox="1"/>
          <p:nvPr/>
        </p:nvSpPr>
        <p:spPr>
          <a:xfrm>
            <a:off x="6397599" y="2103120"/>
            <a:ext cx="5025999" cy="640079"/>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360 images. A one-image change moves accuracy by 0.28 points; Wilson intervals are reported for this reason.</a:t>
            </a:r>
          </a:p>
        </p:txBody>
      </p:sp>
      <p:sp>
        <p:nvSpPr>
          <p:cNvPr id="17" name="Rounded Rectangle 16"/>
          <p:cNvSpPr/>
          <p:nvPr/>
        </p:nvSpPr>
        <p:spPr>
          <a:xfrm>
            <a:off x="566928" y="3044952"/>
            <a:ext cx="5446623" cy="1261872"/>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44952"/>
            <a:ext cx="41148" cy="1261872"/>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3182112"/>
            <a:ext cx="502599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FAB219"/>
                </a:solidFill>
                <a:latin typeface="Inter"/>
              </a:rPr>
              <a:t>No GPU</a:t>
            </a:r>
          </a:p>
        </p:txBody>
      </p:sp>
      <p:sp>
        <p:nvSpPr>
          <p:cNvPr id="20" name="TextBox 19"/>
          <p:cNvSpPr txBox="1"/>
          <p:nvPr/>
        </p:nvSpPr>
        <p:spPr>
          <a:xfrm>
            <a:off x="786384" y="3520440"/>
            <a:ext cx="5025999" cy="640079"/>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All training and all latencies are CPU. Timings are not comparable to GPU-accelerated figures elsewhere in the literature.</a:t>
            </a:r>
          </a:p>
        </p:txBody>
      </p:sp>
      <p:sp>
        <p:nvSpPr>
          <p:cNvPr id="21" name="Rounded Rectangle 20"/>
          <p:cNvSpPr/>
          <p:nvPr/>
        </p:nvSpPr>
        <p:spPr>
          <a:xfrm>
            <a:off x="6178143" y="3044952"/>
            <a:ext cx="5446623" cy="1261872"/>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8143" y="3044952"/>
            <a:ext cx="41148" cy="1261872"/>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7599" y="3182112"/>
            <a:ext cx="502599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D03B3B"/>
                </a:solidFill>
                <a:latin typeface="Inter"/>
              </a:rPr>
              <a:t>Weaker privacy than the base paper's goal</a:t>
            </a:r>
          </a:p>
        </p:txBody>
      </p:sp>
      <p:sp>
        <p:nvSpPr>
          <p:cNvPr id="24" name="TextBox 23"/>
          <p:cNvSpPr txBox="1"/>
          <p:nvPr/>
        </p:nvSpPr>
        <p:spPr>
          <a:xfrm>
            <a:off x="6397599" y="3520440"/>
            <a:ext cx="5025999" cy="640079"/>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The client holds the extractor. We protect the server side only.</a:t>
            </a:r>
          </a:p>
        </p:txBody>
      </p:sp>
      <p:sp>
        <p:nvSpPr>
          <p:cNvPr id="25" name="Rounded Rectangle 24"/>
          <p:cNvSpPr/>
          <p:nvPr/>
        </p:nvSpPr>
        <p:spPr>
          <a:xfrm>
            <a:off x="566928" y="4462272"/>
            <a:ext cx="5446623" cy="1261872"/>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62272"/>
            <a:ext cx="41148" cy="1261872"/>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99432"/>
            <a:ext cx="502599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FAB219"/>
                </a:solidFill>
                <a:latin typeface="Inter"/>
              </a:rPr>
              <a:t>Baseline is a reconstruction</a:t>
            </a:r>
          </a:p>
        </p:txBody>
      </p:sp>
      <p:sp>
        <p:nvSpPr>
          <p:cNvPr id="28" name="TextBox 27"/>
          <p:cNvSpPr txBox="1"/>
          <p:nvPr/>
        </p:nvSpPr>
        <p:spPr>
          <a:xfrm>
            <a:off x="786384" y="4937760"/>
            <a:ext cx="5025999" cy="640079"/>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The paper under-specifies channel count, pooling, split and schedule; our reproduction documents each assumption.</a:t>
            </a:r>
          </a:p>
        </p:txBody>
      </p:sp>
      <p:sp>
        <p:nvSpPr>
          <p:cNvPr id="29" name="Rounded Rectangle 28"/>
          <p:cNvSpPr/>
          <p:nvPr/>
        </p:nvSpPr>
        <p:spPr>
          <a:xfrm>
            <a:off x="6178143" y="4462272"/>
            <a:ext cx="5446623" cy="1261872"/>
          </a:xfrm>
          <a:prstGeom prst="roundRect">
            <a:avLst>
              <a:gd name="adj" fmla="val 6000"/>
            </a:avLst>
          </a:prstGeom>
          <a:solidFill>
            <a:srgbClr val="0F172A"/>
          </a:solidFill>
          <a:ln w="12700">
            <a:solidFill>
              <a:srgbClr val="243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8143" y="4462272"/>
            <a:ext cx="41148" cy="1261872"/>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97599" y="4599432"/>
            <a:ext cx="5025999" cy="274320"/>
          </a:xfrm>
          <a:prstGeom prst="rect">
            <a:avLst/>
          </a:prstGeom>
          <a:noFill/>
        </p:spPr>
        <p:txBody>
          <a:bodyPr wrap="square" anchor="t" lIns="0" rIns="0" tIns="0" bIns="0">
            <a:spAutoFit/>
          </a:bodyPr>
          <a:lstStyle/>
          <a:p>
            <a:pPr algn="l">
              <a:lnSpc>
                <a:spcPct val="118000"/>
              </a:lnSpc>
              <a:spcAft>
                <a:spcPts val="400"/>
              </a:spcAft>
            </a:pPr>
            <a:r>
              <a:rPr sz="1150" b="1" i="0">
                <a:solidFill>
                  <a:srgbClr val="94A3B8"/>
                </a:solidFill>
                <a:latin typeface="Inter"/>
              </a:rPr>
              <a:t>Novelty is narrow</a:t>
            </a:r>
          </a:p>
        </p:txBody>
      </p:sp>
      <p:sp>
        <p:nvSpPr>
          <p:cNvPr id="32" name="TextBox 31"/>
          <p:cNvSpPr txBox="1"/>
          <p:nvPr/>
        </p:nvSpPr>
        <p:spPr>
          <a:xfrm>
            <a:off x="6397599" y="4937760"/>
            <a:ext cx="5025999" cy="640079"/>
          </a:xfrm>
          <a:prstGeom prst="rect">
            <a:avLst/>
          </a:prstGeom>
          <a:noFill/>
        </p:spPr>
        <p:txBody>
          <a:bodyPr wrap="square" anchor="t" lIns="0" rIns="0" tIns="0" bIns="0">
            <a:spAutoFit/>
          </a:bodyPr>
          <a:lstStyle/>
          <a:p>
            <a:pPr algn="l">
              <a:lnSpc>
                <a:spcPct val="124000"/>
              </a:lnSpc>
              <a:spcAft>
                <a:spcPts val="400"/>
              </a:spcAft>
            </a:pPr>
            <a:r>
              <a:rPr sz="1150" b="0" i="0">
                <a:solidFill>
                  <a:srgbClr val="CBD5E1"/>
                </a:solidFill>
                <a:latin typeface="Inter"/>
              </a:rPr>
              <a:t>The encryption boundary is prior art. The contribution is the learned Sobel-conditioned selection and the measurement discipline.</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50"/>
                                        <p:tgtEl>
                                          <p:spTgt spid="12"/>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350"/>
                                        <p:tgtEl>
                                          <p:spTgt spid="16"/>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350"/>
                                        <p:tgtEl>
                                          <p:spTgt spid="17"/>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350"/>
                                        <p:tgtEl>
                                          <p:spTgt spid="18"/>
                                        </p:tgtEl>
                                      </p:cBhvr>
                                    </p:animEffect>
                                  </p:childTnLst>
                                </p:cTn>
                              </p:par>
                            </p:childTnLst>
                          </p:cTn>
                        </p:par>
                      </p:childTnLst>
                    </p:cTn>
                  </p:par>
                  <p:par>
                    <p:cTn id="23" fill="hold">
                      <p:stCondLst>
                        <p:cond delay="1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350"/>
                                        <p:tgtEl>
                                          <p:spTgt spid="19"/>
                                        </p:tgtEl>
                                      </p:cBhvr>
                                    </p:animEffect>
                                  </p:childTnLst>
                                </p:cTn>
                              </p:par>
                            </p:childTnLst>
                          </p:cTn>
                        </p:par>
                      </p:childTnLst>
                    </p:cTn>
                  </p:par>
                  <p:par>
                    <p:cTn id="28" fill="hold">
                      <p:stCondLst>
                        <p:cond delay="12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Conclusion and Future Scope</a:t>
            </a:r>
          </a:p>
        </p:txBody>
      </p:sp>
      <p:sp>
        <p:nvSpPr>
          <p:cNvPr id="4" name="Rectangle 3"/>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0669844"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8" name="TextBox 7"/>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55</a:t>
            </a:r>
          </a:p>
        </p:txBody>
      </p:sp>
      <p:sp>
        <p:nvSpPr>
          <p:cNvPr id="9" name="TextBox 8"/>
          <p:cNvSpPr txBox="1"/>
          <p:nvPr/>
        </p:nvSpPr>
        <p:spPr>
          <a:xfrm>
            <a:off x="566928" y="1627632"/>
            <a:ext cx="5633664" cy="3108960"/>
          </a:xfrm>
          <a:prstGeom prst="rect">
            <a:avLst/>
          </a:prstGeom>
          <a:noFill/>
        </p:spPr>
        <p:txBody>
          <a:bodyPr wrap="square" lIns="0" rIns="0" tIns="0" bIns="0">
            <a:spAutoFit/>
          </a:bodyPr>
          <a:lstStyle/>
          <a:p>
            <a:pPr>
              <a:lnSpc>
                <a:spcPct val="122000"/>
              </a:lnSpc>
              <a:spcAft>
                <a:spcPts val="900"/>
              </a:spcAft>
            </a:pPr>
            <a:r>
              <a:rPr sz="1250" b="1">
                <a:solidFill>
                  <a:srgbClr val="3987E5"/>
                </a:solidFill>
                <a:latin typeface="Inter"/>
              </a:rPr>
              <a:t>— </a:t>
            </a:r>
            <a:r>
              <a:rPr sz="1250" b="1">
                <a:solidFill>
                  <a:srgbClr val="F1F5F9"/>
                </a:solidFill>
                <a:latin typeface="Inter"/>
              </a:rPr>
              <a:t>Built. </a:t>
            </a:r>
            <a:r>
              <a:rPr sz="1250">
                <a:solidFill>
                  <a:srgbClr val="CBD5E1"/>
                </a:solidFill>
                <a:latin typeface="Inter"/>
              </a:rPr>
              <a:t>A complete, tested, reproducible system: audited dataset, reproduced baseline, dual-branch model, genuine CKKS inference, explainability.</a:t>
            </a:r>
          </a:p>
          <a:p>
            <a:pPr>
              <a:lnSpc>
                <a:spcPct val="122000"/>
              </a:lnSpc>
              <a:spcAft>
                <a:spcPts val="900"/>
              </a:spcAft>
            </a:pPr>
            <a:r>
              <a:rPr sz="1250" b="1">
                <a:solidFill>
                  <a:srgbClr val="3987E5"/>
                </a:solidFill>
                <a:latin typeface="Inter"/>
              </a:rPr>
              <a:t>— </a:t>
            </a:r>
            <a:r>
              <a:rPr sz="1250" b="1">
                <a:solidFill>
                  <a:srgbClr val="F1F5F9"/>
                </a:solidFill>
                <a:latin typeface="Inter"/>
              </a:rPr>
              <a:t>Measured. </a:t>
            </a:r>
            <a:r>
              <a:rPr sz="1250">
                <a:solidFill>
                  <a:srgbClr val="CBD5E1"/>
                </a:solidFill>
                <a:latin typeface="Inter"/>
              </a:rPr>
              <a:t>SAGE-HE 100.00% vs reproduced baseline 93.98% on one identical held-out split, over 3 seeds.</a:t>
            </a:r>
          </a:p>
          <a:p>
            <a:pPr>
              <a:lnSpc>
                <a:spcPct val="122000"/>
              </a:lnSpc>
              <a:spcAft>
                <a:spcPts val="900"/>
              </a:spcAft>
            </a:pPr>
            <a:r>
              <a:rPr sz="1250" b="1">
                <a:solidFill>
                  <a:srgbClr val="3987E5"/>
                </a:solidFill>
                <a:latin typeface="Inter"/>
              </a:rPr>
              <a:t>— </a:t>
            </a:r>
            <a:r>
              <a:rPr sz="1250" b="1">
                <a:solidFill>
                  <a:srgbClr val="F1F5F9"/>
                </a:solidFill>
                <a:latin typeface="Inter"/>
              </a:rPr>
              <a:t>Encrypted exactly. </a:t>
            </a:r>
            <a:r>
              <a:rPr sz="1250">
                <a:solidFill>
                  <a:srgbClr val="CBD5E1"/>
                </a:solidFill>
                <a:latin typeface="Inter"/>
              </a:rPr>
              <a:t>Encrypted and plaintext inference agree, with a quantified margin: CKKS costs latency, not accuracy.</a:t>
            </a:r>
          </a:p>
          <a:p>
            <a:pPr>
              <a:lnSpc>
                <a:spcPct val="122000"/>
              </a:lnSpc>
              <a:spcAft>
                <a:spcPts val="900"/>
              </a:spcAft>
            </a:pPr>
            <a:r>
              <a:rPr sz="1250" b="1">
                <a:solidFill>
                  <a:srgbClr val="3987E5"/>
                </a:solidFill>
                <a:latin typeface="Inter"/>
              </a:rPr>
              <a:t>— </a:t>
            </a:r>
            <a:r>
              <a:rPr sz="1250" b="1">
                <a:solidFill>
                  <a:srgbClr val="F1F5F9"/>
                </a:solidFill>
                <a:latin typeface="Inter"/>
              </a:rPr>
              <a:t>The architecture did not pan out. </a:t>
            </a:r>
            <a:r>
              <a:rPr sz="1250">
                <a:solidFill>
                  <a:srgbClr val="CBD5E1"/>
                </a:solidFill>
                <a:latin typeface="Inter"/>
              </a:rPr>
              <a:t>Measured against its own backbone, the local branch, chunk attention and Sobel prior each cost accuracy. Reported, explained, and not claimed as a contribution.</a:t>
            </a:r>
          </a:p>
        </p:txBody>
      </p:sp>
      <p:sp>
        <p:nvSpPr>
          <p:cNvPr id="10" name="TextBox 9"/>
          <p:cNvSpPr txBox="1"/>
          <p:nvPr/>
        </p:nvSpPr>
        <p:spPr>
          <a:xfrm>
            <a:off x="7113346" y="1627632"/>
            <a:ext cx="4511421" cy="274320"/>
          </a:xfrm>
          <a:prstGeom prst="rect">
            <a:avLst/>
          </a:prstGeom>
          <a:noFill/>
        </p:spPr>
        <p:txBody>
          <a:bodyPr wrap="square" anchor="t" lIns="0" rIns="0" tIns="0" bIns="0">
            <a:spAutoFit/>
          </a:bodyPr>
          <a:lstStyle/>
          <a:p>
            <a:pPr algn="l">
              <a:lnSpc>
                <a:spcPct val="118000"/>
              </a:lnSpc>
              <a:spcAft>
                <a:spcPts val="400"/>
              </a:spcAft>
            </a:pPr>
            <a:r>
              <a:rPr sz="1100" b="1" i="0">
                <a:solidFill>
                  <a:srgbClr val="3987E5"/>
                </a:solidFill>
                <a:latin typeface="Inter"/>
              </a:rPr>
              <a:t>FUTURE WORK</a:t>
            </a:r>
          </a:p>
        </p:txBody>
      </p:sp>
      <p:sp>
        <p:nvSpPr>
          <p:cNvPr id="11" name="TextBox 10"/>
          <p:cNvSpPr txBox="1"/>
          <p:nvPr/>
        </p:nvSpPr>
        <p:spPr>
          <a:xfrm>
            <a:off x="7113346" y="2011680"/>
            <a:ext cx="4511421" cy="2926080"/>
          </a:xfrm>
          <a:prstGeom prst="rect">
            <a:avLst/>
          </a:prstGeom>
          <a:noFill/>
        </p:spPr>
        <p:txBody>
          <a:bodyPr wrap="square" lIns="0" rIns="0" tIns="0" bIns="0">
            <a:spAutoFit/>
          </a:bodyPr>
          <a:lstStyle/>
          <a:p>
            <a:pPr>
              <a:lnSpc>
                <a:spcPct val="122000"/>
              </a:lnSpc>
              <a:spcAft>
                <a:spcPts val="900"/>
              </a:spcAft>
            </a:pPr>
            <a:r>
              <a:rPr sz="1150" b="1">
                <a:solidFill>
                  <a:srgbClr val="3987E5"/>
                </a:solidFill>
                <a:latin typeface="Inter"/>
              </a:rPr>
              <a:t>— </a:t>
            </a:r>
            <a:r>
              <a:rPr sz="1150">
                <a:solidFill>
                  <a:srgbClr val="CBD5E1"/>
                </a:solidFill>
                <a:latin typeface="Inter"/>
              </a:rPr>
              <a:t>A harder benchmark (NEU-DET, Severstal, X-SDD) where accuracy is not saturated.</a:t>
            </a:r>
          </a:p>
          <a:p>
            <a:pPr>
              <a:lnSpc>
                <a:spcPct val="122000"/>
              </a:lnSpc>
              <a:spcAft>
                <a:spcPts val="900"/>
              </a:spcAft>
            </a:pPr>
            <a:r>
              <a:rPr sz="1150" b="1">
                <a:solidFill>
                  <a:srgbClr val="3987E5"/>
                </a:solidFill>
                <a:latin typeface="Inter"/>
              </a:rPr>
              <a:t>— </a:t>
            </a:r>
            <a:r>
              <a:rPr sz="1150">
                <a:solidFill>
                  <a:srgbClr val="CBD5E1"/>
                </a:solidFill>
                <a:latin typeface="Inter"/>
              </a:rPr>
              <a:t>Higher-degree polynomial activations to recover the accuracy the square loses.</a:t>
            </a:r>
          </a:p>
          <a:p>
            <a:pPr>
              <a:lnSpc>
                <a:spcPct val="122000"/>
              </a:lnSpc>
              <a:spcAft>
                <a:spcPts val="900"/>
              </a:spcAft>
            </a:pPr>
            <a:r>
              <a:rPr sz="1150" b="1">
                <a:solidFill>
                  <a:srgbClr val="3987E5"/>
                </a:solidFill>
                <a:latin typeface="Inter"/>
              </a:rPr>
              <a:t>— </a:t>
            </a:r>
            <a:r>
              <a:rPr sz="1150">
                <a:solidFill>
                  <a:srgbClr val="CBD5E1"/>
                </a:solidFill>
                <a:latin typeface="Inter"/>
              </a:rPr>
              <a:t>Batched CKKS packing: 8192 slots are available and we use 64.</a:t>
            </a:r>
          </a:p>
          <a:p>
            <a:pPr>
              <a:lnSpc>
                <a:spcPct val="122000"/>
              </a:lnSpc>
              <a:spcAft>
                <a:spcPts val="900"/>
              </a:spcAft>
            </a:pPr>
            <a:r>
              <a:rPr sz="1150" b="1">
                <a:solidFill>
                  <a:srgbClr val="3987E5"/>
                </a:solidFill>
                <a:latin typeface="Inter"/>
              </a:rPr>
              <a:t>— </a:t>
            </a:r>
            <a:r>
              <a:rPr sz="1150">
                <a:solidFill>
                  <a:srgbClr val="CBD5E1"/>
                </a:solidFill>
                <a:latin typeface="Inter"/>
              </a:rPr>
              <a:t>Circuit privacy via noise flooding.</a:t>
            </a:r>
          </a:p>
          <a:p>
            <a:pPr>
              <a:lnSpc>
                <a:spcPct val="122000"/>
              </a:lnSpc>
              <a:spcAft>
                <a:spcPts val="900"/>
              </a:spcAft>
            </a:pPr>
            <a:r>
              <a:rPr sz="1150" b="1">
                <a:solidFill>
                  <a:srgbClr val="3987E5"/>
                </a:solidFill>
                <a:latin typeface="Inter"/>
              </a:rPr>
              <a:t>— </a:t>
            </a:r>
            <a:r>
              <a:rPr sz="1150">
                <a:solidFill>
                  <a:srgbClr val="CBD5E1"/>
                </a:solidFill>
                <a:latin typeface="Inter"/>
              </a:rPr>
              <a:t>Validate the λ finding on a dataset where gradient priors are less reliable.</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93776"/>
            <a:ext cx="10122636" cy="566928"/>
          </a:xfrm>
          <a:prstGeom prst="rect">
            <a:avLst/>
          </a:prstGeom>
          <a:noFill/>
        </p:spPr>
        <p:txBody>
          <a:bodyPr wrap="square" anchor="t" lIns="0" rIns="0" tIns="0" bIns="0">
            <a:spAutoFit/>
          </a:bodyPr>
          <a:lstStyle/>
          <a:p>
            <a:pPr algn="l">
              <a:lnSpc>
                <a:spcPct val="118000"/>
              </a:lnSpc>
              <a:spcAft>
                <a:spcPts val="400"/>
              </a:spcAft>
            </a:pPr>
            <a:r>
              <a:rPr sz="2700" b="1" i="0">
                <a:solidFill>
                  <a:srgbClr val="F1F5F9"/>
                </a:solidFill>
                <a:latin typeface="Inter"/>
              </a:rPr>
              <a:t>References</a:t>
            </a:r>
          </a:p>
        </p:txBody>
      </p:sp>
      <p:sp>
        <p:nvSpPr>
          <p:cNvPr id="4" name="TextBox 3"/>
          <p:cNvSpPr txBox="1"/>
          <p:nvPr/>
        </p:nvSpPr>
        <p:spPr>
          <a:xfrm>
            <a:off x="566928" y="1097280"/>
            <a:ext cx="10122636" cy="384048"/>
          </a:xfrm>
          <a:prstGeom prst="rect">
            <a:avLst/>
          </a:prstGeom>
          <a:noFill/>
        </p:spPr>
        <p:txBody>
          <a:bodyPr wrap="square" anchor="t" lIns="0" rIns="0" tIns="0" bIns="0">
            <a:spAutoFit/>
          </a:bodyPr>
          <a:lstStyle/>
          <a:p>
            <a:pPr algn="l">
              <a:lnSpc>
                <a:spcPct val="118000"/>
              </a:lnSpc>
              <a:spcAft>
                <a:spcPts val="400"/>
              </a:spcAft>
            </a:pPr>
            <a:r>
              <a:rPr sz="1300" b="0" i="0">
                <a:solidFill>
                  <a:srgbClr val="94A3B8"/>
                </a:solidFill>
                <a:latin typeface="Inter"/>
              </a:rPr>
              <a:t>All entries resolved against Crossref or arXiv — see reports/citations_verified.json</a:t>
            </a:r>
          </a:p>
        </p:txBody>
      </p:sp>
      <p:sp>
        <p:nvSpPr>
          <p:cNvPr id="5" name="Rectangle 4"/>
          <p:cNvSpPr/>
          <p:nvPr/>
        </p:nvSpPr>
        <p:spPr>
          <a:xfrm>
            <a:off x="566928" y="1481328"/>
            <a:ext cx="822960" cy="27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6227064"/>
            <a:ext cx="11057839" cy="731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227064"/>
            <a:ext cx="10863842" cy="7315"/>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82512"/>
            <a:ext cx="7317028" cy="237744"/>
          </a:xfrm>
          <a:prstGeom prst="rect">
            <a:avLst/>
          </a:prstGeom>
          <a:noFill/>
        </p:spPr>
        <p:txBody>
          <a:bodyPr wrap="square" anchor="t" lIns="0" rIns="0" tIns="0" bIns="0">
            <a:spAutoFit/>
          </a:bodyPr>
          <a:lstStyle/>
          <a:p>
            <a:pPr algn="l">
              <a:lnSpc>
                <a:spcPct val="118000"/>
              </a:lnSpc>
              <a:spcAft>
                <a:spcPts val="400"/>
              </a:spcAft>
            </a:pPr>
            <a:r>
              <a:rPr sz="900" b="0" i="0">
                <a:solidFill>
                  <a:srgbClr val="94A3B8"/>
                </a:solidFill>
                <a:latin typeface="Inter"/>
              </a:rPr>
              <a:t>SAGE-HE  ·  SUHAIB S Z</a:t>
            </a:r>
          </a:p>
        </p:txBody>
      </p:sp>
      <p:sp>
        <p:nvSpPr>
          <p:cNvPr id="9" name="TextBox 8"/>
          <p:cNvSpPr txBox="1"/>
          <p:nvPr/>
        </p:nvSpPr>
        <p:spPr>
          <a:xfrm>
            <a:off x="11076127" y="6382512"/>
            <a:ext cx="548640" cy="237744"/>
          </a:xfrm>
          <a:prstGeom prst="rect">
            <a:avLst/>
          </a:prstGeom>
          <a:noFill/>
        </p:spPr>
        <p:txBody>
          <a:bodyPr wrap="square" anchor="t" lIns="0" rIns="0" tIns="0" bIns="0">
            <a:spAutoFit/>
          </a:bodyPr>
          <a:lstStyle/>
          <a:p>
            <a:pPr algn="r">
              <a:lnSpc>
                <a:spcPct val="118000"/>
              </a:lnSpc>
              <a:spcAft>
                <a:spcPts val="400"/>
              </a:spcAft>
            </a:pPr>
            <a:r>
              <a:rPr sz="900" b="0" i="0">
                <a:solidFill>
                  <a:srgbClr val="94A3B8"/>
                </a:solidFill>
                <a:latin typeface="Inter"/>
              </a:rPr>
              <a:t>56</a:t>
            </a:r>
          </a:p>
        </p:txBody>
      </p:sp>
      <p:sp>
        <p:nvSpPr>
          <p:cNvPr id="10" name="TextBox 9"/>
          <p:cNvSpPr txBox="1"/>
          <p:nvPr/>
        </p:nvSpPr>
        <p:spPr>
          <a:xfrm>
            <a:off x="566928" y="1627632"/>
            <a:ext cx="5446623" cy="4023360"/>
          </a:xfrm>
          <a:prstGeom prst="rect">
            <a:avLst/>
          </a:prstGeom>
          <a:noFill/>
        </p:spPr>
        <p:txBody>
          <a:bodyPr wrap="square" anchor="t" lIns="0" rIns="0" tIns="0" bIns="0">
            <a:spAutoFit/>
          </a:bodyPr>
          <a:lstStyle/>
          <a:p>
            <a:pPr algn="l">
              <a:lnSpc>
                <a:spcPct val="145000"/>
              </a:lnSpc>
              <a:spcAft>
                <a:spcPts val="500"/>
              </a:spcAft>
            </a:pPr>
            <a:r>
              <a:rPr sz="900" b="0" i="0">
                <a:solidFill>
                  <a:srgbClr val="CBD5E1"/>
                </a:solidFill>
                <a:latin typeface="Inter"/>
              </a:rPr>
              <a:t>[1]  Jia et al. (2023). Efficient and privacy-preserving image classification using homomorphic encryption a. Journal of Cloud Computing. 10.1186/s13677-023-00537-0</a:t>
            </a:r>
          </a:p>
          <a:p>
            <a:pPr algn="l">
              <a:lnSpc>
                <a:spcPct val="145000"/>
              </a:lnSpc>
              <a:spcAft>
                <a:spcPts val="500"/>
              </a:spcAft>
            </a:pPr>
            <a:r>
              <a:rPr sz="900" b="0" i="0">
                <a:solidFill>
                  <a:srgbClr val="CBD5E1"/>
                </a:solidFill>
                <a:latin typeface="Inter"/>
              </a:rPr>
              <a:t>[2]  Song &amp; Yan (2013). A noise robust method based on completed local binary patterns for hot-rolled steel . Applied Surface Science. 10.1016/j.apsusc.2013.09.002</a:t>
            </a:r>
          </a:p>
          <a:p>
            <a:pPr algn="l">
              <a:lnSpc>
                <a:spcPct val="145000"/>
              </a:lnSpc>
              <a:spcAft>
                <a:spcPts val="500"/>
              </a:spcAft>
            </a:pPr>
            <a:r>
              <a:rPr sz="900" b="0" i="0">
                <a:solidFill>
                  <a:srgbClr val="CBD5E1"/>
                </a:solidFill>
                <a:latin typeface="Inter"/>
              </a:rPr>
              <a:t>[3]  Cheon et al. (2017). Homomorphic Encryption for Arithmetic of Approximate Numbers. Lecture Notes in Computer Science. 10.1007/978-3-319-70694-8_15</a:t>
            </a:r>
          </a:p>
          <a:p>
            <a:pPr algn="l">
              <a:lnSpc>
                <a:spcPct val="145000"/>
              </a:lnSpc>
              <a:spcAft>
                <a:spcPts val="500"/>
              </a:spcAft>
            </a:pPr>
            <a:r>
              <a:rPr sz="900" b="0" i="0">
                <a:solidFill>
                  <a:srgbClr val="CBD5E1"/>
                </a:solidFill>
                <a:latin typeface="Inter"/>
              </a:rPr>
              <a:t>[4]  Tan &amp; Le (2019). EfficientNet: Rethinking Model Scaling for Convolutional Neural Networks. arXiv preprint. 1905.11946</a:t>
            </a:r>
          </a:p>
          <a:p>
            <a:pPr algn="l">
              <a:lnSpc>
                <a:spcPct val="145000"/>
              </a:lnSpc>
              <a:spcAft>
                <a:spcPts val="500"/>
              </a:spcAft>
            </a:pPr>
            <a:r>
              <a:rPr sz="900" b="0" i="0">
                <a:solidFill>
                  <a:srgbClr val="CBD5E1"/>
                </a:solidFill>
                <a:latin typeface="Inter"/>
              </a:rPr>
              <a:t>[5]  He et al. (2016). Deep Residual Learning for Image Recognition. 2016 IEEE Conference on Computer V. 10.1109/cvpr.2016.90</a:t>
            </a:r>
          </a:p>
          <a:p>
            <a:pPr algn="l">
              <a:lnSpc>
                <a:spcPct val="145000"/>
              </a:lnSpc>
              <a:spcAft>
                <a:spcPts val="500"/>
              </a:spcAft>
            </a:pPr>
            <a:r>
              <a:rPr sz="900" b="0" i="0">
                <a:solidFill>
                  <a:srgbClr val="CBD5E1"/>
                </a:solidFill>
                <a:latin typeface="Inter"/>
              </a:rPr>
              <a:t>[6]  Hu et al. (2018). Squeeze-and-Excitation Networks. 2018 IEEE/CVF Conference on Comput. 10.1109/cvpr.2018.00745</a:t>
            </a:r>
          </a:p>
          <a:p>
            <a:pPr algn="l">
              <a:lnSpc>
                <a:spcPct val="145000"/>
              </a:lnSpc>
              <a:spcAft>
                <a:spcPts val="500"/>
              </a:spcAft>
            </a:pPr>
            <a:r>
              <a:rPr sz="900" b="0" i="0">
                <a:solidFill>
                  <a:srgbClr val="CBD5E1"/>
                </a:solidFill>
                <a:latin typeface="Inter"/>
              </a:rPr>
              <a:t>[7]  Lee et al. (2022). Minimax Approximation of Sign Function by Composite Polynomial for Homomorphic Compa. IEEE Transactions on Dependable an. 10.1109/tdsc.2021.3105111</a:t>
            </a:r>
          </a:p>
        </p:txBody>
      </p:sp>
      <p:sp>
        <p:nvSpPr>
          <p:cNvPr id="11" name="TextBox 10"/>
          <p:cNvSpPr txBox="1"/>
          <p:nvPr/>
        </p:nvSpPr>
        <p:spPr>
          <a:xfrm>
            <a:off x="6365184" y="1627632"/>
            <a:ext cx="5446623" cy="4023360"/>
          </a:xfrm>
          <a:prstGeom prst="rect">
            <a:avLst/>
          </a:prstGeom>
          <a:noFill/>
        </p:spPr>
        <p:txBody>
          <a:bodyPr wrap="square" anchor="t" lIns="0" rIns="0" tIns="0" bIns="0">
            <a:spAutoFit/>
          </a:bodyPr>
          <a:lstStyle/>
          <a:p>
            <a:pPr algn="l">
              <a:lnSpc>
                <a:spcPct val="145000"/>
              </a:lnSpc>
              <a:spcAft>
                <a:spcPts val="500"/>
              </a:spcAft>
            </a:pPr>
            <a:r>
              <a:rPr sz="900" b="0" i="0">
                <a:solidFill>
                  <a:srgbClr val="CBD5E1"/>
                </a:solidFill>
                <a:latin typeface="Inter"/>
              </a:rPr>
              <a:t>[8]  Elkhatib et al. (2025). PRISM: Privacy-preserving Inference System with Homomorphic Encryption and Modular A. arXiv preprint. 2511.07807</a:t>
            </a:r>
          </a:p>
          <a:p>
            <a:pPr algn="l">
              <a:lnSpc>
                <a:spcPct val="145000"/>
              </a:lnSpc>
              <a:spcAft>
                <a:spcPts val="500"/>
              </a:spcAft>
            </a:pPr>
            <a:r>
              <a:rPr sz="900" b="0" i="0">
                <a:solidFill>
                  <a:srgbClr val="CBD5E1"/>
                </a:solidFill>
                <a:latin typeface="Inter"/>
              </a:rPr>
              <a:t>[9]  Selvaraju et al. (2019). Grad-CAM: Visual Explanations from Deep Networks via Gradient-Based Localization. International Journal of Computer . 10.1007/s11263-019-01228-7</a:t>
            </a:r>
          </a:p>
          <a:p>
            <a:pPr algn="l">
              <a:lnSpc>
                <a:spcPct val="145000"/>
              </a:lnSpc>
              <a:spcAft>
                <a:spcPts val="500"/>
              </a:spcAft>
            </a:pPr>
            <a:r>
              <a:rPr sz="900" b="0" i="0">
                <a:solidFill>
                  <a:srgbClr val="CBD5E1"/>
                </a:solidFill>
                <a:latin typeface="Inter"/>
              </a:rPr>
              <a:t>[10]  Zuiderveld (1994). Contrast Limited Adaptive Histogram Equalization. Graphics Gems. 10.1016/b978-0-12-336156-1.50061-6</a:t>
            </a:r>
          </a:p>
          <a:p>
            <a:pPr algn="l">
              <a:lnSpc>
                <a:spcPct val="145000"/>
              </a:lnSpc>
              <a:spcAft>
                <a:spcPts val="500"/>
              </a:spcAft>
            </a:pPr>
            <a:r>
              <a:rPr sz="900" b="0" i="0">
                <a:solidFill>
                  <a:srgbClr val="CBD5E1"/>
                </a:solidFill>
                <a:latin typeface="Inter"/>
              </a:rPr>
              <a:t>[11]  Akiba et al. (2019). Optuna. Proceedings of the 25th ACM SIGKDD. 10.1145/3292500.3330701</a:t>
            </a:r>
          </a:p>
          <a:p>
            <a:pPr algn="l">
              <a:lnSpc>
                <a:spcPct val="145000"/>
              </a:lnSpc>
              <a:spcAft>
                <a:spcPts val="500"/>
              </a:spcAft>
            </a:pPr>
            <a:r>
              <a:rPr sz="900" b="0" i="0">
                <a:solidFill>
                  <a:srgbClr val="CBD5E1"/>
                </a:solidFill>
                <a:latin typeface="Inter"/>
              </a:rPr>
              <a:t>[12]  Paszke et al. (2019). PyTorch: An Imperative Style, High-Performance Deep Learning Library. arXiv preprint. 1912.01703</a:t>
            </a:r>
          </a:p>
          <a:p>
            <a:pPr algn="l">
              <a:lnSpc>
                <a:spcPct val="145000"/>
              </a:lnSpc>
              <a:spcAft>
                <a:spcPts val="500"/>
              </a:spcAft>
            </a:pPr>
            <a:r>
              <a:rPr sz="900" b="0" i="0">
                <a:solidFill>
                  <a:srgbClr val="CBD5E1"/>
                </a:solidFill>
                <a:latin typeface="Inter"/>
              </a:rPr>
              <a:t>[13]  Buslaev et al. (2020). Albumentations: Fast and Flexible Image Augmentations. Information. 10.3390/info11020125</a:t>
            </a:r>
          </a:p>
          <a:p>
            <a:pPr algn="l">
              <a:lnSpc>
                <a:spcPct val="145000"/>
              </a:lnSpc>
              <a:spcAft>
                <a:spcPts val="500"/>
              </a:spcAft>
            </a:pPr>
            <a:r>
              <a:rPr sz="900" b="0" i="0">
                <a:solidFill>
                  <a:srgbClr val="CBD5E1"/>
                </a:solidFill>
                <a:latin typeface="Inter"/>
              </a:rPr>
              <a:t>[14]  Pedregosa et al. (2012). Scikit-learn: Machine Learning in Python. arXiv preprint. 1201.0490</a:t>
            </a:r>
          </a:p>
        </p:txBody>
      </p:sp>
    </p:spTree>
  </p:cSld>
  <p:clrMapOvr>
    <a:masterClrMapping/>
  </p:clrMapOvr>
  <p:transition xmlns:ns0="http://schemas.microsoft.com/office/powerpoint/2010/main" spd="med" ns0:dur="400">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C1322"/>
              </a:gs>
              <a:gs pos="100000">
                <a:srgbClr val="080D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5528" y="1481328"/>
            <a:ext cx="9187434" cy="1005840"/>
          </a:xfrm>
          <a:prstGeom prst="rect">
            <a:avLst/>
          </a:prstGeom>
          <a:noFill/>
        </p:spPr>
        <p:txBody>
          <a:bodyPr wrap="square" anchor="t" lIns="0" rIns="0" tIns="0" bIns="0">
            <a:spAutoFit/>
          </a:bodyPr>
          <a:lstStyle/>
          <a:p>
            <a:pPr algn="l">
              <a:lnSpc>
                <a:spcPct val="118000"/>
              </a:lnSpc>
              <a:spcAft>
                <a:spcPts val="400"/>
              </a:spcAft>
            </a:pPr>
            <a:r>
              <a:rPr sz="6200" b="1" i="0">
                <a:solidFill>
                  <a:srgbClr val="F1F5F9"/>
                </a:solidFill>
                <a:latin typeface="Inter"/>
              </a:rPr>
              <a:t>SAGE-HE</a:t>
            </a:r>
          </a:p>
        </p:txBody>
      </p:sp>
      <p:sp>
        <p:nvSpPr>
          <p:cNvPr id="5" name="Rectangle 4"/>
          <p:cNvSpPr/>
          <p:nvPr/>
        </p:nvSpPr>
        <p:spPr>
          <a:xfrm>
            <a:off x="795528" y="2670048"/>
            <a:ext cx="1371600" cy="32004"/>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907792"/>
            <a:ext cx="8252231" cy="1097280"/>
          </a:xfrm>
          <a:prstGeom prst="rect">
            <a:avLst/>
          </a:prstGeom>
          <a:noFill/>
        </p:spPr>
        <p:txBody>
          <a:bodyPr wrap="square" anchor="t" lIns="0" rIns="0" tIns="0" bIns="0">
            <a:spAutoFit/>
          </a:bodyPr>
          <a:lstStyle/>
          <a:p>
            <a:pPr algn="l">
              <a:lnSpc>
                <a:spcPct val="130000"/>
              </a:lnSpc>
              <a:spcAft>
                <a:spcPts val="400"/>
              </a:spcAft>
            </a:pPr>
            <a:r>
              <a:rPr sz="1900" b="0" i="0">
                <a:solidFill>
                  <a:srgbClr val="CBD5E1"/>
                </a:solidFill>
                <a:latin typeface="Inter"/>
              </a:rPr>
              <a:t>Thank you</a:t>
            </a:r>
          </a:p>
        </p:txBody>
      </p:sp>
      <p:sp>
        <p:nvSpPr>
          <p:cNvPr id="7" name="TextBox 6"/>
          <p:cNvSpPr txBox="1"/>
          <p:nvPr/>
        </p:nvSpPr>
        <p:spPr>
          <a:xfrm>
            <a:off x="795528" y="4407408"/>
            <a:ext cx="7317028" cy="274320"/>
          </a:xfrm>
          <a:prstGeom prst="rect">
            <a:avLst/>
          </a:prstGeom>
          <a:noFill/>
        </p:spPr>
        <p:txBody>
          <a:bodyPr wrap="square" anchor="t" lIns="0" rIns="0" tIns="0" bIns="0">
            <a:spAutoFit/>
          </a:bodyPr>
          <a:lstStyle/>
          <a:p>
            <a:pPr algn="l">
              <a:lnSpc>
                <a:spcPct val="118000"/>
              </a:lnSpc>
              <a:spcAft>
                <a:spcPts val="400"/>
              </a:spcAft>
            </a:pPr>
            <a:r>
              <a:rPr sz="1050" b="1" i="0">
                <a:solidFill>
                  <a:srgbClr val="94A3B8"/>
                </a:solidFill>
                <a:latin typeface="Inter"/>
              </a:rPr>
              <a:t>RESEARCH, ARCHITECTURE &amp; IMPLEMENTATION</a:t>
            </a:r>
          </a:p>
        </p:txBody>
      </p:sp>
      <p:sp>
        <p:nvSpPr>
          <p:cNvPr id="8" name="TextBox 7"/>
          <p:cNvSpPr txBox="1"/>
          <p:nvPr/>
        </p:nvSpPr>
        <p:spPr>
          <a:xfrm>
            <a:off x="795528" y="4718304"/>
            <a:ext cx="7317028" cy="566928"/>
          </a:xfrm>
          <a:prstGeom prst="rect">
            <a:avLst/>
          </a:prstGeom>
          <a:noFill/>
        </p:spPr>
        <p:txBody>
          <a:bodyPr wrap="square" anchor="t" lIns="0" rIns="0" tIns="0" bIns="0">
            <a:spAutoFit/>
          </a:bodyPr>
          <a:lstStyle/>
          <a:p>
            <a:pPr algn="l">
              <a:lnSpc>
                <a:spcPct val="118000"/>
              </a:lnSpc>
              <a:spcAft>
                <a:spcPts val="400"/>
              </a:spcAft>
            </a:pPr>
            <a:r>
              <a:rPr sz="3100" b="1" i="0">
                <a:solidFill>
                  <a:srgbClr val="F1F5F9"/>
                </a:solidFill>
                <a:latin typeface="Inter"/>
              </a:rPr>
              <a:t>SUHAIB S Z</a:t>
            </a:r>
          </a:p>
        </p:txBody>
      </p:sp>
      <p:sp>
        <p:nvSpPr>
          <p:cNvPr id="9" name="TextBox 8"/>
          <p:cNvSpPr txBox="1"/>
          <p:nvPr/>
        </p:nvSpPr>
        <p:spPr>
          <a:xfrm>
            <a:off x="795528" y="6327648"/>
            <a:ext cx="9187434" cy="274320"/>
          </a:xfrm>
          <a:prstGeom prst="rect">
            <a:avLst/>
          </a:prstGeom>
          <a:noFill/>
        </p:spPr>
        <p:txBody>
          <a:bodyPr wrap="square" anchor="t" lIns="0" rIns="0" tIns="0" bIns="0">
            <a:spAutoFit/>
          </a:bodyPr>
          <a:lstStyle/>
          <a:p>
            <a:pPr algn="l">
              <a:lnSpc>
                <a:spcPct val="118000"/>
              </a:lnSpc>
              <a:spcAft>
                <a:spcPts val="400"/>
              </a:spcAft>
            </a:pPr>
            <a:r>
              <a:rPr sz="1050" b="0" i="0">
                <a:solidFill>
                  <a:srgbClr val="94A3B8"/>
                </a:solidFill>
                <a:latin typeface="Inter"/>
              </a:rPr>
              <a:t>Code, data manifests, logs and this deck are reproducible end to end</a:t>
            </a:r>
          </a:p>
        </p:txBody>
      </p:sp>
    </p:spTree>
  </p:cSld>
  <p:clrMapOvr>
    <a:masterClrMapping/>
  </p:clrMapOvr>
  <p:transition xmlns:ns0="http://schemas.microsoft.com/office/powerpoint/2010/main" spd="med" ns0:dur="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350"/>
                                        <p:tgtEl>
                                          <p:spTgt spid="6"/>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350"/>
                                        <p:tgtEl>
                                          <p:spTgt spid="7"/>
                                        </p:tgtEl>
                                      </p:cBhvr>
                                    </p:animEffect>
                                  </p:childTnLst>
                                </p:cTn>
                              </p:par>
                            </p:childTnLst>
                          </p:cTn>
                        </p:par>
                      </p:childTnLst>
                    </p:cTn>
                  </p:par>
                  <p:par>
                    <p:cTn id="18" fill="hold">
                      <p:stCondLst>
                        <p:cond delay="12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