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4.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52.xml" ContentType="application/vnd.openxmlformats-officedocument.presentationml.slide+xml"/>
  <Override PartName="/ppt/slides/slide14.xml" ContentType="application/vnd.openxmlformats-officedocument.presentationml.slide+xml"/>
  <Override PartName="/ppt/slides/slide5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56.xml" ContentType="application/vnd.openxmlformats-officedocument.presentationml.slide+xml"/>
  <Override PartName="/ppt/slides/slide24.xml" ContentType="application/vnd.openxmlformats-officedocument.presentationml.slide+xml"/>
  <Override PartName="/ppt/slides/slide55.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54.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19.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0.xml" ContentType="application/vnd.openxmlformats-officedocument.presentationml.notesSlide+xml"/>
  <Override PartName="/ppt/notesSlides/notesSlide18.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0.xml" ContentType="application/vnd.openxmlformats-officedocument.presentationml.notesSlide+xml"/>
  <Override PartName="/ppt/notesSlides/notesSlide44.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46.xml" ContentType="application/vnd.openxmlformats-officedocument.presentationml.notesSlide+xml"/>
  <Override PartName="/ppt/notesSlides/notesSlide49.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39.xml" ContentType="application/vnd.openxmlformats-officedocument.presentationml.notesSlide+xml"/>
  <Override PartName="/ppt/notesSlides/notesSlide37.xml" ContentType="application/vnd.openxmlformats-officedocument.presentationml.notesSlide+xml"/>
  <Override PartName="/ppt/notesSlides/notesSlide35.xml" ContentType="application/vnd.openxmlformats-officedocument.presentationml.notesSlide+xml"/>
  <Override PartName="/ppt/notesSlides/notesSlide54.xml" ContentType="application/vnd.openxmlformats-officedocument.presentationml.notesSlide+xml"/>
  <Override PartName="/ppt/notesSlides/notesSlide12.xml" ContentType="application/vnd.openxmlformats-officedocument.presentationml.notesSlide+xml"/>
  <Override PartName="/ppt/notesSlides/notesSlide57.xml" ContentType="application/vnd.openxmlformats-officedocument.presentationml.notesSlide+xml"/>
  <Override PartName="/ppt/notesSlides/notesSlide17.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31.xml" ContentType="application/vnd.openxmlformats-officedocument.presentationml.notesSlide+xml"/>
  <Override PartName="/ppt/notesSlides/notesSlide13.xml" ContentType="application/vnd.openxmlformats-officedocument.presentationml.notesSlide+xml"/>
  <Override PartName="/ppt/notesSlides/notesSlide51.xml" ContentType="application/vnd.openxmlformats-officedocument.presentationml.notesSlide+xml"/>
  <Override PartName="/ppt/notesSlides/notesSlide4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4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3C80162-0032-4C65-9DEA-74DA8AF8200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 name="PlaceHolder 1"/>
          <p:cNvSpPr>
            <a:spLocks noGrp="1"/>
          </p:cNvSpPr>
          <p:nvPr>
            <p:ph type="sldImg"/>
          </p:nvPr>
        </p:nvSpPr>
        <p:spPr>
          <a:xfrm>
            <a:off x="1143000" y="685800"/>
            <a:ext cx="4571640" cy="3428640"/>
          </a:xfrm>
          <a:prstGeom prst="rect">
            <a:avLst/>
          </a:prstGeom>
          <a:ln w="0">
            <a:noFill/>
          </a:ln>
        </p:spPr>
      </p:sp>
      <p:sp>
        <p:nvSpPr>
          <p:cNvPr id="111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SAGE-HE is a dual-branch classifier for steel surface defects whose classification head runs under CKKS homomorphic encryption, so a cloud server can classify a factory's inspection data without being able to read it. The work reproduces and audits Jia et al. (2023), Journal of Cloud Computing.</a:t>
            </a:r>
            <a:endParaRPr lang="en-US" sz="2000" b="0" u="none" strike="noStrike">
              <a:solidFill>
                <a:srgbClr val="000000"/>
              </a:solidFill>
              <a:effectLst/>
              <a:uFillTx/>
              <a:latin typeface="Arial"/>
            </a:endParaRPr>
          </a:p>
        </p:txBody>
      </p:sp>
      <p:sp>
        <p:nvSpPr>
          <p:cNvPr id="1117"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66CA634-64B3-486F-8BA9-D9ECAB4248E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 name="PlaceHolder 1"/>
          <p:cNvSpPr>
            <a:spLocks noGrp="1"/>
          </p:cNvSpPr>
          <p:nvPr>
            <p:ph type="sldImg"/>
          </p:nvPr>
        </p:nvSpPr>
        <p:spPr>
          <a:xfrm>
            <a:off x="1143000" y="685800"/>
            <a:ext cx="4571640" cy="3428640"/>
          </a:xfrm>
          <a:prstGeom prst="rect">
            <a:avLst/>
          </a:prstGeom>
          <a:ln w="0">
            <a:noFill/>
          </a:ln>
        </p:spPr>
      </p:sp>
      <p:sp>
        <p:nvSpPr>
          <p:cNvPr id="111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honest headline is twofold: we beat our reproduced baseline clearly, and we could not reproduce the published 97.1% from the paper's own description. Both facts are reported.</a:t>
            </a:r>
            <a:endParaRPr lang="en-US" sz="2000" b="0" u="none" strike="noStrike">
              <a:solidFill>
                <a:srgbClr val="000000"/>
              </a:solidFill>
              <a:effectLst/>
              <a:uFillTx/>
              <a:latin typeface="Arial"/>
            </a:endParaRPr>
          </a:p>
        </p:txBody>
      </p:sp>
      <p:sp>
        <p:nvSpPr>
          <p:cNvPr id="1120"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5B7DB00-1C80-4A8D-AC65-490B5078728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 name="PlaceHolder 1"/>
          <p:cNvSpPr>
            <a:spLocks noGrp="1"/>
          </p:cNvSpPr>
          <p:nvPr>
            <p:ph type="sldImg"/>
          </p:nvPr>
        </p:nvSpPr>
        <p:spPr>
          <a:xfrm>
            <a:off x="1143000" y="685800"/>
            <a:ext cx="4571640" cy="3428640"/>
          </a:xfrm>
          <a:prstGeom prst="rect">
            <a:avLst/>
          </a:prstGeom>
          <a:ln w="0">
            <a:noFill/>
          </a:ln>
        </p:spPr>
      </p:sp>
      <p:sp>
        <p:nvSpPr>
          <p:cNvPr id="112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Frame the problem as an industrial one first. The privacy requirement is not hypothetical: defect statistics are commercially sensitive process data.</a:t>
            </a:r>
            <a:endParaRPr lang="en-US" sz="2000" b="0" u="none" strike="noStrike">
              <a:solidFill>
                <a:srgbClr val="000000"/>
              </a:solidFill>
              <a:effectLst/>
              <a:uFillTx/>
              <a:latin typeface="Arial"/>
            </a:endParaRPr>
          </a:p>
        </p:txBody>
      </p:sp>
      <p:sp>
        <p:nvSpPr>
          <p:cNvPr id="1123"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4864DCB-8D63-4E72-B66B-E2F556E1BB8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 name="PlaceHolder 1"/>
          <p:cNvSpPr>
            <a:spLocks noGrp="1"/>
          </p:cNvSpPr>
          <p:nvPr>
            <p:ph type="sldImg"/>
          </p:nvPr>
        </p:nvSpPr>
        <p:spPr>
          <a:xfrm>
            <a:off x="1143000" y="685800"/>
            <a:ext cx="4571640" cy="3428640"/>
          </a:xfrm>
          <a:prstGeom prst="rect">
            <a:avLst/>
          </a:prstGeom>
          <a:ln w="0">
            <a:noFill/>
          </a:ln>
        </p:spPr>
      </p:sp>
      <p:sp>
        <p:nvSpPr>
          <p:cNvPr id="112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Crazing is a fine crack network; scratches are long thin lines; patches are large blobs. One receptive field cannot serve all three well.</a:t>
            </a:r>
            <a:endParaRPr lang="en-US" sz="2000" b="0" u="none" strike="noStrike">
              <a:solidFill>
                <a:srgbClr val="000000"/>
              </a:solidFill>
              <a:effectLst/>
              <a:uFillTx/>
              <a:latin typeface="Arial"/>
            </a:endParaRPr>
          </a:p>
        </p:txBody>
      </p:sp>
      <p:sp>
        <p:nvSpPr>
          <p:cNvPr id="1126"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B2C6A6A-8E5D-460E-802E-22A1E04A89A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7" name="PlaceHolder 1"/>
          <p:cNvSpPr>
            <a:spLocks noGrp="1"/>
          </p:cNvSpPr>
          <p:nvPr>
            <p:ph type="sldImg"/>
          </p:nvPr>
        </p:nvSpPr>
        <p:spPr>
          <a:xfrm>
            <a:off x="1143000" y="685800"/>
            <a:ext cx="4571640" cy="3428640"/>
          </a:xfrm>
          <a:prstGeom prst="rect">
            <a:avLst/>
          </a:prstGeom>
          <a:ln w="0">
            <a:noFill/>
          </a:ln>
        </p:spPr>
      </p:sp>
      <p:sp>
        <p:nvSpPr>
          <p:cNvPr id="112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Four requirements, each of which maps to a results slide later.</a:t>
            </a:r>
            <a:endParaRPr lang="en-US" sz="2000" b="0" u="none" strike="noStrike">
              <a:solidFill>
                <a:srgbClr val="000000"/>
              </a:solidFill>
              <a:effectLst/>
              <a:uFillTx/>
              <a:latin typeface="Arial"/>
            </a:endParaRPr>
          </a:p>
        </p:txBody>
      </p:sp>
      <p:sp>
        <p:nvSpPr>
          <p:cNvPr id="1129"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BA58DA9-DA65-4AA9-8A92-1A44672F4DC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PlaceHolder 1"/>
          <p:cNvSpPr>
            <a:spLocks noGrp="1"/>
          </p:cNvSpPr>
          <p:nvPr>
            <p:ph type="sldImg"/>
          </p:nvPr>
        </p:nvSpPr>
        <p:spPr>
          <a:xfrm>
            <a:off x="1143000" y="685800"/>
            <a:ext cx="4571640" cy="3428640"/>
          </a:xfrm>
          <a:prstGeom prst="rect">
            <a:avLst/>
          </a:prstGeom>
          <a:ln w="0">
            <a:noFill/>
          </a:ln>
        </p:spPr>
      </p:sp>
      <p:sp>
        <p:nvSpPr>
          <p:cNvPr id="113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These four gaps define the contribution. Note the fourth carefully: it is a methodological criticism, made from the paper's own table.</a:t>
            </a:r>
            <a:endParaRPr lang="en-US" sz="2000" b="0" u="none" strike="noStrike">
              <a:solidFill>
                <a:srgbClr val="000000"/>
              </a:solidFill>
              <a:effectLst/>
              <a:uFillTx/>
              <a:latin typeface="Arial"/>
            </a:endParaRPr>
          </a:p>
        </p:txBody>
      </p:sp>
      <p:sp>
        <p:nvSpPr>
          <p:cNvPr id="1132"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A465ADA-475D-4B6E-9BD6-71689B1813C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PlaceHolder 1"/>
          <p:cNvSpPr>
            <a:spLocks noGrp="1"/>
          </p:cNvSpPr>
          <p:nvPr>
            <p:ph type="sldImg"/>
          </p:nvPr>
        </p:nvSpPr>
        <p:spPr>
          <a:xfrm>
            <a:off x="1143000" y="685800"/>
            <a:ext cx="4571640" cy="3428640"/>
          </a:xfrm>
          <a:prstGeom prst="rect">
            <a:avLst/>
          </a:prstGeom>
          <a:ln w="0">
            <a:noFill/>
          </a:ln>
        </p:spPr>
      </p:sp>
      <p:sp>
        <p:nvSpPr>
          <p:cNvPr id="113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Objective 6 is not boilerplate: the dataset ceiling and the narrowed novelty claim are both consequences of taking it seriously.</a:t>
            </a:r>
            <a:endParaRPr lang="en-US" sz="2000" b="0" u="none" strike="noStrike">
              <a:solidFill>
                <a:srgbClr val="000000"/>
              </a:solidFill>
              <a:effectLst/>
              <a:uFillTx/>
              <a:latin typeface="Arial"/>
            </a:endParaRPr>
          </a:p>
        </p:txBody>
      </p:sp>
      <p:sp>
        <p:nvSpPr>
          <p:cNvPr id="1135"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319A53E-6C68-475B-8A1A-F3D9362D75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6" name="PlaceHolder 1"/>
          <p:cNvSpPr>
            <a:spLocks noGrp="1"/>
          </p:cNvSpPr>
          <p:nvPr>
            <p:ph type="sldImg"/>
          </p:nvPr>
        </p:nvSpPr>
        <p:spPr>
          <a:xfrm>
            <a:off x="1143000" y="685800"/>
            <a:ext cx="4571640" cy="3428640"/>
          </a:xfrm>
          <a:prstGeom prst="rect">
            <a:avLst/>
          </a:prstGeom>
          <a:ln w="0">
            <a:noFill/>
          </a:ln>
        </p:spPr>
      </p:sp>
      <p:sp>
        <p:nvSpPr>
          <p:cNvPr id="113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mirror we used carries bare integer labels. The class-index mapping was resolved independently by visual inspection and corroborated by per-class texture statistics — it was not taken on faith.</a:t>
            </a:r>
            <a:endParaRPr lang="en-US" sz="2000" b="0" u="none" strike="noStrike">
              <a:solidFill>
                <a:srgbClr val="000000"/>
              </a:solidFill>
              <a:effectLst/>
              <a:uFillTx/>
              <a:latin typeface="Arial"/>
            </a:endParaRPr>
          </a:p>
        </p:txBody>
      </p:sp>
      <p:sp>
        <p:nvSpPr>
          <p:cNvPr id="1138"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EC1EAED-45F5-420E-AAFA-372E53394AF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9" name="PlaceHolder 1"/>
          <p:cNvSpPr>
            <a:spLocks noGrp="1"/>
          </p:cNvSpPr>
          <p:nvPr>
            <p:ph type="sldImg"/>
          </p:nvPr>
        </p:nvSpPr>
        <p:spPr>
          <a:xfrm>
            <a:off x="1143000" y="685800"/>
            <a:ext cx="4571640" cy="3428640"/>
          </a:xfrm>
          <a:prstGeom prst="rect">
            <a:avLst/>
          </a:prstGeom>
          <a:ln w="0">
            <a:noFill/>
          </a:ln>
        </p:spPr>
      </p:sp>
      <p:sp>
        <p:nvSpPr>
          <p:cNvPr id="114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exists because the first similarity analysis looked alarming — 30 test images with a 0.95+ training match. The high-pass control showed it was an illumination artefact. Reporting the resolution is part of the honesty.</a:t>
            </a:r>
            <a:endParaRPr lang="en-US" sz="2000" b="0" u="none" strike="noStrike">
              <a:solidFill>
                <a:srgbClr val="000000"/>
              </a:solidFill>
              <a:effectLst/>
              <a:uFillTx/>
              <a:latin typeface="Arial"/>
            </a:endParaRPr>
          </a:p>
        </p:txBody>
      </p:sp>
      <p:sp>
        <p:nvSpPr>
          <p:cNvPr id="1141"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CCCE2E-F0CF-4577-B4E9-2E6C0876017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2" name="PlaceHolder 1"/>
          <p:cNvSpPr>
            <a:spLocks noGrp="1"/>
          </p:cNvSpPr>
          <p:nvPr>
            <p:ph type="sldImg"/>
          </p:nvPr>
        </p:nvSpPr>
        <p:spPr>
          <a:xfrm>
            <a:off x="1143000" y="685800"/>
            <a:ext cx="4571640" cy="3428640"/>
          </a:xfrm>
          <a:prstGeom prst="rect">
            <a:avLst/>
          </a:prstGeom>
          <a:ln w="0">
            <a:noFill/>
          </a:ln>
        </p:spPr>
      </p:sp>
      <p:sp>
        <p:nvSpPr>
          <p:cNvPr id="114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recent SSRN preprint reports CKKS inference on NEU-CLS at 99.26%. It is closer prior art than anything here, but it is unrefereed and we could not verify its metadata, so no claim rests on it. It is disclosed in the report.</a:t>
            </a:r>
            <a:endParaRPr lang="en-US" sz="2000" b="0" u="none" strike="noStrike">
              <a:solidFill>
                <a:srgbClr val="000000"/>
              </a:solidFill>
              <a:effectLst/>
              <a:uFillTx/>
              <a:latin typeface="Arial"/>
            </a:endParaRPr>
          </a:p>
        </p:txBody>
      </p:sp>
      <p:sp>
        <p:nvSpPr>
          <p:cNvPr id="1144"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6D00E7F-D742-41DE-AB31-4E6B72B2617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5" name="PlaceHolder 1"/>
          <p:cNvSpPr>
            <a:spLocks noGrp="1"/>
          </p:cNvSpPr>
          <p:nvPr>
            <p:ph type="sldImg"/>
          </p:nvPr>
        </p:nvSpPr>
        <p:spPr>
          <a:xfrm>
            <a:off x="1143000" y="685800"/>
            <a:ext cx="4571640" cy="3428640"/>
          </a:xfrm>
          <a:prstGeom prst="rect">
            <a:avLst/>
          </a:prstGeom>
          <a:ln w="0">
            <a:noFill/>
          </a:ln>
        </p:spPr>
      </p:sp>
      <p:sp>
        <p:nvSpPr>
          <p:cNvPr id="114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If a reviewer takes one methodological point from this deck, it should be this one.</a:t>
            </a:r>
            <a:endParaRPr lang="en-US" sz="2000" b="0" u="none" strike="noStrike">
              <a:solidFill>
                <a:srgbClr val="000000"/>
              </a:solidFill>
              <a:effectLst/>
              <a:uFillTx/>
              <a:latin typeface="Arial"/>
            </a:endParaRPr>
          </a:p>
        </p:txBody>
      </p:sp>
      <p:sp>
        <p:nvSpPr>
          <p:cNvPr id="1147"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F2A2A2E-3565-492F-A25D-965709FA70B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8" name="PlaceHolder 1"/>
          <p:cNvSpPr>
            <a:spLocks noGrp="1"/>
          </p:cNvSpPr>
          <p:nvPr>
            <p:ph type="sldImg"/>
          </p:nvPr>
        </p:nvSpPr>
        <p:spPr>
          <a:xfrm>
            <a:off x="1143000" y="685800"/>
            <a:ext cx="4571640" cy="3428640"/>
          </a:xfrm>
          <a:prstGeom prst="rect">
            <a:avLst/>
          </a:prstGeom>
          <a:ln w="0">
            <a:noFill/>
          </a:ln>
        </p:spPr>
      </p:sp>
      <p:sp>
        <p:nvSpPr>
          <p:cNvPr id="114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Read directly from the open-access full text and its tables, not from a summary.</a:t>
            </a:r>
            <a:endParaRPr lang="en-US" sz="2000" b="0" u="none" strike="noStrike">
              <a:solidFill>
                <a:srgbClr val="000000"/>
              </a:solidFill>
              <a:effectLst/>
              <a:uFillTx/>
              <a:latin typeface="Arial"/>
            </a:endParaRPr>
          </a:p>
        </p:txBody>
      </p:sp>
      <p:sp>
        <p:nvSpPr>
          <p:cNvPr id="1150"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D69B0D4-8E45-449A-9F64-B065338C025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1" name="PlaceHolder 1"/>
          <p:cNvSpPr>
            <a:spLocks noGrp="1"/>
          </p:cNvSpPr>
          <p:nvPr>
            <p:ph type="sldImg"/>
          </p:nvPr>
        </p:nvSpPr>
        <p:spPr>
          <a:xfrm>
            <a:off x="1143000" y="685800"/>
            <a:ext cx="4571640" cy="3428640"/>
          </a:xfrm>
          <a:prstGeom prst="rect">
            <a:avLst/>
          </a:prstGeom>
          <a:ln w="0">
            <a:noFill/>
          </a:ln>
        </p:spPr>
      </p:sp>
      <p:sp>
        <p:nvSpPr>
          <p:cNvPr id="115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Our reproduction had to choose a channel count and a pooling route to the stated 256-unit FC input, because neither is given. Both choices are documented.</a:t>
            </a:r>
            <a:endParaRPr lang="en-US" sz="2000" b="0" u="none" strike="noStrike">
              <a:solidFill>
                <a:srgbClr val="000000"/>
              </a:solidFill>
              <a:effectLst/>
              <a:uFillTx/>
              <a:latin typeface="Arial"/>
            </a:endParaRPr>
          </a:p>
        </p:txBody>
      </p:sp>
      <p:sp>
        <p:nvSpPr>
          <p:cNvPr id="1153"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8C37638-DB61-477F-BA5F-1B5CEF0C518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4" name="PlaceHolder 1"/>
          <p:cNvSpPr>
            <a:spLocks noGrp="1"/>
          </p:cNvSpPr>
          <p:nvPr>
            <p:ph type="sldImg"/>
          </p:nvPr>
        </p:nvSpPr>
        <p:spPr>
          <a:xfrm>
            <a:off x="1143000" y="685800"/>
            <a:ext cx="4571640" cy="3428640"/>
          </a:xfrm>
          <a:prstGeom prst="rect">
            <a:avLst/>
          </a:prstGeom>
          <a:ln w="0">
            <a:noFill/>
          </a:ln>
        </p:spPr>
      </p:sp>
      <p:sp>
        <p:nvSpPr>
          <p:cNvPr id="115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last one is the most serious: an approximate scheme cannot add information. It suggests the plaintext and encrypted numbers came from different protocols.</a:t>
            </a:r>
            <a:endParaRPr lang="en-US" sz="2000" b="0" u="none" strike="noStrike">
              <a:solidFill>
                <a:srgbClr val="000000"/>
              </a:solidFill>
              <a:effectLst/>
              <a:uFillTx/>
              <a:latin typeface="Arial"/>
            </a:endParaRPr>
          </a:p>
        </p:txBody>
      </p:sp>
      <p:sp>
        <p:nvSpPr>
          <p:cNvPr id="1156"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C96ED90-08DF-451A-8382-D08DCFFD9B3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7" name="PlaceHolder 1"/>
          <p:cNvSpPr>
            <a:spLocks noGrp="1"/>
          </p:cNvSpPr>
          <p:nvPr>
            <p:ph type="sldImg"/>
          </p:nvPr>
        </p:nvSpPr>
        <p:spPr>
          <a:xfrm>
            <a:off x="1143000" y="685800"/>
            <a:ext cx="4571640" cy="3428640"/>
          </a:xfrm>
          <a:prstGeom prst="rect">
            <a:avLst/>
          </a:prstGeom>
          <a:ln w="0">
            <a:noFill/>
          </a:ln>
        </p:spPr>
      </p:sp>
      <p:sp>
        <p:nvSpPr>
          <p:cNvPr id="115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Section divider.</a:t>
            </a:r>
            <a:endParaRPr lang="en-US" sz="2000" b="0" u="none" strike="noStrike">
              <a:solidFill>
                <a:srgbClr val="000000"/>
              </a:solidFill>
              <a:effectLst/>
              <a:uFillTx/>
              <a:latin typeface="Arial"/>
            </a:endParaRPr>
          </a:p>
        </p:txBody>
      </p:sp>
      <p:sp>
        <p:nvSpPr>
          <p:cNvPr id="1159"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DF6F207-2D9D-4FAE-A46D-0BF54B0E5F9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0" name="PlaceHolder 1"/>
          <p:cNvSpPr>
            <a:spLocks noGrp="1"/>
          </p:cNvSpPr>
          <p:nvPr>
            <p:ph type="sldImg"/>
          </p:nvPr>
        </p:nvSpPr>
        <p:spPr>
          <a:xfrm>
            <a:off x="1143000" y="685800"/>
            <a:ext cx="4571640" cy="3428640"/>
          </a:xfrm>
          <a:prstGeom prst="rect">
            <a:avLst/>
          </a:prstGeom>
          <a:ln w="0">
            <a:noFill/>
          </a:ln>
        </p:spPr>
      </p:sp>
      <p:sp>
        <p:nvSpPr>
          <p:cNvPr id="116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Each row of this table maps to a component slide and to an ablation stage. Flagging the outcome here keeps the middle of the deck from reading as a set of claims that were never tested.</a:t>
            </a:r>
            <a:endParaRPr lang="en-US" sz="2000" b="0" u="none" strike="noStrike">
              <a:solidFill>
                <a:srgbClr val="000000"/>
              </a:solidFill>
              <a:effectLst/>
              <a:uFillTx/>
              <a:latin typeface="Arial"/>
            </a:endParaRPr>
          </a:p>
        </p:txBody>
      </p:sp>
      <p:sp>
        <p:nvSpPr>
          <p:cNvPr id="1162"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653E5D3-24D7-4320-8EF3-94DBB699E9D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3" name="PlaceHolder 1"/>
          <p:cNvSpPr>
            <a:spLocks noGrp="1"/>
          </p:cNvSpPr>
          <p:nvPr>
            <p:ph type="sldImg"/>
          </p:nvPr>
        </p:nvSpPr>
        <p:spPr>
          <a:xfrm>
            <a:off x="1143000" y="685800"/>
            <a:ext cx="4571640" cy="3428640"/>
          </a:xfrm>
          <a:prstGeom prst="rect">
            <a:avLst/>
          </a:prstGeom>
          <a:ln w="0">
            <a:noFill/>
          </a:ln>
        </p:spPr>
      </p:sp>
      <p:sp>
        <p:nvSpPr>
          <p:cNvPr id="116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'trained as deployed' point matters: plaintext and encrypted models are the same function up to CKKS approximation error, which the results confirm.</a:t>
            </a:r>
            <a:endParaRPr lang="en-US" sz="2000" b="0" u="none" strike="noStrike">
              <a:solidFill>
                <a:srgbClr val="000000"/>
              </a:solidFill>
              <a:effectLst/>
              <a:uFillTx/>
              <a:latin typeface="Arial"/>
            </a:endParaRPr>
          </a:p>
        </p:txBody>
      </p:sp>
      <p:sp>
        <p:nvSpPr>
          <p:cNvPr id="1165"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217EE05-B6E3-4E40-9986-3D71161D693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6" name="PlaceHolder 1"/>
          <p:cNvSpPr>
            <a:spLocks noGrp="1"/>
          </p:cNvSpPr>
          <p:nvPr>
            <p:ph type="sldImg"/>
          </p:nvPr>
        </p:nvSpPr>
        <p:spPr>
          <a:xfrm>
            <a:off x="1143000" y="685800"/>
            <a:ext cx="4571640" cy="3428640"/>
          </a:xfrm>
          <a:prstGeom prst="rect">
            <a:avLst/>
          </a:prstGeom>
          <a:ln w="0">
            <a:noFill/>
          </a:ln>
        </p:spPr>
      </p:sp>
      <p:sp>
        <p:nvSpPr>
          <p:cNvPr id="116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Being specific about what is not novel is what makes the remaining claim credible — and the proposed architecture did not survive its own ablation.</a:t>
            </a:r>
            <a:endParaRPr lang="en-US" sz="2000" b="0" u="none" strike="noStrike">
              <a:solidFill>
                <a:srgbClr val="000000"/>
              </a:solidFill>
              <a:effectLst/>
              <a:uFillTx/>
              <a:latin typeface="Arial"/>
            </a:endParaRPr>
          </a:p>
        </p:txBody>
      </p:sp>
      <p:sp>
        <p:nvSpPr>
          <p:cNvPr id="1168"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8AE9EEE-65C1-48C9-891A-28E377A9259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9" name="PlaceHolder 1"/>
          <p:cNvSpPr>
            <a:spLocks noGrp="1"/>
          </p:cNvSpPr>
          <p:nvPr>
            <p:ph type="sldImg"/>
          </p:nvPr>
        </p:nvSpPr>
        <p:spPr>
          <a:xfrm>
            <a:off x="1143000" y="685800"/>
            <a:ext cx="4571640" cy="3428640"/>
          </a:xfrm>
          <a:prstGeom prst="rect">
            <a:avLst/>
          </a:prstGeom>
          <a:ln w="0">
            <a:noFill/>
          </a:ln>
        </p:spPr>
      </p:sp>
      <p:sp>
        <p:nvSpPr>
          <p:cNvPr id="117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Everything left of the purple boundary is plaintext on the client. Only the 64-d vector crosses. The server evaluates three multiplications and returns six encrypted logits.</a:t>
            </a:r>
            <a:endParaRPr lang="en-US" sz="2000" b="0" u="none" strike="noStrike">
              <a:solidFill>
                <a:srgbClr val="000000"/>
              </a:solidFill>
              <a:effectLst/>
              <a:uFillTx/>
              <a:latin typeface="Arial"/>
            </a:endParaRPr>
          </a:p>
        </p:txBody>
      </p:sp>
      <p:sp>
        <p:nvSpPr>
          <p:cNvPr id="1171"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3F66DFC-A8F6-4C34-8617-817FCE93DF7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2" name="PlaceHolder 1"/>
          <p:cNvSpPr>
            <a:spLocks noGrp="1"/>
          </p:cNvSpPr>
          <p:nvPr>
            <p:ph type="sldImg"/>
          </p:nvPr>
        </p:nvSpPr>
        <p:spPr>
          <a:xfrm>
            <a:off x="1143000" y="685800"/>
            <a:ext cx="4571640" cy="3428640"/>
          </a:xfrm>
          <a:prstGeom prst="rect">
            <a:avLst/>
          </a:prstGeom>
          <a:ln w="0">
            <a:noFill/>
          </a:ln>
        </p:spPr>
      </p:sp>
      <p:sp>
        <p:nvSpPr>
          <p:cNvPr id="11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hypothesis was that global equalisation crushes the low-contrast crazing texture while CLAHE preserves it. The design study does not support it: no contrast enhancement at all scores highest.</a:t>
            </a:r>
            <a:endParaRPr lang="en-US" sz="2000" b="0" u="none" strike="noStrike">
              <a:solidFill>
                <a:srgbClr val="000000"/>
              </a:solidFill>
              <a:effectLst/>
              <a:uFillTx/>
              <a:latin typeface="Arial"/>
            </a:endParaRPr>
          </a:p>
        </p:txBody>
      </p:sp>
      <p:sp>
        <p:nvSpPr>
          <p:cNvPr id="1174"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B423EC-6CFE-4CC7-AFF1-2AA8936C261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5" name="PlaceHolder 1"/>
          <p:cNvSpPr>
            <a:spLocks noGrp="1"/>
          </p:cNvSpPr>
          <p:nvPr>
            <p:ph type="sldImg"/>
          </p:nvPr>
        </p:nvSpPr>
        <p:spPr>
          <a:xfrm>
            <a:off x="1143000" y="685800"/>
            <a:ext cx="4571640" cy="3428640"/>
          </a:xfrm>
          <a:prstGeom prst="rect">
            <a:avLst/>
          </a:prstGeom>
          <a:ln w="0">
            <a:noFill/>
          </a:ln>
        </p:spPr>
      </p:sp>
      <p:sp>
        <p:nvSpPr>
          <p:cNvPr id="11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Global equalisation applies one intensity mapping to the whole frame and flattens the fine crazing texture; CLAHE equalises locally and preserves it. The choice is ablated in the design study, not asserted here.</a:t>
            </a:r>
            <a:endParaRPr lang="en-US" sz="2000" b="0" u="none" strike="noStrike">
              <a:solidFill>
                <a:srgbClr val="000000"/>
              </a:solidFill>
              <a:effectLst/>
              <a:uFillTx/>
              <a:latin typeface="Arial"/>
            </a:endParaRPr>
          </a:p>
        </p:txBody>
      </p:sp>
      <p:sp>
        <p:nvSpPr>
          <p:cNvPr id="1177"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50F727-FA25-4D0C-8EB4-0E8F810CF92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8" name="PlaceHolder 1"/>
          <p:cNvSpPr>
            <a:spLocks noGrp="1"/>
          </p:cNvSpPr>
          <p:nvPr>
            <p:ph type="sldImg"/>
          </p:nvPr>
        </p:nvSpPr>
        <p:spPr>
          <a:xfrm>
            <a:off x="1143000" y="685800"/>
            <a:ext cx="4571640" cy="3428640"/>
          </a:xfrm>
          <a:prstGeom prst="rect">
            <a:avLst/>
          </a:prstGeom>
          <a:ln w="0">
            <a:noFill/>
          </a:ln>
        </p:spPr>
      </p:sp>
      <p:sp>
        <p:nvSpPr>
          <p:cNvPr id="11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encrypted head is only ~2.3k parameters — that is what makes homomorphic evaluation affordable at all.</a:t>
            </a:r>
            <a:endParaRPr lang="en-US" sz="2000" b="0" u="none" strike="noStrike">
              <a:solidFill>
                <a:srgbClr val="000000"/>
              </a:solidFill>
              <a:effectLst/>
              <a:uFillTx/>
              <a:latin typeface="Arial"/>
            </a:endParaRPr>
          </a:p>
        </p:txBody>
      </p:sp>
      <p:sp>
        <p:nvSpPr>
          <p:cNvPr id="1180"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1EB129E-D887-436E-ABA5-D739E786EEF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1" name="PlaceHolder 1"/>
          <p:cNvSpPr>
            <a:spLocks noGrp="1"/>
          </p:cNvSpPr>
          <p:nvPr>
            <p:ph type="sldImg"/>
          </p:nvPr>
        </p:nvSpPr>
        <p:spPr>
          <a:xfrm>
            <a:off x="1143000" y="685800"/>
            <a:ext cx="4571640" cy="3428640"/>
          </a:xfrm>
          <a:prstGeom prst="rect">
            <a:avLst/>
          </a:prstGeom>
          <a:ln w="0">
            <a:noFill/>
          </a:ln>
        </p:spPr>
      </p:sp>
      <p:sp>
        <p:nvSpPr>
          <p:cNvPr id="11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Dilated 3×3 gives a 5×5 receptive field at 3×3 cost — the branch has to be cheap because it runs alongside EfficientNet.</a:t>
            </a:r>
            <a:endParaRPr lang="en-US" sz="2000" b="0" u="none" strike="noStrike">
              <a:solidFill>
                <a:srgbClr val="000000"/>
              </a:solidFill>
              <a:effectLst/>
              <a:uFillTx/>
              <a:latin typeface="Arial"/>
            </a:endParaRPr>
          </a:p>
        </p:txBody>
      </p:sp>
      <p:sp>
        <p:nvSpPr>
          <p:cNvPr id="1183" name="PlaceHolder 3"/>
          <p:cNvSpPr>
            <a:spLocks noGrp="1"/>
          </p:cNvSpPr>
          <p:nvPr>
            <p:ph type="sldNum" idx="5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61A1306-7A86-4147-989D-F1151955C4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4" name="PlaceHolder 1"/>
          <p:cNvSpPr>
            <a:spLocks noGrp="1"/>
          </p:cNvSpPr>
          <p:nvPr>
            <p:ph type="sldImg"/>
          </p:nvPr>
        </p:nvSpPr>
        <p:spPr>
          <a:xfrm>
            <a:off x="1143000" y="685800"/>
            <a:ext cx="4571640" cy="3428640"/>
          </a:xfrm>
          <a:prstGeom prst="rect">
            <a:avLst/>
          </a:prstGeom>
          <a:ln w="0">
            <a:noFill/>
          </a:ln>
        </p:spPr>
      </p:sp>
      <p:sp>
        <p:nvSpPr>
          <p:cNvPr id="11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λ was meant to be the headline readout. It is not — see the ablation; the with/without-Sobel control is what actually answers this, and it is negative.</a:t>
            </a:r>
            <a:endParaRPr lang="en-US" sz="2000" b="0" u="none" strike="noStrike">
              <a:solidFill>
                <a:srgbClr val="000000"/>
              </a:solidFill>
              <a:effectLst/>
              <a:uFillTx/>
              <a:latin typeface="Arial"/>
            </a:endParaRPr>
          </a:p>
        </p:txBody>
      </p:sp>
      <p:sp>
        <p:nvSpPr>
          <p:cNvPr id="1186" name="PlaceHolder 3"/>
          <p:cNvSpPr>
            <a:spLocks noGrp="1"/>
          </p:cNvSpPr>
          <p:nvPr>
            <p:ph type="sldNum" idx="6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D147D25-FA05-44C3-8739-94504B077E1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7" name="PlaceHolder 1"/>
          <p:cNvSpPr>
            <a:spLocks noGrp="1"/>
          </p:cNvSpPr>
          <p:nvPr>
            <p:ph type="sldImg"/>
          </p:nvPr>
        </p:nvSpPr>
        <p:spPr>
          <a:xfrm>
            <a:off x="1143000" y="685800"/>
            <a:ext cx="4571640" cy="3428640"/>
          </a:xfrm>
          <a:prstGeom prst="rect">
            <a:avLst/>
          </a:prstGeom>
          <a:ln w="0">
            <a:noFill/>
          </a:ln>
        </p:spPr>
      </p:sp>
      <p:sp>
        <p:nvSpPr>
          <p:cNvPr id="11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chunk receives gradient, so selection is trained jointly with the classifier.</a:t>
            </a:r>
            <a:endParaRPr lang="en-US" sz="2000" b="0" u="none" strike="noStrike">
              <a:solidFill>
                <a:srgbClr val="000000"/>
              </a:solidFill>
              <a:effectLst/>
              <a:uFillTx/>
              <a:latin typeface="Arial"/>
            </a:endParaRPr>
          </a:p>
        </p:txBody>
      </p:sp>
      <p:sp>
        <p:nvSpPr>
          <p:cNvPr id="1189" name="PlaceHolder 3"/>
          <p:cNvSpPr>
            <a:spLocks noGrp="1"/>
          </p:cNvSpPr>
          <p:nvPr>
            <p:ph type="sldNum" idx="6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514474A-332C-4BAC-93AB-CF2A51C3A73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0" name="PlaceHolder 1"/>
          <p:cNvSpPr>
            <a:spLocks noGrp="1"/>
          </p:cNvSpPr>
          <p:nvPr>
            <p:ph type="sldImg"/>
          </p:nvPr>
        </p:nvSpPr>
        <p:spPr>
          <a:xfrm>
            <a:off x="1143000" y="685800"/>
            <a:ext cx="4571640" cy="3428640"/>
          </a:xfrm>
          <a:prstGeom prst="rect">
            <a:avLst/>
          </a:prstGeom>
          <a:ln w="0">
            <a:noFill/>
          </a:ln>
        </p:spPr>
      </p:sp>
      <p:sp>
        <p:nvSpPr>
          <p:cNvPr id="11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model can take some dimensions from the global branch and others from the local one.</a:t>
            </a:r>
            <a:endParaRPr lang="en-US" sz="2000" b="0" u="none" strike="noStrike">
              <a:solidFill>
                <a:srgbClr val="000000"/>
              </a:solidFill>
              <a:effectLst/>
              <a:uFillTx/>
              <a:latin typeface="Arial"/>
            </a:endParaRPr>
          </a:p>
        </p:txBody>
      </p:sp>
      <p:sp>
        <p:nvSpPr>
          <p:cNvPr id="1192" name="PlaceHolder 3"/>
          <p:cNvSpPr>
            <a:spLocks noGrp="1"/>
          </p:cNvSpPr>
          <p:nvPr>
            <p:ph type="sldNum" idx="6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926A33E-9AAF-4845-819E-066D13692B0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3" name="PlaceHolder 1"/>
          <p:cNvSpPr>
            <a:spLocks noGrp="1"/>
          </p:cNvSpPr>
          <p:nvPr>
            <p:ph type="sldImg"/>
          </p:nvPr>
        </p:nvSpPr>
        <p:spPr>
          <a:xfrm>
            <a:off x="1143000" y="685800"/>
            <a:ext cx="4571640" cy="3428640"/>
          </a:xfrm>
          <a:prstGeom prst="rect">
            <a:avLst/>
          </a:prstGeom>
          <a:ln w="0">
            <a:noFill/>
          </a:ln>
        </p:spPr>
      </p:sp>
      <p:sp>
        <p:nvSpPr>
          <p:cNvPr id="11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tanh matters numerically: square() doubles the exponent of its input.</a:t>
            </a:r>
            <a:endParaRPr lang="en-US" sz="2000" b="0" u="none" strike="noStrike">
              <a:solidFill>
                <a:srgbClr val="000000"/>
              </a:solidFill>
              <a:effectLst/>
              <a:uFillTx/>
              <a:latin typeface="Arial"/>
            </a:endParaRPr>
          </a:p>
        </p:txBody>
      </p:sp>
      <p:sp>
        <p:nvSpPr>
          <p:cNvPr id="1195" name="PlaceHolder 3"/>
          <p:cNvSpPr>
            <a:spLocks noGrp="1"/>
          </p:cNvSpPr>
          <p:nvPr>
            <p:ph type="sldNum" idx="6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6D11DC0-666E-4CE9-A818-4C42F51D47D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6" name="PlaceHolder 1"/>
          <p:cNvSpPr>
            <a:spLocks noGrp="1"/>
          </p:cNvSpPr>
          <p:nvPr>
            <p:ph type="sldImg"/>
          </p:nvPr>
        </p:nvSpPr>
        <p:spPr>
          <a:xfrm>
            <a:off x="1143000" y="685800"/>
            <a:ext cx="4571640" cy="3428640"/>
          </a:xfrm>
          <a:prstGeom prst="rect">
            <a:avLst/>
          </a:prstGeom>
          <a:ln w="0">
            <a:noFill/>
          </a:ln>
        </p:spPr>
      </p:sp>
      <p:sp>
        <p:nvSpPr>
          <p:cNvPr id="11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240 modulus bits at n=16384, against a 438-bit budget for 128-bit security.</a:t>
            </a:r>
            <a:endParaRPr lang="en-US" sz="2000" b="0" u="none" strike="noStrike">
              <a:solidFill>
                <a:srgbClr val="000000"/>
              </a:solidFill>
              <a:effectLst/>
              <a:uFillTx/>
              <a:latin typeface="Arial"/>
            </a:endParaRPr>
          </a:p>
        </p:txBody>
      </p:sp>
      <p:sp>
        <p:nvSpPr>
          <p:cNvPr id="1198" name="PlaceHolder 3"/>
          <p:cNvSpPr>
            <a:spLocks noGrp="1"/>
          </p:cNvSpPr>
          <p:nvPr>
            <p:ph type="sldNum" idx="6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EA89404-F1B9-48BE-9343-6064B8D903F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9" name="PlaceHolder 1"/>
          <p:cNvSpPr>
            <a:spLocks noGrp="1"/>
          </p:cNvSpPr>
          <p:nvPr>
            <p:ph type="sldImg"/>
          </p:nvPr>
        </p:nvSpPr>
        <p:spPr>
          <a:xfrm>
            <a:off x="1143000" y="685800"/>
            <a:ext cx="4571640" cy="3428640"/>
          </a:xfrm>
          <a:prstGeom prst="rect">
            <a:avLst/>
          </a:prstGeom>
          <a:ln w="0">
            <a:noFill/>
          </a:ln>
        </p:spPr>
      </p:sp>
      <p:sp>
        <p:nvSpPr>
          <p:cNvPr id="12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server holds a public-only context. Our tests assert it cannot decrypt.</a:t>
            </a:r>
            <a:endParaRPr lang="en-US" sz="2000" b="0" u="none" strike="noStrike">
              <a:solidFill>
                <a:srgbClr val="000000"/>
              </a:solidFill>
              <a:effectLst/>
              <a:uFillTx/>
              <a:latin typeface="Arial"/>
            </a:endParaRPr>
          </a:p>
        </p:txBody>
      </p:sp>
      <p:sp>
        <p:nvSpPr>
          <p:cNvPr id="1201" name="PlaceHolder 3"/>
          <p:cNvSpPr>
            <a:spLocks noGrp="1"/>
          </p:cNvSpPr>
          <p:nvPr>
            <p:ph type="sldNum" idx="6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91E89CF-B499-4C2E-92DD-7E17542F60A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2" name="PlaceHolder 1"/>
          <p:cNvSpPr>
            <a:spLocks noGrp="1"/>
          </p:cNvSpPr>
          <p:nvPr>
            <p:ph type="sldImg"/>
          </p:nvPr>
        </p:nvSpPr>
        <p:spPr>
          <a:xfrm>
            <a:off x="1143000" y="685800"/>
            <a:ext cx="4571640" cy="3428640"/>
          </a:xfrm>
          <a:prstGeom prst="rect">
            <a:avLst/>
          </a:prstGeom>
          <a:ln w="0">
            <a:noFill/>
          </a:ln>
        </p:spPr>
      </p:sp>
      <p:sp>
        <p:nvSpPr>
          <p:cNvPr id="12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loss tiebreak is a small detail with a real effect: without it, 'best' means 'first epoch to reach F1 1.0', which is noise.</a:t>
            </a:r>
            <a:endParaRPr lang="en-US" sz="2000" b="0" u="none" strike="noStrike">
              <a:solidFill>
                <a:srgbClr val="000000"/>
              </a:solidFill>
              <a:effectLst/>
              <a:uFillTx/>
              <a:latin typeface="Arial"/>
            </a:endParaRPr>
          </a:p>
        </p:txBody>
      </p:sp>
      <p:sp>
        <p:nvSpPr>
          <p:cNvPr id="1204" name="PlaceHolder 3"/>
          <p:cNvSpPr>
            <a:spLocks noGrp="1"/>
          </p:cNvSpPr>
          <p:nvPr>
            <p:ph type="sldNum" idx="6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691F3B-D5E0-4A13-82B0-E6FC81EAFD9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5" name="PlaceHolder 1"/>
          <p:cNvSpPr>
            <a:spLocks noGrp="1"/>
          </p:cNvSpPr>
          <p:nvPr>
            <p:ph type="sldImg"/>
          </p:nvPr>
        </p:nvSpPr>
        <p:spPr>
          <a:xfrm>
            <a:off x="1143000" y="685800"/>
            <a:ext cx="4571640" cy="3428640"/>
          </a:xfrm>
          <a:prstGeom prst="rect">
            <a:avLst/>
          </a:prstGeom>
          <a:ln w="0">
            <a:noFill/>
          </a:ln>
        </p:spPr>
      </p:sp>
      <p:sp>
        <p:nvSpPr>
          <p:cNvPr id="12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Being explicit that these are CPU timings is important for interpreting the encrypted-inference latency.</a:t>
            </a:r>
            <a:endParaRPr lang="en-US" sz="2000" b="0" u="none" strike="noStrike">
              <a:solidFill>
                <a:srgbClr val="000000"/>
              </a:solidFill>
              <a:effectLst/>
              <a:uFillTx/>
              <a:latin typeface="Arial"/>
            </a:endParaRPr>
          </a:p>
        </p:txBody>
      </p:sp>
      <p:sp>
        <p:nvSpPr>
          <p:cNvPr id="1207" name="PlaceHolder 3"/>
          <p:cNvSpPr>
            <a:spLocks noGrp="1"/>
          </p:cNvSpPr>
          <p:nvPr>
            <p:ph type="sldNum" idx="6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59E2F7-E3AB-4FE7-A745-12164E54F96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8" name="PlaceHolder 1"/>
          <p:cNvSpPr>
            <a:spLocks noGrp="1"/>
          </p:cNvSpPr>
          <p:nvPr>
            <p:ph type="sldImg"/>
          </p:nvPr>
        </p:nvSpPr>
        <p:spPr>
          <a:xfrm>
            <a:off x="1143000" y="685800"/>
            <a:ext cx="4571640" cy="3428640"/>
          </a:xfrm>
          <a:prstGeom prst="rect">
            <a:avLst/>
          </a:prstGeom>
          <a:ln w="0">
            <a:noFill/>
          </a:ln>
        </p:spPr>
      </p:sp>
      <p:sp>
        <p:nvSpPr>
          <p:cNvPr id="12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On full data every trial would score macro-F1 1.0 and the study would rank noise. That is why the search runs at reduced data.</a:t>
            </a:r>
            <a:endParaRPr lang="en-US" sz="2000" b="0" u="none" strike="noStrike">
              <a:solidFill>
                <a:srgbClr val="000000"/>
              </a:solidFill>
              <a:effectLst/>
              <a:uFillTx/>
              <a:latin typeface="Arial"/>
            </a:endParaRPr>
          </a:p>
        </p:txBody>
      </p:sp>
      <p:sp>
        <p:nvSpPr>
          <p:cNvPr id="1210" name="PlaceHolder 3"/>
          <p:cNvSpPr>
            <a:spLocks noGrp="1"/>
          </p:cNvSpPr>
          <p:nvPr>
            <p:ph type="sldNum" idx="6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F0C5F44-BACE-4F05-83A8-C538E139F19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1" name="PlaceHolder 1"/>
          <p:cNvSpPr>
            <a:spLocks noGrp="1"/>
          </p:cNvSpPr>
          <p:nvPr>
            <p:ph type="sldImg"/>
          </p:nvPr>
        </p:nvSpPr>
        <p:spPr>
          <a:xfrm>
            <a:off x="1143000" y="685800"/>
            <a:ext cx="4571640" cy="3428640"/>
          </a:xfrm>
          <a:prstGeom prst="rect">
            <a:avLst/>
          </a:prstGeom>
          <a:ln w="0">
            <a:noFill/>
          </a:ln>
        </p:spPr>
      </p:sp>
      <p:sp>
        <p:nvSpPr>
          <p:cNvPr id="121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hatched bar is a literature value, visually distinguished because we did not re-run it. Conflating it with our measurements would be the single easiest way to mislead here.</a:t>
            </a:r>
            <a:endParaRPr lang="en-US" sz="2000" b="0" u="none" strike="noStrike">
              <a:solidFill>
                <a:srgbClr val="000000"/>
              </a:solidFill>
              <a:effectLst/>
              <a:uFillTx/>
              <a:latin typeface="Arial"/>
            </a:endParaRPr>
          </a:p>
        </p:txBody>
      </p:sp>
      <p:sp>
        <p:nvSpPr>
          <p:cNvPr id="1213" name="PlaceHolder 3"/>
          <p:cNvSpPr>
            <a:spLocks noGrp="1"/>
          </p:cNvSpPr>
          <p:nvPr>
            <p:ph type="sldNum" idx="6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011709-0135-43D1-A556-B8EDC57B205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4" name="PlaceHolder 1"/>
          <p:cNvSpPr>
            <a:spLocks noGrp="1"/>
          </p:cNvSpPr>
          <p:nvPr>
            <p:ph type="sldImg"/>
          </p:nvPr>
        </p:nvSpPr>
        <p:spPr>
          <a:xfrm>
            <a:off x="1143000" y="685800"/>
            <a:ext cx="4571640" cy="3428640"/>
          </a:xfrm>
          <a:prstGeom prst="rect">
            <a:avLst/>
          </a:prstGeom>
          <a:ln w="0">
            <a:noFill/>
          </a:ln>
        </p:spPr>
      </p:sp>
      <p:sp>
        <p:nvSpPr>
          <p:cNvPr id="121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slide that answers the obvious objection: that we simply guessed the architecture badly. Five configurations, none reaching 97.1%.</a:t>
            </a:r>
            <a:endParaRPr lang="en-US" sz="2000" b="0" u="none" strike="noStrike">
              <a:solidFill>
                <a:srgbClr val="000000"/>
              </a:solidFill>
              <a:effectLst/>
              <a:uFillTx/>
              <a:latin typeface="Arial"/>
            </a:endParaRPr>
          </a:p>
        </p:txBody>
      </p:sp>
      <p:sp>
        <p:nvSpPr>
          <p:cNvPr id="1216" name="PlaceHolder 3"/>
          <p:cNvSpPr>
            <a:spLocks noGrp="1"/>
          </p:cNvSpPr>
          <p:nvPr>
            <p:ph type="sldNum" idx="7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075A7FE-1009-40D6-BC0B-3A22D1B171F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7" name="PlaceHolder 1"/>
          <p:cNvSpPr>
            <a:spLocks noGrp="1"/>
          </p:cNvSpPr>
          <p:nvPr>
            <p:ph type="sldImg"/>
          </p:nvPr>
        </p:nvSpPr>
        <p:spPr>
          <a:xfrm>
            <a:off x="1143000" y="685800"/>
            <a:ext cx="4571640" cy="3428640"/>
          </a:xfrm>
          <a:prstGeom prst="rect">
            <a:avLst/>
          </a:prstGeom>
          <a:ln w="0">
            <a:noFill/>
          </a:ln>
        </p:spPr>
      </p:sp>
      <p:sp>
        <p:nvSpPr>
          <p:cNvPr id="121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 = 0 and c = 19 is the strongest possible shape for this test. The exact binomial is used because the discordant count is small.</a:t>
            </a:r>
            <a:endParaRPr lang="en-US" sz="2000" b="0" u="none" strike="noStrike">
              <a:solidFill>
                <a:srgbClr val="000000"/>
              </a:solidFill>
              <a:effectLst/>
              <a:uFillTx/>
              <a:latin typeface="Arial"/>
            </a:endParaRPr>
          </a:p>
        </p:txBody>
      </p:sp>
      <p:sp>
        <p:nvSpPr>
          <p:cNvPr id="1219" name="PlaceHolder 3"/>
          <p:cNvSpPr>
            <a:spLocks noGrp="1"/>
          </p:cNvSpPr>
          <p:nvPr>
            <p:ph type="sldNum" idx="7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64F7BBE-E389-42C8-96C3-6F387F43FAD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0" name="PlaceHolder 1"/>
          <p:cNvSpPr>
            <a:spLocks noGrp="1"/>
          </p:cNvSpPr>
          <p:nvPr>
            <p:ph type="sldImg"/>
          </p:nvPr>
        </p:nvSpPr>
        <p:spPr>
          <a:xfrm>
            <a:off x="1143000" y="685800"/>
            <a:ext cx="4571640" cy="3428640"/>
          </a:xfrm>
          <a:prstGeom prst="rect">
            <a:avLst/>
          </a:prstGeom>
          <a:ln w="0">
            <a:noFill/>
          </a:ln>
        </p:spPr>
      </p:sp>
      <p:sp>
        <p:nvSpPr>
          <p:cNvPr id="122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Concentration is 1 − normalised entropy of the 16 attention weights: 1.0 means all mass on one chunk, 0.0 means uniform. Inclusion is a few dark streaks in one place; pitted surface is pits everywhere.</a:t>
            </a:r>
            <a:endParaRPr lang="en-US" sz="2000" b="0" u="none" strike="noStrike">
              <a:solidFill>
                <a:srgbClr val="000000"/>
              </a:solidFill>
              <a:effectLst/>
              <a:uFillTx/>
              <a:latin typeface="Arial"/>
            </a:endParaRPr>
          </a:p>
        </p:txBody>
      </p:sp>
      <p:sp>
        <p:nvSpPr>
          <p:cNvPr id="1222" name="PlaceHolder 3"/>
          <p:cNvSpPr>
            <a:spLocks noGrp="1"/>
          </p:cNvSpPr>
          <p:nvPr>
            <p:ph type="sldNum" idx="7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0A9CEAD-1517-4828-BC53-962DEA3219A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3" name="PlaceHolder 1"/>
          <p:cNvSpPr>
            <a:spLocks noGrp="1"/>
          </p:cNvSpPr>
          <p:nvPr>
            <p:ph type="sldImg"/>
          </p:nvPr>
        </p:nvSpPr>
        <p:spPr>
          <a:xfrm>
            <a:off x="1143000" y="685800"/>
            <a:ext cx="4571640" cy="3428640"/>
          </a:xfrm>
          <a:prstGeom prst="rect">
            <a:avLst/>
          </a:prstGeom>
          <a:ln w="0">
            <a:noFill/>
          </a:ln>
        </p:spPr>
      </p:sp>
      <p:sp>
        <p:nvSpPr>
          <p:cNvPr id="122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Macro averaging is reported because it is what survives class imbalance in a real deployment, even though NEU-CLS is balanced.</a:t>
            </a:r>
            <a:endParaRPr lang="en-US" sz="2000" b="0" u="none" strike="noStrike">
              <a:solidFill>
                <a:srgbClr val="000000"/>
              </a:solidFill>
              <a:effectLst/>
              <a:uFillTx/>
              <a:latin typeface="Arial"/>
            </a:endParaRPr>
          </a:p>
        </p:txBody>
      </p:sp>
      <p:sp>
        <p:nvSpPr>
          <p:cNvPr id="1225" name="PlaceHolder 3"/>
          <p:cNvSpPr>
            <a:spLocks noGrp="1"/>
          </p:cNvSpPr>
          <p:nvPr>
            <p:ph type="sldNum" idx="7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58B2FE8-7475-43EB-8B5C-2F374022A84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6" name="PlaceHolder 1"/>
          <p:cNvSpPr>
            <a:spLocks noGrp="1"/>
          </p:cNvSpPr>
          <p:nvPr>
            <p:ph type="sldImg"/>
          </p:nvPr>
        </p:nvSpPr>
        <p:spPr>
          <a:xfrm>
            <a:off x="1143000" y="685800"/>
            <a:ext cx="4571640" cy="3428640"/>
          </a:xfrm>
          <a:prstGeom prst="rect">
            <a:avLst/>
          </a:prstGeom>
          <a:ln w="0">
            <a:noFill/>
          </a:ln>
        </p:spPr>
      </p:sp>
      <p:sp>
        <p:nvSpPr>
          <p:cNvPr id="122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baseline's errors concentrate in inclusion and pitted surface — the two lowest-contrast classes, which is what the texture statistics predict.</a:t>
            </a:r>
            <a:endParaRPr lang="en-US" sz="2000" b="0" u="none" strike="noStrike">
              <a:solidFill>
                <a:srgbClr val="000000"/>
              </a:solidFill>
              <a:effectLst/>
              <a:uFillTx/>
              <a:latin typeface="Arial"/>
            </a:endParaRPr>
          </a:p>
        </p:txBody>
      </p:sp>
      <p:sp>
        <p:nvSpPr>
          <p:cNvPr id="1228" name="PlaceHolder 3"/>
          <p:cNvSpPr>
            <a:spLocks noGrp="1"/>
          </p:cNvSpPr>
          <p:nvPr>
            <p:ph type="sldNum" idx="7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8A4E8E0-3C05-4D86-8E83-820864BD74E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9" name="PlaceHolder 1"/>
          <p:cNvSpPr>
            <a:spLocks noGrp="1"/>
          </p:cNvSpPr>
          <p:nvPr>
            <p:ph type="sldImg"/>
          </p:nvPr>
        </p:nvSpPr>
        <p:spPr>
          <a:xfrm>
            <a:off x="1143000" y="685800"/>
            <a:ext cx="4571640" cy="3428640"/>
          </a:xfrm>
          <a:prstGeom prst="rect">
            <a:avLst/>
          </a:prstGeom>
          <a:ln w="0">
            <a:noFill/>
          </a:ln>
        </p:spPr>
      </p:sp>
      <p:sp>
        <p:nvSpPr>
          <p:cNvPr id="123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Per-class numbers are the ones an inspection engineer actually cares about: a missed scratch and a missed crazing have different downstream costs.</a:t>
            </a:r>
            <a:endParaRPr lang="en-US" sz="2000" b="0" u="none" strike="noStrike">
              <a:solidFill>
                <a:srgbClr val="000000"/>
              </a:solidFill>
              <a:effectLst/>
              <a:uFillTx/>
              <a:latin typeface="Arial"/>
            </a:endParaRPr>
          </a:p>
        </p:txBody>
      </p:sp>
      <p:sp>
        <p:nvSpPr>
          <p:cNvPr id="1231" name="PlaceHolder 3"/>
          <p:cNvSpPr>
            <a:spLocks noGrp="1"/>
          </p:cNvSpPr>
          <p:nvPr>
            <p:ph type="sldNum" idx="7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65D5F89-F9FD-402F-BFC7-660631C34FD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2" name="PlaceHolder 1"/>
          <p:cNvSpPr>
            <a:spLocks noGrp="1"/>
          </p:cNvSpPr>
          <p:nvPr>
            <p:ph type="sldImg"/>
          </p:nvPr>
        </p:nvSpPr>
        <p:spPr>
          <a:xfrm>
            <a:off x="1143000" y="685800"/>
            <a:ext cx="4571640" cy="3428640"/>
          </a:xfrm>
          <a:prstGeom prst="rect">
            <a:avLst/>
          </a:prstGeom>
          <a:ln w="0">
            <a:noFill/>
          </a:ln>
        </p:spPr>
      </p:sp>
      <p:sp>
        <p:nvSpPr>
          <p:cNvPr id="123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curve is the direct visual evidence for the ceiling argument.</a:t>
            </a:r>
            <a:endParaRPr lang="en-US" sz="2000" b="0" u="none" strike="noStrike">
              <a:solidFill>
                <a:srgbClr val="000000"/>
              </a:solidFill>
              <a:effectLst/>
              <a:uFillTx/>
              <a:latin typeface="Arial"/>
            </a:endParaRPr>
          </a:p>
        </p:txBody>
      </p:sp>
      <p:sp>
        <p:nvSpPr>
          <p:cNvPr id="1234" name="PlaceHolder 3"/>
          <p:cNvSpPr>
            <a:spLocks noGrp="1"/>
          </p:cNvSpPr>
          <p:nvPr>
            <p:ph type="sldNum" idx="7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DF635E0-308F-4139-A412-7781E589218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5" name="PlaceHolder 1"/>
          <p:cNvSpPr>
            <a:spLocks noGrp="1"/>
          </p:cNvSpPr>
          <p:nvPr>
            <p:ph type="sldImg"/>
          </p:nvPr>
        </p:nvSpPr>
        <p:spPr>
          <a:xfrm>
            <a:off x="1143000" y="685800"/>
            <a:ext cx="4571640" cy="3428640"/>
          </a:xfrm>
          <a:prstGeom prst="rect">
            <a:avLst/>
          </a:prstGeom>
          <a:ln w="0">
            <a:noFill/>
          </a:ln>
        </p:spPr>
      </p:sp>
      <p:sp>
        <p:nvSpPr>
          <p:cNvPr id="123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slide converts the saturation problem from an excuse into an experiment.</a:t>
            </a:r>
            <a:endParaRPr lang="en-US" sz="2000" b="0" u="none" strike="noStrike">
              <a:solidFill>
                <a:srgbClr val="000000"/>
              </a:solidFill>
              <a:effectLst/>
              <a:uFillTx/>
              <a:latin typeface="Arial"/>
            </a:endParaRPr>
          </a:p>
        </p:txBody>
      </p:sp>
      <p:sp>
        <p:nvSpPr>
          <p:cNvPr id="1237" name="PlaceHolder 3"/>
          <p:cNvSpPr>
            <a:spLocks noGrp="1"/>
          </p:cNvSpPr>
          <p:nvPr>
            <p:ph type="sldNum" idx="7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0CEFEB4-CA41-4707-8174-69932FA89AE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8" name="PlaceHolder 1"/>
          <p:cNvSpPr>
            <a:spLocks noGrp="1"/>
          </p:cNvSpPr>
          <p:nvPr>
            <p:ph type="sldImg"/>
          </p:nvPr>
        </p:nvSpPr>
        <p:spPr>
          <a:xfrm>
            <a:off x="1143000" y="685800"/>
            <a:ext cx="4571640" cy="3428640"/>
          </a:xfrm>
          <a:prstGeom prst="rect">
            <a:avLst/>
          </a:prstGeom>
          <a:ln w="0">
            <a:noFill/>
          </a:ln>
        </p:spPr>
      </p:sp>
      <p:sp>
        <p:nvSpPr>
          <p:cNvPr id="12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Each bar is one of the nine stages in the project brief. The Sobel control isolates the prior's contribution directly.</a:t>
            </a:r>
            <a:endParaRPr lang="en-US" sz="2000" b="0" u="none" strike="noStrike">
              <a:solidFill>
                <a:srgbClr val="000000"/>
              </a:solidFill>
              <a:effectLst/>
              <a:uFillTx/>
              <a:latin typeface="Arial"/>
            </a:endParaRPr>
          </a:p>
        </p:txBody>
      </p:sp>
      <p:sp>
        <p:nvSpPr>
          <p:cNvPr id="1240" name="PlaceHolder 3"/>
          <p:cNvSpPr>
            <a:spLocks noGrp="1"/>
          </p:cNvSpPr>
          <p:nvPr>
            <p:ph type="sldNum" idx="7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EB220AA-6810-4FED-A464-D74D2FAD865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1" name="PlaceHolder 1"/>
          <p:cNvSpPr>
            <a:spLocks noGrp="1"/>
          </p:cNvSpPr>
          <p:nvPr>
            <p:ph type="sldImg"/>
          </p:nvPr>
        </p:nvSpPr>
        <p:spPr>
          <a:xfrm>
            <a:off x="1143000" y="685800"/>
            <a:ext cx="4571640" cy="3428640"/>
          </a:xfrm>
          <a:prstGeom prst="rect">
            <a:avLst/>
          </a:prstGeom>
          <a:ln w="0">
            <a:noFill/>
          </a:ln>
        </p:spPr>
      </p:sp>
      <p:sp>
        <p:nvSpPr>
          <p:cNvPr id="124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Sobel row is computed with a collapsed seed excluded; including it flatters the prior by ~35 points, which would be misleading. The raw and corrected numbers are both in the report.</a:t>
            </a:r>
            <a:endParaRPr lang="en-US" sz="2000" b="0" u="none" strike="noStrike">
              <a:solidFill>
                <a:srgbClr val="000000"/>
              </a:solidFill>
              <a:effectLst/>
              <a:uFillTx/>
              <a:latin typeface="Arial"/>
            </a:endParaRPr>
          </a:p>
        </p:txBody>
      </p:sp>
      <p:sp>
        <p:nvSpPr>
          <p:cNvPr id="1243" name="PlaceHolder 3"/>
          <p:cNvSpPr>
            <a:spLocks noGrp="1"/>
          </p:cNvSpPr>
          <p:nvPr>
            <p:ph type="sldNum" idx="7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1CDEA23-C9CA-4851-9DF4-7E5D3A0A977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4" name="PlaceHolder 1"/>
          <p:cNvSpPr>
            <a:spLocks noGrp="1"/>
          </p:cNvSpPr>
          <p:nvPr>
            <p:ph type="sldImg"/>
          </p:nvPr>
        </p:nvSpPr>
        <p:spPr>
          <a:xfrm>
            <a:off x="1143000" y="685800"/>
            <a:ext cx="4571640" cy="3428640"/>
          </a:xfrm>
          <a:prstGeom prst="rect">
            <a:avLst/>
          </a:prstGeom>
          <a:ln w="0">
            <a:noFill/>
          </a:ln>
        </p:spPr>
      </p:sp>
      <p:sp>
        <p:nvSpPr>
          <p:cNvPr id="124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compressed-dimension row is the one with downstream consequences: it sets ciphertext size and homomorphic latency, so it is the accuracy/cost lever rather than a pure accuracy choice.</a:t>
            </a:r>
            <a:endParaRPr lang="en-US" sz="2000" b="0" u="none" strike="noStrike">
              <a:solidFill>
                <a:srgbClr val="000000"/>
              </a:solidFill>
              <a:effectLst/>
              <a:uFillTx/>
              <a:latin typeface="Arial"/>
            </a:endParaRPr>
          </a:p>
        </p:txBody>
      </p:sp>
      <p:sp>
        <p:nvSpPr>
          <p:cNvPr id="1246" name="PlaceHolder 3"/>
          <p:cNvSpPr>
            <a:spLocks noGrp="1"/>
          </p:cNvSpPr>
          <p:nvPr>
            <p:ph type="sldNum" idx="8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7D025A7-E4F7-48B0-B345-E488A80B8C2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7" name="PlaceHolder 1"/>
          <p:cNvSpPr>
            <a:spLocks noGrp="1"/>
          </p:cNvSpPr>
          <p:nvPr>
            <p:ph type="sldImg"/>
          </p:nvPr>
        </p:nvSpPr>
        <p:spPr>
          <a:xfrm>
            <a:off x="1143000" y="685800"/>
            <a:ext cx="4571640" cy="3428640"/>
          </a:xfrm>
          <a:prstGeom prst="rect">
            <a:avLst/>
          </a:prstGeom>
          <a:ln w="0">
            <a:noFill/>
          </a:ln>
        </p:spPr>
      </p:sp>
      <p:sp>
        <p:nvSpPr>
          <p:cNvPr id="124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10% row is why the claim is 'never reliably better' rather than 'always worse'. A single seed there showed -0.56; three seeds show +0.55 with the sign flipping. Neither is outside the noise.</a:t>
            </a:r>
            <a:endParaRPr lang="en-US" sz="2000" b="0" u="none" strike="noStrike">
              <a:solidFill>
                <a:srgbClr val="000000"/>
              </a:solidFill>
              <a:effectLst/>
              <a:uFillTx/>
              <a:latin typeface="Arial"/>
            </a:endParaRPr>
          </a:p>
        </p:txBody>
      </p:sp>
      <p:sp>
        <p:nvSpPr>
          <p:cNvPr id="1249" name="PlaceHolder 3"/>
          <p:cNvSpPr>
            <a:spLocks noGrp="1"/>
          </p:cNvSpPr>
          <p:nvPr>
            <p:ph type="sldNum" idx="8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2776FD9-99D9-495C-922C-5F598960D6D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0" name="PlaceHolder 1"/>
          <p:cNvSpPr>
            <a:spLocks noGrp="1"/>
          </p:cNvSpPr>
          <p:nvPr>
            <p:ph type="sldImg"/>
          </p:nvPr>
        </p:nvSpPr>
        <p:spPr>
          <a:xfrm>
            <a:off x="1143000" y="685800"/>
            <a:ext cx="4571640" cy="3428640"/>
          </a:xfrm>
          <a:prstGeom prst="rect">
            <a:avLst/>
          </a:prstGeom>
          <a:ln w="0">
            <a:noFill/>
          </a:ln>
        </p:spPr>
      </p:sp>
      <p:sp>
        <p:nvSpPr>
          <p:cNvPr id="125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project that reported only the 100% headline would have missed all of this. The saturation-aware protocol is what made it visible.</a:t>
            </a:r>
            <a:endParaRPr lang="en-US" sz="2000" b="0" u="none" strike="noStrike">
              <a:solidFill>
                <a:srgbClr val="000000"/>
              </a:solidFill>
              <a:effectLst/>
              <a:uFillTx/>
              <a:latin typeface="Arial"/>
            </a:endParaRPr>
          </a:p>
        </p:txBody>
      </p:sp>
      <p:sp>
        <p:nvSpPr>
          <p:cNvPr id="1252" name="PlaceHolder 3"/>
          <p:cNvSpPr>
            <a:spLocks noGrp="1"/>
          </p:cNvSpPr>
          <p:nvPr>
            <p:ph type="sldNum" idx="8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5C0C171-62F1-45EC-AB09-074EC288B7F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3" name="PlaceHolder 1"/>
          <p:cNvSpPr>
            <a:spLocks noGrp="1"/>
          </p:cNvSpPr>
          <p:nvPr>
            <p:ph type="sldImg"/>
          </p:nvPr>
        </p:nvSpPr>
        <p:spPr>
          <a:xfrm>
            <a:off x="1143000" y="685800"/>
            <a:ext cx="4571640" cy="3428640"/>
          </a:xfrm>
          <a:prstGeom prst="rect">
            <a:avLst/>
          </a:prstGeom>
          <a:ln w="0">
            <a:noFill/>
          </a:ln>
        </p:spPr>
      </p:sp>
      <p:sp>
        <p:nvSpPr>
          <p:cNvPr id="125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Note the contrast with the base paper, which reports encryption *improving* accuracy. Our result is the expected one: identical decisions, tiny numerical error.</a:t>
            </a:r>
            <a:endParaRPr lang="en-US" sz="2000" b="0" u="none" strike="noStrike">
              <a:solidFill>
                <a:srgbClr val="000000"/>
              </a:solidFill>
              <a:effectLst/>
              <a:uFillTx/>
              <a:latin typeface="Arial"/>
            </a:endParaRPr>
          </a:p>
        </p:txBody>
      </p:sp>
      <p:sp>
        <p:nvSpPr>
          <p:cNvPr id="1255" name="PlaceHolder 3"/>
          <p:cNvSpPr>
            <a:spLocks noGrp="1"/>
          </p:cNvSpPr>
          <p:nvPr>
            <p:ph type="sldNum" idx="8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EC58CE0-D908-46E0-BD70-ABD14B0E44B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6" name="PlaceHolder 1"/>
          <p:cNvSpPr>
            <a:spLocks noGrp="1"/>
          </p:cNvSpPr>
          <p:nvPr>
            <p:ph type="sldImg"/>
          </p:nvPr>
        </p:nvSpPr>
        <p:spPr>
          <a:xfrm>
            <a:off x="1143000" y="685800"/>
            <a:ext cx="4571640" cy="3428640"/>
          </a:xfrm>
          <a:prstGeom prst="rect">
            <a:avLst/>
          </a:prstGeom>
          <a:ln w="0">
            <a:noFill/>
          </a:ln>
        </p:spPr>
      </p:sp>
      <p:sp>
        <p:nvSpPr>
          <p:cNvPr id="125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Galois keys dominate the one-time transfer. The per-image cost is the homomorphic evaluation, which scales with the compressed dimension.</a:t>
            </a:r>
            <a:endParaRPr lang="en-US" sz="2000" b="0" u="none" strike="noStrike">
              <a:solidFill>
                <a:srgbClr val="000000"/>
              </a:solidFill>
              <a:effectLst/>
              <a:uFillTx/>
              <a:latin typeface="Arial"/>
            </a:endParaRPr>
          </a:p>
        </p:txBody>
      </p:sp>
      <p:sp>
        <p:nvSpPr>
          <p:cNvPr id="1258" name="PlaceHolder 3"/>
          <p:cNvSpPr>
            <a:spLocks noGrp="1"/>
          </p:cNvSpPr>
          <p:nvPr>
            <p:ph type="sldNum" idx="8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8983A8-7BFD-4355-A24A-2B5EE207D72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9" name="PlaceHolder 1"/>
          <p:cNvSpPr>
            <a:spLocks noGrp="1"/>
          </p:cNvSpPr>
          <p:nvPr>
            <p:ph type="sldImg"/>
          </p:nvPr>
        </p:nvSpPr>
        <p:spPr>
          <a:xfrm>
            <a:off x="1143000" y="685800"/>
            <a:ext cx="4571640" cy="3428640"/>
          </a:xfrm>
          <a:prstGeom prst="rect">
            <a:avLst/>
          </a:prstGeom>
          <a:ln w="0">
            <a:noFill/>
          </a:ln>
        </p:spPr>
      </p:sp>
      <p:sp>
        <p:nvSpPr>
          <p:cNvPr id="126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panels, never two y-axes on one plot: accuracy and latency are different quantities and sharing an axis would invite a false visual comparison. They are also measured in different regimes, which the caption states.</a:t>
            </a:r>
            <a:endParaRPr lang="en-US" sz="2000" b="0" u="none" strike="noStrike">
              <a:solidFill>
                <a:srgbClr val="000000"/>
              </a:solidFill>
              <a:effectLst/>
              <a:uFillTx/>
              <a:latin typeface="Arial"/>
            </a:endParaRPr>
          </a:p>
        </p:txBody>
      </p:sp>
      <p:sp>
        <p:nvSpPr>
          <p:cNvPr id="1261" name="PlaceHolder 3"/>
          <p:cNvSpPr>
            <a:spLocks noGrp="1"/>
          </p:cNvSpPr>
          <p:nvPr>
            <p:ph type="sldNum" idx="8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D86FDB7-DD66-433F-8785-6FF5C07FDA3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2" name="PlaceHolder 1"/>
          <p:cNvSpPr>
            <a:spLocks noGrp="1"/>
          </p:cNvSpPr>
          <p:nvPr>
            <p:ph type="sldImg"/>
          </p:nvPr>
        </p:nvSpPr>
        <p:spPr>
          <a:xfrm>
            <a:off x="1143000" y="685800"/>
            <a:ext cx="4571640" cy="3428640"/>
          </a:xfrm>
          <a:prstGeom prst="rect">
            <a:avLst/>
          </a:prstGeom>
          <a:ln w="0">
            <a:noFill/>
          </a:ln>
        </p:spPr>
      </p:sp>
      <p:sp>
        <p:nvSpPr>
          <p:cNvPr id="126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If one slide protects the project's integrity, it is this one.</a:t>
            </a:r>
            <a:endParaRPr lang="en-US" sz="2000" b="0" u="none" strike="noStrike">
              <a:solidFill>
                <a:srgbClr val="000000"/>
              </a:solidFill>
              <a:effectLst/>
              <a:uFillTx/>
              <a:latin typeface="Arial"/>
            </a:endParaRPr>
          </a:p>
        </p:txBody>
      </p:sp>
      <p:sp>
        <p:nvSpPr>
          <p:cNvPr id="1264" name="PlaceHolder 3"/>
          <p:cNvSpPr>
            <a:spLocks noGrp="1"/>
          </p:cNvSpPr>
          <p:nvPr>
            <p:ph type="sldNum" idx="8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6263077-D0A7-4E0E-8596-255862FA168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5" name="PlaceHolder 1"/>
          <p:cNvSpPr>
            <a:spLocks noGrp="1"/>
          </p:cNvSpPr>
          <p:nvPr>
            <p:ph type="sldImg"/>
          </p:nvPr>
        </p:nvSpPr>
        <p:spPr>
          <a:xfrm>
            <a:off x="1143000" y="685800"/>
            <a:ext cx="4571640" cy="3428640"/>
          </a:xfrm>
          <a:prstGeom prst="rect">
            <a:avLst/>
          </a:prstGeom>
          <a:ln w="0">
            <a:noFill/>
          </a:ln>
        </p:spPr>
      </p:sp>
      <p:sp>
        <p:nvSpPr>
          <p:cNvPr id="126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caveat is deliberate. Grad-CAM over a squared activation is less sign-stable than over a ReLU stack, which the report explains.</a:t>
            </a:r>
            <a:endParaRPr lang="en-US" sz="2000" b="0" u="none" strike="noStrike">
              <a:solidFill>
                <a:srgbClr val="000000"/>
              </a:solidFill>
              <a:effectLst/>
              <a:uFillTx/>
              <a:latin typeface="Arial"/>
            </a:endParaRPr>
          </a:p>
        </p:txBody>
      </p:sp>
      <p:sp>
        <p:nvSpPr>
          <p:cNvPr id="1267" name="PlaceHolder 3"/>
          <p:cNvSpPr>
            <a:spLocks noGrp="1"/>
          </p:cNvSpPr>
          <p:nvPr>
            <p:ph type="sldNum" idx="8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0AE141E-6861-44CD-8AEB-B3858EBD84C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8" name="PlaceHolder 1"/>
          <p:cNvSpPr>
            <a:spLocks noGrp="1"/>
          </p:cNvSpPr>
          <p:nvPr>
            <p:ph type="sldImg"/>
          </p:nvPr>
        </p:nvSpPr>
        <p:spPr>
          <a:xfrm>
            <a:off x="1143000" y="685800"/>
            <a:ext cx="4571640" cy="3428640"/>
          </a:xfrm>
          <a:prstGeom prst="rect">
            <a:avLst/>
          </a:prstGeom>
          <a:ln w="0">
            <a:noFill/>
          </a:ln>
        </p:spPr>
      </p:sp>
      <p:sp>
        <p:nvSpPr>
          <p:cNvPr id="126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With a perfect test score there is no failure set for the proposed model. Substituting the baseline's failures keeps the slide honest and still shows what the harder images look like.</a:t>
            </a:r>
            <a:endParaRPr lang="en-US" sz="2000" b="0" u="none" strike="noStrike">
              <a:solidFill>
                <a:srgbClr val="000000"/>
              </a:solidFill>
              <a:effectLst/>
              <a:uFillTx/>
              <a:latin typeface="Arial"/>
            </a:endParaRPr>
          </a:p>
        </p:txBody>
      </p:sp>
      <p:sp>
        <p:nvSpPr>
          <p:cNvPr id="1270" name="PlaceHolder 3"/>
          <p:cNvSpPr>
            <a:spLocks noGrp="1"/>
          </p:cNvSpPr>
          <p:nvPr>
            <p:ph type="sldNum" idx="8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0E0947E-9DC3-47F0-8FFE-2FAE156C78D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1" name="PlaceHolder 1"/>
          <p:cNvSpPr>
            <a:spLocks noGrp="1"/>
          </p:cNvSpPr>
          <p:nvPr>
            <p:ph type="sldImg"/>
          </p:nvPr>
        </p:nvSpPr>
        <p:spPr>
          <a:xfrm>
            <a:off x="1143000" y="685800"/>
            <a:ext cx="4571640" cy="3428640"/>
          </a:xfrm>
          <a:prstGeom prst="rect">
            <a:avLst/>
          </a:prstGeom>
          <a:ln w="0">
            <a:noFill/>
          </a:ln>
        </p:spPr>
      </p:sp>
      <p:sp>
        <p:nvSpPr>
          <p:cNvPr id="127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limitations slide that names six real problems is more persuasive than one that names none.</a:t>
            </a:r>
            <a:endParaRPr lang="en-US" sz="2000" b="0" u="none" strike="noStrike">
              <a:solidFill>
                <a:srgbClr val="000000"/>
              </a:solidFill>
              <a:effectLst/>
              <a:uFillTx/>
              <a:latin typeface="Arial"/>
            </a:endParaRPr>
          </a:p>
        </p:txBody>
      </p:sp>
      <p:sp>
        <p:nvSpPr>
          <p:cNvPr id="1273" name="PlaceHolder 3"/>
          <p:cNvSpPr>
            <a:spLocks noGrp="1"/>
          </p:cNvSpPr>
          <p:nvPr>
            <p:ph type="sldNum" idx="8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D421310-57D3-4783-B9DC-E781FCA881C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4" name="PlaceHolder 1"/>
          <p:cNvSpPr>
            <a:spLocks noGrp="1"/>
          </p:cNvSpPr>
          <p:nvPr>
            <p:ph type="sldImg"/>
          </p:nvPr>
        </p:nvSpPr>
        <p:spPr>
          <a:xfrm>
            <a:off x="1143000" y="685800"/>
            <a:ext cx="4571640" cy="3428640"/>
          </a:xfrm>
          <a:prstGeom prst="rect">
            <a:avLst/>
          </a:prstGeom>
          <a:ln w="0">
            <a:noFill/>
          </a:ln>
        </p:spPr>
      </p:sp>
      <p:sp>
        <p:nvSpPr>
          <p:cNvPr id="127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Future work is specific and follows from measured limitations, not generic.</a:t>
            </a:r>
            <a:endParaRPr lang="en-US" sz="2000" b="0" u="none" strike="noStrike">
              <a:solidFill>
                <a:srgbClr val="000000"/>
              </a:solidFill>
              <a:effectLst/>
              <a:uFillTx/>
              <a:latin typeface="Arial"/>
            </a:endParaRPr>
          </a:p>
        </p:txBody>
      </p:sp>
      <p:sp>
        <p:nvSpPr>
          <p:cNvPr id="1276" name="PlaceHolder 3"/>
          <p:cNvSpPr>
            <a:spLocks noGrp="1"/>
          </p:cNvSpPr>
          <p:nvPr>
            <p:ph type="sldNum" idx="9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58D8F5E-318D-488A-9EE6-9FEB00BEEB8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7" name="PlaceHolder 1"/>
          <p:cNvSpPr>
            <a:spLocks noGrp="1"/>
          </p:cNvSpPr>
          <p:nvPr>
            <p:ph type="sldImg"/>
          </p:nvPr>
        </p:nvSpPr>
        <p:spPr>
          <a:xfrm>
            <a:off x="1143000" y="685800"/>
            <a:ext cx="4571640" cy="3428640"/>
          </a:xfrm>
          <a:prstGeom prst="rect">
            <a:avLst/>
          </a:prstGeom>
          <a:ln w="0">
            <a:noFill/>
          </a:ln>
        </p:spPr>
      </p:sp>
      <p:sp>
        <p:nvSpPr>
          <p:cNvPr id="12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Every one of these was fetched from the publisher API, not recalled.</a:t>
            </a:r>
            <a:endParaRPr lang="en-US" sz="2000" b="0" u="none" strike="noStrike">
              <a:solidFill>
                <a:srgbClr val="000000"/>
              </a:solidFill>
              <a:effectLst/>
              <a:uFillTx/>
              <a:latin typeface="Arial"/>
            </a:endParaRPr>
          </a:p>
        </p:txBody>
      </p:sp>
      <p:sp>
        <p:nvSpPr>
          <p:cNvPr id="1279" name="PlaceHolder 3"/>
          <p:cNvSpPr>
            <a:spLocks noGrp="1"/>
          </p:cNvSpPr>
          <p:nvPr>
            <p:ph type="sldNum" idx="9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C33936D-60A6-4423-BCFF-D8A380D117A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0" name="PlaceHolder 1"/>
          <p:cNvSpPr>
            <a:spLocks noGrp="1"/>
          </p:cNvSpPr>
          <p:nvPr>
            <p:ph type="sldImg"/>
          </p:nvPr>
        </p:nvSpPr>
        <p:spPr>
          <a:xfrm>
            <a:off x="1143000" y="685800"/>
            <a:ext cx="4571640" cy="3428640"/>
          </a:xfrm>
          <a:prstGeom prst="rect">
            <a:avLst/>
          </a:prstGeom>
          <a:ln w="0">
            <a:noFill/>
          </a:ln>
        </p:spPr>
      </p:sp>
      <p:sp>
        <p:nvSpPr>
          <p:cNvPr id="12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Reproduction: scripts/setup_env.sh, then scripts/reproduce_all.sh.</a:t>
            </a:r>
            <a:endParaRPr lang="en-US" sz="2000" b="0" u="none" strike="noStrike">
              <a:solidFill>
                <a:srgbClr val="000000"/>
              </a:solidFill>
              <a:effectLst/>
              <a:uFillTx/>
              <a:latin typeface="Arial"/>
            </a:endParaRPr>
          </a:p>
        </p:txBody>
      </p:sp>
      <p:sp>
        <p:nvSpPr>
          <p:cNvPr id="1282" name="PlaceHolder 3"/>
          <p:cNvSpPr>
            <a:spLocks noGrp="1"/>
          </p:cNvSpPr>
          <p:nvPr>
            <p:ph type="sldNum" idx="9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06A7AB7-1151-4F5D-901F-439A49565C3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F5BBED0-0301-4E95-A467-54B6469C879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1B4CF5C-3C84-4485-B0B6-BED61D50F9B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D3EAF1A-BD41-4DA0-AE2C-27043CE881D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7DEA3F6-0AB0-4273-A918-221928F6B1E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F6E9F43-9D95-4783-BE06-0E8D3DEAC7F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90DAF9B-106A-476C-B878-E9863CC4FB2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CB427B0-E998-4A4A-B44C-9C5E31F2A87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028DB00-95F1-4F83-A629-C2768AFF829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7655E99-D93F-4D95-83D0-A8E6F27CCC6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CD97806-63D4-44F3-8B0B-3EB49D5D4CE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pic"/>
          </p:nvPr>
        </p:nvSpPr>
        <p:spPr>
          <a:xfrm>
            <a:off x="1792440" y="612720"/>
            <a:ext cx="5486040" cy="4114440"/>
          </a:xfrm>
          <a:prstGeom prst="rect">
            <a:avLst/>
          </a:prstGeom>
          <a:noFill/>
          <a:ln w="0">
            <a:noFill/>
          </a:ln>
        </p:spPr>
        <p:txBody>
          <a:bodyPr lIns="90000" tIns="45000" rIns="90000" bIns="45000" anchor="t">
            <a:noAutofit/>
          </a:bodyPr>
          <a:p>
            <a:pPr indent="0" algn="l">
              <a:buNone/>
            </a:pPr>
            <a:r>
              <a:rPr lang="en-US" sz="3200" b="0" u="none" strike="noStrike">
                <a:solidFill>
                  <a:srgbClr val="000000"/>
                </a:solidFill>
                <a:effectLst/>
                <a:uFillTx/>
                <a:latin typeface="Arial"/>
              </a:rPr>
              <a:t>Double-click to add an Image</a:t>
            </a:r>
            <a:endParaRPr lang="en-US" sz="3200" b="0" u="none" strike="noStrike">
              <a:solidFill>
                <a:srgbClr val="000000"/>
              </a:solidFill>
              <a:effectLst/>
              <a:uFillTx/>
              <a:latin typeface="Arial"/>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AAF5545-322B-4EF2-84C9-E10D4B8A40B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9.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9.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9.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9.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9.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9.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9.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9.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9.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9.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8" name="Rectangle 2"/>
          <p:cNvSpPr/>
          <p:nvPr/>
        </p:nvSpPr>
        <p:spPr>
          <a:xfrm>
            <a:off x="0" y="0"/>
            <a:ext cx="127800" cy="68576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9" name="TextBox 3"/>
          <p:cNvSpPr/>
          <p:nvPr/>
        </p:nvSpPr>
        <p:spPr>
          <a:xfrm>
            <a:off x="795600" y="1481400"/>
            <a:ext cx="9187200" cy="10054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6200" b="1" u="none" strike="noStrike">
                <a:solidFill>
                  <a:srgbClr val="F1F5F9"/>
                </a:solidFill>
                <a:effectLst/>
                <a:uFillTx/>
                <a:latin typeface="Inter"/>
              </a:rPr>
              <a:t>SAGE-HE</a:t>
            </a:r>
            <a:endParaRPr lang="en-US" sz="6200" b="0" u="none" strike="noStrike">
              <a:solidFill>
                <a:srgbClr val="000000"/>
              </a:solidFill>
              <a:effectLst/>
              <a:uFillTx/>
              <a:latin typeface="Arial"/>
            </a:endParaRPr>
          </a:p>
        </p:txBody>
      </p:sp>
      <p:sp>
        <p:nvSpPr>
          <p:cNvPr id="70" name="Rectangle 4"/>
          <p:cNvSpPr/>
          <p:nvPr/>
        </p:nvSpPr>
        <p:spPr>
          <a:xfrm>
            <a:off x="795600" y="2670120"/>
            <a:ext cx="1371240" cy="3168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2960" rIns="90000" bIns="-1296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1" name="TextBox 5"/>
          <p:cNvSpPr/>
          <p:nvPr/>
        </p:nvSpPr>
        <p:spPr>
          <a:xfrm>
            <a:off x="795600" y="2907720"/>
            <a:ext cx="8251920" cy="1096920"/>
          </a:xfrm>
          <a:prstGeom prst="rect">
            <a:avLst/>
          </a:prstGeom>
          <a:noFill/>
          <a:ln w="0">
            <a:noFill/>
          </a:ln>
        </p:spPr>
        <p:style>
          <a:lnRef idx="0"/>
          <a:fillRef idx="0"/>
          <a:effectRef idx="0"/>
          <a:fontRef idx="minor"/>
        </p:style>
        <p:txBody>
          <a:bodyPr lIns="0" tIns="0" rIns="0" bIns="0" anchor="t">
            <a:spAutoFit/>
          </a:bodyPr>
          <a:p>
            <a:pPr defTabSz="457200">
              <a:lnSpc>
                <a:spcPct val="130000"/>
              </a:lnSpc>
              <a:spcAft>
                <a:spcPts val="400"/>
              </a:spcAft>
            </a:pPr>
            <a:r>
              <a:rPr lang="en-US" sz="1900" b="0" u="none" strike="noStrike">
                <a:solidFill>
                  <a:srgbClr val="CBD5E1"/>
                </a:solidFill>
                <a:effectLst/>
                <a:uFillTx/>
                <a:latin typeface="Inter"/>
              </a:rPr>
              <a:t>Secure Adaptive Gated Ensemble for</a:t>
            </a:r>
            <a:endParaRPr lang="en-US" sz="1900" b="0" u="none" strike="noStrike">
              <a:solidFill>
                <a:srgbClr val="000000"/>
              </a:solidFill>
              <a:effectLst/>
              <a:uFillTx/>
              <a:latin typeface="Arial"/>
            </a:endParaRPr>
          </a:p>
          <a:p>
            <a:pPr defTabSz="457200">
              <a:lnSpc>
                <a:spcPct val="130000"/>
              </a:lnSpc>
              <a:spcAft>
                <a:spcPts val="400"/>
              </a:spcAft>
            </a:pPr>
            <a:r>
              <a:rPr lang="en-US" sz="1900" b="0" u="none" strike="noStrike">
                <a:solidFill>
                  <a:srgbClr val="CBD5E1"/>
                </a:solidFill>
                <a:effectLst/>
                <a:uFillTx/>
                <a:latin typeface="Inter"/>
              </a:rPr>
              <a:t>Privacy-Preserving Steel Surface Defect Classification</a:t>
            </a:r>
            <a:endParaRPr lang="en-US" sz="1900" b="0" u="none" strike="noStrike">
              <a:solidFill>
                <a:srgbClr val="000000"/>
              </a:solidFill>
              <a:effectLst/>
              <a:uFillTx/>
              <a:latin typeface="Arial"/>
            </a:endParaRPr>
          </a:p>
        </p:txBody>
      </p:sp>
      <p:sp>
        <p:nvSpPr>
          <p:cNvPr id="72" name="TextBox 6"/>
          <p:cNvSpPr/>
          <p:nvPr/>
        </p:nvSpPr>
        <p:spPr>
          <a:xfrm>
            <a:off x="795600" y="4407480"/>
            <a:ext cx="73166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RESEARCH, ARCHITECTURE &amp; IMPLEMENTATION</a:t>
            </a:r>
            <a:endParaRPr lang="en-US" sz="1050" b="0" u="none" strike="noStrike">
              <a:solidFill>
                <a:srgbClr val="000000"/>
              </a:solidFill>
              <a:effectLst/>
              <a:uFillTx/>
              <a:latin typeface="Arial"/>
            </a:endParaRPr>
          </a:p>
        </p:txBody>
      </p:sp>
      <p:sp>
        <p:nvSpPr>
          <p:cNvPr id="73" name="TextBox 7"/>
          <p:cNvSpPr/>
          <p:nvPr/>
        </p:nvSpPr>
        <p:spPr>
          <a:xfrm>
            <a:off x="795600" y="4718160"/>
            <a:ext cx="731664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3100" b="1" u="none" strike="noStrike">
                <a:solidFill>
                  <a:srgbClr val="F1F5F9"/>
                </a:solidFill>
                <a:effectLst/>
                <a:uFillTx/>
                <a:latin typeface="Inter"/>
              </a:rPr>
              <a:t>SUHAIB S Z</a:t>
            </a:r>
            <a:endParaRPr lang="en-US" sz="3100" b="0" u="none" strike="noStrike">
              <a:solidFill>
                <a:srgbClr val="000000"/>
              </a:solidFill>
              <a:effectLst/>
              <a:uFillTx/>
              <a:latin typeface="Arial"/>
            </a:endParaRPr>
          </a:p>
        </p:txBody>
      </p:sp>
      <p:sp>
        <p:nvSpPr>
          <p:cNvPr id="74" name="TextBox 8"/>
          <p:cNvSpPr/>
          <p:nvPr/>
        </p:nvSpPr>
        <p:spPr>
          <a:xfrm>
            <a:off x="795600" y="6327720"/>
            <a:ext cx="91872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94A3B8"/>
                </a:solidFill>
                <a:effectLst/>
                <a:uFillTx/>
                <a:latin typeface="Inter"/>
              </a:rPr>
              <a:t>NEU-CLS  ·  EfficientNet-B0 + multi-scale local branch  ·  CKKS homomorphic inference</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additive="repl">
                                        <p:cTn id="7" dur="35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after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fade">
                                      <p:cBhvr additive="repl">
                                        <p:cTn id="12" dur="35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fill="hold" nodeType="after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additive="repl">
                                        <p:cTn id="17" dur="350"/>
                                        <p:tgtEl>
                                          <p:spTgt spid="7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nodeType="afterEffect">
                                  <p:stCondLst>
                                    <p:cond delay="0"/>
                                  </p:stCondLst>
                                  <p:childTnLst>
                                    <p:set>
                                      <p:cBhvr>
                                        <p:cTn id="21" dur="1" fill="hold">
                                          <p:stCondLst>
                                            <p:cond delay="0"/>
                                          </p:stCondLst>
                                        </p:cTn>
                                        <p:tgtEl>
                                          <p:spTgt spid="73"/>
                                        </p:tgtEl>
                                        <p:attrNameLst>
                                          <p:attrName>style.visibility</p:attrName>
                                        </p:attrNameLst>
                                      </p:cBhvr>
                                      <p:to>
                                        <p:strVal val="visible"/>
                                      </p:to>
                                    </p:set>
                                    <p:animEffect transition="in" filter="fade">
                                      <p:cBhvr additive="repl">
                                        <p:cTn id="22" dur="350"/>
                                        <p:tgtEl>
                                          <p:spTgt spid="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6"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Abstract</a:t>
            </a:r>
            <a:endParaRPr lang="en-US" sz="2700" b="0" u="none" strike="noStrike">
              <a:solidFill>
                <a:srgbClr val="000000"/>
              </a:solidFill>
              <a:effectLst/>
              <a:uFillTx/>
              <a:latin typeface="Arial"/>
            </a:endParaRPr>
          </a:p>
        </p:txBody>
      </p:sp>
      <p:sp>
        <p:nvSpPr>
          <p:cNvPr id="77"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78"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9" name="Rectangle 5"/>
          <p:cNvSpPr/>
          <p:nvPr/>
        </p:nvSpPr>
        <p:spPr>
          <a:xfrm>
            <a:off x="567000" y="6226920"/>
            <a:ext cx="3877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0"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81"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a:t>
            </a:r>
            <a:endParaRPr lang="en-US" sz="900" b="0" u="none" strike="noStrike">
              <a:solidFill>
                <a:srgbClr val="000000"/>
              </a:solidFill>
              <a:effectLst/>
              <a:uFillTx/>
              <a:latin typeface="Arial"/>
            </a:endParaRPr>
          </a:p>
        </p:txBody>
      </p:sp>
      <p:sp>
        <p:nvSpPr>
          <p:cNvPr id="82" name="TextBox 8"/>
          <p:cNvSpPr/>
          <p:nvPr/>
        </p:nvSpPr>
        <p:spPr>
          <a:xfrm>
            <a:off x="567000" y="1627560"/>
            <a:ext cx="10122120" cy="384012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Problem. </a:t>
            </a:r>
            <a:r>
              <a:rPr lang="en-US" sz="1300" b="0" u="none" strike="noStrike">
                <a:solidFill>
                  <a:srgbClr val="CBD5E1"/>
                </a:solidFill>
                <a:effectLst/>
                <a:uFillTx/>
                <a:latin typeface="Inter"/>
              </a:rPr>
              <a:t>Steel surface inspection is increasingly outsourced to cloud GPUs, but production imagery is commercially sensitive and leaks line yield and defect rates.</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Base paper. </a:t>
            </a:r>
            <a:r>
              <a:rPr lang="en-US" sz="1300" b="0" u="none" strike="noStrike">
                <a:solidFill>
                  <a:srgbClr val="CBD5E1"/>
                </a:solidFill>
                <a:effectLst/>
                <a:uFillTx/>
                <a:latin typeface="Inter"/>
              </a:rPr>
              <a:t>Jia et al. (2023) encrypt Sobel-selected image chunks under CKKS and report 97.1% on NEU-CLS — without precision, recall, split sizes or epoch count.</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Proposal. </a:t>
            </a:r>
            <a:r>
              <a:rPr lang="en-US" sz="1300" b="0" u="none" strike="noStrike">
                <a:solidFill>
                  <a:srgbClr val="CBD5E1"/>
                </a:solidFill>
                <a:effectLst/>
                <a:uFillTx/>
                <a:latin typeface="Inter"/>
              </a:rPr>
              <a:t>SAGE-HE pairs an EfficientNet-B0 global branch with a multi-scale local branch, selects chunks by a learned Sobel-conditioned attention rather than a fixed threshold, fuses the branches with a channel-wise gate, and compresses to a 64-d vector that is encrypted and classified by a depth-3 polynomial head.</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Result. </a:t>
            </a:r>
            <a:r>
              <a:rPr lang="en-US" sz="1300" b="0" u="none" strike="noStrike">
                <a:solidFill>
                  <a:srgbClr val="CBD5E1"/>
                </a:solidFill>
                <a:effectLst/>
                <a:uFillTx/>
                <a:latin typeface="Inter"/>
              </a:rPr>
              <a:t>SAGE-HE reaches 100.00% test accuracy against 93.98% for our faithful reproduction of the baseline, over 3 seeds on an identical held-out split. Encrypted and plaintext inference agree on 100.0% of test images.</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Caveat, and the main finding. </a:t>
            </a:r>
            <a:r>
              <a:rPr lang="en-US" sz="1300" b="0" u="none" strike="noStrike">
                <a:solidFill>
                  <a:srgbClr val="CBD5E1"/>
                </a:solidFill>
                <a:effectLst/>
                <a:uFillTx/>
                <a:latin typeface="Inter"/>
              </a:rPr>
              <a:t>NEU-CLS is saturated, so component contributions are measured in a reduced-data regime. There the full model scores *below* the bare EfficientNet-B0 backbone on every seed, and the gap closes to nothing once data is less scarce. The architectural claim is withdrawn; the reproduction, the encrypted inference and the evaluation protocol stand.</a:t>
            </a:r>
            <a:endParaRPr lang="en-US" sz="130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4"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Introduction</a:t>
            </a:r>
            <a:endParaRPr lang="en-US" sz="2700" b="0" u="none" strike="noStrike">
              <a:solidFill>
                <a:srgbClr val="000000"/>
              </a:solidFill>
              <a:effectLst/>
              <a:uFillTx/>
              <a:latin typeface="Arial"/>
            </a:endParaRPr>
          </a:p>
        </p:txBody>
      </p:sp>
      <p:sp>
        <p:nvSpPr>
          <p:cNvPr id="85"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Why surface defect classification, and why privacy changes the problem</a:t>
            </a:r>
            <a:endParaRPr lang="en-US" sz="1300" b="0" u="none" strike="noStrike">
              <a:solidFill>
                <a:srgbClr val="000000"/>
              </a:solidFill>
              <a:effectLst/>
              <a:uFillTx/>
              <a:latin typeface="Arial"/>
            </a:endParaRPr>
          </a:p>
        </p:txBody>
      </p:sp>
      <p:sp>
        <p:nvSpPr>
          <p:cNvPr id="86"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87"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8" name="Rectangle 6"/>
          <p:cNvSpPr/>
          <p:nvPr/>
        </p:nvSpPr>
        <p:spPr>
          <a:xfrm>
            <a:off x="567000" y="6226920"/>
            <a:ext cx="5817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9"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90"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a:t>
            </a:r>
            <a:endParaRPr lang="en-US" sz="900" b="0" u="none" strike="noStrike">
              <a:solidFill>
                <a:srgbClr val="000000"/>
              </a:solidFill>
              <a:effectLst/>
              <a:uFillTx/>
              <a:latin typeface="Arial"/>
            </a:endParaRPr>
          </a:p>
        </p:txBody>
      </p:sp>
      <p:sp>
        <p:nvSpPr>
          <p:cNvPr id="91" name="TextBox 9"/>
          <p:cNvSpPr/>
          <p:nvPr/>
        </p:nvSpPr>
        <p:spPr>
          <a:xfrm>
            <a:off x="567000" y="1627560"/>
            <a:ext cx="5446440" cy="384012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300" b="1" u="none" strike="noStrike">
                <a:solidFill>
                  <a:srgbClr val="3987E5"/>
                </a:solidFill>
                <a:effectLst/>
                <a:uFillTx/>
                <a:latin typeface="Inter"/>
              </a:rPr>
              <a:t>— </a:t>
            </a:r>
            <a:r>
              <a:rPr lang="en-US" sz="1300" b="0" u="none" strike="noStrike">
                <a:solidFill>
                  <a:srgbClr val="CBD5E1"/>
                </a:solidFill>
                <a:effectLst/>
                <a:uFillTx/>
                <a:latin typeface="Inter"/>
              </a:rPr>
              <a:t>Hot-rolled steel strip is inspected continuously; surface defects determine whether a coil is sold, downgraded or scrapped.</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0" u="none" strike="noStrike">
                <a:solidFill>
                  <a:srgbClr val="CBD5E1"/>
                </a:solidFill>
                <a:effectLst/>
                <a:uFillTx/>
                <a:latin typeface="Inter"/>
              </a:rPr>
              <a:t>Modern classifiers are accurate but compute-hungry, which pushes inference to cloud GPUs.</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0" u="none" strike="noStrike">
                <a:solidFill>
                  <a:srgbClr val="CBD5E1"/>
                </a:solidFill>
                <a:effectLst/>
                <a:uFillTx/>
                <a:latin typeface="Inter"/>
              </a:rPr>
              <a:t>Inspection images are a direct readout of process health: defect mix and rate expose yield, machine condition and production volume.</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0" u="none" strike="noStrike">
                <a:solidFill>
                  <a:srgbClr val="CBD5E1"/>
                </a:solidFill>
                <a:effectLst/>
                <a:uFillTx/>
                <a:latin typeface="Inter"/>
              </a:rPr>
              <a:t>A mill that sends raw images to a third-party cloud is disclosing exactly the data it least wants a competitor to hold.</a:t>
            </a:r>
            <a:endParaRPr lang="en-US" sz="1300" b="0" u="none" strike="noStrike">
              <a:solidFill>
                <a:srgbClr val="000000"/>
              </a:solidFill>
              <a:effectLst/>
              <a:uFillTx/>
              <a:latin typeface="Arial"/>
            </a:endParaRPr>
          </a:p>
        </p:txBody>
      </p:sp>
      <p:sp>
        <p:nvSpPr>
          <p:cNvPr id="92" name="Rounded Rectangle 10"/>
          <p:cNvSpPr/>
          <p:nvPr/>
        </p:nvSpPr>
        <p:spPr>
          <a:xfrm>
            <a:off x="7113240" y="1627560"/>
            <a:ext cx="4511160" cy="19198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3" name="Rectangle 11"/>
          <p:cNvSpPr/>
          <p:nvPr/>
        </p:nvSpPr>
        <p:spPr>
          <a:xfrm>
            <a:off x="7113240" y="1627560"/>
            <a:ext cx="40680" cy="191988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4" name="TextBox 12"/>
          <p:cNvSpPr/>
          <p:nvPr/>
        </p:nvSpPr>
        <p:spPr>
          <a:xfrm>
            <a:off x="7332840" y="176472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3987E5"/>
                </a:solidFill>
                <a:effectLst/>
                <a:uFillTx/>
                <a:latin typeface="Inter"/>
              </a:rPr>
              <a:t>The tension</a:t>
            </a:r>
            <a:endParaRPr lang="en-US" sz="1150" b="0" u="none" strike="noStrike">
              <a:solidFill>
                <a:srgbClr val="000000"/>
              </a:solidFill>
              <a:effectLst/>
              <a:uFillTx/>
              <a:latin typeface="Arial"/>
            </a:endParaRPr>
          </a:p>
        </p:txBody>
      </p:sp>
      <p:sp>
        <p:nvSpPr>
          <p:cNvPr id="95" name="TextBox 13"/>
          <p:cNvSpPr/>
          <p:nvPr/>
        </p:nvSpPr>
        <p:spPr>
          <a:xfrm>
            <a:off x="7332840" y="2103120"/>
            <a:ext cx="4090320" cy="12981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Accuracy wants a large model on someone else's hardware.</a:t>
            </a: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Confidentiality wants the data never to leave the plant.</a:t>
            </a: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Homomorphic encryption is the one mechanism that can serve both.</a:t>
            </a:r>
            <a:endParaRPr lang="en-US" sz="1150" b="0" u="none" strike="noStrike">
              <a:solidFill>
                <a:srgbClr val="000000"/>
              </a:solidFill>
              <a:effectLst/>
              <a:uFillTx/>
              <a:latin typeface="Arial"/>
            </a:endParaRPr>
          </a:p>
        </p:txBody>
      </p:sp>
      <p:sp>
        <p:nvSpPr>
          <p:cNvPr id="96" name="Rounded Rectangle 14"/>
          <p:cNvSpPr/>
          <p:nvPr/>
        </p:nvSpPr>
        <p:spPr>
          <a:xfrm>
            <a:off x="7113240" y="3776400"/>
            <a:ext cx="4511160" cy="16912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7" name="Rectangle 15"/>
          <p:cNvSpPr/>
          <p:nvPr/>
        </p:nvSpPr>
        <p:spPr>
          <a:xfrm>
            <a:off x="7113240" y="3776400"/>
            <a:ext cx="40680" cy="169128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8" name="TextBox 16"/>
          <p:cNvSpPr/>
          <p:nvPr/>
        </p:nvSpPr>
        <p:spPr>
          <a:xfrm>
            <a:off x="7332840" y="391356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What this project does</a:t>
            </a:r>
            <a:endParaRPr lang="en-US" sz="1150" b="0" u="none" strike="noStrike">
              <a:solidFill>
                <a:srgbClr val="000000"/>
              </a:solidFill>
              <a:effectLst/>
              <a:uFillTx/>
              <a:latin typeface="Arial"/>
            </a:endParaRPr>
          </a:p>
        </p:txBody>
      </p:sp>
      <p:sp>
        <p:nvSpPr>
          <p:cNvPr id="99" name="TextBox 17"/>
          <p:cNvSpPr/>
          <p:nvPr/>
        </p:nvSpPr>
        <p:spPr>
          <a:xfrm>
            <a:off x="7332840" y="4251960"/>
            <a:ext cx="4090320" cy="10695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Builds a working system on that boundary, measures its real cost, and states precisely what it does and does not protect.</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presetID="10" presetClass="entr" fill="hold" nodeType="clickEffect">
                                  <p:stCondLst>
                                    <p:cond delay="0"/>
                                  </p:stCondLst>
                                  <p:childTnLst>
                                    <p:set>
                                      <p:cBhvr>
                                        <p:cTn id="28" dur="1" fill="hold">
                                          <p:stCondLst>
                                            <p:cond delay="0"/>
                                          </p:stCondLst>
                                        </p:cTn>
                                        <p:tgtEl>
                                          <p:spTgt spid="95"/>
                                        </p:tgtEl>
                                        <p:attrNameLst>
                                          <p:attrName>style.visibility</p:attrName>
                                        </p:attrNameLst>
                                      </p:cBhvr>
                                      <p:to>
                                        <p:strVal val="visible"/>
                                      </p:to>
                                    </p:set>
                                    <p:animEffect transition="in" filter="fade">
                                      <p:cBhvr additive="repl">
                                        <p:cTn id="29" dur="350"/>
                                        <p:tgtEl>
                                          <p:spTgt spid="9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fill="hold" nodeType="afterEffect">
                                  <p:stCondLst>
                                    <p:cond delay="0"/>
                                  </p:stCondLst>
                                  <p:childTnLst>
                                    <p:set>
                                      <p:cBhvr>
                                        <p:cTn id="33" dur="1" fill="hold">
                                          <p:stCondLst>
                                            <p:cond delay="0"/>
                                          </p:stCondLst>
                                        </p:cTn>
                                        <p:tgtEl>
                                          <p:spTgt spid="96"/>
                                        </p:tgtEl>
                                        <p:attrNameLst>
                                          <p:attrName>style.visibility</p:attrName>
                                        </p:attrNameLst>
                                      </p:cBhvr>
                                      <p:to>
                                        <p:strVal val="visible"/>
                                      </p:to>
                                    </p:set>
                                    <p:animEffect transition="in" filter="fade">
                                      <p:cBhvr additive="repl">
                                        <p:cTn id="34" dur="350"/>
                                        <p:tgtEl>
                                          <p:spTgt spid="9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fill="hold" nodeType="afterEffect">
                                  <p:stCondLst>
                                    <p:cond delay="0"/>
                                  </p:stCondLst>
                                  <p:childTnLst>
                                    <p:set>
                                      <p:cBhvr>
                                        <p:cTn id="38" dur="1" fill="hold">
                                          <p:stCondLst>
                                            <p:cond delay="0"/>
                                          </p:stCondLst>
                                        </p:cTn>
                                        <p:tgtEl>
                                          <p:spTgt spid="97"/>
                                        </p:tgtEl>
                                        <p:attrNameLst>
                                          <p:attrName>style.visibility</p:attrName>
                                        </p:attrNameLst>
                                      </p:cBhvr>
                                      <p:to>
                                        <p:strVal val="visible"/>
                                      </p:to>
                                    </p:set>
                                    <p:animEffect transition="in" filter="fade">
                                      <p:cBhvr additive="repl">
                                        <p:cTn id="39" dur="350"/>
                                        <p:tgtEl>
                                          <p:spTgt spid="9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fill="hold" nodeType="afterEffect">
                                  <p:stCondLst>
                                    <p:cond delay="0"/>
                                  </p:stCondLst>
                                  <p:childTnLst>
                                    <p:set>
                                      <p:cBhvr>
                                        <p:cTn id="43" dur="1" fill="hold">
                                          <p:stCondLst>
                                            <p:cond delay="0"/>
                                          </p:stCondLst>
                                        </p:cTn>
                                        <p:tgtEl>
                                          <p:spTgt spid="98"/>
                                        </p:tgtEl>
                                        <p:attrNameLst>
                                          <p:attrName>style.visibility</p:attrName>
                                        </p:attrNameLst>
                                      </p:cBhvr>
                                      <p:to>
                                        <p:strVal val="visible"/>
                                      </p:to>
                                    </p:set>
                                    <p:animEffect transition="in" filter="fade">
                                      <p:cBhvr additive="repl">
                                        <p:cTn id="44" dur="350"/>
                                        <p:tgtEl>
                                          <p:spTgt spid="9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fill="hold" nodeType="afterEffect">
                                  <p:stCondLst>
                                    <p:cond delay="0"/>
                                  </p:stCondLst>
                                  <p:childTnLst>
                                    <p:set>
                                      <p:cBhvr>
                                        <p:cTn id="48" dur="1" fill="hold">
                                          <p:stCondLst>
                                            <p:cond delay="0"/>
                                          </p:stCondLst>
                                        </p:cTn>
                                        <p:tgtEl>
                                          <p:spTgt spid="99"/>
                                        </p:tgtEl>
                                        <p:attrNameLst>
                                          <p:attrName>style.visibility</p:attrName>
                                        </p:attrNameLst>
                                      </p:cBhvr>
                                      <p:to>
                                        <p:strVal val="visible"/>
                                      </p:to>
                                    </p:set>
                                    <p:animEffect transition="in" filter="fade">
                                      <p:cBhvr additive="repl">
                                        <p:cTn id="49" dur="35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1"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Industrial Problem Context</a:t>
            </a:r>
            <a:endParaRPr lang="en-US" sz="2700" b="0" u="none" strike="noStrike">
              <a:solidFill>
                <a:srgbClr val="000000"/>
              </a:solidFill>
              <a:effectLst/>
              <a:uFillTx/>
              <a:latin typeface="Arial"/>
            </a:endParaRPr>
          </a:p>
        </p:txBody>
      </p:sp>
      <p:sp>
        <p:nvSpPr>
          <p:cNvPr id="102"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The six NEU-CLS defect classes</a:t>
            </a:r>
            <a:endParaRPr lang="en-US" sz="1300" b="0" u="none" strike="noStrike">
              <a:solidFill>
                <a:srgbClr val="000000"/>
              </a:solidFill>
              <a:effectLst/>
              <a:uFillTx/>
              <a:latin typeface="Arial"/>
            </a:endParaRPr>
          </a:p>
        </p:txBody>
      </p:sp>
      <p:sp>
        <p:nvSpPr>
          <p:cNvPr id="103"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04"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5" name="Rectangle 6"/>
          <p:cNvSpPr/>
          <p:nvPr/>
        </p:nvSpPr>
        <p:spPr>
          <a:xfrm>
            <a:off x="567000" y="6226920"/>
            <a:ext cx="7758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6"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07"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a:t>
            </a:r>
            <a:endParaRPr lang="en-US" sz="900" b="0" u="none" strike="noStrike">
              <a:solidFill>
                <a:srgbClr val="000000"/>
              </a:solidFill>
              <a:effectLst/>
              <a:uFillTx/>
              <a:latin typeface="Arial"/>
            </a:endParaRPr>
          </a:p>
        </p:txBody>
      </p:sp>
      <p:pic>
        <p:nvPicPr>
          <p:cNvPr id="108" name="Picture 9" descr="dataset_samples_1814.png"/>
          <p:cNvPicPr/>
          <p:nvPr/>
        </p:nvPicPr>
        <p:blipFill>
          <a:blip r:embed="rId1"/>
          <a:stretch/>
        </p:blipFill>
        <p:spPr>
          <a:xfrm>
            <a:off x="567000" y="2338560"/>
            <a:ext cx="11057400" cy="2509560"/>
          </a:xfrm>
          <a:prstGeom prst="rect">
            <a:avLst/>
          </a:prstGeom>
          <a:noFill/>
          <a:ln w="0">
            <a:noFill/>
          </a:ln>
        </p:spPr>
      </p:pic>
      <p:sp>
        <p:nvSpPr>
          <p:cNvPr id="109" name="TextBox 10"/>
          <p:cNvSpPr/>
          <p:nvPr/>
        </p:nvSpPr>
        <p:spPr>
          <a:xfrm>
            <a:off x="567000" y="5806440"/>
            <a:ext cx="11057400" cy="3654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i="1" u="none" strike="noStrike">
                <a:solidFill>
                  <a:srgbClr val="94A3B8"/>
                </a:solidFill>
                <a:effectLst/>
                <a:uFillTx/>
                <a:latin typeface="Inter"/>
              </a:rPr>
              <a:t>Each class has a different physical cause and a different spatial scale — which is the architectural argument for a multi-scale local branch.</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50" dur="indefinite" restart="never" nodeType="tmRoot">
          <p:childTnLst>
            <p:seq>
              <p:cTn id="51" dur="indefinite" nodeType="mainSeq">
                <p:childTnLst>
                  <p:par>
                    <p:cTn id="52" fill="hold">
                      <p:stCondLst>
                        <p:cond delay="indefinite"/>
                      </p:stCondLst>
                      <p:childTnLst>
                        <p:par>
                          <p:cTn id="53" fill="hold">
                            <p:stCondLst>
                              <p:cond delay="0"/>
                            </p:stCondLst>
                            <p:childTnLst>
                              <p:par>
                                <p:cTn id="54" presetID="10" presetClass="entr" fill="hold" nodeType="clickEffect">
                                  <p:stCondLst>
                                    <p:cond delay="0"/>
                                  </p:stCondLst>
                                  <p:childTnLst>
                                    <p:set>
                                      <p:cBhvr>
                                        <p:cTn id="55" dur="1" fill="hold">
                                          <p:stCondLst>
                                            <p:cond delay="0"/>
                                          </p:stCondLst>
                                        </p:cTn>
                                        <p:tgtEl>
                                          <p:spTgt spid="108"/>
                                        </p:tgtEl>
                                        <p:attrNameLst>
                                          <p:attrName>style.visibility</p:attrName>
                                        </p:attrNameLst>
                                      </p:cBhvr>
                                      <p:to>
                                        <p:strVal val="visible"/>
                                      </p:to>
                                    </p:set>
                                    <p:animEffect transition="in" filter="fade">
                                      <p:cBhvr additive="repl">
                                        <p:cTn id="56" dur="350"/>
                                        <p:tgtEl>
                                          <p:spTgt spid="10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fill="hold" nodeType="afterEffect">
                                  <p:stCondLst>
                                    <p:cond delay="0"/>
                                  </p:stCondLst>
                                  <p:childTnLst>
                                    <p:set>
                                      <p:cBhvr>
                                        <p:cTn id="60" dur="1" fill="hold">
                                          <p:stCondLst>
                                            <p:cond delay="0"/>
                                          </p:stCondLst>
                                        </p:cTn>
                                        <p:tgtEl>
                                          <p:spTgt spid="109"/>
                                        </p:tgtEl>
                                        <p:attrNameLst>
                                          <p:attrName>style.visibility</p:attrName>
                                        </p:attrNameLst>
                                      </p:cBhvr>
                                      <p:to>
                                        <p:strVal val="visible"/>
                                      </p:to>
                                    </p:set>
                                    <p:animEffect transition="in" filter="fade">
                                      <p:cBhvr additive="repl">
                                        <p:cTn id="61" dur="35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1"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Problem Statement</a:t>
            </a:r>
            <a:endParaRPr lang="en-US" sz="2700" b="0" u="none" strike="noStrike">
              <a:solidFill>
                <a:srgbClr val="000000"/>
              </a:solidFill>
              <a:effectLst/>
              <a:uFillTx/>
              <a:latin typeface="Arial"/>
            </a:endParaRPr>
          </a:p>
        </p:txBody>
      </p:sp>
      <p:sp>
        <p:nvSpPr>
          <p:cNvPr id="112"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13"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14" name="Rectangle 5"/>
          <p:cNvSpPr/>
          <p:nvPr/>
        </p:nvSpPr>
        <p:spPr>
          <a:xfrm>
            <a:off x="567000" y="6226920"/>
            <a:ext cx="9694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15"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16"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5</a:t>
            </a:r>
            <a:endParaRPr lang="en-US" sz="900" b="0" u="none" strike="noStrike">
              <a:solidFill>
                <a:srgbClr val="000000"/>
              </a:solidFill>
              <a:effectLst/>
              <a:uFillTx/>
              <a:latin typeface="Arial"/>
            </a:endParaRPr>
          </a:p>
        </p:txBody>
      </p:sp>
      <p:sp>
        <p:nvSpPr>
          <p:cNvPr id="117" name="Rounded Rectangle 8"/>
          <p:cNvSpPr/>
          <p:nvPr/>
        </p:nvSpPr>
        <p:spPr>
          <a:xfrm>
            <a:off x="567000" y="1627560"/>
            <a:ext cx="11057400" cy="1142640"/>
          </a:xfrm>
          <a:prstGeom prst="roundRect">
            <a:avLst>
              <a:gd name="adj" fmla="val 6000"/>
            </a:avLst>
          </a:prstGeom>
          <a:solidFill>
            <a:srgbClr val="16213C"/>
          </a:solidFill>
          <a:ln w="12700">
            <a:solidFill>
              <a:srgbClr val="3987E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8" name="TextBox 9"/>
          <p:cNvSpPr/>
          <p:nvPr/>
        </p:nvSpPr>
        <p:spPr>
          <a:xfrm>
            <a:off x="841320" y="1865520"/>
            <a:ext cx="10122120" cy="731160"/>
          </a:xfrm>
          <a:prstGeom prst="rect">
            <a:avLst/>
          </a:prstGeom>
          <a:noFill/>
          <a:ln w="0">
            <a:noFill/>
          </a:ln>
        </p:spPr>
        <p:style>
          <a:lnRef idx="0"/>
          <a:fillRef idx="0"/>
          <a:effectRef idx="0"/>
          <a:fontRef idx="minor"/>
        </p:style>
        <p:txBody>
          <a:bodyPr lIns="0" tIns="0" rIns="0" bIns="0" anchor="t">
            <a:spAutoFit/>
          </a:bodyPr>
          <a:p>
            <a:pPr defTabSz="457200">
              <a:lnSpc>
                <a:spcPct val="125000"/>
              </a:lnSpc>
              <a:spcAft>
                <a:spcPts val="400"/>
              </a:spcAft>
            </a:pPr>
            <a:r>
              <a:rPr lang="en-US" sz="1600" b="0" u="none" strike="noStrike">
                <a:solidFill>
                  <a:srgbClr val="F1F5F9"/>
                </a:solidFill>
                <a:effectLst/>
                <a:uFillTx/>
                <a:latin typeface="Inter"/>
              </a:rPr>
              <a:t>Can a cloud service classify steel surface defects at state-of-the-art accuracy without ever being able to read the images or the predictions — and what does that cost?</a:t>
            </a:r>
            <a:endParaRPr lang="en-US" sz="1600" b="0" u="none" strike="noStrike">
              <a:solidFill>
                <a:srgbClr val="000000"/>
              </a:solidFill>
              <a:effectLst/>
              <a:uFillTx/>
              <a:latin typeface="Arial"/>
            </a:endParaRPr>
          </a:p>
        </p:txBody>
      </p:sp>
      <p:sp>
        <p:nvSpPr>
          <p:cNvPr id="119" name="TextBox 10"/>
          <p:cNvSpPr/>
          <p:nvPr/>
        </p:nvSpPr>
        <p:spPr>
          <a:xfrm>
            <a:off x="567000" y="3136320"/>
            <a:ext cx="11057400" cy="255996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Accuracy. </a:t>
            </a:r>
            <a:r>
              <a:rPr lang="en-US" sz="1300" b="0" u="none" strike="noStrike">
                <a:solidFill>
                  <a:srgbClr val="CBD5E1"/>
                </a:solidFill>
                <a:effectLst/>
                <a:uFillTx/>
                <a:latin typeface="Inter"/>
              </a:rPr>
              <a:t>The privacy mechanism must not meaningfully degrade classification.</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Practicality. </a:t>
            </a:r>
            <a:r>
              <a:rPr lang="en-US" sz="1300" b="0" u="none" strike="noStrike">
                <a:solidFill>
                  <a:srgbClr val="CBD5E1"/>
                </a:solidFill>
                <a:effectLst/>
                <a:uFillTx/>
                <a:latin typeface="Inter"/>
              </a:rPr>
              <a:t>Encrypted inference must run in seconds, not hours, on commodity CPU.</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Honesty of the threat model. </a:t>
            </a:r>
            <a:r>
              <a:rPr lang="en-US" sz="1300" b="0" u="none" strike="noStrike">
                <a:solidFill>
                  <a:srgbClr val="CBD5E1"/>
                </a:solidFill>
                <a:effectLst/>
                <a:uFillTx/>
                <a:latin typeface="Inter"/>
              </a:rPr>
              <a:t>It must be stated exactly which party learns what — a scheme that protects less than it appears to is worse than none.</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Reproducibility. </a:t>
            </a:r>
            <a:r>
              <a:rPr lang="en-US" sz="1300" b="0" u="none" strike="noStrike">
                <a:solidFill>
                  <a:srgbClr val="CBD5E1"/>
                </a:solidFill>
                <a:effectLst/>
                <a:uFillTx/>
                <a:latin typeface="Inter"/>
              </a:rPr>
              <a:t>The comparison against prior work must use the same held-out data, not a number quoted from a different split.</a:t>
            </a:r>
            <a:endParaRPr lang="en-US" sz="130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62" dur="indefinite" restart="never" nodeType="tmRoot">
          <p:childTnLst>
            <p:seq>
              <p:cTn id="63" dur="indefinite" nodeType="mainSeq">
                <p:childTnLst>
                  <p:par>
                    <p:cTn id="64" fill="hold">
                      <p:stCondLst>
                        <p:cond delay="indefinite"/>
                      </p:stCondLst>
                      <p:childTnLst>
                        <p:par>
                          <p:cTn id="65" fill="hold">
                            <p:stCondLst>
                              <p:cond delay="0"/>
                            </p:stCondLst>
                            <p:childTnLst>
                              <p:par>
                                <p:cTn id="66" presetID="10" presetClass="entr" fill="hold" nodeType="clickEffect">
                                  <p:stCondLst>
                                    <p:cond delay="0"/>
                                  </p:stCondLst>
                                  <p:childTnLst>
                                    <p:set>
                                      <p:cBhvr>
                                        <p:cTn id="67" dur="1" fill="hold">
                                          <p:stCondLst>
                                            <p:cond delay="0"/>
                                          </p:stCondLst>
                                        </p:cTn>
                                        <p:tgtEl>
                                          <p:spTgt spid="118"/>
                                        </p:tgtEl>
                                        <p:attrNameLst>
                                          <p:attrName>style.visibility</p:attrName>
                                        </p:attrNameLst>
                                      </p:cBhvr>
                                      <p:to>
                                        <p:strVal val="visible"/>
                                      </p:to>
                                    </p:set>
                                    <p:animEffect transition="in" filter="fade">
                                      <p:cBhvr additive="repl">
                                        <p:cTn id="68" dur="350"/>
                                        <p:tgtEl>
                                          <p:spTgt spid="11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fill="hold" nodeType="afterEffect">
                                  <p:stCondLst>
                                    <p:cond delay="0"/>
                                  </p:stCondLst>
                                  <p:childTnLst>
                                    <p:set>
                                      <p:cBhvr>
                                        <p:cTn id="72" dur="1" fill="hold">
                                          <p:stCondLst>
                                            <p:cond delay="0"/>
                                          </p:stCondLst>
                                        </p:cTn>
                                        <p:tgtEl>
                                          <p:spTgt spid="119"/>
                                        </p:tgtEl>
                                        <p:attrNameLst>
                                          <p:attrName>style.visibility</p:attrName>
                                        </p:attrNameLst>
                                      </p:cBhvr>
                                      <p:to>
                                        <p:strVal val="visible"/>
                                      </p:to>
                                    </p:set>
                                    <p:animEffect transition="in" filter="fade">
                                      <p:cBhvr additive="repl">
                                        <p:cTn id="73" dur="35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21"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Research Motivation</a:t>
            </a:r>
            <a:endParaRPr lang="en-US" sz="2700" b="0" u="none" strike="noStrike">
              <a:solidFill>
                <a:srgbClr val="000000"/>
              </a:solidFill>
              <a:effectLst/>
              <a:uFillTx/>
              <a:latin typeface="Arial"/>
            </a:endParaRPr>
          </a:p>
        </p:txBody>
      </p:sp>
      <p:sp>
        <p:nvSpPr>
          <p:cNvPr id="122"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What the base paper leaves open</a:t>
            </a:r>
            <a:endParaRPr lang="en-US" sz="1300" b="0" u="none" strike="noStrike">
              <a:solidFill>
                <a:srgbClr val="000000"/>
              </a:solidFill>
              <a:effectLst/>
              <a:uFillTx/>
              <a:latin typeface="Arial"/>
            </a:endParaRPr>
          </a:p>
        </p:txBody>
      </p:sp>
      <p:sp>
        <p:nvSpPr>
          <p:cNvPr id="123"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24"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25" name="Rectangle 6"/>
          <p:cNvSpPr/>
          <p:nvPr/>
        </p:nvSpPr>
        <p:spPr>
          <a:xfrm>
            <a:off x="567000" y="6226920"/>
            <a:ext cx="11635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26"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27"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6</a:t>
            </a:r>
            <a:endParaRPr lang="en-US" sz="900" b="0" u="none" strike="noStrike">
              <a:solidFill>
                <a:srgbClr val="000000"/>
              </a:solidFill>
              <a:effectLst/>
              <a:uFillTx/>
              <a:latin typeface="Arial"/>
            </a:endParaRPr>
          </a:p>
        </p:txBody>
      </p:sp>
      <p:sp>
        <p:nvSpPr>
          <p:cNvPr id="128" name="TextBox 9"/>
          <p:cNvSpPr/>
          <p:nvPr/>
        </p:nvSpPr>
        <p:spPr>
          <a:xfrm>
            <a:off x="567000" y="1627560"/>
            <a:ext cx="10122120" cy="393156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Selection is fixed and blind. </a:t>
            </a:r>
            <a:r>
              <a:rPr lang="en-US" sz="1300" b="0" u="none" strike="noStrike">
                <a:solidFill>
                  <a:srgbClr val="CBD5E1"/>
                </a:solidFill>
                <a:effectLst/>
                <a:uFillTx/>
                <a:latin typeface="Inter"/>
              </a:rPr>
              <a:t>Jia et al. keep chunks where the Sobel gradient exceeds a threshold τ. The rule is non-differentiable, cannot adapt to the task, and scores a lighting seam exactly as highly as a genuine defect. τ is never reported.</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The architecture is minimal. </a:t>
            </a:r>
            <a:r>
              <a:rPr lang="en-US" sz="1300" b="0" u="none" strike="noStrike">
                <a:solidFill>
                  <a:srgbClr val="CBD5E1"/>
                </a:solidFill>
                <a:effectLst/>
                <a:uFillTx/>
                <a:latin typeface="Inter"/>
              </a:rPr>
              <a:t>One 7×7 convolution and two fully connected layers — no mechanism for defects that live at different spatial scales.</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Evaluation is thin. </a:t>
            </a:r>
            <a:r>
              <a:rPr lang="en-US" sz="1300" b="0" u="none" strike="noStrike">
                <a:solidFill>
                  <a:srgbClr val="CBD5E1"/>
                </a:solidFill>
                <a:effectLst/>
                <a:uFillTx/>
                <a:latin typeface="Inter"/>
              </a:rPr>
              <a:t>Accuracy only; no precision, recall, F1, confusion matrix, split sizes or epoch count for NEU-CLS.</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1" u="none" strike="noStrike">
                <a:solidFill>
                  <a:srgbClr val="F1F5F9"/>
                </a:solidFill>
                <a:effectLst/>
                <a:uFillTx/>
                <a:latin typeface="Inter"/>
              </a:rPr>
              <a:t>The headline comparison is cross-dataset. </a:t>
            </a:r>
            <a:r>
              <a:rPr lang="en-US" sz="1300" b="0" u="none" strike="noStrike">
                <a:solidFill>
                  <a:srgbClr val="CBD5E1"/>
                </a:solidFill>
                <a:effectLst/>
                <a:uFillTx/>
                <a:latin typeface="Inter"/>
              </a:rPr>
              <a:t>Table 3 ranks their NEU-CLS accuracy against other papers' results on cancer genomics, Fashion-MNIST and CIFAR-10.</a:t>
            </a:r>
            <a:endParaRPr lang="en-US" sz="130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0"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Research Objectives</a:t>
            </a:r>
            <a:endParaRPr lang="en-US" sz="2700" b="0" u="none" strike="noStrike">
              <a:solidFill>
                <a:srgbClr val="000000"/>
              </a:solidFill>
              <a:effectLst/>
              <a:uFillTx/>
              <a:latin typeface="Arial"/>
            </a:endParaRPr>
          </a:p>
        </p:txBody>
      </p:sp>
      <p:sp>
        <p:nvSpPr>
          <p:cNvPr id="131"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32"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33" name="Rectangle 5"/>
          <p:cNvSpPr/>
          <p:nvPr/>
        </p:nvSpPr>
        <p:spPr>
          <a:xfrm>
            <a:off x="567000" y="6226920"/>
            <a:ext cx="13575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34"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35"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7</a:t>
            </a:r>
            <a:endParaRPr lang="en-US" sz="900" b="0" u="none" strike="noStrike">
              <a:solidFill>
                <a:srgbClr val="000000"/>
              </a:solidFill>
              <a:effectLst/>
              <a:uFillTx/>
              <a:latin typeface="Arial"/>
            </a:endParaRPr>
          </a:p>
        </p:txBody>
      </p:sp>
      <p:sp>
        <p:nvSpPr>
          <p:cNvPr id="136" name="Rounded Rectangle 8"/>
          <p:cNvSpPr/>
          <p:nvPr/>
        </p:nvSpPr>
        <p:spPr>
          <a:xfrm>
            <a:off x="567000" y="1627560"/>
            <a:ext cx="3575880" cy="1782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37" name="TextBox 9"/>
          <p:cNvSpPr/>
          <p:nvPr/>
        </p:nvSpPr>
        <p:spPr>
          <a:xfrm>
            <a:off x="786240" y="1810440"/>
            <a:ext cx="914040" cy="328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500" b="1" u="none" strike="noStrike">
                <a:solidFill>
                  <a:srgbClr val="60A5FA"/>
                </a:solidFill>
                <a:effectLst/>
                <a:uFillTx/>
                <a:latin typeface="Inter"/>
              </a:rPr>
              <a:t>01</a:t>
            </a:r>
            <a:endParaRPr lang="en-US" sz="1500" b="0" u="none" strike="noStrike">
              <a:solidFill>
                <a:srgbClr val="000000"/>
              </a:solidFill>
              <a:effectLst/>
              <a:uFillTx/>
              <a:latin typeface="Arial"/>
            </a:endParaRPr>
          </a:p>
        </p:txBody>
      </p:sp>
      <p:sp>
        <p:nvSpPr>
          <p:cNvPr id="138" name="TextBox 10"/>
          <p:cNvSpPr/>
          <p:nvPr/>
        </p:nvSpPr>
        <p:spPr>
          <a:xfrm>
            <a:off x="786240" y="2194560"/>
            <a:ext cx="3137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400" b="1" u="none" strike="noStrike">
                <a:solidFill>
                  <a:srgbClr val="F1F5F9"/>
                </a:solidFill>
                <a:effectLst/>
                <a:uFillTx/>
                <a:latin typeface="Inter"/>
              </a:rPr>
              <a:t>Reproduce</a:t>
            </a:r>
            <a:endParaRPr lang="en-US" sz="1400" b="0" u="none" strike="noStrike">
              <a:solidFill>
                <a:srgbClr val="000000"/>
              </a:solidFill>
              <a:effectLst/>
              <a:uFillTx/>
              <a:latin typeface="Arial"/>
            </a:endParaRPr>
          </a:p>
        </p:txBody>
      </p:sp>
      <p:sp>
        <p:nvSpPr>
          <p:cNvPr id="139" name="TextBox 11"/>
          <p:cNvSpPr/>
          <p:nvPr/>
        </p:nvSpPr>
        <p:spPr>
          <a:xfrm>
            <a:off x="786240" y="2541960"/>
            <a:ext cx="3137040" cy="7768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Inter"/>
              </a:rPr>
              <a:t>Implement Jia et al. faithfully from the published description and document every assumption it forces.</a:t>
            </a:r>
            <a:endParaRPr lang="en-US" sz="1050" b="0" u="none" strike="noStrike">
              <a:solidFill>
                <a:srgbClr val="000000"/>
              </a:solidFill>
              <a:effectLst/>
              <a:uFillTx/>
              <a:latin typeface="Arial"/>
            </a:endParaRPr>
          </a:p>
        </p:txBody>
      </p:sp>
      <p:sp>
        <p:nvSpPr>
          <p:cNvPr id="140" name="Rounded Rectangle 12"/>
          <p:cNvSpPr/>
          <p:nvPr/>
        </p:nvSpPr>
        <p:spPr>
          <a:xfrm>
            <a:off x="4307760" y="1627560"/>
            <a:ext cx="3575880" cy="1782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1" name="TextBox 13"/>
          <p:cNvSpPr/>
          <p:nvPr/>
        </p:nvSpPr>
        <p:spPr>
          <a:xfrm>
            <a:off x="4527360" y="1810440"/>
            <a:ext cx="914040" cy="328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500" b="1" u="none" strike="noStrike">
                <a:solidFill>
                  <a:srgbClr val="60A5FA"/>
                </a:solidFill>
                <a:effectLst/>
                <a:uFillTx/>
                <a:latin typeface="Inter"/>
              </a:rPr>
              <a:t>02</a:t>
            </a:r>
            <a:endParaRPr lang="en-US" sz="1500" b="0" u="none" strike="noStrike">
              <a:solidFill>
                <a:srgbClr val="000000"/>
              </a:solidFill>
              <a:effectLst/>
              <a:uFillTx/>
              <a:latin typeface="Arial"/>
            </a:endParaRPr>
          </a:p>
        </p:txBody>
      </p:sp>
      <p:sp>
        <p:nvSpPr>
          <p:cNvPr id="142" name="TextBox 14"/>
          <p:cNvSpPr/>
          <p:nvPr/>
        </p:nvSpPr>
        <p:spPr>
          <a:xfrm>
            <a:off x="4527360" y="2194560"/>
            <a:ext cx="3137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400" b="1" u="none" strike="noStrike">
                <a:solidFill>
                  <a:srgbClr val="F1F5F9"/>
                </a:solidFill>
                <a:effectLst/>
                <a:uFillTx/>
                <a:latin typeface="Inter"/>
              </a:rPr>
              <a:t>Improve</a:t>
            </a:r>
            <a:endParaRPr lang="en-US" sz="1400" b="0" u="none" strike="noStrike">
              <a:solidFill>
                <a:srgbClr val="000000"/>
              </a:solidFill>
              <a:effectLst/>
              <a:uFillTx/>
              <a:latin typeface="Arial"/>
            </a:endParaRPr>
          </a:p>
        </p:txBody>
      </p:sp>
      <p:sp>
        <p:nvSpPr>
          <p:cNvPr id="143" name="TextBox 15"/>
          <p:cNvSpPr/>
          <p:nvPr/>
        </p:nvSpPr>
        <p:spPr>
          <a:xfrm>
            <a:off x="4527360" y="2541960"/>
            <a:ext cx="3137040" cy="7768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Inter"/>
              </a:rPr>
              <a:t>Design a defensible architecture: multi-scale local features, learned chunk selection, gated fusion.</a:t>
            </a:r>
            <a:endParaRPr lang="en-US" sz="1050" b="0" u="none" strike="noStrike">
              <a:solidFill>
                <a:srgbClr val="000000"/>
              </a:solidFill>
              <a:effectLst/>
              <a:uFillTx/>
              <a:latin typeface="Arial"/>
            </a:endParaRPr>
          </a:p>
        </p:txBody>
      </p:sp>
      <p:sp>
        <p:nvSpPr>
          <p:cNvPr id="144" name="Rounded Rectangle 16"/>
          <p:cNvSpPr/>
          <p:nvPr/>
        </p:nvSpPr>
        <p:spPr>
          <a:xfrm>
            <a:off x="8048520" y="1627560"/>
            <a:ext cx="3575880" cy="1782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5" name="TextBox 17"/>
          <p:cNvSpPr/>
          <p:nvPr/>
        </p:nvSpPr>
        <p:spPr>
          <a:xfrm>
            <a:off x="8268120" y="1810440"/>
            <a:ext cx="914040" cy="328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500" b="1" u="none" strike="noStrike">
                <a:solidFill>
                  <a:srgbClr val="60A5FA"/>
                </a:solidFill>
                <a:effectLst/>
                <a:uFillTx/>
                <a:latin typeface="Inter"/>
              </a:rPr>
              <a:t>03</a:t>
            </a:r>
            <a:endParaRPr lang="en-US" sz="1500" b="0" u="none" strike="noStrike">
              <a:solidFill>
                <a:srgbClr val="000000"/>
              </a:solidFill>
              <a:effectLst/>
              <a:uFillTx/>
              <a:latin typeface="Arial"/>
            </a:endParaRPr>
          </a:p>
        </p:txBody>
      </p:sp>
      <p:sp>
        <p:nvSpPr>
          <p:cNvPr id="146" name="TextBox 18"/>
          <p:cNvSpPr/>
          <p:nvPr/>
        </p:nvSpPr>
        <p:spPr>
          <a:xfrm>
            <a:off x="8268120" y="2194560"/>
            <a:ext cx="3137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400" b="1" u="none" strike="noStrike">
                <a:solidFill>
                  <a:srgbClr val="F1F5F9"/>
                </a:solidFill>
                <a:effectLst/>
                <a:uFillTx/>
                <a:latin typeface="Inter"/>
              </a:rPr>
              <a:t>Encrypt</a:t>
            </a:r>
            <a:endParaRPr lang="en-US" sz="1400" b="0" u="none" strike="noStrike">
              <a:solidFill>
                <a:srgbClr val="000000"/>
              </a:solidFill>
              <a:effectLst/>
              <a:uFillTx/>
              <a:latin typeface="Arial"/>
            </a:endParaRPr>
          </a:p>
        </p:txBody>
      </p:sp>
      <p:sp>
        <p:nvSpPr>
          <p:cNvPr id="147" name="TextBox 19"/>
          <p:cNvSpPr/>
          <p:nvPr/>
        </p:nvSpPr>
        <p:spPr>
          <a:xfrm>
            <a:off x="8268120" y="2541960"/>
            <a:ext cx="3137040" cy="7768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Inter"/>
              </a:rPr>
              <a:t>Implement genuine CKKS inference with a stated threat model and measured overhead.</a:t>
            </a:r>
            <a:endParaRPr lang="en-US" sz="1050" b="0" u="none" strike="noStrike">
              <a:solidFill>
                <a:srgbClr val="000000"/>
              </a:solidFill>
              <a:effectLst/>
              <a:uFillTx/>
              <a:latin typeface="Arial"/>
            </a:endParaRPr>
          </a:p>
        </p:txBody>
      </p:sp>
      <p:sp>
        <p:nvSpPr>
          <p:cNvPr id="148" name="Rounded Rectangle 20"/>
          <p:cNvSpPr/>
          <p:nvPr/>
        </p:nvSpPr>
        <p:spPr>
          <a:xfrm>
            <a:off x="567000" y="3620880"/>
            <a:ext cx="3575880" cy="1782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49" name="TextBox 21"/>
          <p:cNvSpPr/>
          <p:nvPr/>
        </p:nvSpPr>
        <p:spPr>
          <a:xfrm>
            <a:off x="786240" y="3803760"/>
            <a:ext cx="914040" cy="328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500" b="1" u="none" strike="noStrike">
                <a:solidFill>
                  <a:srgbClr val="60A5FA"/>
                </a:solidFill>
                <a:effectLst/>
                <a:uFillTx/>
                <a:latin typeface="Inter"/>
              </a:rPr>
              <a:t>04</a:t>
            </a:r>
            <a:endParaRPr lang="en-US" sz="1500" b="0" u="none" strike="noStrike">
              <a:solidFill>
                <a:srgbClr val="000000"/>
              </a:solidFill>
              <a:effectLst/>
              <a:uFillTx/>
              <a:latin typeface="Arial"/>
            </a:endParaRPr>
          </a:p>
        </p:txBody>
      </p:sp>
      <p:sp>
        <p:nvSpPr>
          <p:cNvPr id="150" name="TextBox 22"/>
          <p:cNvSpPr/>
          <p:nvPr/>
        </p:nvSpPr>
        <p:spPr>
          <a:xfrm>
            <a:off x="786240" y="4187880"/>
            <a:ext cx="3137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400" b="1" u="none" strike="noStrike">
                <a:solidFill>
                  <a:srgbClr val="F1F5F9"/>
                </a:solidFill>
                <a:effectLst/>
                <a:uFillTx/>
                <a:latin typeface="Inter"/>
              </a:rPr>
              <a:t>Measure</a:t>
            </a:r>
            <a:endParaRPr lang="en-US" sz="1400" b="0" u="none" strike="noStrike">
              <a:solidFill>
                <a:srgbClr val="000000"/>
              </a:solidFill>
              <a:effectLst/>
              <a:uFillTx/>
              <a:latin typeface="Arial"/>
            </a:endParaRPr>
          </a:p>
        </p:txBody>
      </p:sp>
      <p:sp>
        <p:nvSpPr>
          <p:cNvPr id="151" name="TextBox 23"/>
          <p:cNvSpPr/>
          <p:nvPr/>
        </p:nvSpPr>
        <p:spPr>
          <a:xfrm>
            <a:off x="786240" y="4535280"/>
            <a:ext cx="3137040" cy="7768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Inter"/>
              </a:rPr>
              <a:t>Accuracy, macro P/R/F1, confusion, ablation, encryption cost — on one identical held-out split.</a:t>
            </a:r>
            <a:endParaRPr lang="en-US" sz="1050" b="0" u="none" strike="noStrike">
              <a:solidFill>
                <a:srgbClr val="000000"/>
              </a:solidFill>
              <a:effectLst/>
              <a:uFillTx/>
              <a:latin typeface="Arial"/>
            </a:endParaRPr>
          </a:p>
        </p:txBody>
      </p:sp>
      <p:sp>
        <p:nvSpPr>
          <p:cNvPr id="152" name="Rounded Rectangle 24"/>
          <p:cNvSpPr/>
          <p:nvPr/>
        </p:nvSpPr>
        <p:spPr>
          <a:xfrm>
            <a:off x="4307760" y="3620880"/>
            <a:ext cx="3575880" cy="1782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53" name="TextBox 25"/>
          <p:cNvSpPr/>
          <p:nvPr/>
        </p:nvSpPr>
        <p:spPr>
          <a:xfrm>
            <a:off x="4527360" y="3803760"/>
            <a:ext cx="914040" cy="328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500" b="1" u="none" strike="noStrike">
                <a:solidFill>
                  <a:srgbClr val="60A5FA"/>
                </a:solidFill>
                <a:effectLst/>
                <a:uFillTx/>
                <a:latin typeface="Inter"/>
              </a:rPr>
              <a:t>05</a:t>
            </a:r>
            <a:endParaRPr lang="en-US" sz="1500" b="0" u="none" strike="noStrike">
              <a:solidFill>
                <a:srgbClr val="000000"/>
              </a:solidFill>
              <a:effectLst/>
              <a:uFillTx/>
              <a:latin typeface="Arial"/>
            </a:endParaRPr>
          </a:p>
        </p:txBody>
      </p:sp>
      <p:sp>
        <p:nvSpPr>
          <p:cNvPr id="154" name="TextBox 26"/>
          <p:cNvSpPr/>
          <p:nvPr/>
        </p:nvSpPr>
        <p:spPr>
          <a:xfrm>
            <a:off x="4527360" y="4187880"/>
            <a:ext cx="3137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400" b="1" u="none" strike="noStrike">
                <a:solidFill>
                  <a:srgbClr val="F1F5F9"/>
                </a:solidFill>
                <a:effectLst/>
                <a:uFillTx/>
                <a:latin typeface="Inter"/>
              </a:rPr>
              <a:t>Explain</a:t>
            </a:r>
            <a:endParaRPr lang="en-US" sz="1400" b="0" u="none" strike="noStrike">
              <a:solidFill>
                <a:srgbClr val="000000"/>
              </a:solidFill>
              <a:effectLst/>
              <a:uFillTx/>
              <a:latin typeface="Arial"/>
            </a:endParaRPr>
          </a:p>
        </p:txBody>
      </p:sp>
      <p:sp>
        <p:nvSpPr>
          <p:cNvPr id="155" name="TextBox 27"/>
          <p:cNvSpPr/>
          <p:nvPr/>
        </p:nvSpPr>
        <p:spPr>
          <a:xfrm>
            <a:off x="4527360" y="4535280"/>
            <a:ext cx="3137040" cy="7768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Inter"/>
              </a:rPr>
              <a:t>Grad-CAM and attention maps, including the failure cases.</a:t>
            </a:r>
            <a:endParaRPr lang="en-US" sz="1050" b="0" u="none" strike="noStrike">
              <a:solidFill>
                <a:srgbClr val="000000"/>
              </a:solidFill>
              <a:effectLst/>
              <a:uFillTx/>
              <a:latin typeface="Arial"/>
            </a:endParaRPr>
          </a:p>
        </p:txBody>
      </p:sp>
      <p:sp>
        <p:nvSpPr>
          <p:cNvPr id="156" name="Rounded Rectangle 28"/>
          <p:cNvSpPr/>
          <p:nvPr/>
        </p:nvSpPr>
        <p:spPr>
          <a:xfrm>
            <a:off x="8048520" y="3620880"/>
            <a:ext cx="3575880" cy="1782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57" name="TextBox 29"/>
          <p:cNvSpPr/>
          <p:nvPr/>
        </p:nvSpPr>
        <p:spPr>
          <a:xfrm>
            <a:off x="8268120" y="3803760"/>
            <a:ext cx="914040" cy="328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500" b="1" u="none" strike="noStrike">
                <a:solidFill>
                  <a:srgbClr val="60A5FA"/>
                </a:solidFill>
                <a:effectLst/>
                <a:uFillTx/>
                <a:latin typeface="Inter"/>
              </a:rPr>
              <a:t>06</a:t>
            </a:r>
            <a:endParaRPr lang="en-US" sz="1500" b="0" u="none" strike="noStrike">
              <a:solidFill>
                <a:srgbClr val="000000"/>
              </a:solidFill>
              <a:effectLst/>
              <a:uFillTx/>
              <a:latin typeface="Arial"/>
            </a:endParaRPr>
          </a:p>
        </p:txBody>
      </p:sp>
      <p:sp>
        <p:nvSpPr>
          <p:cNvPr id="158" name="TextBox 30"/>
          <p:cNvSpPr/>
          <p:nvPr/>
        </p:nvSpPr>
        <p:spPr>
          <a:xfrm>
            <a:off x="8268120" y="4187880"/>
            <a:ext cx="3137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400" b="1" u="none" strike="noStrike">
                <a:solidFill>
                  <a:srgbClr val="F1F5F9"/>
                </a:solidFill>
                <a:effectLst/>
                <a:uFillTx/>
                <a:latin typeface="Inter"/>
              </a:rPr>
              <a:t>Report honestly</a:t>
            </a:r>
            <a:endParaRPr lang="en-US" sz="1400" b="0" u="none" strike="noStrike">
              <a:solidFill>
                <a:srgbClr val="000000"/>
              </a:solidFill>
              <a:effectLst/>
              <a:uFillTx/>
              <a:latin typeface="Arial"/>
            </a:endParaRPr>
          </a:p>
        </p:txBody>
      </p:sp>
      <p:sp>
        <p:nvSpPr>
          <p:cNvPr id="159" name="TextBox 31"/>
          <p:cNvSpPr/>
          <p:nvPr/>
        </p:nvSpPr>
        <p:spPr>
          <a:xfrm>
            <a:off x="8268120" y="4535280"/>
            <a:ext cx="3137040" cy="7768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Inter"/>
              </a:rPr>
              <a:t>State the dataset ceiling, the negative results, and the limits of the privacy claim.</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74" dur="indefinite" restart="never" nodeType="tmRoot">
          <p:childTnLst>
            <p:seq>
              <p:cTn id="75" dur="indefinite" nodeType="mainSeq">
                <p:childTnLst>
                  <p:par>
                    <p:cTn id="76" fill="hold">
                      <p:stCondLst>
                        <p:cond delay="indefinite"/>
                      </p:stCondLst>
                      <p:childTnLst>
                        <p:par>
                          <p:cTn id="77" fill="hold">
                            <p:stCondLst>
                              <p:cond delay="0"/>
                            </p:stCondLst>
                            <p:childTnLst>
                              <p:par>
                                <p:cTn id="78" presetID="10" presetClass="entr" fill="hold" nodeType="clickEffect">
                                  <p:stCondLst>
                                    <p:cond delay="0"/>
                                  </p:stCondLst>
                                  <p:childTnLst>
                                    <p:set>
                                      <p:cBhvr>
                                        <p:cTn id="79" dur="1" fill="hold">
                                          <p:stCondLst>
                                            <p:cond delay="0"/>
                                          </p:stCondLst>
                                        </p:cTn>
                                        <p:tgtEl>
                                          <p:spTgt spid="137"/>
                                        </p:tgtEl>
                                        <p:attrNameLst>
                                          <p:attrName>style.visibility</p:attrName>
                                        </p:attrNameLst>
                                      </p:cBhvr>
                                      <p:to>
                                        <p:strVal val="visible"/>
                                      </p:to>
                                    </p:set>
                                    <p:animEffect transition="in" filter="fade">
                                      <p:cBhvr additive="repl">
                                        <p:cTn id="80" dur="350"/>
                                        <p:tgtEl>
                                          <p:spTgt spid="137"/>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fill="hold" nodeType="afterEffect">
                                  <p:stCondLst>
                                    <p:cond delay="0"/>
                                  </p:stCondLst>
                                  <p:childTnLst>
                                    <p:set>
                                      <p:cBhvr>
                                        <p:cTn id="84" dur="1" fill="hold">
                                          <p:stCondLst>
                                            <p:cond delay="0"/>
                                          </p:stCondLst>
                                        </p:cTn>
                                        <p:tgtEl>
                                          <p:spTgt spid="138"/>
                                        </p:tgtEl>
                                        <p:attrNameLst>
                                          <p:attrName>style.visibility</p:attrName>
                                        </p:attrNameLst>
                                      </p:cBhvr>
                                      <p:to>
                                        <p:strVal val="visible"/>
                                      </p:to>
                                    </p:set>
                                    <p:animEffect transition="in" filter="fade">
                                      <p:cBhvr additive="repl">
                                        <p:cTn id="85" dur="350"/>
                                        <p:tgtEl>
                                          <p:spTgt spid="138"/>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fill="hold" nodeType="afterEffect">
                                  <p:stCondLst>
                                    <p:cond delay="0"/>
                                  </p:stCondLst>
                                  <p:childTnLst>
                                    <p:set>
                                      <p:cBhvr>
                                        <p:cTn id="89" dur="1" fill="hold">
                                          <p:stCondLst>
                                            <p:cond delay="0"/>
                                          </p:stCondLst>
                                        </p:cTn>
                                        <p:tgtEl>
                                          <p:spTgt spid="139"/>
                                        </p:tgtEl>
                                        <p:attrNameLst>
                                          <p:attrName>style.visibility</p:attrName>
                                        </p:attrNameLst>
                                      </p:cBhvr>
                                      <p:to>
                                        <p:strVal val="visible"/>
                                      </p:to>
                                    </p:set>
                                    <p:animEffect transition="in" filter="fade">
                                      <p:cBhvr additive="repl">
                                        <p:cTn id="90" dur="350"/>
                                        <p:tgtEl>
                                          <p:spTgt spid="13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fill="hold" nodeType="afterEffect">
                                  <p:stCondLst>
                                    <p:cond delay="0"/>
                                  </p:stCondLst>
                                  <p:childTnLst>
                                    <p:set>
                                      <p:cBhvr>
                                        <p:cTn id="94" dur="1" fill="hold">
                                          <p:stCondLst>
                                            <p:cond delay="0"/>
                                          </p:stCondLst>
                                        </p:cTn>
                                        <p:tgtEl>
                                          <p:spTgt spid="141"/>
                                        </p:tgtEl>
                                        <p:attrNameLst>
                                          <p:attrName>style.visibility</p:attrName>
                                        </p:attrNameLst>
                                      </p:cBhvr>
                                      <p:to>
                                        <p:strVal val="visible"/>
                                      </p:to>
                                    </p:set>
                                    <p:animEffect transition="in" filter="fade">
                                      <p:cBhvr additive="repl">
                                        <p:cTn id="95" dur="350"/>
                                        <p:tgtEl>
                                          <p:spTgt spid="141"/>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fill="hold" nodeType="afterEffect">
                                  <p:stCondLst>
                                    <p:cond delay="0"/>
                                  </p:stCondLst>
                                  <p:childTnLst>
                                    <p:set>
                                      <p:cBhvr>
                                        <p:cTn id="99" dur="1" fill="hold">
                                          <p:stCondLst>
                                            <p:cond delay="0"/>
                                          </p:stCondLst>
                                        </p:cTn>
                                        <p:tgtEl>
                                          <p:spTgt spid="142"/>
                                        </p:tgtEl>
                                        <p:attrNameLst>
                                          <p:attrName>style.visibility</p:attrName>
                                        </p:attrNameLst>
                                      </p:cBhvr>
                                      <p:to>
                                        <p:strVal val="visible"/>
                                      </p:to>
                                    </p:set>
                                    <p:animEffect transition="in" filter="fade">
                                      <p:cBhvr additive="repl">
                                        <p:cTn id="100" dur="350"/>
                                        <p:tgtEl>
                                          <p:spTgt spid="142"/>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fill="hold" nodeType="afterEffect">
                                  <p:stCondLst>
                                    <p:cond delay="0"/>
                                  </p:stCondLst>
                                  <p:childTnLst>
                                    <p:set>
                                      <p:cBhvr>
                                        <p:cTn id="104" dur="1" fill="hold">
                                          <p:stCondLst>
                                            <p:cond delay="0"/>
                                          </p:stCondLst>
                                        </p:cTn>
                                        <p:tgtEl>
                                          <p:spTgt spid="143"/>
                                        </p:tgtEl>
                                        <p:attrNameLst>
                                          <p:attrName>style.visibility</p:attrName>
                                        </p:attrNameLst>
                                      </p:cBhvr>
                                      <p:to>
                                        <p:strVal val="visible"/>
                                      </p:to>
                                    </p:set>
                                    <p:animEffect transition="in" filter="fade">
                                      <p:cBhvr additive="repl">
                                        <p:cTn id="105" dur="35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1"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Dataset  ·  NEU-CLS</a:t>
            </a:r>
            <a:endParaRPr lang="en-US" sz="2700" b="0" u="none" strike="noStrike">
              <a:solidFill>
                <a:srgbClr val="000000"/>
              </a:solidFill>
              <a:effectLst/>
              <a:uFillTx/>
              <a:latin typeface="Arial"/>
            </a:endParaRPr>
          </a:p>
        </p:txBody>
      </p:sp>
      <p:sp>
        <p:nvSpPr>
          <p:cNvPr id="162"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Verified against the published specification, not assumed</a:t>
            </a:r>
            <a:endParaRPr lang="en-US" sz="1300" b="0" u="none" strike="noStrike">
              <a:solidFill>
                <a:srgbClr val="000000"/>
              </a:solidFill>
              <a:effectLst/>
              <a:uFillTx/>
              <a:latin typeface="Arial"/>
            </a:endParaRPr>
          </a:p>
        </p:txBody>
      </p:sp>
      <p:sp>
        <p:nvSpPr>
          <p:cNvPr id="163"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64"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65" name="Rectangle 6"/>
          <p:cNvSpPr/>
          <p:nvPr/>
        </p:nvSpPr>
        <p:spPr>
          <a:xfrm>
            <a:off x="567000" y="6226920"/>
            <a:ext cx="15516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66"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67"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8</a:t>
            </a:r>
            <a:endParaRPr lang="en-US" sz="900" b="0" u="none" strike="noStrike">
              <a:solidFill>
                <a:srgbClr val="000000"/>
              </a:solidFill>
              <a:effectLst/>
              <a:uFillTx/>
              <a:latin typeface="Arial"/>
            </a:endParaRPr>
          </a:p>
        </p:txBody>
      </p:sp>
      <p:sp>
        <p:nvSpPr>
          <p:cNvPr id="168" name="Rounded Rectangle 9"/>
          <p:cNvSpPr/>
          <p:nvPr/>
        </p:nvSpPr>
        <p:spPr>
          <a:xfrm>
            <a:off x="56700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69" name="TextBox 10"/>
          <p:cNvSpPr/>
          <p:nvPr/>
        </p:nvSpPr>
        <p:spPr>
          <a:xfrm>
            <a:off x="76824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1800</a:t>
            </a:r>
            <a:endParaRPr lang="en-US" sz="2800" b="0" u="none" strike="noStrike">
              <a:solidFill>
                <a:srgbClr val="000000"/>
              </a:solidFill>
              <a:effectLst/>
              <a:uFillTx/>
              <a:latin typeface="Arial"/>
            </a:endParaRPr>
          </a:p>
        </p:txBody>
      </p:sp>
      <p:sp>
        <p:nvSpPr>
          <p:cNvPr id="170" name="TextBox 11"/>
          <p:cNvSpPr/>
          <p:nvPr/>
        </p:nvSpPr>
        <p:spPr>
          <a:xfrm>
            <a:off x="76824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images, 200×200 grayscale</a:t>
            </a:r>
            <a:endParaRPr lang="en-US" sz="1050" b="0" u="none" strike="noStrike">
              <a:solidFill>
                <a:srgbClr val="000000"/>
              </a:solidFill>
              <a:effectLst/>
              <a:uFillTx/>
              <a:latin typeface="Arial"/>
            </a:endParaRPr>
          </a:p>
        </p:txBody>
      </p:sp>
      <p:sp>
        <p:nvSpPr>
          <p:cNvPr id="171" name="Rounded Rectangle 12"/>
          <p:cNvSpPr/>
          <p:nvPr/>
        </p:nvSpPr>
        <p:spPr>
          <a:xfrm>
            <a:off x="337248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72" name="TextBox 13"/>
          <p:cNvSpPr/>
          <p:nvPr/>
        </p:nvSpPr>
        <p:spPr>
          <a:xfrm>
            <a:off x="357372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6</a:t>
            </a:r>
            <a:endParaRPr lang="en-US" sz="2800" b="0" u="none" strike="noStrike">
              <a:solidFill>
                <a:srgbClr val="000000"/>
              </a:solidFill>
              <a:effectLst/>
              <a:uFillTx/>
              <a:latin typeface="Arial"/>
            </a:endParaRPr>
          </a:p>
        </p:txBody>
      </p:sp>
      <p:sp>
        <p:nvSpPr>
          <p:cNvPr id="173" name="TextBox 14"/>
          <p:cNvSpPr/>
          <p:nvPr/>
        </p:nvSpPr>
        <p:spPr>
          <a:xfrm>
            <a:off x="357372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defect classes, 300 each</a:t>
            </a:r>
            <a:endParaRPr lang="en-US" sz="1050" b="0" u="none" strike="noStrike">
              <a:solidFill>
                <a:srgbClr val="000000"/>
              </a:solidFill>
              <a:effectLst/>
              <a:uFillTx/>
              <a:latin typeface="Arial"/>
            </a:endParaRPr>
          </a:p>
        </p:txBody>
      </p:sp>
      <p:sp>
        <p:nvSpPr>
          <p:cNvPr id="174" name="Rounded Rectangle 15"/>
          <p:cNvSpPr/>
          <p:nvPr/>
        </p:nvSpPr>
        <p:spPr>
          <a:xfrm>
            <a:off x="617832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75" name="TextBox 16"/>
          <p:cNvSpPr/>
          <p:nvPr/>
        </p:nvSpPr>
        <p:spPr>
          <a:xfrm>
            <a:off x="637920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FAB219"/>
                </a:solidFill>
                <a:effectLst/>
                <a:uFillTx/>
                <a:latin typeface="Inter"/>
              </a:rPr>
              <a:t>1</a:t>
            </a:r>
            <a:endParaRPr lang="en-US" sz="2800" b="0" u="none" strike="noStrike">
              <a:solidFill>
                <a:srgbClr val="000000"/>
              </a:solidFill>
              <a:effectLst/>
              <a:uFillTx/>
              <a:latin typeface="Arial"/>
            </a:endParaRPr>
          </a:p>
        </p:txBody>
      </p:sp>
      <p:sp>
        <p:nvSpPr>
          <p:cNvPr id="176" name="TextBox 17"/>
          <p:cNvSpPr/>
          <p:nvPr/>
        </p:nvSpPr>
        <p:spPr>
          <a:xfrm>
            <a:off x="637920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exact duplicate pair found and removed</a:t>
            </a:r>
            <a:endParaRPr lang="en-US" sz="1050" b="0" u="none" strike="noStrike">
              <a:solidFill>
                <a:srgbClr val="000000"/>
              </a:solidFill>
              <a:effectLst/>
              <a:uFillTx/>
              <a:latin typeface="Arial"/>
            </a:endParaRPr>
          </a:p>
        </p:txBody>
      </p:sp>
      <p:sp>
        <p:nvSpPr>
          <p:cNvPr id="177" name="Rounded Rectangle 18"/>
          <p:cNvSpPr/>
          <p:nvPr/>
        </p:nvSpPr>
        <p:spPr>
          <a:xfrm>
            <a:off x="898380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78" name="TextBox 19"/>
          <p:cNvSpPr/>
          <p:nvPr/>
        </p:nvSpPr>
        <p:spPr>
          <a:xfrm>
            <a:off x="918504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0CA30C"/>
                </a:solidFill>
                <a:effectLst/>
                <a:uFillTx/>
                <a:latin typeface="Inter"/>
              </a:rPr>
              <a:t>0</a:t>
            </a:r>
            <a:endParaRPr lang="en-US" sz="2800" b="0" u="none" strike="noStrike">
              <a:solidFill>
                <a:srgbClr val="000000"/>
              </a:solidFill>
              <a:effectLst/>
              <a:uFillTx/>
              <a:latin typeface="Arial"/>
            </a:endParaRPr>
          </a:p>
        </p:txBody>
      </p:sp>
      <p:sp>
        <p:nvSpPr>
          <p:cNvPr id="179" name="TextBox 20"/>
          <p:cNvSpPr/>
          <p:nvPr/>
        </p:nvSpPr>
        <p:spPr>
          <a:xfrm>
            <a:off x="918504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near-duplicate leakage after audit</a:t>
            </a:r>
            <a:endParaRPr lang="en-US" sz="1050" b="0" u="none" strike="noStrike">
              <a:solidFill>
                <a:srgbClr val="000000"/>
              </a:solidFill>
              <a:effectLst/>
              <a:uFillTx/>
              <a:latin typeface="Arial"/>
            </a:endParaRPr>
          </a:p>
        </p:txBody>
      </p:sp>
      <p:sp>
        <p:nvSpPr>
          <p:cNvPr id="180" name="TextBox 21"/>
          <p:cNvSpPr/>
          <p:nvPr/>
        </p:nvSpPr>
        <p:spPr>
          <a:xfrm>
            <a:off x="567000" y="3227760"/>
            <a:ext cx="13712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split</a:t>
            </a:r>
            <a:endParaRPr lang="en-US" sz="1050" b="0" u="none" strike="noStrike">
              <a:solidFill>
                <a:srgbClr val="000000"/>
              </a:solidFill>
              <a:effectLst/>
              <a:uFillTx/>
              <a:latin typeface="Arial"/>
            </a:endParaRPr>
          </a:p>
        </p:txBody>
      </p:sp>
      <p:sp>
        <p:nvSpPr>
          <p:cNvPr id="181" name="TextBox 22"/>
          <p:cNvSpPr/>
          <p:nvPr/>
        </p:nvSpPr>
        <p:spPr>
          <a:xfrm>
            <a:off x="1938600" y="3227760"/>
            <a:ext cx="11883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images</a:t>
            </a:r>
            <a:endParaRPr lang="en-US" sz="1050" b="0" u="none" strike="noStrike">
              <a:solidFill>
                <a:srgbClr val="000000"/>
              </a:solidFill>
              <a:effectLst/>
              <a:uFillTx/>
              <a:latin typeface="Arial"/>
            </a:endParaRPr>
          </a:p>
        </p:txBody>
      </p:sp>
      <p:sp>
        <p:nvSpPr>
          <p:cNvPr id="182" name="TextBox 23"/>
          <p:cNvSpPr/>
          <p:nvPr/>
        </p:nvSpPr>
        <p:spPr>
          <a:xfrm>
            <a:off x="3127320" y="3227760"/>
            <a:ext cx="3821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per class</a:t>
            </a:r>
            <a:endParaRPr lang="en-US" sz="1050" b="0" u="none" strike="noStrike">
              <a:solidFill>
                <a:srgbClr val="000000"/>
              </a:solidFill>
              <a:effectLst/>
              <a:uFillTx/>
              <a:latin typeface="Arial"/>
            </a:endParaRPr>
          </a:p>
        </p:txBody>
      </p:sp>
      <p:sp>
        <p:nvSpPr>
          <p:cNvPr id="183" name="Rectangle 24"/>
          <p:cNvSpPr/>
          <p:nvPr/>
        </p:nvSpPr>
        <p:spPr>
          <a:xfrm>
            <a:off x="567000" y="3520440"/>
            <a:ext cx="638136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184" name="TextBox 25"/>
          <p:cNvSpPr/>
          <p:nvPr/>
        </p:nvSpPr>
        <p:spPr>
          <a:xfrm>
            <a:off x="567000" y="3611880"/>
            <a:ext cx="13712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train</a:t>
            </a:r>
            <a:endParaRPr lang="en-US" sz="1100" b="0" u="none" strike="noStrike">
              <a:solidFill>
                <a:srgbClr val="000000"/>
              </a:solidFill>
              <a:effectLst/>
              <a:uFillTx/>
              <a:latin typeface="Arial"/>
            </a:endParaRPr>
          </a:p>
        </p:txBody>
      </p:sp>
      <p:sp>
        <p:nvSpPr>
          <p:cNvPr id="185" name="TextBox 26"/>
          <p:cNvSpPr/>
          <p:nvPr/>
        </p:nvSpPr>
        <p:spPr>
          <a:xfrm>
            <a:off x="1938600" y="3611880"/>
            <a:ext cx="1188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1223</a:t>
            </a:r>
            <a:endParaRPr lang="en-US" sz="1100" b="0" u="none" strike="noStrike">
              <a:solidFill>
                <a:srgbClr val="000000"/>
              </a:solidFill>
              <a:effectLst/>
              <a:uFillTx/>
              <a:latin typeface="Arial"/>
            </a:endParaRPr>
          </a:p>
        </p:txBody>
      </p:sp>
      <p:sp>
        <p:nvSpPr>
          <p:cNvPr id="186" name="TextBox 27"/>
          <p:cNvSpPr/>
          <p:nvPr/>
        </p:nvSpPr>
        <p:spPr>
          <a:xfrm>
            <a:off x="3127320" y="3611880"/>
            <a:ext cx="3821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204, 204, 203, 204, 204, 204</a:t>
            </a:r>
            <a:endParaRPr lang="en-US" sz="1100" b="0" u="none" strike="noStrike">
              <a:solidFill>
                <a:srgbClr val="000000"/>
              </a:solidFill>
              <a:effectLst/>
              <a:uFillTx/>
              <a:latin typeface="Arial"/>
            </a:endParaRPr>
          </a:p>
        </p:txBody>
      </p:sp>
      <p:sp>
        <p:nvSpPr>
          <p:cNvPr id="187" name="TextBox 28"/>
          <p:cNvSpPr/>
          <p:nvPr/>
        </p:nvSpPr>
        <p:spPr>
          <a:xfrm>
            <a:off x="567000" y="3922920"/>
            <a:ext cx="13712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val</a:t>
            </a:r>
            <a:endParaRPr lang="en-US" sz="1100" b="0" u="none" strike="noStrike">
              <a:solidFill>
                <a:srgbClr val="000000"/>
              </a:solidFill>
              <a:effectLst/>
              <a:uFillTx/>
              <a:latin typeface="Arial"/>
            </a:endParaRPr>
          </a:p>
        </p:txBody>
      </p:sp>
      <p:sp>
        <p:nvSpPr>
          <p:cNvPr id="188" name="TextBox 29"/>
          <p:cNvSpPr/>
          <p:nvPr/>
        </p:nvSpPr>
        <p:spPr>
          <a:xfrm>
            <a:off x="1938600" y="3922920"/>
            <a:ext cx="1188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216</a:t>
            </a:r>
            <a:endParaRPr lang="en-US" sz="1100" b="0" u="none" strike="noStrike">
              <a:solidFill>
                <a:srgbClr val="000000"/>
              </a:solidFill>
              <a:effectLst/>
              <a:uFillTx/>
              <a:latin typeface="Arial"/>
            </a:endParaRPr>
          </a:p>
        </p:txBody>
      </p:sp>
      <p:sp>
        <p:nvSpPr>
          <p:cNvPr id="189" name="TextBox 30"/>
          <p:cNvSpPr/>
          <p:nvPr/>
        </p:nvSpPr>
        <p:spPr>
          <a:xfrm>
            <a:off x="3127320" y="3922920"/>
            <a:ext cx="3821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36, 36, 36, 36, 36, 36</a:t>
            </a:r>
            <a:endParaRPr lang="en-US" sz="1100" b="0" u="none" strike="noStrike">
              <a:solidFill>
                <a:srgbClr val="000000"/>
              </a:solidFill>
              <a:effectLst/>
              <a:uFillTx/>
              <a:latin typeface="Arial"/>
            </a:endParaRPr>
          </a:p>
        </p:txBody>
      </p:sp>
      <p:sp>
        <p:nvSpPr>
          <p:cNvPr id="190" name="TextBox 31"/>
          <p:cNvSpPr/>
          <p:nvPr/>
        </p:nvSpPr>
        <p:spPr>
          <a:xfrm>
            <a:off x="567000" y="4233600"/>
            <a:ext cx="13712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test</a:t>
            </a:r>
            <a:endParaRPr lang="en-US" sz="1100" b="0" u="none" strike="noStrike">
              <a:solidFill>
                <a:srgbClr val="000000"/>
              </a:solidFill>
              <a:effectLst/>
              <a:uFillTx/>
              <a:latin typeface="Arial"/>
            </a:endParaRPr>
          </a:p>
        </p:txBody>
      </p:sp>
      <p:sp>
        <p:nvSpPr>
          <p:cNvPr id="191" name="TextBox 32"/>
          <p:cNvSpPr/>
          <p:nvPr/>
        </p:nvSpPr>
        <p:spPr>
          <a:xfrm>
            <a:off x="1938600" y="4233600"/>
            <a:ext cx="1188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360</a:t>
            </a:r>
            <a:endParaRPr lang="en-US" sz="1100" b="0" u="none" strike="noStrike">
              <a:solidFill>
                <a:srgbClr val="000000"/>
              </a:solidFill>
              <a:effectLst/>
              <a:uFillTx/>
              <a:latin typeface="Arial"/>
            </a:endParaRPr>
          </a:p>
        </p:txBody>
      </p:sp>
      <p:sp>
        <p:nvSpPr>
          <p:cNvPr id="192" name="TextBox 33"/>
          <p:cNvSpPr/>
          <p:nvPr/>
        </p:nvSpPr>
        <p:spPr>
          <a:xfrm>
            <a:off x="3127320" y="4233600"/>
            <a:ext cx="3821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60, 60, 60, 60, 60, 60</a:t>
            </a:r>
            <a:endParaRPr lang="en-US" sz="1100" b="0" u="none" strike="noStrike">
              <a:solidFill>
                <a:srgbClr val="000000"/>
              </a:solidFill>
              <a:effectLst/>
              <a:uFillTx/>
              <a:latin typeface="Arial"/>
            </a:endParaRPr>
          </a:p>
        </p:txBody>
      </p:sp>
      <p:sp>
        <p:nvSpPr>
          <p:cNvPr id="193" name="Rounded Rectangle 34"/>
          <p:cNvSpPr/>
          <p:nvPr/>
        </p:nvSpPr>
        <p:spPr>
          <a:xfrm>
            <a:off x="8048520" y="3227760"/>
            <a:ext cx="3575880" cy="1828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4" name="Rectangle 35"/>
          <p:cNvSpPr/>
          <p:nvPr/>
        </p:nvSpPr>
        <p:spPr>
          <a:xfrm>
            <a:off x="8048520" y="3227760"/>
            <a:ext cx="40680" cy="182844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5" name="TextBox 36"/>
          <p:cNvSpPr/>
          <p:nvPr/>
        </p:nvSpPr>
        <p:spPr>
          <a:xfrm>
            <a:off x="8268120" y="3364920"/>
            <a:ext cx="31554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Integrity checks</a:t>
            </a:r>
            <a:endParaRPr lang="en-US" sz="1150" b="0" u="none" strike="noStrike">
              <a:solidFill>
                <a:srgbClr val="000000"/>
              </a:solidFill>
              <a:effectLst/>
              <a:uFillTx/>
              <a:latin typeface="Arial"/>
            </a:endParaRPr>
          </a:p>
        </p:txBody>
      </p:sp>
      <p:sp>
        <p:nvSpPr>
          <p:cNvPr id="196" name="TextBox 37"/>
          <p:cNvSpPr/>
          <p:nvPr/>
        </p:nvSpPr>
        <p:spPr>
          <a:xfrm>
            <a:off x="8268120" y="3703320"/>
            <a:ext cx="3155400" cy="1206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SHA-256 pixel hashing found one duplicate pair; it is removed before splitting so no image can span train and test.</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106" dur="indefinite" restart="never" nodeType="tmRoot">
          <p:childTnLst>
            <p:seq>
              <p:cTn id="107" dur="indefinite" nodeType="mainSeq">
                <p:childTnLst>
                  <p:par>
                    <p:cTn id="108" fill="hold">
                      <p:stCondLst>
                        <p:cond delay="indefinite"/>
                      </p:stCondLst>
                      <p:childTnLst>
                        <p:par>
                          <p:cTn id="109" fill="hold">
                            <p:stCondLst>
                              <p:cond delay="0"/>
                            </p:stCondLst>
                            <p:childTnLst>
                              <p:par>
                                <p:cTn id="110" presetID="10" presetClass="entr" fill="hold" nodeType="clickEffect">
                                  <p:stCondLst>
                                    <p:cond delay="0"/>
                                  </p:stCondLst>
                                  <p:childTnLst>
                                    <p:set>
                                      <p:cBhvr>
                                        <p:cTn id="111" dur="1" fill="hold">
                                          <p:stCondLst>
                                            <p:cond delay="0"/>
                                          </p:stCondLst>
                                        </p:cTn>
                                        <p:tgtEl>
                                          <p:spTgt spid="169"/>
                                        </p:tgtEl>
                                        <p:attrNameLst>
                                          <p:attrName>style.visibility</p:attrName>
                                        </p:attrNameLst>
                                      </p:cBhvr>
                                      <p:to>
                                        <p:strVal val="visible"/>
                                      </p:to>
                                    </p:set>
                                    <p:animEffect transition="in" filter="fade">
                                      <p:cBhvr additive="repl">
                                        <p:cTn id="112" dur="350"/>
                                        <p:tgtEl>
                                          <p:spTgt spid="169"/>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fill="hold" nodeType="afterEffect">
                                  <p:stCondLst>
                                    <p:cond delay="0"/>
                                  </p:stCondLst>
                                  <p:childTnLst>
                                    <p:set>
                                      <p:cBhvr>
                                        <p:cTn id="116" dur="1" fill="hold">
                                          <p:stCondLst>
                                            <p:cond delay="0"/>
                                          </p:stCondLst>
                                        </p:cTn>
                                        <p:tgtEl>
                                          <p:spTgt spid="170"/>
                                        </p:tgtEl>
                                        <p:attrNameLst>
                                          <p:attrName>style.visibility</p:attrName>
                                        </p:attrNameLst>
                                      </p:cBhvr>
                                      <p:to>
                                        <p:strVal val="visible"/>
                                      </p:to>
                                    </p:set>
                                    <p:animEffect transition="in" filter="fade">
                                      <p:cBhvr additive="repl">
                                        <p:cTn id="117" dur="350"/>
                                        <p:tgtEl>
                                          <p:spTgt spid="170"/>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fill="hold" nodeType="afterEffect">
                                  <p:stCondLst>
                                    <p:cond delay="0"/>
                                  </p:stCondLst>
                                  <p:childTnLst>
                                    <p:set>
                                      <p:cBhvr>
                                        <p:cTn id="121" dur="1" fill="hold">
                                          <p:stCondLst>
                                            <p:cond delay="0"/>
                                          </p:stCondLst>
                                        </p:cTn>
                                        <p:tgtEl>
                                          <p:spTgt spid="172"/>
                                        </p:tgtEl>
                                        <p:attrNameLst>
                                          <p:attrName>style.visibility</p:attrName>
                                        </p:attrNameLst>
                                      </p:cBhvr>
                                      <p:to>
                                        <p:strVal val="visible"/>
                                      </p:to>
                                    </p:set>
                                    <p:animEffect transition="in" filter="fade">
                                      <p:cBhvr additive="repl">
                                        <p:cTn id="122" dur="350"/>
                                        <p:tgtEl>
                                          <p:spTgt spid="172"/>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fill="hold" nodeType="afterEffect">
                                  <p:stCondLst>
                                    <p:cond delay="0"/>
                                  </p:stCondLst>
                                  <p:childTnLst>
                                    <p:set>
                                      <p:cBhvr>
                                        <p:cTn id="126" dur="1" fill="hold">
                                          <p:stCondLst>
                                            <p:cond delay="0"/>
                                          </p:stCondLst>
                                        </p:cTn>
                                        <p:tgtEl>
                                          <p:spTgt spid="173"/>
                                        </p:tgtEl>
                                        <p:attrNameLst>
                                          <p:attrName>style.visibility</p:attrName>
                                        </p:attrNameLst>
                                      </p:cBhvr>
                                      <p:to>
                                        <p:strVal val="visible"/>
                                      </p:to>
                                    </p:set>
                                    <p:animEffect transition="in" filter="fade">
                                      <p:cBhvr additive="repl">
                                        <p:cTn id="127" dur="350"/>
                                        <p:tgtEl>
                                          <p:spTgt spid="173"/>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fill="hold" nodeType="afterEffect">
                                  <p:stCondLst>
                                    <p:cond delay="0"/>
                                  </p:stCondLst>
                                  <p:childTnLst>
                                    <p:set>
                                      <p:cBhvr>
                                        <p:cTn id="131" dur="1" fill="hold">
                                          <p:stCondLst>
                                            <p:cond delay="0"/>
                                          </p:stCondLst>
                                        </p:cTn>
                                        <p:tgtEl>
                                          <p:spTgt spid="175"/>
                                        </p:tgtEl>
                                        <p:attrNameLst>
                                          <p:attrName>style.visibility</p:attrName>
                                        </p:attrNameLst>
                                      </p:cBhvr>
                                      <p:to>
                                        <p:strVal val="visible"/>
                                      </p:to>
                                    </p:set>
                                    <p:animEffect transition="in" filter="fade">
                                      <p:cBhvr additive="repl">
                                        <p:cTn id="132" dur="350"/>
                                        <p:tgtEl>
                                          <p:spTgt spid="175"/>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fill="hold" nodeType="afterEffect">
                                  <p:stCondLst>
                                    <p:cond delay="0"/>
                                  </p:stCondLst>
                                  <p:childTnLst>
                                    <p:set>
                                      <p:cBhvr>
                                        <p:cTn id="136" dur="1" fill="hold">
                                          <p:stCondLst>
                                            <p:cond delay="0"/>
                                          </p:stCondLst>
                                        </p:cTn>
                                        <p:tgtEl>
                                          <p:spTgt spid="176"/>
                                        </p:tgtEl>
                                        <p:attrNameLst>
                                          <p:attrName>style.visibility</p:attrName>
                                        </p:attrNameLst>
                                      </p:cBhvr>
                                      <p:to>
                                        <p:strVal val="visible"/>
                                      </p:to>
                                    </p:set>
                                    <p:animEffect transition="in" filter="fade">
                                      <p:cBhvr additive="repl">
                                        <p:cTn id="137" dur="35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8"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Dataset Integrity  ·  near-duplicate audit</a:t>
            </a:r>
            <a:endParaRPr lang="en-US" sz="2700" b="0" u="none" strike="noStrike">
              <a:solidFill>
                <a:srgbClr val="000000"/>
              </a:solidFill>
              <a:effectLst/>
              <a:uFillTx/>
              <a:latin typeface="Arial"/>
            </a:endParaRPr>
          </a:p>
        </p:txBody>
      </p:sp>
      <p:sp>
        <p:nvSpPr>
          <p:cNvPr id="199"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250" b="0" u="none" strike="noStrike">
                <a:solidFill>
                  <a:srgbClr val="94A3B8"/>
                </a:solidFill>
                <a:effectLst/>
                <a:uFillTx/>
                <a:latin typeface="Inter"/>
              </a:rPr>
              <a:t>NEU-CLS patches come from a limited set of source photographs, so pixel-hashing alone is not enough</a:t>
            </a:r>
            <a:endParaRPr lang="en-US" sz="1250" b="0" u="none" strike="noStrike">
              <a:solidFill>
                <a:srgbClr val="000000"/>
              </a:solidFill>
              <a:effectLst/>
              <a:uFillTx/>
              <a:latin typeface="Arial"/>
            </a:endParaRPr>
          </a:p>
        </p:txBody>
      </p:sp>
      <p:sp>
        <p:nvSpPr>
          <p:cNvPr id="200" name="Rectangle 4"/>
          <p:cNvSpPr/>
          <p:nvPr/>
        </p:nvSpPr>
        <p:spPr>
          <a:xfrm>
            <a:off x="567000" y="17190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201"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202" name="Rectangle 6"/>
          <p:cNvSpPr/>
          <p:nvPr/>
        </p:nvSpPr>
        <p:spPr>
          <a:xfrm>
            <a:off x="567000" y="6226920"/>
            <a:ext cx="17456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203"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204"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9</a:t>
            </a:r>
            <a:endParaRPr lang="en-US" sz="900" b="0" u="none" strike="noStrike">
              <a:solidFill>
                <a:srgbClr val="000000"/>
              </a:solidFill>
              <a:effectLst/>
              <a:uFillTx/>
              <a:latin typeface="Arial"/>
            </a:endParaRPr>
          </a:p>
        </p:txBody>
      </p:sp>
      <p:sp>
        <p:nvSpPr>
          <p:cNvPr id="205" name="TextBox 9"/>
          <p:cNvSpPr/>
          <p:nvPr/>
        </p:nvSpPr>
        <p:spPr>
          <a:xfrm>
            <a:off x="567000" y="1627560"/>
            <a:ext cx="19198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representation</a:t>
            </a:r>
            <a:endParaRPr lang="en-US" sz="1050" b="0" u="none" strike="noStrike">
              <a:solidFill>
                <a:srgbClr val="000000"/>
              </a:solidFill>
              <a:effectLst/>
              <a:uFillTx/>
              <a:latin typeface="Arial"/>
            </a:endParaRPr>
          </a:p>
        </p:txBody>
      </p:sp>
      <p:sp>
        <p:nvSpPr>
          <p:cNvPr id="206" name="TextBox 10"/>
          <p:cNvSpPr/>
          <p:nvPr/>
        </p:nvSpPr>
        <p:spPr>
          <a:xfrm>
            <a:off x="2487240" y="1627560"/>
            <a:ext cx="10054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max sim</a:t>
            </a:r>
            <a:endParaRPr lang="en-US" sz="1050" b="0" u="none" strike="noStrike">
              <a:solidFill>
                <a:srgbClr val="000000"/>
              </a:solidFill>
              <a:effectLst/>
              <a:uFillTx/>
              <a:latin typeface="Arial"/>
            </a:endParaRPr>
          </a:p>
        </p:txBody>
      </p:sp>
      <p:sp>
        <p:nvSpPr>
          <p:cNvPr id="207" name="TextBox 11"/>
          <p:cNvSpPr/>
          <p:nvPr/>
        </p:nvSpPr>
        <p:spPr>
          <a:xfrm>
            <a:off x="3493080" y="1627560"/>
            <a:ext cx="7311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≥0.90</a:t>
            </a:r>
            <a:endParaRPr lang="en-US" sz="1050" b="0" u="none" strike="noStrike">
              <a:solidFill>
                <a:srgbClr val="000000"/>
              </a:solidFill>
              <a:effectLst/>
              <a:uFillTx/>
              <a:latin typeface="Arial"/>
            </a:endParaRPr>
          </a:p>
        </p:txBody>
      </p:sp>
      <p:sp>
        <p:nvSpPr>
          <p:cNvPr id="208" name="TextBox 12"/>
          <p:cNvSpPr/>
          <p:nvPr/>
        </p:nvSpPr>
        <p:spPr>
          <a:xfrm>
            <a:off x="4224600" y="1627560"/>
            <a:ext cx="11883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same-class</a:t>
            </a:r>
            <a:endParaRPr lang="en-US" sz="1050" b="0" u="none" strike="noStrike">
              <a:solidFill>
                <a:srgbClr val="000000"/>
              </a:solidFill>
              <a:effectLst/>
              <a:uFillTx/>
              <a:latin typeface="Arial"/>
            </a:endParaRPr>
          </a:p>
        </p:txBody>
      </p:sp>
      <p:sp>
        <p:nvSpPr>
          <p:cNvPr id="209" name="TextBox 13"/>
          <p:cNvSpPr/>
          <p:nvPr/>
        </p:nvSpPr>
        <p:spPr>
          <a:xfrm>
            <a:off x="5413320" y="1627560"/>
            <a:ext cx="13712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cross-class max</a:t>
            </a:r>
            <a:endParaRPr lang="en-US" sz="1050" b="0" u="none" strike="noStrike">
              <a:solidFill>
                <a:srgbClr val="000000"/>
              </a:solidFill>
              <a:effectLst/>
              <a:uFillTx/>
              <a:latin typeface="Arial"/>
            </a:endParaRPr>
          </a:p>
        </p:txBody>
      </p:sp>
      <p:sp>
        <p:nvSpPr>
          <p:cNvPr id="210" name="Rectangle 14"/>
          <p:cNvSpPr/>
          <p:nvPr/>
        </p:nvSpPr>
        <p:spPr>
          <a:xfrm>
            <a:off x="567000" y="1920240"/>
            <a:ext cx="638136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11" name="TextBox 15"/>
          <p:cNvSpPr/>
          <p:nvPr/>
        </p:nvSpPr>
        <p:spPr>
          <a:xfrm>
            <a:off x="567000" y="2011680"/>
            <a:ext cx="19198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32px</a:t>
            </a:r>
            <a:endParaRPr lang="en-US" sz="1100" b="0" u="none" strike="noStrike">
              <a:solidFill>
                <a:srgbClr val="000000"/>
              </a:solidFill>
              <a:effectLst/>
              <a:uFillTx/>
              <a:latin typeface="Arial"/>
            </a:endParaRPr>
          </a:p>
        </p:txBody>
      </p:sp>
      <p:sp>
        <p:nvSpPr>
          <p:cNvPr id="212" name="TextBox 16"/>
          <p:cNvSpPr/>
          <p:nvPr/>
        </p:nvSpPr>
        <p:spPr>
          <a:xfrm>
            <a:off x="2487240" y="2011680"/>
            <a:ext cx="10054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0.990</a:t>
            </a:r>
            <a:endParaRPr lang="en-US" sz="1100" b="0" u="none" strike="noStrike">
              <a:solidFill>
                <a:srgbClr val="000000"/>
              </a:solidFill>
              <a:effectLst/>
              <a:uFillTx/>
              <a:latin typeface="Arial"/>
            </a:endParaRPr>
          </a:p>
        </p:txBody>
      </p:sp>
      <p:sp>
        <p:nvSpPr>
          <p:cNvPr id="213" name="TextBox 17"/>
          <p:cNvSpPr/>
          <p:nvPr/>
        </p:nvSpPr>
        <p:spPr>
          <a:xfrm>
            <a:off x="3493080" y="2011680"/>
            <a:ext cx="7311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66</a:t>
            </a:r>
            <a:endParaRPr lang="en-US" sz="1100" b="0" u="none" strike="noStrike">
              <a:solidFill>
                <a:srgbClr val="000000"/>
              </a:solidFill>
              <a:effectLst/>
              <a:uFillTx/>
              <a:latin typeface="Arial"/>
            </a:endParaRPr>
          </a:p>
        </p:txBody>
      </p:sp>
      <p:sp>
        <p:nvSpPr>
          <p:cNvPr id="214" name="TextBox 18"/>
          <p:cNvSpPr/>
          <p:nvPr/>
        </p:nvSpPr>
        <p:spPr>
          <a:xfrm>
            <a:off x="4224600" y="2011680"/>
            <a:ext cx="1188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50%</a:t>
            </a:r>
            <a:endParaRPr lang="en-US" sz="1100" b="0" u="none" strike="noStrike">
              <a:solidFill>
                <a:srgbClr val="000000"/>
              </a:solidFill>
              <a:effectLst/>
              <a:uFillTx/>
              <a:latin typeface="Arial"/>
            </a:endParaRPr>
          </a:p>
        </p:txBody>
      </p:sp>
      <p:sp>
        <p:nvSpPr>
          <p:cNvPr id="215" name="TextBox 19"/>
          <p:cNvSpPr/>
          <p:nvPr/>
        </p:nvSpPr>
        <p:spPr>
          <a:xfrm>
            <a:off x="5413320" y="2011680"/>
            <a:ext cx="13712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0.984</a:t>
            </a:r>
            <a:endParaRPr lang="en-US" sz="1100" b="0" u="none" strike="noStrike">
              <a:solidFill>
                <a:srgbClr val="000000"/>
              </a:solidFill>
              <a:effectLst/>
              <a:uFillTx/>
              <a:latin typeface="Arial"/>
            </a:endParaRPr>
          </a:p>
        </p:txBody>
      </p:sp>
      <p:sp>
        <p:nvSpPr>
          <p:cNvPr id="216" name="TextBox 20"/>
          <p:cNvSpPr/>
          <p:nvPr/>
        </p:nvSpPr>
        <p:spPr>
          <a:xfrm>
            <a:off x="567000" y="2322720"/>
            <a:ext cx="19198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64px</a:t>
            </a:r>
            <a:endParaRPr lang="en-US" sz="1100" b="0" u="none" strike="noStrike">
              <a:solidFill>
                <a:srgbClr val="000000"/>
              </a:solidFill>
              <a:effectLst/>
              <a:uFillTx/>
              <a:latin typeface="Arial"/>
            </a:endParaRPr>
          </a:p>
        </p:txBody>
      </p:sp>
      <p:sp>
        <p:nvSpPr>
          <p:cNvPr id="217" name="TextBox 21"/>
          <p:cNvSpPr/>
          <p:nvPr/>
        </p:nvSpPr>
        <p:spPr>
          <a:xfrm>
            <a:off x="2487240" y="2322720"/>
            <a:ext cx="10054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0.987</a:t>
            </a:r>
            <a:endParaRPr lang="en-US" sz="1100" b="0" u="none" strike="noStrike">
              <a:solidFill>
                <a:srgbClr val="000000"/>
              </a:solidFill>
              <a:effectLst/>
              <a:uFillTx/>
              <a:latin typeface="Arial"/>
            </a:endParaRPr>
          </a:p>
        </p:txBody>
      </p:sp>
      <p:sp>
        <p:nvSpPr>
          <p:cNvPr id="218" name="TextBox 22"/>
          <p:cNvSpPr/>
          <p:nvPr/>
        </p:nvSpPr>
        <p:spPr>
          <a:xfrm>
            <a:off x="3493080" y="2322720"/>
            <a:ext cx="7311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58</a:t>
            </a:r>
            <a:endParaRPr lang="en-US" sz="1100" b="0" u="none" strike="noStrike">
              <a:solidFill>
                <a:srgbClr val="000000"/>
              </a:solidFill>
              <a:effectLst/>
              <a:uFillTx/>
              <a:latin typeface="Arial"/>
            </a:endParaRPr>
          </a:p>
        </p:txBody>
      </p:sp>
      <p:sp>
        <p:nvSpPr>
          <p:cNvPr id="219" name="TextBox 23"/>
          <p:cNvSpPr/>
          <p:nvPr/>
        </p:nvSpPr>
        <p:spPr>
          <a:xfrm>
            <a:off x="4224600" y="2322720"/>
            <a:ext cx="1188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48%</a:t>
            </a:r>
            <a:endParaRPr lang="en-US" sz="1100" b="0" u="none" strike="noStrike">
              <a:solidFill>
                <a:srgbClr val="000000"/>
              </a:solidFill>
              <a:effectLst/>
              <a:uFillTx/>
              <a:latin typeface="Arial"/>
            </a:endParaRPr>
          </a:p>
        </p:txBody>
      </p:sp>
      <p:sp>
        <p:nvSpPr>
          <p:cNvPr id="220" name="TextBox 24"/>
          <p:cNvSpPr/>
          <p:nvPr/>
        </p:nvSpPr>
        <p:spPr>
          <a:xfrm>
            <a:off x="5413320" y="2322720"/>
            <a:ext cx="13712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0.980</a:t>
            </a:r>
            <a:endParaRPr lang="en-US" sz="1100" b="0" u="none" strike="noStrike">
              <a:solidFill>
                <a:srgbClr val="000000"/>
              </a:solidFill>
              <a:effectLst/>
              <a:uFillTx/>
              <a:latin typeface="Arial"/>
            </a:endParaRPr>
          </a:p>
        </p:txBody>
      </p:sp>
      <p:sp>
        <p:nvSpPr>
          <p:cNvPr id="221" name="TextBox 25"/>
          <p:cNvSpPr/>
          <p:nvPr/>
        </p:nvSpPr>
        <p:spPr>
          <a:xfrm>
            <a:off x="567000" y="2633400"/>
            <a:ext cx="19198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128px</a:t>
            </a:r>
            <a:endParaRPr lang="en-US" sz="1100" b="0" u="none" strike="noStrike">
              <a:solidFill>
                <a:srgbClr val="000000"/>
              </a:solidFill>
              <a:effectLst/>
              <a:uFillTx/>
              <a:latin typeface="Arial"/>
            </a:endParaRPr>
          </a:p>
        </p:txBody>
      </p:sp>
      <p:sp>
        <p:nvSpPr>
          <p:cNvPr id="222" name="TextBox 26"/>
          <p:cNvSpPr/>
          <p:nvPr/>
        </p:nvSpPr>
        <p:spPr>
          <a:xfrm>
            <a:off x="2487240" y="2633400"/>
            <a:ext cx="10054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0.986</a:t>
            </a:r>
            <a:endParaRPr lang="en-US" sz="1100" b="0" u="none" strike="noStrike">
              <a:solidFill>
                <a:srgbClr val="000000"/>
              </a:solidFill>
              <a:effectLst/>
              <a:uFillTx/>
              <a:latin typeface="Arial"/>
            </a:endParaRPr>
          </a:p>
        </p:txBody>
      </p:sp>
      <p:sp>
        <p:nvSpPr>
          <p:cNvPr id="223" name="TextBox 27"/>
          <p:cNvSpPr/>
          <p:nvPr/>
        </p:nvSpPr>
        <p:spPr>
          <a:xfrm>
            <a:off x="3493080" y="2633400"/>
            <a:ext cx="7311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48</a:t>
            </a:r>
            <a:endParaRPr lang="en-US" sz="1100" b="0" u="none" strike="noStrike">
              <a:solidFill>
                <a:srgbClr val="000000"/>
              </a:solidFill>
              <a:effectLst/>
              <a:uFillTx/>
              <a:latin typeface="Arial"/>
            </a:endParaRPr>
          </a:p>
        </p:txBody>
      </p:sp>
      <p:sp>
        <p:nvSpPr>
          <p:cNvPr id="224" name="TextBox 28"/>
          <p:cNvSpPr/>
          <p:nvPr/>
        </p:nvSpPr>
        <p:spPr>
          <a:xfrm>
            <a:off x="4224600" y="2633400"/>
            <a:ext cx="1188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44%</a:t>
            </a:r>
            <a:endParaRPr lang="en-US" sz="1100" b="0" u="none" strike="noStrike">
              <a:solidFill>
                <a:srgbClr val="000000"/>
              </a:solidFill>
              <a:effectLst/>
              <a:uFillTx/>
              <a:latin typeface="Arial"/>
            </a:endParaRPr>
          </a:p>
        </p:txBody>
      </p:sp>
      <p:sp>
        <p:nvSpPr>
          <p:cNvPr id="225" name="TextBox 29"/>
          <p:cNvSpPr/>
          <p:nvPr/>
        </p:nvSpPr>
        <p:spPr>
          <a:xfrm>
            <a:off x="5413320" y="2633400"/>
            <a:ext cx="13712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0.977</a:t>
            </a:r>
            <a:endParaRPr lang="en-US" sz="1100" b="0" u="none" strike="noStrike">
              <a:solidFill>
                <a:srgbClr val="000000"/>
              </a:solidFill>
              <a:effectLst/>
              <a:uFillTx/>
              <a:latin typeface="Arial"/>
            </a:endParaRPr>
          </a:p>
        </p:txBody>
      </p:sp>
      <p:sp>
        <p:nvSpPr>
          <p:cNvPr id="226" name="Rounded Rectangle 30"/>
          <p:cNvSpPr/>
          <p:nvPr/>
        </p:nvSpPr>
        <p:spPr>
          <a:xfrm>
            <a:off x="475560" y="2894040"/>
            <a:ext cx="6564240" cy="292320"/>
          </a:xfrm>
          <a:prstGeom prst="roundRect">
            <a:avLst>
              <a:gd name="adj" fmla="val 6000"/>
            </a:avLst>
          </a:prstGeom>
          <a:solidFill>
            <a:srgbClr val="16213C"/>
          </a:solidFill>
          <a:ln w="12700">
            <a:solidFill>
              <a:srgbClr val="16213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7" name="TextBox 31"/>
          <p:cNvSpPr/>
          <p:nvPr/>
        </p:nvSpPr>
        <p:spPr>
          <a:xfrm>
            <a:off x="567000" y="2944440"/>
            <a:ext cx="19198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F1F5F9"/>
                </a:solidFill>
                <a:effectLst/>
                <a:uFillTx/>
                <a:latin typeface="Inter"/>
              </a:rPr>
              <a:t>128px high-pass</a:t>
            </a:r>
            <a:endParaRPr lang="en-US" sz="1100" b="0" u="none" strike="noStrike">
              <a:solidFill>
                <a:srgbClr val="000000"/>
              </a:solidFill>
              <a:effectLst/>
              <a:uFillTx/>
              <a:latin typeface="Arial"/>
            </a:endParaRPr>
          </a:p>
        </p:txBody>
      </p:sp>
      <p:sp>
        <p:nvSpPr>
          <p:cNvPr id="228" name="TextBox 32"/>
          <p:cNvSpPr/>
          <p:nvPr/>
        </p:nvSpPr>
        <p:spPr>
          <a:xfrm>
            <a:off x="2487240" y="2944440"/>
            <a:ext cx="10054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0CA30C"/>
                </a:solidFill>
                <a:effectLst/>
                <a:uFillTx/>
                <a:latin typeface="Source Code Pro"/>
              </a:rPr>
              <a:t>0.848</a:t>
            </a:r>
            <a:endParaRPr lang="en-US" sz="1100" b="0" u="none" strike="noStrike">
              <a:solidFill>
                <a:srgbClr val="000000"/>
              </a:solidFill>
              <a:effectLst/>
              <a:uFillTx/>
              <a:latin typeface="Arial"/>
            </a:endParaRPr>
          </a:p>
        </p:txBody>
      </p:sp>
      <p:sp>
        <p:nvSpPr>
          <p:cNvPr id="229" name="TextBox 33"/>
          <p:cNvSpPr/>
          <p:nvPr/>
        </p:nvSpPr>
        <p:spPr>
          <a:xfrm>
            <a:off x="3493080" y="2944440"/>
            <a:ext cx="7311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0CA30C"/>
                </a:solidFill>
                <a:effectLst/>
                <a:uFillTx/>
                <a:latin typeface="Source Code Pro"/>
              </a:rPr>
              <a:t>0</a:t>
            </a:r>
            <a:endParaRPr lang="en-US" sz="1100" b="0" u="none" strike="noStrike">
              <a:solidFill>
                <a:srgbClr val="000000"/>
              </a:solidFill>
              <a:effectLst/>
              <a:uFillTx/>
              <a:latin typeface="Arial"/>
            </a:endParaRPr>
          </a:p>
        </p:txBody>
      </p:sp>
      <p:sp>
        <p:nvSpPr>
          <p:cNvPr id="230" name="TextBox 34"/>
          <p:cNvSpPr/>
          <p:nvPr/>
        </p:nvSpPr>
        <p:spPr>
          <a:xfrm>
            <a:off x="4224600" y="2944440"/>
            <a:ext cx="1188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0CA30C"/>
                </a:solidFill>
                <a:effectLst/>
                <a:uFillTx/>
                <a:latin typeface="Source Code Pro"/>
              </a:rPr>
              <a:t>50%</a:t>
            </a:r>
            <a:endParaRPr lang="en-US" sz="1100" b="0" u="none" strike="noStrike">
              <a:solidFill>
                <a:srgbClr val="000000"/>
              </a:solidFill>
              <a:effectLst/>
              <a:uFillTx/>
              <a:latin typeface="Arial"/>
            </a:endParaRPr>
          </a:p>
        </p:txBody>
      </p:sp>
      <p:sp>
        <p:nvSpPr>
          <p:cNvPr id="231" name="TextBox 35"/>
          <p:cNvSpPr/>
          <p:nvPr/>
        </p:nvSpPr>
        <p:spPr>
          <a:xfrm>
            <a:off x="5413320" y="2944440"/>
            <a:ext cx="13712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0CA30C"/>
                </a:solidFill>
                <a:effectLst/>
                <a:uFillTx/>
                <a:latin typeface="Source Code Pro"/>
              </a:rPr>
              <a:t>0.545</a:t>
            </a:r>
            <a:endParaRPr lang="en-US" sz="1100" b="0" u="none" strike="noStrike">
              <a:solidFill>
                <a:srgbClr val="000000"/>
              </a:solidFill>
              <a:effectLst/>
              <a:uFillTx/>
              <a:latin typeface="Arial"/>
            </a:endParaRPr>
          </a:p>
        </p:txBody>
      </p:sp>
      <p:sp>
        <p:nvSpPr>
          <p:cNvPr id="232" name="Rounded Rectangle 36"/>
          <p:cNvSpPr/>
          <p:nvPr/>
        </p:nvSpPr>
        <p:spPr>
          <a:xfrm>
            <a:off x="8048520" y="1627560"/>
            <a:ext cx="3575880" cy="27428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3" name="Rectangle 37"/>
          <p:cNvSpPr/>
          <p:nvPr/>
        </p:nvSpPr>
        <p:spPr>
          <a:xfrm>
            <a:off x="8048520" y="1627560"/>
            <a:ext cx="40680" cy="274284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4" name="TextBox 38"/>
          <p:cNvSpPr/>
          <p:nvPr/>
        </p:nvSpPr>
        <p:spPr>
          <a:xfrm>
            <a:off x="8268120" y="1764720"/>
            <a:ext cx="31554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Conclusion: no leakage</a:t>
            </a:r>
            <a:endParaRPr lang="en-US" sz="1150" b="0" u="none" strike="noStrike">
              <a:solidFill>
                <a:srgbClr val="000000"/>
              </a:solidFill>
              <a:effectLst/>
              <a:uFillTx/>
              <a:latin typeface="Arial"/>
            </a:endParaRPr>
          </a:p>
        </p:txBody>
      </p:sp>
      <p:sp>
        <p:nvSpPr>
          <p:cNvPr id="235" name="TextBox 39"/>
          <p:cNvSpPr/>
          <p:nvPr/>
        </p:nvSpPr>
        <p:spPr>
          <a:xfrm>
            <a:off x="8268120" y="2103120"/>
            <a:ext cx="3155400" cy="21211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Raw-pixel similarity is high at low resolution, but the best cross-class match is just as high — the signature of shared illumination, not repeated content. With illumination removed, no test image matches any training image above 0.85.</a:t>
            </a:r>
            <a:endParaRPr lang="en-US" sz="1150" b="0" u="none" strike="noStrike">
              <a:solidFill>
                <a:srgbClr val="000000"/>
              </a:solidFill>
              <a:effectLst/>
              <a:uFillTx/>
              <a:latin typeface="Arial"/>
            </a:endParaRPr>
          </a:p>
        </p:txBody>
      </p:sp>
      <p:sp>
        <p:nvSpPr>
          <p:cNvPr id="236" name="TextBox 40"/>
          <p:cNvSpPr/>
          <p:nvPr/>
        </p:nvSpPr>
        <p:spPr>
          <a:xfrm>
            <a:off x="567000" y="3959280"/>
            <a:ext cx="6381360" cy="8226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i="1" u="none" strike="noStrike">
                <a:solidFill>
                  <a:srgbClr val="94A3B8"/>
                </a:solidFill>
                <a:effectLst/>
                <a:uFillTx/>
                <a:latin typeface="Inter"/>
              </a:rPr>
              <a:t>This matters: a 100% test accuracy would otherwise be indistinguishable from memorising duplicated crops. The audit is what licenses the result.</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138" dur="indefinite" restart="never" nodeType="tmRoot">
          <p:childTnLst>
            <p:seq>
              <p:cTn id="139" dur="indefinite" nodeType="mainSeq">
                <p:childTnLst>
                  <p:par>
                    <p:cTn id="140" fill="hold">
                      <p:stCondLst>
                        <p:cond delay="indefinite"/>
                      </p:stCondLst>
                      <p:childTnLst>
                        <p:par>
                          <p:cTn id="141" fill="hold">
                            <p:stCondLst>
                              <p:cond delay="0"/>
                            </p:stCondLst>
                            <p:childTnLst>
                              <p:par>
                                <p:cTn id="142" presetID="10" presetClass="entr" fill="hold" nodeType="clickEffect">
                                  <p:stCondLst>
                                    <p:cond delay="0"/>
                                  </p:stCondLst>
                                  <p:childTnLst>
                                    <p:set>
                                      <p:cBhvr>
                                        <p:cTn id="143" dur="1" fill="hold">
                                          <p:stCondLst>
                                            <p:cond delay="0"/>
                                          </p:stCondLst>
                                        </p:cTn>
                                        <p:tgtEl>
                                          <p:spTgt spid="210"/>
                                        </p:tgtEl>
                                        <p:attrNameLst>
                                          <p:attrName>style.visibility</p:attrName>
                                        </p:attrNameLst>
                                      </p:cBhvr>
                                      <p:to>
                                        <p:strVal val="visible"/>
                                      </p:to>
                                    </p:set>
                                    <p:animEffect transition="in" filter="fade">
                                      <p:cBhvr additive="repl">
                                        <p:cTn id="144" dur="350"/>
                                        <p:tgtEl>
                                          <p:spTgt spid="210"/>
                                        </p:tgtEl>
                                      </p:cBhvr>
                                    </p:animEffect>
                                  </p:childTnLst>
                                </p:cTn>
                              </p:par>
                            </p:childTnLst>
                          </p:cTn>
                        </p:par>
                      </p:childTnLst>
                    </p:cTn>
                  </p:par>
                  <p:par>
                    <p:cTn id="145" fill="hold">
                      <p:stCondLst>
                        <p:cond delay="indefinite"/>
                      </p:stCondLst>
                      <p:childTnLst>
                        <p:par>
                          <p:cTn id="146" fill="hold">
                            <p:stCondLst>
                              <p:cond delay="0"/>
                            </p:stCondLst>
                            <p:childTnLst>
                              <p:par>
                                <p:cTn id="147" presetID="10" presetClass="entr" fill="hold" nodeType="afterEffect">
                                  <p:stCondLst>
                                    <p:cond delay="0"/>
                                  </p:stCondLst>
                                  <p:childTnLst>
                                    <p:set>
                                      <p:cBhvr>
                                        <p:cTn id="148" dur="1" fill="hold">
                                          <p:stCondLst>
                                            <p:cond delay="0"/>
                                          </p:stCondLst>
                                        </p:cTn>
                                        <p:tgtEl>
                                          <p:spTgt spid="211"/>
                                        </p:tgtEl>
                                        <p:attrNameLst>
                                          <p:attrName>style.visibility</p:attrName>
                                        </p:attrNameLst>
                                      </p:cBhvr>
                                      <p:to>
                                        <p:strVal val="visible"/>
                                      </p:to>
                                    </p:set>
                                    <p:animEffect transition="in" filter="fade">
                                      <p:cBhvr additive="repl">
                                        <p:cTn id="149" dur="350"/>
                                        <p:tgtEl>
                                          <p:spTgt spid="211"/>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ntr" fill="hold" nodeType="afterEffect">
                                  <p:stCondLst>
                                    <p:cond delay="0"/>
                                  </p:stCondLst>
                                  <p:childTnLst>
                                    <p:set>
                                      <p:cBhvr>
                                        <p:cTn id="153" dur="1" fill="hold">
                                          <p:stCondLst>
                                            <p:cond delay="0"/>
                                          </p:stCondLst>
                                        </p:cTn>
                                        <p:tgtEl>
                                          <p:spTgt spid="212"/>
                                        </p:tgtEl>
                                        <p:attrNameLst>
                                          <p:attrName>style.visibility</p:attrName>
                                        </p:attrNameLst>
                                      </p:cBhvr>
                                      <p:to>
                                        <p:strVal val="visible"/>
                                      </p:to>
                                    </p:set>
                                    <p:animEffect transition="in" filter="fade">
                                      <p:cBhvr additive="repl">
                                        <p:cTn id="154" dur="350"/>
                                        <p:tgtEl>
                                          <p:spTgt spid="212"/>
                                        </p:tgtEl>
                                      </p:cBhvr>
                                    </p:animEffect>
                                  </p:childTnLst>
                                </p:cTn>
                              </p:par>
                            </p:childTnLst>
                          </p:cTn>
                        </p:par>
                      </p:childTnLst>
                    </p:cTn>
                  </p:par>
                  <p:par>
                    <p:cTn id="155" fill="hold">
                      <p:stCondLst>
                        <p:cond delay="indefinite"/>
                      </p:stCondLst>
                      <p:childTnLst>
                        <p:par>
                          <p:cTn id="156" fill="hold">
                            <p:stCondLst>
                              <p:cond delay="0"/>
                            </p:stCondLst>
                            <p:childTnLst>
                              <p:par>
                                <p:cTn id="157" presetID="10" presetClass="entr" fill="hold" nodeType="afterEffect">
                                  <p:stCondLst>
                                    <p:cond delay="0"/>
                                  </p:stCondLst>
                                  <p:childTnLst>
                                    <p:set>
                                      <p:cBhvr>
                                        <p:cTn id="158" dur="1" fill="hold">
                                          <p:stCondLst>
                                            <p:cond delay="0"/>
                                          </p:stCondLst>
                                        </p:cTn>
                                        <p:tgtEl>
                                          <p:spTgt spid="213"/>
                                        </p:tgtEl>
                                        <p:attrNameLst>
                                          <p:attrName>style.visibility</p:attrName>
                                        </p:attrNameLst>
                                      </p:cBhvr>
                                      <p:to>
                                        <p:strVal val="visible"/>
                                      </p:to>
                                    </p:set>
                                    <p:animEffect transition="in" filter="fade">
                                      <p:cBhvr additive="repl">
                                        <p:cTn id="159" dur="350"/>
                                        <p:tgtEl>
                                          <p:spTgt spid="213"/>
                                        </p:tgtEl>
                                      </p:cBhvr>
                                    </p:animEffect>
                                  </p:childTnLst>
                                </p:cTn>
                              </p:par>
                            </p:childTnLst>
                          </p:cTn>
                        </p:par>
                      </p:childTnLst>
                    </p:cTn>
                  </p:par>
                  <p:par>
                    <p:cTn id="160" fill="hold">
                      <p:stCondLst>
                        <p:cond delay="indefinite"/>
                      </p:stCondLst>
                      <p:childTnLst>
                        <p:par>
                          <p:cTn id="161" fill="hold">
                            <p:stCondLst>
                              <p:cond delay="0"/>
                            </p:stCondLst>
                            <p:childTnLst>
                              <p:par>
                                <p:cTn id="162" presetID="10" presetClass="entr" fill="hold" nodeType="afterEffect">
                                  <p:stCondLst>
                                    <p:cond delay="0"/>
                                  </p:stCondLst>
                                  <p:childTnLst>
                                    <p:set>
                                      <p:cBhvr>
                                        <p:cTn id="163" dur="1" fill="hold">
                                          <p:stCondLst>
                                            <p:cond delay="0"/>
                                          </p:stCondLst>
                                        </p:cTn>
                                        <p:tgtEl>
                                          <p:spTgt spid="214"/>
                                        </p:tgtEl>
                                        <p:attrNameLst>
                                          <p:attrName>style.visibility</p:attrName>
                                        </p:attrNameLst>
                                      </p:cBhvr>
                                      <p:to>
                                        <p:strVal val="visible"/>
                                      </p:to>
                                    </p:set>
                                    <p:animEffect transition="in" filter="fade">
                                      <p:cBhvr additive="repl">
                                        <p:cTn id="164" dur="350"/>
                                        <p:tgtEl>
                                          <p:spTgt spid="214"/>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fill="hold" nodeType="afterEffect">
                                  <p:stCondLst>
                                    <p:cond delay="0"/>
                                  </p:stCondLst>
                                  <p:childTnLst>
                                    <p:set>
                                      <p:cBhvr>
                                        <p:cTn id="168" dur="1" fill="hold">
                                          <p:stCondLst>
                                            <p:cond delay="0"/>
                                          </p:stCondLst>
                                        </p:cTn>
                                        <p:tgtEl>
                                          <p:spTgt spid="215"/>
                                        </p:tgtEl>
                                        <p:attrNameLst>
                                          <p:attrName>style.visibility</p:attrName>
                                        </p:attrNameLst>
                                      </p:cBhvr>
                                      <p:to>
                                        <p:strVal val="visible"/>
                                      </p:to>
                                    </p:set>
                                    <p:animEffect transition="in" filter="fade">
                                      <p:cBhvr additive="repl">
                                        <p:cTn id="169" dur="35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8"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Literature Review</a:t>
            </a:r>
            <a:endParaRPr lang="en-US" sz="2700" b="0" u="none" strike="noStrike">
              <a:solidFill>
                <a:srgbClr val="000000"/>
              </a:solidFill>
              <a:effectLst/>
              <a:uFillTx/>
              <a:latin typeface="Arial"/>
            </a:endParaRPr>
          </a:p>
        </p:txBody>
      </p:sp>
      <p:sp>
        <p:nvSpPr>
          <p:cNvPr id="239"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All citations machine-verified against Crossref / arXiv</a:t>
            </a:r>
            <a:endParaRPr lang="en-US" sz="1300" b="0" u="none" strike="noStrike">
              <a:solidFill>
                <a:srgbClr val="000000"/>
              </a:solidFill>
              <a:effectLst/>
              <a:uFillTx/>
              <a:latin typeface="Arial"/>
            </a:endParaRPr>
          </a:p>
        </p:txBody>
      </p:sp>
      <p:sp>
        <p:nvSpPr>
          <p:cNvPr id="240"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241"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242" name="Rectangle 6"/>
          <p:cNvSpPr/>
          <p:nvPr/>
        </p:nvSpPr>
        <p:spPr>
          <a:xfrm>
            <a:off x="567000" y="6226920"/>
            <a:ext cx="19396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243"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244"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10</a:t>
            </a:r>
            <a:endParaRPr lang="en-US" sz="900" b="0" u="none" strike="noStrike">
              <a:solidFill>
                <a:srgbClr val="000000"/>
              </a:solidFill>
              <a:effectLst/>
              <a:uFillTx/>
              <a:latin typeface="Arial"/>
            </a:endParaRPr>
          </a:p>
        </p:txBody>
      </p:sp>
      <p:sp>
        <p:nvSpPr>
          <p:cNvPr id="245" name="TextBox 9"/>
          <p:cNvSpPr/>
          <p:nvPr/>
        </p:nvSpPr>
        <p:spPr>
          <a:xfrm>
            <a:off x="567000" y="1627560"/>
            <a:ext cx="26514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work</a:t>
            </a:r>
            <a:endParaRPr lang="en-US" sz="1050" b="0" u="none" strike="noStrike">
              <a:solidFill>
                <a:srgbClr val="000000"/>
              </a:solidFill>
              <a:effectLst/>
              <a:uFillTx/>
              <a:latin typeface="Arial"/>
            </a:endParaRPr>
          </a:p>
        </p:txBody>
      </p:sp>
      <p:sp>
        <p:nvSpPr>
          <p:cNvPr id="246" name="TextBox 10"/>
          <p:cNvSpPr/>
          <p:nvPr/>
        </p:nvSpPr>
        <p:spPr>
          <a:xfrm>
            <a:off x="3218760" y="1627560"/>
            <a:ext cx="17370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dataset</a:t>
            </a:r>
            <a:endParaRPr lang="en-US" sz="1050" b="0" u="none" strike="noStrike">
              <a:solidFill>
                <a:srgbClr val="000000"/>
              </a:solidFill>
              <a:effectLst/>
              <a:uFillTx/>
              <a:latin typeface="Arial"/>
            </a:endParaRPr>
          </a:p>
        </p:txBody>
      </p:sp>
      <p:sp>
        <p:nvSpPr>
          <p:cNvPr id="247" name="TextBox 11"/>
          <p:cNvSpPr/>
          <p:nvPr/>
        </p:nvSpPr>
        <p:spPr>
          <a:xfrm>
            <a:off x="4956120" y="1627560"/>
            <a:ext cx="28342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method</a:t>
            </a:r>
            <a:endParaRPr lang="en-US" sz="1050" b="0" u="none" strike="noStrike">
              <a:solidFill>
                <a:srgbClr val="000000"/>
              </a:solidFill>
              <a:effectLst/>
              <a:uFillTx/>
              <a:latin typeface="Arial"/>
            </a:endParaRPr>
          </a:p>
        </p:txBody>
      </p:sp>
      <p:sp>
        <p:nvSpPr>
          <p:cNvPr id="248" name="TextBox 12"/>
          <p:cNvSpPr/>
          <p:nvPr/>
        </p:nvSpPr>
        <p:spPr>
          <a:xfrm>
            <a:off x="7790760" y="1627560"/>
            <a:ext cx="38336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relevance</a:t>
            </a:r>
            <a:endParaRPr lang="en-US" sz="1050" b="0" u="none" strike="noStrike">
              <a:solidFill>
                <a:srgbClr val="000000"/>
              </a:solidFill>
              <a:effectLst/>
              <a:uFillTx/>
              <a:latin typeface="Arial"/>
            </a:endParaRPr>
          </a:p>
        </p:txBody>
      </p:sp>
      <p:sp>
        <p:nvSpPr>
          <p:cNvPr id="249" name="Rectangle 13"/>
          <p:cNvSpPr/>
          <p:nvPr/>
        </p:nvSpPr>
        <p:spPr>
          <a:xfrm>
            <a:off x="567000" y="1920240"/>
            <a:ext cx="1105740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250" name="TextBox 14"/>
          <p:cNvSpPr/>
          <p:nvPr/>
        </p:nvSpPr>
        <p:spPr>
          <a:xfrm>
            <a:off x="567000" y="2011680"/>
            <a:ext cx="26514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Song &amp; Yan (2013)</a:t>
            </a:r>
            <a:endParaRPr lang="en-US" sz="1100" b="0" u="none" strike="noStrike">
              <a:solidFill>
                <a:srgbClr val="000000"/>
              </a:solidFill>
              <a:effectLst/>
              <a:uFillTx/>
              <a:latin typeface="Arial"/>
            </a:endParaRPr>
          </a:p>
        </p:txBody>
      </p:sp>
      <p:sp>
        <p:nvSpPr>
          <p:cNvPr id="251" name="TextBox 15"/>
          <p:cNvSpPr/>
          <p:nvPr/>
        </p:nvSpPr>
        <p:spPr>
          <a:xfrm>
            <a:off x="3218760" y="2011680"/>
            <a:ext cx="1737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NEU-CLS</a:t>
            </a:r>
            <a:endParaRPr lang="en-US" sz="1100" b="0" u="none" strike="noStrike">
              <a:solidFill>
                <a:srgbClr val="000000"/>
              </a:solidFill>
              <a:effectLst/>
              <a:uFillTx/>
              <a:latin typeface="Arial"/>
            </a:endParaRPr>
          </a:p>
        </p:txBody>
      </p:sp>
      <p:sp>
        <p:nvSpPr>
          <p:cNvPr id="252" name="TextBox 16"/>
          <p:cNvSpPr/>
          <p:nvPr/>
        </p:nvSpPr>
        <p:spPr>
          <a:xfrm>
            <a:off x="4956120" y="2011680"/>
            <a:ext cx="28342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Completed LBP</a:t>
            </a:r>
            <a:endParaRPr lang="en-US" sz="1100" b="0" u="none" strike="noStrike">
              <a:solidFill>
                <a:srgbClr val="000000"/>
              </a:solidFill>
              <a:effectLst/>
              <a:uFillTx/>
              <a:latin typeface="Arial"/>
            </a:endParaRPr>
          </a:p>
        </p:txBody>
      </p:sp>
      <p:sp>
        <p:nvSpPr>
          <p:cNvPr id="253" name="TextBox 17"/>
          <p:cNvSpPr/>
          <p:nvPr/>
        </p:nvSpPr>
        <p:spPr>
          <a:xfrm>
            <a:off x="7790760" y="2011680"/>
            <a:ext cx="38336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originating dataset paper</a:t>
            </a:r>
            <a:endParaRPr lang="en-US" sz="1100" b="0" u="none" strike="noStrike">
              <a:solidFill>
                <a:srgbClr val="000000"/>
              </a:solidFill>
              <a:effectLst/>
              <a:uFillTx/>
              <a:latin typeface="Arial"/>
            </a:endParaRPr>
          </a:p>
        </p:txBody>
      </p:sp>
      <p:sp>
        <p:nvSpPr>
          <p:cNvPr id="254" name="TextBox 18"/>
          <p:cNvSpPr/>
          <p:nvPr/>
        </p:nvSpPr>
        <p:spPr>
          <a:xfrm>
            <a:off x="567000" y="2322720"/>
            <a:ext cx="26514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Jia et al. (2023)</a:t>
            </a:r>
            <a:endParaRPr lang="en-US" sz="1100" b="0" u="none" strike="noStrike">
              <a:solidFill>
                <a:srgbClr val="000000"/>
              </a:solidFill>
              <a:effectLst/>
              <a:uFillTx/>
              <a:latin typeface="Arial"/>
            </a:endParaRPr>
          </a:p>
        </p:txBody>
      </p:sp>
      <p:sp>
        <p:nvSpPr>
          <p:cNvPr id="255" name="TextBox 19"/>
          <p:cNvSpPr/>
          <p:nvPr/>
        </p:nvSpPr>
        <p:spPr>
          <a:xfrm>
            <a:off x="3218760" y="2322720"/>
            <a:ext cx="1737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NEU-CLS</a:t>
            </a:r>
            <a:endParaRPr lang="en-US" sz="1100" b="0" u="none" strike="noStrike">
              <a:solidFill>
                <a:srgbClr val="000000"/>
              </a:solidFill>
              <a:effectLst/>
              <a:uFillTx/>
              <a:latin typeface="Arial"/>
            </a:endParaRPr>
          </a:p>
        </p:txBody>
      </p:sp>
      <p:sp>
        <p:nvSpPr>
          <p:cNvPr id="256" name="TextBox 20"/>
          <p:cNvSpPr/>
          <p:nvPr/>
        </p:nvSpPr>
        <p:spPr>
          <a:xfrm>
            <a:off x="4956120" y="2322720"/>
            <a:ext cx="28342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chunk CNN + CKKS</a:t>
            </a:r>
            <a:endParaRPr lang="en-US" sz="1100" b="0" u="none" strike="noStrike">
              <a:solidFill>
                <a:srgbClr val="000000"/>
              </a:solidFill>
              <a:effectLst/>
              <a:uFillTx/>
              <a:latin typeface="Arial"/>
            </a:endParaRPr>
          </a:p>
        </p:txBody>
      </p:sp>
      <p:sp>
        <p:nvSpPr>
          <p:cNvPr id="257" name="TextBox 21"/>
          <p:cNvSpPr/>
          <p:nvPr/>
        </p:nvSpPr>
        <p:spPr>
          <a:xfrm>
            <a:off x="7790760" y="2322720"/>
            <a:ext cx="38336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97.1% — base paper</a:t>
            </a:r>
            <a:endParaRPr lang="en-US" sz="1100" b="0" u="none" strike="noStrike">
              <a:solidFill>
                <a:srgbClr val="000000"/>
              </a:solidFill>
              <a:effectLst/>
              <a:uFillTx/>
              <a:latin typeface="Arial"/>
            </a:endParaRPr>
          </a:p>
        </p:txBody>
      </p:sp>
      <p:sp>
        <p:nvSpPr>
          <p:cNvPr id="258" name="TextBox 22"/>
          <p:cNvSpPr/>
          <p:nvPr/>
        </p:nvSpPr>
        <p:spPr>
          <a:xfrm>
            <a:off x="567000" y="2633400"/>
            <a:ext cx="26514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Cheon et al. (2017)</a:t>
            </a:r>
            <a:endParaRPr lang="en-US" sz="1100" b="0" u="none" strike="noStrike">
              <a:solidFill>
                <a:srgbClr val="000000"/>
              </a:solidFill>
              <a:effectLst/>
              <a:uFillTx/>
              <a:latin typeface="Arial"/>
            </a:endParaRPr>
          </a:p>
        </p:txBody>
      </p:sp>
      <p:sp>
        <p:nvSpPr>
          <p:cNvPr id="259" name="TextBox 23"/>
          <p:cNvSpPr/>
          <p:nvPr/>
        </p:nvSpPr>
        <p:spPr>
          <a:xfrm>
            <a:off x="3218760" y="2633400"/>
            <a:ext cx="1737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a:t>
            </a:r>
            <a:endParaRPr lang="en-US" sz="1100" b="0" u="none" strike="noStrike">
              <a:solidFill>
                <a:srgbClr val="000000"/>
              </a:solidFill>
              <a:effectLst/>
              <a:uFillTx/>
              <a:latin typeface="Arial"/>
            </a:endParaRPr>
          </a:p>
        </p:txBody>
      </p:sp>
      <p:sp>
        <p:nvSpPr>
          <p:cNvPr id="260" name="TextBox 24"/>
          <p:cNvSpPr/>
          <p:nvPr/>
        </p:nvSpPr>
        <p:spPr>
          <a:xfrm>
            <a:off x="4956120" y="2633400"/>
            <a:ext cx="28342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CKKS scheme</a:t>
            </a:r>
            <a:endParaRPr lang="en-US" sz="1100" b="0" u="none" strike="noStrike">
              <a:solidFill>
                <a:srgbClr val="000000"/>
              </a:solidFill>
              <a:effectLst/>
              <a:uFillTx/>
              <a:latin typeface="Arial"/>
            </a:endParaRPr>
          </a:p>
        </p:txBody>
      </p:sp>
      <p:sp>
        <p:nvSpPr>
          <p:cNvPr id="261" name="TextBox 25"/>
          <p:cNvSpPr/>
          <p:nvPr/>
        </p:nvSpPr>
        <p:spPr>
          <a:xfrm>
            <a:off x="7790760" y="2633400"/>
            <a:ext cx="38336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the encryption we use</a:t>
            </a:r>
            <a:endParaRPr lang="en-US" sz="1100" b="0" u="none" strike="noStrike">
              <a:solidFill>
                <a:srgbClr val="000000"/>
              </a:solidFill>
              <a:effectLst/>
              <a:uFillTx/>
              <a:latin typeface="Arial"/>
            </a:endParaRPr>
          </a:p>
        </p:txBody>
      </p:sp>
      <p:sp>
        <p:nvSpPr>
          <p:cNvPr id="262" name="TextBox 26"/>
          <p:cNvSpPr/>
          <p:nvPr/>
        </p:nvSpPr>
        <p:spPr>
          <a:xfrm>
            <a:off x="567000" y="2944440"/>
            <a:ext cx="26514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Tan &amp; Le (2019)</a:t>
            </a:r>
            <a:endParaRPr lang="en-US" sz="1100" b="0" u="none" strike="noStrike">
              <a:solidFill>
                <a:srgbClr val="000000"/>
              </a:solidFill>
              <a:effectLst/>
              <a:uFillTx/>
              <a:latin typeface="Arial"/>
            </a:endParaRPr>
          </a:p>
        </p:txBody>
      </p:sp>
      <p:sp>
        <p:nvSpPr>
          <p:cNvPr id="263" name="TextBox 27"/>
          <p:cNvSpPr/>
          <p:nvPr/>
        </p:nvSpPr>
        <p:spPr>
          <a:xfrm>
            <a:off x="3218760" y="2944440"/>
            <a:ext cx="1737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ImageNet</a:t>
            </a:r>
            <a:endParaRPr lang="en-US" sz="1100" b="0" u="none" strike="noStrike">
              <a:solidFill>
                <a:srgbClr val="000000"/>
              </a:solidFill>
              <a:effectLst/>
              <a:uFillTx/>
              <a:latin typeface="Arial"/>
            </a:endParaRPr>
          </a:p>
        </p:txBody>
      </p:sp>
      <p:sp>
        <p:nvSpPr>
          <p:cNvPr id="264" name="TextBox 28"/>
          <p:cNvSpPr/>
          <p:nvPr/>
        </p:nvSpPr>
        <p:spPr>
          <a:xfrm>
            <a:off x="4956120" y="2944440"/>
            <a:ext cx="28342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EfficientNet</a:t>
            </a:r>
            <a:endParaRPr lang="en-US" sz="1100" b="0" u="none" strike="noStrike">
              <a:solidFill>
                <a:srgbClr val="000000"/>
              </a:solidFill>
              <a:effectLst/>
              <a:uFillTx/>
              <a:latin typeface="Arial"/>
            </a:endParaRPr>
          </a:p>
        </p:txBody>
      </p:sp>
      <p:sp>
        <p:nvSpPr>
          <p:cNvPr id="265" name="TextBox 29"/>
          <p:cNvSpPr/>
          <p:nvPr/>
        </p:nvSpPr>
        <p:spPr>
          <a:xfrm>
            <a:off x="7790760" y="2944440"/>
            <a:ext cx="38336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our global branch</a:t>
            </a:r>
            <a:endParaRPr lang="en-US" sz="1100" b="0" u="none" strike="noStrike">
              <a:solidFill>
                <a:srgbClr val="000000"/>
              </a:solidFill>
              <a:effectLst/>
              <a:uFillTx/>
              <a:latin typeface="Arial"/>
            </a:endParaRPr>
          </a:p>
        </p:txBody>
      </p:sp>
      <p:sp>
        <p:nvSpPr>
          <p:cNvPr id="266" name="TextBox 30"/>
          <p:cNvSpPr/>
          <p:nvPr/>
        </p:nvSpPr>
        <p:spPr>
          <a:xfrm>
            <a:off x="567000" y="3255120"/>
            <a:ext cx="26514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Hu et al. (2018)</a:t>
            </a:r>
            <a:endParaRPr lang="en-US" sz="1100" b="0" u="none" strike="noStrike">
              <a:solidFill>
                <a:srgbClr val="000000"/>
              </a:solidFill>
              <a:effectLst/>
              <a:uFillTx/>
              <a:latin typeface="Arial"/>
            </a:endParaRPr>
          </a:p>
        </p:txBody>
      </p:sp>
      <p:sp>
        <p:nvSpPr>
          <p:cNvPr id="267" name="TextBox 31"/>
          <p:cNvSpPr/>
          <p:nvPr/>
        </p:nvSpPr>
        <p:spPr>
          <a:xfrm>
            <a:off x="3218760" y="3255120"/>
            <a:ext cx="1737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ImageNet</a:t>
            </a:r>
            <a:endParaRPr lang="en-US" sz="1100" b="0" u="none" strike="noStrike">
              <a:solidFill>
                <a:srgbClr val="000000"/>
              </a:solidFill>
              <a:effectLst/>
              <a:uFillTx/>
              <a:latin typeface="Arial"/>
            </a:endParaRPr>
          </a:p>
        </p:txBody>
      </p:sp>
      <p:sp>
        <p:nvSpPr>
          <p:cNvPr id="268" name="TextBox 32"/>
          <p:cNvSpPr/>
          <p:nvPr/>
        </p:nvSpPr>
        <p:spPr>
          <a:xfrm>
            <a:off x="4956120" y="3255120"/>
            <a:ext cx="28342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Squeeze-and-Excitation</a:t>
            </a:r>
            <a:endParaRPr lang="en-US" sz="1100" b="0" u="none" strike="noStrike">
              <a:solidFill>
                <a:srgbClr val="000000"/>
              </a:solidFill>
              <a:effectLst/>
              <a:uFillTx/>
              <a:latin typeface="Arial"/>
            </a:endParaRPr>
          </a:p>
        </p:txBody>
      </p:sp>
      <p:sp>
        <p:nvSpPr>
          <p:cNvPr id="269" name="TextBox 33"/>
          <p:cNvSpPr/>
          <p:nvPr/>
        </p:nvSpPr>
        <p:spPr>
          <a:xfrm>
            <a:off x="7790760" y="3255120"/>
            <a:ext cx="38336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channel-gating precedent</a:t>
            </a:r>
            <a:endParaRPr lang="en-US" sz="1100" b="0" u="none" strike="noStrike">
              <a:solidFill>
                <a:srgbClr val="000000"/>
              </a:solidFill>
              <a:effectLst/>
              <a:uFillTx/>
              <a:latin typeface="Arial"/>
            </a:endParaRPr>
          </a:p>
        </p:txBody>
      </p:sp>
      <p:sp>
        <p:nvSpPr>
          <p:cNvPr id="270" name="TextBox 34"/>
          <p:cNvSpPr/>
          <p:nvPr/>
        </p:nvSpPr>
        <p:spPr>
          <a:xfrm>
            <a:off x="567000" y="3566160"/>
            <a:ext cx="26514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Lee et al. (2022)</a:t>
            </a:r>
            <a:endParaRPr lang="en-US" sz="1100" b="0" u="none" strike="noStrike">
              <a:solidFill>
                <a:srgbClr val="000000"/>
              </a:solidFill>
              <a:effectLst/>
              <a:uFillTx/>
              <a:latin typeface="Arial"/>
            </a:endParaRPr>
          </a:p>
        </p:txBody>
      </p:sp>
      <p:sp>
        <p:nvSpPr>
          <p:cNvPr id="271" name="TextBox 35"/>
          <p:cNvSpPr/>
          <p:nvPr/>
        </p:nvSpPr>
        <p:spPr>
          <a:xfrm>
            <a:off x="3218760" y="3566160"/>
            <a:ext cx="1737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a:t>
            </a:r>
            <a:endParaRPr lang="en-US" sz="1100" b="0" u="none" strike="noStrike">
              <a:solidFill>
                <a:srgbClr val="000000"/>
              </a:solidFill>
              <a:effectLst/>
              <a:uFillTx/>
              <a:latin typeface="Arial"/>
            </a:endParaRPr>
          </a:p>
        </p:txBody>
      </p:sp>
      <p:sp>
        <p:nvSpPr>
          <p:cNvPr id="272" name="TextBox 36"/>
          <p:cNvSpPr/>
          <p:nvPr/>
        </p:nvSpPr>
        <p:spPr>
          <a:xfrm>
            <a:off x="4956120" y="3566160"/>
            <a:ext cx="28342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minimax polynomial</a:t>
            </a:r>
            <a:endParaRPr lang="en-US" sz="1100" b="0" u="none" strike="noStrike">
              <a:solidFill>
                <a:srgbClr val="000000"/>
              </a:solidFill>
              <a:effectLst/>
              <a:uFillTx/>
              <a:latin typeface="Arial"/>
            </a:endParaRPr>
          </a:p>
        </p:txBody>
      </p:sp>
      <p:sp>
        <p:nvSpPr>
          <p:cNvPr id="273" name="TextBox 37"/>
          <p:cNvSpPr/>
          <p:nvPr/>
        </p:nvSpPr>
        <p:spPr>
          <a:xfrm>
            <a:off x="7790760" y="3566160"/>
            <a:ext cx="38336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higher-degree alternative to square</a:t>
            </a:r>
            <a:endParaRPr lang="en-US" sz="1100" b="0" u="none" strike="noStrike">
              <a:solidFill>
                <a:srgbClr val="000000"/>
              </a:solidFill>
              <a:effectLst/>
              <a:uFillTx/>
              <a:latin typeface="Arial"/>
            </a:endParaRPr>
          </a:p>
        </p:txBody>
      </p:sp>
      <p:sp>
        <p:nvSpPr>
          <p:cNvPr id="274" name="TextBox 38"/>
          <p:cNvSpPr/>
          <p:nvPr/>
        </p:nvSpPr>
        <p:spPr>
          <a:xfrm>
            <a:off x="567000" y="3877200"/>
            <a:ext cx="26514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Elkhatib et al. (2025)</a:t>
            </a:r>
            <a:endParaRPr lang="en-US" sz="1100" b="0" u="none" strike="noStrike">
              <a:solidFill>
                <a:srgbClr val="000000"/>
              </a:solidFill>
              <a:effectLst/>
              <a:uFillTx/>
              <a:latin typeface="Arial"/>
            </a:endParaRPr>
          </a:p>
        </p:txBody>
      </p:sp>
      <p:sp>
        <p:nvSpPr>
          <p:cNvPr id="275" name="TextBox 39"/>
          <p:cNvSpPr/>
          <p:nvPr/>
        </p:nvSpPr>
        <p:spPr>
          <a:xfrm>
            <a:off x="3218760" y="3877200"/>
            <a:ext cx="1737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CIFAR-10</a:t>
            </a:r>
            <a:endParaRPr lang="en-US" sz="1100" b="0" u="none" strike="noStrike">
              <a:solidFill>
                <a:srgbClr val="000000"/>
              </a:solidFill>
              <a:effectLst/>
              <a:uFillTx/>
              <a:latin typeface="Arial"/>
            </a:endParaRPr>
          </a:p>
        </p:txBody>
      </p:sp>
      <p:sp>
        <p:nvSpPr>
          <p:cNvPr id="276" name="TextBox 40"/>
          <p:cNvSpPr/>
          <p:nvPr/>
        </p:nvSpPr>
        <p:spPr>
          <a:xfrm>
            <a:off x="4956120" y="3877200"/>
            <a:ext cx="28342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PRISM, CKKS + poly</a:t>
            </a:r>
            <a:endParaRPr lang="en-US" sz="1100" b="0" u="none" strike="noStrike">
              <a:solidFill>
                <a:srgbClr val="000000"/>
              </a:solidFill>
              <a:effectLst/>
              <a:uFillTx/>
              <a:latin typeface="Arial"/>
            </a:endParaRPr>
          </a:p>
        </p:txBody>
      </p:sp>
      <p:sp>
        <p:nvSpPr>
          <p:cNvPr id="277" name="TextBox 41"/>
          <p:cNvSpPr/>
          <p:nvPr/>
        </p:nvSpPr>
        <p:spPr>
          <a:xfrm>
            <a:off x="7790760" y="3877200"/>
            <a:ext cx="38336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closest prior art on boundary design</a:t>
            </a:r>
            <a:endParaRPr lang="en-US" sz="1100" b="0" u="none" strike="noStrike">
              <a:solidFill>
                <a:srgbClr val="000000"/>
              </a:solidFill>
              <a:effectLst/>
              <a:uFillTx/>
              <a:latin typeface="Arial"/>
            </a:endParaRPr>
          </a:p>
        </p:txBody>
      </p:sp>
      <p:sp>
        <p:nvSpPr>
          <p:cNvPr id="278" name="TextBox 42"/>
          <p:cNvSpPr/>
          <p:nvPr/>
        </p:nvSpPr>
        <p:spPr>
          <a:xfrm>
            <a:off x="567000" y="4645080"/>
            <a:ext cx="11057400" cy="7311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i="1" u="none" strike="noStrike">
                <a:solidFill>
                  <a:srgbClr val="94A3B8"/>
                </a:solidFill>
                <a:effectLst/>
                <a:uFillTx/>
                <a:latin typeface="Inter"/>
              </a:rPr>
              <a:t>15 of 15 citations resolved to verifiable publisher metadata (scripts/verify_citations.py → reports/citations_verified.json). Works that could not be verified are listed in the report but are not cited as evidence.</a:t>
            </a:r>
            <a:endParaRPr lang="en-US" sz="110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170" dur="indefinite" restart="never" nodeType="tmRoot">
          <p:childTnLst>
            <p:seq>
              <p:cTn id="171" dur="indefinite" nodeType="mainSeq">
                <p:childTnLst>
                  <p:par>
                    <p:cTn id="172" fill="hold">
                      <p:stCondLst>
                        <p:cond delay="indefinite"/>
                      </p:stCondLst>
                      <p:childTnLst>
                        <p:par>
                          <p:cTn id="173" fill="hold">
                            <p:stCondLst>
                              <p:cond delay="0"/>
                            </p:stCondLst>
                            <p:childTnLst>
                              <p:par>
                                <p:cTn id="174" presetID="10" presetClass="entr" fill="hold" nodeType="clickEffect">
                                  <p:stCondLst>
                                    <p:cond delay="0"/>
                                  </p:stCondLst>
                                  <p:childTnLst>
                                    <p:set>
                                      <p:cBhvr>
                                        <p:cTn id="175" dur="1" fill="hold">
                                          <p:stCondLst>
                                            <p:cond delay="0"/>
                                          </p:stCondLst>
                                        </p:cTn>
                                        <p:tgtEl>
                                          <p:spTgt spid="249"/>
                                        </p:tgtEl>
                                        <p:attrNameLst>
                                          <p:attrName>style.visibility</p:attrName>
                                        </p:attrNameLst>
                                      </p:cBhvr>
                                      <p:to>
                                        <p:strVal val="visible"/>
                                      </p:to>
                                    </p:set>
                                    <p:animEffect transition="in" filter="fade">
                                      <p:cBhvr additive="repl">
                                        <p:cTn id="176" dur="350"/>
                                        <p:tgtEl>
                                          <p:spTgt spid="249"/>
                                        </p:tgtEl>
                                      </p:cBhvr>
                                    </p:animEffect>
                                  </p:childTnLst>
                                </p:cTn>
                              </p:par>
                            </p:childTnLst>
                          </p:cTn>
                        </p:par>
                      </p:childTnLst>
                    </p:cTn>
                  </p:par>
                  <p:par>
                    <p:cTn id="177" fill="hold">
                      <p:stCondLst>
                        <p:cond delay="indefinite"/>
                      </p:stCondLst>
                      <p:childTnLst>
                        <p:par>
                          <p:cTn id="178" fill="hold">
                            <p:stCondLst>
                              <p:cond delay="0"/>
                            </p:stCondLst>
                            <p:childTnLst>
                              <p:par>
                                <p:cTn id="179" presetID="10" presetClass="entr" fill="hold" nodeType="afterEffect">
                                  <p:stCondLst>
                                    <p:cond delay="0"/>
                                  </p:stCondLst>
                                  <p:childTnLst>
                                    <p:set>
                                      <p:cBhvr>
                                        <p:cTn id="180" dur="1" fill="hold">
                                          <p:stCondLst>
                                            <p:cond delay="0"/>
                                          </p:stCondLst>
                                        </p:cTn>
                                        <p:tgtEl>
                                          <p:spTgt spid="250"/>
                                        </p:tgtEl>
                                        <p:attrNameLst>
                                          <p:attrName>style.visibility</p:attrName>
                                        </p:attrNameLst>
                                      </p:cBhvr>
                                      <p:to>
                                        <p:strVal val="visible"/>
                                      </p:to>
                                    </p:set>
                                    <p:animEffect transition="in" filter="fade">
                                      <p:cBhvr additive="repl">
                                        <p:cTn id="181" dur="350"/>
                                        <p:tgtEl>
                                          <p:spTgt spid="250"/>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fill="hold" nodeType="afterEffect">
                                  <p:stCondLst>
                                    <p:cond delay="0"/>
                                  </p:stCondLst>
                                  <p:childTnLst>
                                    <p:set>
                                      <p:cBhvr>
                                        <p:cTn id="185" dur="1" fill="hold">
                                          <p:stCondLst>
                                            <p:cond delay="0"/>
                                          </p:stCondLst>
                                        </p:cTn>
                                        <p:tgtEl>
                                          <p:spTgt spid="251"/>
                                        </p:tgtEl>
                                        <p:attrNameLst>
                                          <p:attrName>style.visibility</p:attrName>
                                        </p:attrNameLst>
                                      </p:cBhvr>
                                      <p:to>
                                        <p:strVal val="visible"/>
                                      </p:to>
                                    </p:set>
                                    <p:animEffect transition="in" filter="fade">
                                      <p:cBhvr additive="repl">
                                        <p:cTn id="186" dur="350"/>
                                        <p:tgtEl>
                                          <p:spTgt spid="251"/>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fill="hold" nodeType="afterEffect">
                                  <p:stCondLst>
                                    <p:cond delay="0"/>
                                  </p:stCondLst>
                                  <p:childTnLst>
                                    <p:set>
                                      <p:cBhvr>
                                        <p:cTn id="190" dur="1" fill="hold">
                                          <p:stCondLst>
                                            <p:cond delay="0"/>
                                          </p:stCondLst>
                                        </p:cTn>
                                        <p:tgtEl>
                                          <p:spTgt spid="252"/>
                                        </p:tgtEl>
                                        <p:attrNameLst>
                                          <p:attrName>style.visibility</p:attrName>
                                        </p:attrNameLst>
                                      </p:cBhvr>
                                      <p:to>
                                        <p:strVal val="visible"/>
                                      </p:to>
                                    </p:set>
                                    <p:animEffect transition="in" filter="fade">
                                      <p:cBhvr additive="repl">
                                        <p:cTn id="191" dur="350"/>
                                        <p:tgtEl>
                                          <p:spTgt spid="252"/>
                                        </p:tgtEl>
                                      </p:cBhvr>
                                    </p:animEffect>
                                  </p:childTnLst>
                                </p:cTn>
                              </p:par>
                            </p:childTnLst>
                          </p:cTn>
                        </p:par>
                      </p:childTnLst>
                    </p:cTn>
                  </p:par>
                  <p:par>
                    <p:cTn id="192" fill="hold">
                      <p:stCondLst>
                        <p:cond delay="indefinite"/>
                      </p:stCondLst>
                      <p:childTnLst>
                        <p:par>
                          <p:cTn id="193" fill="hold">
                            <p:stCondLst>
                              <p:cond delay="0"/>
                            </p:stCondLst>
                            <p:childTnLst>
                              <p:par>
                                <p:cTn id="194" presetID="10" presetClass="entr" fill="hold" nodeType="afterEffect">
                                  <p:stCondLst>
                                    <p:cond delay="0"/>
                                  </p:stCondLst>
                                  <p:childTnLst>
                                    <p:set>
                                      <p:cBhvr>
                                        <p:cTn id="195" dur="1" fill="hold">
                                          <p:stCondLst>
                                            <p:cond delay="0"/>
                                          </p:stCondLst>
                                        </p:cTn>
                                        <p:tgtEl>
                                          <p:spTgt spid="253"/>
                                        </p:tgtEl>
                                        <p:attrNameLst>
                                          <p:attrName>style.visibility</p:attrName>
                                        </p:attrNameLst>
                                      </p:cBhvr>
                                      <p:to>
                                        <p:strVal val="visible"/>
                                      </p:to>
                                    </p:set>
                                    <p:animEffect transition="in" filter="fade">
                                      <p:cBhvr additive="repl">
                                        <p:cTn id="196" dur="350"/>
                                        <p:tgtEl>
                                          <p:spTgt spid="253"/>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fill="hold" nodeType="afterEffect">
                                  <p:stCondLst>
                                    <p:cond delay="0"/>
                                  </p:stCondLst>
                                  <p:childTnLst>
                                    <p:set>
                                      <p:cBhvr>
                                        <p:cTn id="200" dur="1" fill="hold">
                                          <p:stCondLst>
                                            <p:cond delay="0"/>
                                          </p:stCondLst>
                                        </p:cTn>
                                        <p:tgtEl>
                                          <p:spTgt spid="254"/>
                                        </p:tgtEl>
                                        <p:attrNameLst>
                                          <p:attrName>style.visibility</p:attrName>
                                        </p:attrNameLst>
                                      </p:cBhvr>
                                      <p:to>
                                        <p:strVal val="visible"/>
                                      </p:to>
                                    </p:set>
                                    <p:animEffect transition="in" filter="fade">
                                      <p:cBhvr additive="repl">
                                        <p:cTn id="201" dur="35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80"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Existing Approaches  ·  the benchmark is saturated</a:t>
            </a:r>
            <a:endParaRPr lang="en-US" sz="2700" b="0" u="none" strike="noStrike">
              <a:solidFill>
                <a:srgbClr val="000000"/>
              </a:solidFill>
              <a:effectLst/>
              <a:uFillTx/>
              <a:latin typeface="Arial"/>
            </a:endParaRPr>
          </a:p>
        </p:txBody>
      </p:sp>
      <p:sp>
        <p:nvSpPr>
          <p:cNvPr id="281"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This single fact shapes the entire experimental design</a:t>
            </a:r>
            <a:endParaRPr lang="en-US" sz="1300" b="0" u="none" strike="noStrike">
              <a:solidFill>
                <a:srgbClr val="000000"/>
              </a:solidFill>
              <a:effectLst/>
              <a:uFillTx/>
              <a:latin typeface="Arial"/>
            </a:endParaRPr>
          </a:p>
        </p:txBody>
      </p:sp>
      <p:sp>
        <p:nvSpPr>
          <p:cNvPr id="282"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283"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284" name="Rectangle 6"/>
          <p:cNvSpPr/>
          <p:nvPr/>
        </p:nvSpPr>
        <p:spPr>
          <a:xfrm>
            <a:off x="567000" y="6226920"/>
            <a:ext cx="21337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285"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286"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11</a:t>
            </a:r>
            <a:endParaRPr lang="en-US" sz="900" b="0" u="none" strike="noStrike">
              <a:solidFill>
                <a:srgbClr val="000000"/>
              </a:solidFill>
              <a:effectLst/>
              <a:uFillTx/>
              <a:latin typeface="Arial"/>
            </a:endParaRPr>
          </a:p>
        </p:txBody>
      </p:sp>
      <p:sp>
        <p:nvSpPr>
          <p:cNvPr id="287" name="TextBox 9"/>
          <p:cNvSpPr/>
          <p:nvPr/>
        </p:nvSpPr>
        <p:spPr>
          <a:xfrm>
            <a:off x="567000" y="1627560"/>
            <a:ext cx="5446440" cy="310860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300" b="1" u="none" strike="noStrike">
                <a:solidFill>
                  <a:srgbClr val="3987E5"/>
                </a:solidFill>
                <a:effectLst/>
                <a:uFillTx/>
                <a:latin typeface="Inter"/>
              </a:rPr>
              <a:t>— </a:t>
            </a:r>
            <a:r>
              <a:rPr lang="en-US" sz="1300" b="0" u="none" strike="noStrike">
                <a:solidFill>
                  <a:srgbClr val="CBD5E1"/>
                </a:solidFill>
                <a:effectLst/>
                <a:uFillTx/>
                <a:latin typeface="Inter"/>
              </a:rPr>
              <a:t>Published NEU-CLS results cluster at 99%+: shallow attention CNNs, wavelet texture descriptors and modern backbones all report near-ceiling accuracy.</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0" u="none" strike="noStrike">
                <a:solidFill>
                  <a:srgbClr val="CBD5E1"/>
                </a:solidFill>
                <a:effectLst/>
                <a:uFillTx/>
                <a:latin typeface="Inter"/>
              </a:rPr>
              <a:t>We reproduce that ceiling directly: a pretrained EfficientNet-B0 reaches 100% test accuracy on our split within two epochs.</a:t>
            </a:r>
            <a:endParaRPr lang="en-US" sz="1300" b="0" u="none" strike="noStrike">
              <a:solidFill>
                <a:srgbClr val="000000"/>
              </a:solidFill>
              <a:effectLst/>
              <a:uFillTx/>
              <a:latin typeface="Arial"/>
            </a:endParaRPr>
          </a:p>
          <a:p>
            <a:pPr defTabSz="457200">
              <a:lnSpc>
                <a:spcPct val="122000"/>
              </a:lnSpc>
              <a:spcAft>
                <a:spcPts val="901"/>
              </a:spcAft>
            </a:pPr>
            <a:r>
              <a:rPr lang="en-US" sz="1300" b="1" u="none" strike="noStrike">
                <a:solidFill>
                  <a:srgbClr val="3987E5"/>
                </a:solidFill>
                <a:effectLst/>
                <a:uFillTx/>
                <a:latin typeface="Inter"/>
              </a:rPr>
              <a:t>— </a:t>
            </a:r>
            <a:r>
              <a:rPr lang="en-US" sz="1300" b="0" u="none" strike="noStrike">
                <a:solidFill>
                  <a:srgbClr val="CBD5E1"/>
                </a:solidFill>
                <a:effectLst/>
                <a:uFillTx/>
                <a:latin typeface="Inter"/>
              </a:rPr>
              <a:t>At ceiling, every architectural variant scores identically. An ablation run at full training size would rank noise and present it as evidence.</a:t>
            </a:r>
            <a:endParaRPr lang="en-US" sz="1300" b="0" u="none" strike="noStrike">
              <a:solidFill>
                <a:srgbClr val="000000"/>
              </a:solidFill>
              <a:effectLst/>
              <a:uFillTx/>
              <a:latin typeface="Arial"/>
            </a:endParaRPr>
          </a:p>
        </p:txBody>
      </p:sp>
      <p:sp>
        <p:nvSpPr>
          <p:cNvPr id="288" name="Rounded Rectangle 10"/>
          <p:cNvSpPr/>
          <p:nvPr/>
        </p:nvSpPr>
        <p:spPr>
          <a:xfrm>
            <a:off x="7113240" y="1627560"/>
            <a:ext cx="4511160" cy="310860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89" name="Rectangle 11"/>
          <p:cNvSpPr/>
          <p:nvPr/>
        </p:nvSpPr>
        <p:spPr>
          <a:xfrm>
            <a:off x="7113240" y="1627560"/>
            <a:ext cx="40680" cy="310860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0" name="TextBox 12"/>
          <p:cNvSpPr/>
          <p:nvPr/>
        </p:nvSpPr>
        <p:spPr>
          <a:xfrm>
            <a:off x="7332840" y="176472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Consequence for this project</a:t>
            </a:r>
            <a:endParaRPr lang="en-US" sz="1150" b="0" u="none" strike="noStrike">
              <a:solidFill>
                <a:srgbClr val="000000"/>
              </a:solidFill>
              <a:effectLst/>
              <a:uFillTx/>
              <a:latin typeface="Arial"/>
            </a:endParaRPr>
          </a:p>
        </p:txBody>
      </p:sp>
      <p:sp>
        <p:nvSpPr>
          <p:cNvPr id="291" name="TextBox 13"/>
          <p:cNvSpPr/>
          <p:nvPr/>
        </p:nvSpPr>
        <p:spPr>
          <a:xfrm>
            <a:off x="7332840" y="2103120"/>
            <a:ext cx="4090320" cy="248688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Component contributions are measured in a reduced-data regime (15% of the training split, ~30 images per class), where the objective still has dynamic range. Full-data numbers are reported too — and reported as a ceiling, not as a ranking.</a:t>
            </a:r>
            <a:endParaRPr lang="en-US" sz="1150" b="0" u="none" strike="noStrike">
              <a:solidFill>
                <a:srgbClr val="000000"/>
              </a:solidFill>
              <a:effectLst/>
              <a:uFillTx/>
              <a:latin typeface="Arial"/>
            </a:endParaRPr>
          </a:p>
          <a:p>
            <a:pPr defTabSz="457200">
              <a:lnSpc>
                <a:spcPct val="124000"/>
              </a:lnSpc>
              <a:spcAft>
                <a:spcPts val="400"/>
              </a:spcAft>
            </a:pP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This is the difference between an ablation that measures something and an ablation that decorates a conclusion.</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202" dur="indefinite" restart="never" nodeType="tmRoot">
          <p:childTnLst>
            <p:seq>
              <p:cTn id="203" dur="indefinite" nodeType="mainSeq">
                <p:childTnLst>
                  <p:par>
                    <p:cTn id="204" fill="hold">
                      <p:stCondLst>
                        <p:cond delay="indefinite"/>
                      </p:stCondLst>
                      <p:childTnLst>
                        <p:par>
                          <p:cTn id="205" fill="hold">
                            <p:stCondLst>
                              <p:cond delay="0"/>
                            </p:stCondLst>
                            <p:childTnLst>
                              <p:par>
                                <p:cTn id="206" presetID="10" presetClass="entr" fill="hold" nodeType="clickEffect">
                                  <p:stCondLst>
                                    <p:cond delay="0"/>
                                  </p:stCondLst>
                                  <p:childTnLst>
                                    <p:set>
                                      <p:cBhvr>
                                        <p:cTn id="207" dur="1" fill="hold">
                                          <p:stCondLst>
                                            <p:cond delay="0"/>
                                          </p:stCondLst>
                                        </p:cTn>
                                        <p:tgtEl>
                                          <p:spTgt spid="291"/>
                                        </p:tgtEl>
                                        <p:attrNameLst>
                                          <p:attrName>style.visibility</p:attrName>
                                        </p:attrNameLst>
                                      </p:cBhvr>
                                      <p:to>
                                        <p:strVal val="visible"/>
                                      </p:to>
                                    </p:set>
                                    <p:animEffect transition="in" filter="fade">
                                      <p:cBhvr additive="repl">
                                        <p:cTn id="208" dur="35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93"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Base Paper  ·  Jia et al. (2023)</a:t>
            </a:r>
            <a:endParaRPr lang="en-US" sz="2700" b="0" u="none" strike="noStrike">
              <a:solidFill>
                <a:srgbClr val="000000"/>
              </a:solidFill>
              <a:effectLst/>
              <a:uFillTx/>
              <a:latin typeface="Arial"/>
            </a:endParaRPr>
          </a:p>
        </p:txBody>
      </p:sp>
      <p:sp>
        <p:nvSpPr>
          <p:cNvPr id="294"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Journal of Cloud Computing 12:175 · DOI 10.1186/s13677-023-00537-0 · CC BY 4.0</a:t>
            </a:r>
            <a:endParaRPr lang="en-US" sz="1300" b="0" u="none" strike="noStrike">
              <a:solidFill>
                <a:srgbClr val="000000"/>
              </a:solidFill>
              <a:effectLst/>
              <a:uFillTx/>
              <a:latin typeface="Arial"/>
            </a:endParaRPr>
          </a:p>
        </p:txBody>
      </p:sp>
      <p:sp>
        <p:nvSpPr>
          <p:cNvPr id="295"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296"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297" name="Rectangle 6"/>
          <p:cNvSpPr/>
          <p:nvPr/>
        </p:nvSpPr>
        <p:spPr>
          <a:xfrm>
            <a:off x="567000" y="6226920"/>
            <a:ext cx="23277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298"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299"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12</a:t>
            </a:r>
            <a:endParaRPr lang="en-US" sz="900" b="0" u="none" strike="noStrike">
              <a:solidFill>
                <a:srgbClr val="000000"/>
              </a:solidFill>
              <a:effectLst/>
              <a:uFillTx/>
              <a:latin typeface="Arial"/>
            </a:endParaRPr>
          </a:p>
        </p:txBody>
      </p:sp>
      <p:sp>
        <p:nvSpPr>
          <p:cNvPr id="300" name="TextBox 9"/>
          <p:cNvSpPr/>
          <p:nvPr/>
        </p:nvSpPr>
        <p:spPr>
          <a:xfrm>
            <a:off x="567000" y="1627560"/>
            <a:ext cx="5446440" cy="329148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Preprocess. </a:t>
            </a:r>
            <a:r>
              <a:rPr lang="en-US" sz="1250" b="0" u="none" strike="noStrike">
                <a:solidFill>
                  <a:srgbClr val="CBD5E1"/>
                </a:solidFill>
                <a:effectLst/>
                <a:uFillTx/>
                <a:latin typeface="Inter"/>
              </a:rPr>
              <a:t>resize 112×112, grayscale, global histogram equalisation.</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Chunk. </a:t>
            </a:r>
            <a:r>
              <a:rPr lang="en-US" sz="1250" b="0" u="none" strike="noStrike">
                <a:solidFill>
                  <a:srgbClr val="CBD5E1"/>
                </a:solidFill>
                <a:effectLst/>
                <a:uFillTx/>
                <a:latin typeface="Inter"/>
              </a:rPr>
              <a:t>28×28 subregions → a 4×4 grid of 16 chunks.</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Select. </a:t>
            </a:r>
            <a:r>
              <a:rPr lang="en-US" sz="1250" b="0" u="none" strike="noStrike">
                <a:solidFill>
                  <a:srgbClr val="CBD5E1"/>
                </a:solidFill>
                <a:effectLst/>
                <a:uFillTx/>
                <a:latin typeface="Inter"/>
              </a:rPr>
              <a:t>Sobel gradient per chunk; keep those above a threshold.</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Encrypt. </a:t>
            </a:r>
            <a:r>
              <a:rPr lang="en-US" sz="1250" b="0" u="none" strike="noStrike">
                <a:solidFill>
                  <a:srgbClr val="CBD5E1"/>
                </a:solidFill>
                <a:effectLst/>
                <a:uFillTx/>
                <a:latin typeface="Inter"/>
              </a:rPr>
              <a:t>CKKS on the retained chunks, polynomial modulus 16384.</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Classify. </a:t>
            </a:r>
            <a:r>
              <a:rPr lang="en-US" sz="1250" b="0" u="none" strike="noStrike">
                <a:solidFill>
                  <a:srgbClr val="CBD5E1"/>
                </a:solidFill>
                <a:effectLst/>
                <a:uFillTx/>
                <a:latin typeface="Inter"/>
              </a:rPr>
              <a:t>7×7 conv → FC 256→128 → FC 128→6; square activation under encryption.</a:t>
            </a:r>
            <a:endParaRPr lang="en-US" sz="1250" b="0" u="none" strike="noStrike">
              <a:solidFill>
                <a:srgbClr val="000000"/>
              </a:solidFill>
              <a:effectLst/>
              <a:uFillTx/>
              <a:latin typeface="Arial"/>
            </a:endParaRPr>
          </a:p>
        </p:txBody>
      </p:sp>
      <p:sp>
        <p:nvSpPr>
          <p:cNvPr id="301" name="Rounded Rectangle 10"/>
          <p:cNvSpPr/>
          <p:nvPr/>
        </p:nvSpPr>
        <p:spPr>
          <a:xfrm>
            <a:off x="567000" y="4645080"/>
            <a:ext cx="3575880" cy="105120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02" name="TextBox 11"/>
          <p:cNvSpPr/>
          <p:nvPr/>
        </p:nvSpPr>
        <p:spPr>
          <a:xfrm>
            <a:off x="768240" y="4800600"/>
            <a:ext cx="317340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97.1%</a:t>
            </a:r>
            <a:endParaRPr lang="en-US" sz="2800" b="0" u="none" strike="noStrike">
              <a:solidFill>
                <a:srgbClr val="000000"/>
              </a:solidFill>
              <a:effectLst/>
              <a:uFillTx/>
              <a:latin typeface="Arial"/>
            </a:endParaRPr>
          </a:p>
        </p:txBody>
      </p:sp>
      <p:sp>
        <p:nvSpPr>
          <p:cNvPr id="303" name="TextBox 12"/>
          <p:cNvSpPr/>
          <p:nvPr/>
        </p:nvSpPr>
        <p:spPr>
          <a:xfrm>
            <a:off x="768240" y="5394960"/>
            <a:ext cx="317340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reported NEU-CLS accuracy (Table 3)</a:t>
            </a:r>
            <a:endParaRPr lang="en-US" sz="1050" b="0" u="none" strike="noStrike">
              <a:solidFill>
                <a:srgbClr val="000000"/>
              </a:solidFill>
              <a:effectLst/>
              <a:uFillTx/>
              <a:latin typeface="Arial"/>
            </a:endParaRPr>
          </a:p>
        </p:txBody>
      </p:sp>
      <p:sp>
        <p:nvSpPr>
          <p:cNvPr id="304" name="Rounded Rectangle 13"/>
          <p:cNvSpPr/>
          <p:nvPr/>
        </p:nvSpPr>
        <p:spPr>
          <a:xfrm>
            <a:off x="4307760" y="4645080"/>
            <a:ext cx="3575880" cy="105120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05" name="TextBox 14"/>
          <p:cNvSpPr/>
          <p:nvPr/>
        </p:nvSpPr>
        <p:spPr>
          <a:xfrm>
            <a:off x="4509000" y="4800600"/>
            <a:ext cx="317340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235 ms</a:t>
            </a:r>
            <a:endParaRPr lang="en-US" sz="2800" b="0" u="none" strike="noStrike">
              <a:solidFill>
                <a:srgbClr val="000000"/>
              </a:solidFill>
              <a:effectLst/>
              <a:uFillTx/>
              <a:latin typeface="Arial"/>
            </a:endParaRPr>
          </a:p>
        </p:txBody>
      </p:sp>
      <p:sp>
        <p:nvSpPr>
          <p:cNvPr id="306" name="TextBox 15"/>
          <p:cNvSpPr/>
          <p:nvPr/>
        </p:nvSpPr>
        <p:spPr>
          <a:xfrm>
            <a:off x="4509000" y="5394960"/>
            <a:ext cx="317340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encrypt feature chunks only (Table 2)</a:t>
            </a:r>
            <a:endParaRPr lang="en-US" sz="1050" b="0" u="none" strike="noStrike">
              <a:solidFill>
                <a:srgbClr val="000000"/>
              </a:solidFill>
              <a:effectLst/>
              <a:uFillTx/>
              <a:latin typeface="Arial"/>
            </a:endParaRPr>
          </a:p>
        </p:txBody>
      </p:sp>
      <p:sp>
        <p:nvSpPr>
          <p:cNvPr id="307" name="Rounded Rectangle 16"/>
          <p:cNvSpPr/>
          <p:nvPr/>
        </p:nvSpPr>
        <p:spPr>
          <a:xfrm>
            <a:off x="8048520" y="4645080"/>
            <a:ext cx="3575880" cy="105120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08" name="TextBox 17"/>
          <p:cNvSpPr/>
          <p:nvPr/>
        </p:nvSpPr>
        <p:spPr>
          <a:xfrm>
            <a:off x="8249760" y="4800600"/>
            <a:ext cx="317340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806 MB</a:t>
            </a:r>
            <a:endParaRPr lang="en-US" sz="2800" b="0" u="none" strike="noStrike">
              <a:solidFill>
                <a:srgbClr val="000000"/>
              </a:solidFill>
              <a:effectLst/>
              <a:uFillTx/>
              <a:latin typeface="Arial"/>
            </a:endParaRPr>
          </a:p>
        </p:txBody>
      </p:sp>
      <p:sp>
        <p:nvSpPr>
          <p:cNvPr id="309" name="TextBox 18"/>
          <p:cNvSpPr/>
          <p:nvPr/>
        </p:nvSpPr>
        <p:spPr>
          <a:xfrm>
            <a:off x="8249760" y="5394960"/>
            <a:ext cx="317340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Galois keys at n=16384 (Table 1)</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209" dur="indefinite" restart="never" nodeType="tmRoot">
          <p:childTnLst>
            <p:seq>
              <p:cTn id="210" dur="indefinite" nodeType="mainSeq">
                <p:childTnLst>
                  <p:par>
                    <p:cTn id="211" fill="hold">
                      <p:stCondLst>
                        <p:cond delay="indefinite"/>
                      </p:stCondLst>
                      <p:childTnLst>
                        <p:par>
                          <p:cTn id="212" fill="hold">
                            <p:stCondLst>
                              <p:cond delay="0"/>
                            </p:stCondLst>
                            <p:childTnLst>
                              <p:par>
                                <p:cTn id="213" presetID="10" presetClass="entr" fill="hold" nodeType="clickEffect">
                                  <p:stCondLst>
                                    <p:cond delay="0"/>
                                  </p:stCondLst>
                                  <p:childTnLst>
                                    <p:set>
                                      <p:cBhvr>
                                        <p:cTn id="214" dur="1" fill="hold">
                                          <p:stCondLst>
                                            <p:cond delay="0"/>
                                          </p:stCondLst>
                                        </p:cTn>
                                        <p:tgtEl>
                                          <p:spTgt spid="301"/>
                                        </p:tgtEl>
                                        <p:attrNameLst>
                                          <p:attrName>style.visibility</p:attrName>
                                        </p:attrNameLst>
                                      </p:cBhvr>
                                      <p:to>
                                        <p:strVal val="visible"/>
                                      </p:to>
                                    </p:set>
                                    <p:animEffect transition="in" filter="fade">
                                      <p:cBhvr additive="repl">
                                        <p:cTn id="215" dur="350"/>
                                        <p:tgtEl>
                                          <p:spTgt spid="301"/>
                                        </p:tgtEl>
                                      </p:cBhvr>
                                    </p:animEffect>
                                  </p:childTnLst>
                                </p:cTn>
                              </p:par>
                            </p:childTnLst>
                          </p:cTn>
                        </p:par>
                      </p:childTnLst>
                    </p:cTn>
                  </p:par>
                  <p:par>
                    <p:cTn id="216" fill="hold">
                      <p:stCondLst>
                        <p:cond delay="indefinite"/>
                      </p:stCondLst>
                      <p:childTnLst>
                        <p:par>
                          <p:cTn id="217" fill="hold">
                            <p:stCondLst>
                              <p:cond delay="0"/>
                            </p:stCondLst>
                            <p:childTnLst>
                              <p:par>
                                <p:cTn id="218" presetID="10" presetClass="entr" fill="hold" nodeType="afterEffect">
                                  <p:stCondLst>
                                    <p:cond delay="0"/>
                                  </p:stCondLst>
                                  <p:childTnLst>
                                    <p:set>
                                      <p:cBhvr>
                                        <p:cTn id="219" dur="1" fill="hold">
                                          <p:stCondLst>
                                            <p:cond delay="0"/>
                                          </p:stCondLst>
                                        </p:cTn>
                                        <p:tgtEl>
                                          <p:spTgt spid="302"/>
                                        </p:tgtEl>
                                        <p:attrNameLst>
                                          <p:attrName>style.visibility</p:attrName>
                                        </p:attrNameLst>
                                      </p:cBhvr>
                                      <p:to>
                                        <p:strVal val="visible"/>
                                      </p:to>
                                    </p:set>
                                    <p:animEffect transition="in" filter="fade">
                                      <p:cBhvr additive="repl">
                                        <p:cTn id="220" dur="350"/>
                                        <p:tgtEl>
                                          <p:spTgt spid="302"/>
                                        </p:tgtEl>
                                      </p:cBhvr>
                                    </p:animEffect>
                                  </p:childTnLst>
                                </p:cTn>
                              </p:par>
                            </p:childTnLst>
                          </p:cTn>
                        </p:par>
                      </p:childTnLst>
                    </p:cTn>
                  </p:par>
                  <p:par>
                    <p:cTn id="221" fill="hold">
                      <p:stCondLst>
                        <p:cond delay="indefinite"/>
                      </p:stCondLst>
                      <p:childTnLst>
                        <p:par>
                          <p:cTn id="222" fill="hold">
                            <p:stCondLst>
                              <p:cond delay="0"/>
                            </p:stCondLst>
                            <p:childTnLst>
                              <p:par>
                                <p:cTn id="223" presetID="10" presetClass="entr" fill="hold" nodeType="afterEffect">
                                  <p:stCondLst>
                                    <p:cond delay="0"/>
                                  </p:stCondLst>
                                  <p:childTnLst>
                                    <p:set>
                                      <p:cBhvr>
                                        <p:cTn id="224" dur="1" fill="hold">
                                          <p:stCondLst>
                                            <p:cond delay="0"/>
                                          </p:stCondLst>
                                        </p:cTn>
                                        <p:tgtEl>
                                          <p:spTgt spid="303"/>
                                        </p:tgtEl>
                                        <p:attrNameLst>
                                          <p:attrName>style.visibility</p:attrName>
                                        </p:attrNameLst>
                                      </p:cBhvr>
                                      <p:to>
                                        <p:strVal val="visible"/>
                                      </p:to>
                                    </p:set>
                                    <p:animEffect transition="in" filter="fade">
                                      <p:cBhvr additive="repl">
                                        <p:cTn id="225" dur="350"/>
                                        <p:tgtEl>
                                          <p:spTgt spid="303"/>
                                        </p:tgtEl>
                                      </p:cBhvr>
                                    </p:animEffect>
                                  </p:childTnLst>
                                </p:cTn>
                              </p:par>
                            </p:childTnLst>
                          </p:cTn>
                        </p:par>
                      </p:childTnLst>
                    </p:cTn>
                  </p:par>
                  <p:par>
                    <p:cTn id="226" fill="hold">
                      <p:stCondLst>
                        <p:cond delay="indefinite"/>
                      </p:stCondLst>
                      <p:childTnLst>
                        <p:par>
                          <p:cTn id="227" fill="hold">
                            <p:stCondLst>
                              <p:cond delay="0"/>
                            </p:stCondLst>
                            <p:childTnLst>
                              <p:par>
                                <p:cTn id="228" presetID="10" presetClass="entr" fill="hold" nodeType="afterEffect">
                                  <p:stCondLst>
                                    <p:cond delay="0"/>
                                  </p:stCondLst>
                                  <p:childTnLst>
                                    <p:set>
                                      <p:cBhvr>
                                        <p:cTn id="229" dur="1" fill="hold">
                                          <p:stCondLst>
                                            <p:cond delay="0"/>
                                          </p:stCondLst>
                                        </p:cTn>
                                        <p:tgtEl>
                                          <p:spTgt spid="304"/>
                                        </p:tgtEl>
                                        <p:attrNameLst>
                                          <p:attrName>style.visibility</p:attrName>
                                        </p:attrNameLst>
                                      </p:cBhvr>
                                      <p:to>
                                        <p:strVal val="visible"/>
                                      </p:to>
                                    </p:set>
                                    <p:animEffect transition="in" filter="fade">
                                      <p:cBhvr additive="repl">
                                        <p:cTn id="230" dur="350"/>
                                        <p:tgtEl>
                                          <p:spTgt spid="304"/>
                                        </p:tgtEl>
                                      </p:cBhvr>
                                    </p:animEffect>
                                  </p:childTnLst>
                                </p:cTn>
                              </p:par>
                            </p:childTnLst>
                          </p:cTn>
                        </p:par>
                      </p:childTnLst>
                    </p:cTn>
                  </p:par>
                  <p:par>
                    <p:cTn id="231" fill="hold">
                      <p:stCondLst>
                        <p:cond delay="indefinite"/>
                      </p:stCondLst>
                      <p:childTnLst>
                        <p:par>
                          <p:cTn id="232" fill="hold">
                            <p:stCondLst>
                              <p:cond delay="0"/>
                            </p:stCondLst>
                            <p:childTnLst>
                              <p:par>
                                <p:cTn id="233" presetID="10" presetClass="entr" fill="hold" nodeType="afterEffect">
                                  <p:stCondLst>
                                    <p:cond delay="0"/>
                                  </p:stCondLst>
                                  <p:childTnLst>
                                    <p:set>
                                      <p:cBhvr>
                                        <p:cTn id="234" dur="1" fill="hold">
                                          <p:stCondLst>
                                            <p:cond delay="0"/>
                                          </p:stCondLst>
                                        </p:cTn>
                                        <p:tgtEl>
                                          <p:spTgt spid="305"/>
                                        </p:tgtEl>
                                        <p:attrNameLst>
                                          <p:attrName>style.visibility</p:attrName>
                                        </p:attrNameLst>
                                      </p:cBhvr>
                                      <p:to>
                                        <p:strVal val="visible"/>
                                      </p:to>
                                    </p:set>
                                    <p:animEffect transition="in" filter="fade">
                                      <p:cBhvr additive="repl">
                                        <p:cTn id="235" dur="350"/>
                                        <p:tgtEl>
                                          <p:spTgt spid="305"/>
                                        </p:tgtEl>
                                      </p:cBhvr>
                                    </p:animEffect>
                                  </p:childTnLst>
                                </p:cTn>
                              </p:par>
                            </p:childTnLst>
                          </p:cTn>
                        </p:par>
                      </p:childTnLst>
                    </p:cTn>
                  </p:par>
                  <p:par>
                    <p:cTn id="236" fill="hold">
                      <p:stCondLst>
                        <p:cond delay="indefinite"/>
                      </p:stCondLst>
                      <p:childTnLst>
                        <p:par>
                          <p:cTn id="237" fill="hold">
                            <p:stCondLst>
                              <p:cond delay="0"/>
                            </p:stCondLst>
                            <p:childTnLst>
                              <p:par>
                                <p:cTn id="238" presetID="10" presetClass="entr" fill="hold" nodeType="afterEffect">
                                  <p:stCondLst>
                                    <p:cond delay="0"/>
                                  </p:stCondLst>
                                  <p:childTnLst>
                                    <p:set>
                                      <p:cBhvr>
                                        <p:cTn id="239" dur="1" fill="hold">
                                          <p:stCondLst>
                                            <p:cond delay="0"/>
                                          </p:stCondLst>
                                        </p:cTn>
                                        <p:tgtEl>
                                          <p:spTgt spid="306"/>
                                        </p:tgtEl>
                                        <p:attrNameLst>
                                          <p:attrName>style.visibility</p:attrName>
                                        </p:attrNameLst>
                                      </p:cBhvr>
                                      <p:to>
                                        <p:strVal val="visible"/>
                                      </p:to>
                                    </p:set>
                                    <p:animEffect transition="in" filter="fade">
                                      <p:cBhvr additive="repl">
                                        <p:cTn id="240" dur="35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11"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Base Paper Architecture</a:t>
            </a:r>
            <a:endParaRPr lang="en-US" sz="2700" b="0" u="none" strike="noStrike">
              <a:solidFill>
                <a:srgbClr val="000000"/>
              </a:solidFill>
              <a:effectLst/>
              <a:uFillTx/>
              <a:latin typeface="Arial"/>
            </a:endParaRPr>
          </a:p>
        </p:txBody>
      </p:sp>
      <p:sp>
        <p:nvSpPr>
          <p:cNvPr id="312"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Reproduced; amber marks what the paper does not state</a:t>
            </a:r>
            <a:endParaRPr lang="en-US" sz="1300" b="0" u="none" strike="noStrike">
              <a:solidFill>
                <a:srgbClr val="000000"/>
              </a:solidFill>
              <a:effectLst/>
              <a:uFillTx/>
              <a:latin typeface="Arial"/>
            </a:endParaRPr>
          </a:p>
        </p:txBody>
      </p:sp>
      <p:sp>
        <p:nvSpPr>
          <p:cNvPr id="313"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314"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315" name="Rectangle 6"/>
          <p:cNvSpPr/>
          <p:nvPr/>
        </p:nvSpPr>
        <p:spPr>
          <a:xfrm>
            <a:off x="567000" y="6226920"/>
            <a:ext cx="25214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316"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317"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13</a:t>
            </a:r>
            <a:endParaRPr lang="en-US" sz="900" b="0" u="none" strike="noStrike">
              <a:solidFill>
                <a:srgbClr val="000000"/>
              </a:solidFill>
              <a:effectLst/>
              <a:uFillTx/>
              <a:latin typeface="Arial"/>
            </a:endParaRPr>
          </a:p>
        </p:txBody>
      </p:sp>
      <p:pic>
        <p:nvPicPr>
          <p:cNvPr id="318" name="Picture 9" descr="02_baseline_architecture_1418.png"/>
          <p:cNvPicPr/>
          <p:nvPr/>
        </p:nvPicPr>
        <p:blipFill>
          <a:blip r:embed="rId1"/>
          <a:stretch/>
        </p:blipFill>
        <p:spPr>
          <a:xfrm>
            <a:off x="1774080" y="1536120"/>
            <a:ext cx="864288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0"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Base Paper  ·  limitations found on close reading</a:t>
            </a:r>
            <a:endParaRPr lang="en-US" sz="2700" b="0" u="none" strike="noStrike">
              <a:solidFill>
                <a:srgbClr val="000000"/>
              </a:solidFill>
              <a:effectLst/>
              <a:uFillTx/>
              <a:latin typeface="Arial"/>
            </a:endParaRPr>
          </a:p>
        </p:txBody>
      </p:sp>
      <p:sp>
        <p:nvSpPr>
          <p:cNvPr id="321"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Stated to scope a fair comparison, not to disparage the work</a:t>
            </a:r>
            <a:endParaRPr lang="en-US" sz="1300" b="0" u="none" strike="noStrike">
              <a:solidFill>
                <a:srgbClr val="000000"/>
              </a:solidFill>
              <a:effectLst/>
              <a:uFillTx/>
              <a:latin typeface="Arial"/>
            </a:endParaRPr>
          </a:p>
        </p:txBody>
      </p:sp>
      <p:sp>
        <p:nvSpPr>
          <p:cNvPr id="322"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323"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324" name="Rectangle 6"/>
          <p:cNvSpPr/>
          <p:nvPr/>
        </p:nvSpPr>
        <p:spPr>
          <a:xfrm>
            <a:off x="567000" y="6226920"/>
            <a:ext cx="27154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325"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326"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14</a:t>
            </a:r>
            <a:endParaRPr lang="en-US" sz="900" b="0" u="none" strike="noStrike">
              <a:solidFill>
                <a:srgbClr val="000000"/>
              </a:solidFill>
              <a:effectLst/>
              <a:uFillTx/>
              <a:latin typeface="Arial"/>
            </a:endParaRPr>
          </a:p>
        </p:txBody>
      </p:sp>
      <p:sp>
        <p:nvSpPr>
          <p:cNvPr id="327" name="Rounded Rectangle 9"/>
          <p:cNvSpPr/>
          <p:nvPr/>
        </p:nvSpPr>
        <p:spPr>
          <a:xfrm>
            <a:off x="567000" y="162756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8" name="Rectangle 10"/>
          <p:cNvSpPr/>
          <p:nvPr/>
        </p:nvSpPr>
        <p:spPr>
          <a:xfrm>
            <a:off x="567000" y="1627560"/>
            <a:ext cx="40680" cy="1261440"/>
          </a:xfrm>
          <a:prstGeom prst="rect">
            <a:avLst/>
          </a:prstGeom>
          <a:solidFill>
            <a:srgbClr val="D03B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29" name="TextBox 11"/>
          <p:cNvSpPr/>
          <p:nvPr/>
        </p:nvSpPr>
        <p:spPr>
          <a:xfrm>
            <a:off x="786240" y="176472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D03B3B"/>
                </a:solidFill>
                <a:effectLst/>
                <a:uFillTx/>
                <a:latin typeface="Inter"/>
              </a:rPr>
              <a:t>Cross-dataset comparison</a:t>
            </a:r>
            <a:endParaRPr lang="en-US" sz="1150" b="0" u="none" strike="noStrike">
              <a:solidFill>
                <a:srgbClr val="000000"/>
              </a:solidFill>
              <a:effectLst/>
              <a:uFillTx/>
              <a:latin typeface="Arial"/>
            </a:endParaRPr>
          </a:p>
        </p:txBody>
      </p:sp>
      <p:sp>
        <p:nvSpPr>
          <p:cNvPr id="330" name="TextBox 12"/>
          <p:cNvSpPr/>
          <p:nvPr/>
        </p:nvSpPr>
        <p:spPr>
          <a:xfrm>
            <a:off x="786240" y="210312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Table 3 ranks their NEU-CLS result against TCGA genomics, Fashion-MNIST and CIFAR-10.</a:t>
            </a:r>
            <a:endParaRPr lang="en-US" sz="1150" b="0" u="none" strike="noStrike">
              <a:solidFill>
                <a:srgbClr val="000000"/>
              </a:solidFill>
              <a:effectLst/>
              <a:uFillTx/>
              <a:latin typeface="Arial"/>
            </a:endParaRPr>
          </a:p>
        </p:txBody>
      </p:sp>
      <p:sp>
        <p:nvSpPr>
          <p:cNvPr id="331" name="Rounded Rectangle 13"/>
          <p:cNvSpPr/>
          <p:nvPr/>
        </p:nvSpPr>
        <p:spPr>
          <a:xfrm>
            <a:off x="6178320" y="162756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2" name="Rectangle 14"/>
          <p:cNvSpPr/>
          <p:nvPr/>
        </p:nvSpPr>
        <p:spPr>
          <a:xfrm>
            <a:off x="6178320" y="1627560"/>
            <a:ext cx="40680" cy="12614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33" name="TextBox 15"/>
          <p:cNvSpPr/>
          <p:nvPr/>
        </p:nvSpPr>
        <p:spPr>
          <a:xfrm>
            <a:off x="6397560" y="176472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No P / R / F1 for NEU-CLS</a:t>
            </a:r>
            <a:endParaRPr lang="en-US" sz="1150" b="0" u="none" strike="noStrike">
              <a:solidFill>
                <a:srgbClr val="000000"/>
              </a:solidFill>
              <a:effectLst/>
              <a:uFillTx/>
              <a:latin typeface="Arial"/>
            </a:endParaRPr>
          </a:p>
        </p:txBody>
      </p:sp>
      <p:sp>
        <p:nvSpPr>
          <p:cNvPr id="334" name="TextBox 16"/>
          <p:cNvSpPr/>
          <p:nvPr/>
        </p:nvSpPr>
        <p:spPr>
          <a:xfrm>
            <a:off x="6397560" y="210312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Accuracy only; NEU-CLS results appear as figures, not tables.</a:t>
            </a:r>
            <a:endParaRPr lang="en-US" sz="1150" b="0" u="none" strike="noStrike">
              <a:solidFill>
                <a:srgbClr val="000000"/>
              </a:solidFill>
              <a:effectLst/>
              <a:uFillTx/>
              <a:latin typeface="Arial"/>
            </a:endParaRPr>
          </a:p>
        </p:txBody>
      </p:sp>
      <p:sp>
        <p:nvSpPr>
          <p:cNvPr id="335" name="Rounded Rectangle 17"/>
          <p:cNvSpPr/>
          <p:nvPr/>
        </p:nvSpPr>
        <p:spPr>
          <a:xfrm>
            <a:off x="567000" y="304488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36" name="Rectangle 18"/>
          <p:cNvSpPr/>
          <p:nvPr/>
        </p:nvSpPr>
        <p:spPr>
          <a:xfrm>
            <a:off x="567000" y="3044880"/>
            <a:ext cx="40680" cy="12614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37" name="TextBox 19"/>
          <p:cNvSpPr/>
          <p:nvPr/>
        </p:nvSpPr>
        <p:spPr>
          <a:xfrm>
            <a:off x="786240" y="318204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Protocol unreported</a:t>
            </a:r>
            <a:endParaRPr lang="en-US" sz="1150" b="0" u="none" strike="noStrike">
              <a:solidFill>
                <a:srgbClr val="000000"/>
              </a:solidFill>
              <a:effectLst/>
              <a:uFillTx/>
              <a:latin typeface="Arial"/>
            </a:endParaRPr>
          </a:p>
        </p:txBody>
      </p:sp>
      <p:sp>
        <p:nvSpPr>
          <p:cNvPr id="338" name="TextBox 20"/>
          <p:cNvSpPr/>
          <p:nvPr/>
        </p:nvSpPr>
        <p:spPr>
          <a:xfrm>
            <a:off x="786240" y="352044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Split sizes, epochs, learning rate and batch size are absent.</a:t>
            </a:r>
            <a:endParaRPr lang="en-US" sz="1150" b="0" u="none" strike="noStrike">
              <a:solidFill>
                <a:srgbClr val="000000"/>
              </a:solidFill>
              <a:effectLst/>
              <a:uFillTx/>
              <a:latin typeface="Arial"/>
            </a:endParaRPr>
          </a:p>
        </p:txBody>
      </p:sp>
      <p:sp>
        <p:nvSpPr>
          <p:cNvPr id="339" name="Rounded Rectangle 21"/>
          <p:cNvSpPr/>
          <p:nvPr/>
        </p:nvSpPr>
        <p:spPr>
          <a:xfrm>
            <a:off x="6178320" y="304488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0" name="Rectangle 22"/>
          <p:cNvSpPr/>
          <p:nvPr/>
        </p:nvSpPr>
        <p:spPr>
          <a:xfrm>
            <a:off x="6178320" y="3044880"/>
            <a:ext cx="40680" cy="12614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1" name="TextBox 23"/>
          <p:cNvSpPr/>
          <p:nvPr/>
        </p:nvSpPr>
        <p:spPr>
          <a:xfrm>
            <a:off x="6397560" y="318204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Chunk size inconsistent</a:t>
            </a:r>
            <a:endParaRPr lang="en-US" sz="1150" b="0" u="none" strike="noStrike">
              <a:solidFill>
                <a:srgbClr val="000000"/>
              </a:solidFill>
              <a:effectLst/>
              <a:uFillTx/>
              <a:latin typeface="Arial"/>
            </a:endParaRPr>
          </a:p>
        </p:txBody>
      </p:sp>
      <p:sp>
        <p:nvSpPr>
          <p:cNvPr id="342" name="TextBox 24"/>
          <p:cNvSpPr/>
          <p:nvPr/>
        </p:nvSpPr>
        <p:spPr>
          <a:xfrm>
            <a:off x="6397560" y="352044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28×28 in one section, 28×26 in two others; only 28×28 fits Table 2.</a:t>
            </a:r>
            <a:endParaRPr lang="en-US" sz="1150" b="0" u="none" strike="noStrike">
              <a:solidFill>
                <a:srgbClr val="000000"/>
              </a:solidFill>
              <a:effectLst/>
              <a:uFillTx/>
              <a:latin typeface="Arial"/>
            </a:endParaRPr>
          </a:p>
        </p:txBody>
      </p:sp>
      <p:sp>
        <p:nvSpPr>
          <p:cNvPr id="343" name="Rounded Rectangle 25"/>
          <p:cNvSpPr/>
          <p:nvPr/>
        </p:nvSpPr>
        <p:spPr>
          <a:xfrm>
            <a:off x="567000" y="446220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4" name="Rectangle 26"/>
          <p:cNvSpPr/>
          <p:nvPr/>
        </p:nvSpPr>
        <p:spPr>
          <a:xfrm>
            <a:off x="567000" y="4462200"/>
            <a:ext cx="40680" cy="1261440"/>
          </a:xfrm>
          <a:prstGeom prst="rect">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5" name="TextBox 27"/>
          <p:cNvSpPr/>
          <p:nvPr/>
        </p:nvSpPr>
        <p:spPr>
          <a:xfrm>
            <a:off x="786240" y="459936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94A3B8"/>
                </a:solidFill>
                <a:effectLst/>
                <a:uFillTx/>
                <a:latin typeface="Inter"/>
              </a:rPr>
              <a:t>CKKS expanded incorrectly</a:t>
            </a:r>
            <a:endParaRPr lang="en-US" sz="1150" b="0" u="none" strike="noStrike">
              <a:solidFill>
                <a:srgbClr val="000000"/>
              </a:solidFill>
              <a:effectLst/>
              <a:uFillTx/>
              <a:latin typeface="Arial"/>
            </a:endParaRPr>
          </a:p>
        </p:txBody>
      </p:sp>
      <p:sp>
        <p:nvSpPr>
          <p:cNvPr id="346" name="TextBox 28"/>
          <p:cNvSpPr/>
          <p:nvPr/>
        </p:nvSpPr>
        <p:spPr>
          <a:xfrm>
            <a:off x="786240" y="493776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“Complex Key-Value Storage” in one section.</a:t>
            </a:r>
            <a:endParaRPr lang="en-US" sz="1150" b="0" u="none" strike="noStrike">
              <a:solidFill>
                <a:srgbClr val="000000"/>
              </a:solidFill>
              <a:effectLst/>
              <a:uFillTx/>
              <a:latin typeface="Arial"/>
            </a:endParaRPr>
          </a:p>
        </p:txBody>
      </p:sp>
      <p:sp>
        <p:nvSpPr>
          <p:cNvPr id="347" name="Rounded Rectangle 29"/>
          <p:cNvSpPr/>
          <p:nvPr/>
        </p:nvSpPr>
        <p:spPr>
          <a:xfrm>
            <a:off x="6178320" y="446220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8" name="Rectangle 30"/>
          <p:cNvSpPr/>
          <p:nvPr/>
        </p:nvSpPr>
        <p:spPr>
          <a:xfrm>
            <a:off x="6178320" y="4462200"/>
            <a:ext cx="40680" cy="1261440"/>
          </a:xfrm>
          <a:prstGeom prst="rect">
            <a:avLst/>
          </a:prstGeom>
          <a:solidFill>
            <a:srgbClr val="D03B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49" name="TextBox 31"/>
          <p:cNvSpPr/>
          <p:nvPr/>
        </p:nvSpPr>
        <p:spPr>
          <a:xfrm>
            <a:off x="6397560" y="459936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D03B3B"/>
                </a:solidFill>
                <a:effectLst/>
                <a:uFillTx/>
                <a:latin typeface="Inter"/>
              </a:rPr>
              <a:t>Encryption improves accuracy</a:t>
            </a:r>
            <a:endParaRPr lang="en-US" sz="1150" b="0" u="none" strike="noStrike">
              <a:solidFill>
                <a:srgbClr val="000000"/>
              </a:solidFill>
              <a:effectLst/>
              <a:uFillTx/>
              <a:latin typeface="Arial"/>
            </a:endParaRPr>
          </a:p>
        </p:txBody>
      </p:sp>
      <p:sp>
        <p:nvSpPr>
          <p:cNvPr id="350" name="TextBox 32"/>
          <p:cNvSpPr/>
          <p:nvPr/>
        </p:nvSpPr>
        <p:spPr>
          <a:xfrm>
            <a:off x="6397560" y="493776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Reported, but CKKS is approximate — it adds error, not signal.</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241" dur="indefinite" restart="never" nodeType="tmRoot">
          <p:childTnLst>
            <p:seq>
              <p:cTn id="242" dur="indefinite" nodeType="mainSeq">
                <p:childTnLst>
                  <p:par>
                    <p:cTn id="243" fill="hold">
                      <p:stCondLst>
                        <p:cond delay="indefinite"/>
                      </p:stCondLst>
                      <p:childTnLst>
                        <p:par>
                          <p:cTn id="244" fill="hold">
                            <p:stCondLst>
                              <p:cond delay="0"/>
                            </p:stCondLst>
                            <p:childTnLst>
                              <p:par>
                                <p:cTn id="245" presetID="10" presetClass="entr" fill="hold" nodeType="clickEffect">
                                  <p:stCondLst>
                                    <p:cond delay="0"/>
                                  </p:stCondLst>
                                  <p:childTnLst>
                                    <p:set>
                                      <p:cBhvr>
                                        <p:cTn id="246" dur="1" fill="hold">
                                          <p:stCondLst>
                                            <p:cond delay="0"/>
                                          </p:stCondLst>
                                        </p:cTn>
                                        <p:tgtEl>
                                          <p:spTgt spid="330"/>
                                        </p:tgtEl>
                                        <p:attrNameLst>
                                          <p:attrName>style.visibility</p:attrName>
                                        </p:attrNameLst>
                                      </p:cBhvr>
                                      <p:to>
                                        <p:strVal val="visible"/>
                                      </p:to>
                                    </p:set>
                                    <p:animEffect transition="in" filter="fade">
                                      <p:cBhvr additive="repl">
                                        <p:cTn id="247" dur="350"/>
                                        <p:tgtEl>
                                          <p:spTgt spid="330"/>
                                        </p:tgtEl>
                                      </p:cBhvr>
                                    </p:animEffect>
                                  </p:childTnLst>
                                </p:cTn>
                              </p:par>
                            </p:childTnLst>
                          </p:cTn>
                        </p:par>
                      </p:childTnLst>
                    </p:cTn>
                  </p:par>
                  <p:par>
                    <p:cTn id="248" fill="hold">
                      <p:stCondLst>
                        <p:cond delay="indefinite"/>
                      </p:stCondLst>
                      <p:childTnLst>
                        <p:par>
                          <p:cTn id="249" fill="hold">
                            <p:stCondLst>
                              <p:cond delay="0"/>
                            </p:stCondLst>
                            <p:childTnLst>
                              <p:par>
                                <p:cTn id="250" presetID="10" presetClass="entr" fill="hold" nodeType="afterEffect">
                                  <p:stCondLst>
                                    <p:cond delay="0"/>
                                  </p:stCondLst>
                                  <p:childTnLst>
                                    <p:set>
                                      <p:cBhvr>
                                        <p:cTn id="251" dur="1" fill="hold">
                                          <p:stCondLst>
                                            <p:cond delay="0"/>
                                          </p:stCondLst>
                                        </p:cTn>
                                        <p:tgtEl>
                                          <p:spTgt spid="334"/>
                                        </p:tgtEl>
                                        <p:attrNameLst>
                                          <p:attrName>style.visibility</p:attrName>
                                        </p:attrNameLst>
                                      </p:cBhvr>
                                      <p:to>
                                        <p:strVal val="visible"/>
                                      </p:to>
                                    </p:set>
                                    <p:animEffect transition="in" filter="fade">
                                      <p:cBhvr additive="repl">
                                        <p:cTn id="252" dur="350"/>
                                        <p:tgtEl>
                                          <p:spTgt spid="334"/>
                                        </p:tgtEl>
                                      </p:cBhvr>
                                    </p:animEffect>
                                  </p:childTnLst>
                                </p:cTn>
                              </p:par>
                            </p:childTnLst>
                          </p:cTn>
                        </p:par>
                      </p:childTnLst>
                    </p:cTn>
                  </p:par>
                  <p:par>
                    <p:cTn id="253" fill="hold">
                      <p:stCondLst>
                        <p:cond delay="indefinite"/>
                      </p:stCondLst>
                      <p:childTnLst>
                        <p:par>
                          <p:cTn id="254" fill="hold">
                            <p:stCondLst>
                              <p:cond delay="0"/>
                            </p:stCondLst>
                            <p:childTnLst>
                              <p:par>
                                <p:cTn id="255" presetID="10" presetClass="entr" fill="hold" nodeType="afterEffect">
                                  <p:stCondLst>
                                    <p:cond delay="0"/>
                                  </p:stCondLst>
                                  <p:childTnLst>
                                    <p:set>
                                      <p:cBhvr>
                                        <p:cTn id="256" dur="1" fill="hold">
                                          <p:stCondLst>
                                            <p:cond delay="0"/>
                                          </p:stCondLst>
                                        </p:cTn>
                                        <p:tgtEl>
                                          <p:spTgt spid="335"/>
                                        </p:tgtEl>
                                        <p:attrNameLst>
                                          <p:attrName>style.visibility</p:attrName>
                                        </p:attrNameLst>
                                      </p:cBhvr>
                                      <p:to>
                                        <p:strVal val="visible"/>
                                      </p:to>
                                    </p:set>
                                    <p:animEffect transition="in" filter="fade">
                                      <p:cBhvr additive="repl">
                                        <p:cTn id="257" dur="350"/>
                                        <p:tgtEl>
                                          <p:spTgt spid="335"/>
                                        </p:tgtEl>
                                      </p:cBhvr>
                                    </p:animEffect>
                                  </p:childTnLst>
                                </p:cTn>
                              </p:par>
                            </p:childTnLst>
                          </p:cTn>
                        </p:par>
                      </p:childTnLst>
                    </p:cTn>
                  </p:par>
                  <p:par>
                    <p:cTn id="258" fill="hold">
                      <p:stCondLst>
                        <p:cond delay="indefinite"/>
                      </p:stCondLst>
                      <p:childTnLst>
                        <p:par>
                          <p:cTn id="259" fill="hold">
                            <p:stCondLst>
                              <p:cond delay="0"/>
                            </p:stCondLst>
                            <p:childTnLst>
                              <p:par>
                                <p:cTn id="260" presetID="10" presetClass="entr" fill="hold" nodeType="afterEffect">
                                  <p:stCondLst>
                                    <p:cond delay="0"/>
                                  </p:stCondLst>
                                  <p:childTnLst>
                                    <p:set>
                                      <p:cBhvr>
                                        <p:cTn id="261" dur="1" fill="hold">
                                          <p:stCondLst>
                                            <p:cond delay="0"/>
                                          </p:stCondLst>
                                        </p:cTn>
                                        <p:tgtEl>
                                          <p:spTgt spid="336"/>
                                        </p:tgtEl>
                                        <p:attrNameLst>
                                          <p:attrName>style.visibility</p:attrName>
                                        </p:attrNameLst>
                                      </p:cBhvr>
                                      <p:to>
                                        <p:strVal val="visible"/>
                                      </p:to>
                                    </p:set>
                                    <p:animEffect transition="in" filter="fade">
                                      <p:cBhvr additive="repl">
                                        <p:cTn id="262" dur="350"/>
                                        <p:tgtEl>
                                          <p:spTgt spid="336"/>
                                        </p:tgtEl>
                                      </p:cBhvr>
                                    </p:animEffect>
                                  </p:childTnLst>
                                </p:cTn>
                              </p:par>
                            </p:childTnLst>
                          </p:cTn>
                        </p:par>
                      </p:childTnLst>
                    </p:cTn>
                  </p:par>
                  <p:par>
                    <p:cTn id="263" fill="hold">
                      <p:stCondLst>
                        <p:cond delay="indefinite"/>
                      </p:stCondLst>
                      <p:childTnLst>
                        <p:par>
                          <p:cTn id="264" fill="hold">
                            <p:stCondLst>
                              <p:cond delay="0"/>
                            </p:stCondLst>
                            <p:childTnLst>
                              <p:par>
                                <p:cTn id="265" presetID="10" presetClass="entr" fill="hold" nodeType="afterEffect">
                                  <p:stCondLst>
                                    <p:cond delay="0"/>
                                  </p:stCondLst>
                                  <p:childTnLst>
                                    <p:set>
                                      <p:cBhvr>
                                        <p:cTn id="266" dur="1" fill="hold">
                                          <p:stCondLst>
                                            <p:cond delay="0"/>
                                          </p:stCondLst>
                                        </p:cTn>
                                        <p:tgtEl>
                                          <p:spTgt spid="337"/>
                                        </p:tgtEl>
                                        <p:attrNameLst>
                                          <p:attrName>style.visibility</p:attrName>
                                        </p:attrNameLst>
                                      </p:cBhvr>
                                      <p:to>
                                        <p:strVal val="visible"/>
                                      </p:to>
                                    </p:set>
                                    <p:animEffect transition="in" filter="fade">
                                      <p:cBhvr additive="repl">
                                        <p:cTn id="267" dur="350"/>
                                        <p:tgtEl>
                                          <p:spTgt spid="337"/>
                                        </p:tgtEl>
                                      </p:cBhvr>
                                    </p:animEffect>
                                  </p:childTnLst>
                                </p:cTn>
                              </p:par>
                            </p:childTnLst>
                          </p:cTn>
                        </p:par>
                      </p:childTnLst>
                    </p:cTn>
                  </p:par>
                  <p:par>
                    <p:cTn id="268" fill="hold">
                      <p:stCondLst>
                        <p:cond delay="indefinite"/>
                      </p:stCondLst>
                      <p:childTnLst>
                        <p:par>
                          <p:cTn id="269" fill="hold">
                            <p:stCondLst>
                              <p:cond delay="0"/>
                            </p:stCondLst>
                            <p:childTnLst>
                              <p:par>
                                <p:cTn id="270" presetID="10" presetClass="entr" fill="hold" nodeType="afterEffect">
                                  <p:stCondLst>
                                    <p:cond delay="0"/>
                                  </p:stCondLst>
                                  <p:childTnLst>
                                    <p:set>
                                      <p:cBhvr>
                                        <p:cTn id="271" dur="1" fill="hold">
                                          <p:stCondLst>
                                            <p:cond delay="0"/>
                                          </p:stCondLst>
                                        </p:cTn>
                                        <p:tgtEl>
                                          <p:spTgt spid="338"/>
                                        </p:tgtEl>
                                        <p:attrNameLst>
                                          <p:attrName>style.visibility</p:attrName>
                                        </p:attrNameLst>
                                      </p:cBhvr>
                                      <p:to>
                                        <p:strVal val="visible"/>
                                      </p:to>
                                    </p:set>
                                    <p:animEffect transition="in" filter="fade">
                                      <p:cBhvr additive="repl">
                                        <p:cTn id="272" dur="35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52" name="TextBox 2"/>
          <p:cNvSpPr/>
          <p:nvPr/>
        </p:nvSpPr>
        <p:spPr>
          <a:xfrm>
            <a:off x="567000" y="2541960"/>
            <a:ext cx="1705320" cy="9140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5800" b="1" u="none" strike="noStrike">
                <a:solidFill>
                  <a:srgbClr val="60A5FA"/>
                </a:solidFill>
                <a:effectLst/>
                <a:uFillTx/>
                <a:latin typeface="Inter"/>
              </a:rPr>
              <a:t>01</a:t>
            </a:r>
            <a:endParaRPr lang="en-US" sz="5800" b="0" u="none" strike="noStrike">
              <a:solidFill>
                <a:srgbClr val="000000"/>
              </a:solidFill>
              <a:effectLst/>
              <a:uFillTx/>
              <a:latin typeface="Arial"/>
            </a:endParaRPr>
          </a:p>
        </p:txBody>
      </p:sp>
      <p:sp>
        <p:nvSpPr>
          <p:cNvPr id="353" name="Rectangle 3"/>
          <p:cNvSpPr/>
          <p:nvPr/>
        </p:nvSpPr>
        <p:spPr>
          <a:xfrm>
            <a:off x="567000" y="3584520"/>
            <a:ext cx="1096920" cy="3168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2960" rIns="90000" bIns="-1296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54" name="TextBox 4"/>
          <p:cNvSpPr/>
          <p:nvPr/>
        </p:nvSpPr>
        <p:spPr>
          <a:xfrm>
            <a:off x="567000" y="3822120"/>
            <a:ext cx="8251920" cy="6397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3000" b="1" u="none" strike="noStrike">
                <a:solidFill>
                  <a:srgbClr val="F1F5F9"/>
                </a:solidFill>
                <a:effectLst/>
                <a:uFillTx/>
                <a:latin typeface="Inter"/>
              </a:rPr>
              <a:t>Research Gap and Proposed Solution</a:t>
            </a:r>
            <a:endParaRPr lang="en-US" sz="3000" b="0" u="none" strike="noStrike">
              <a:solidFill>
                <a:srgbClr val="000000"/>
              </a:solidFill>
              <a:effectLst/>
              <a:uFillTx/>
              <a:latin typeface="Arial"/>
            </a:endParaRPr>
          </a:p>
        </p:txBody>
      </p:sp>
      <p:sp>
        <p:nvSpPr>
          <p:cNvPr id="355" name="TextBox 5"/>
          <p:cNvSpPr/>
          <p:nvPr/>
        </p:nvSpPr>
        <p:spPr>
          <a:xfrm>
            <a:off x="567000" y="4590360"/>
            <a:ext cx="731664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50" b="0" u="none" strike="noStrike">
                <a:solidFill>
                  <a:srgbClr val="94A3B8"/>
                </a:solidFill>
                <a:effectLst/>
                <a:uFillTx/>
                <a:latin typeface="Inter"/>
              </a:rPr>
              <a:t>From a fixed photometric threshold to a learned, measured selection</a:t>
            </a:r>
            <a:endParaRPr lang="en-US" sz="13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273" dur="indefinite" restart="never" nodeType="tmRoot">
          <p:childTnLst>
            <p:seq>
              <p:cTn id="274" dur="indefinite" nodeType="mainSeq">
                <p:childTnLst>
                  <p:par>
                    <p:cTn id="275" fill="hold">
                      <p:stCondLst>
                        <p:cond delay="indefinite"/>
                      </p:stCondLst>
                      <p:childTnLst>
                        <p:par>
                          <p:cTn id="276" fill="hold">
                            <p:stCondLst>
                              <p:cond delay="0"/>
                            </p:stCondLst>
                            <p:childTnLst>
                              <p:par>
                                <p:cTn id="277" presetID="10" presetClass="entr" fill="hold" nodeType="clickEffect">
                                  <p:stCondLst>
                                    <p:cond delay="0"/>
                                  </p:stCondLst>
                                  <p:childTnLst>
                                    <p:set>
                                      <p:cBhvr>
                                        <p:cTn id="278" dur="1" fill="hold">
                                          <p:stCondLst>
                                            <p:cond delay="0"/>
                                          </p:stCondLst>
                                        </p:cTn>
                                        <p:tgtEl>
                                          <p:spTgt spid="352"/>
                                        </p:tgtEl>
                                        <p:attrNameLst>
                                          <p:attrName>style.visibility</p:attrName>
                                        </p:attrNameLst>
                                      </p:cBhvr>
                                      <p:to>
                                        <p:strVal val="visible"/>
                                      </p:to>
                                    </p:set>
                                    <p:animEffect transition="in" filter="fade">
                                      <p:cBhvr additive="repl">
                                        <p:cTn id="279" dur="350"/>
                                        <p:tgtEl>
                                          <p:spTgt spid="352"/>
                                        </p:tgtEl>
                                      </p:cBhvr>
                                    </p:animEffect>
                                  </p:childTnLst>
                                </p:cTn>
                              </p:par>
                            </p:childTnLst>
                          </p:cTn>
                        </p:par>
                      </p:childTnLst>
                    </p:cTn>
                  </p:par>
                  <p:par>
                    <p:cTn id="280" fill="hold">
                      <p:stCondLst>
                        <p:cond delay="indefinite"/>
                      </p:stCondLst>
                      <p:childTnLst>
                        <p:par>
                          <p:cTn id="281" fill="hold">
                            <p:stCondLst>
                              <p:cond delay="0"/>
                            </p:stCondLst>
                            <p:childTnLst>
                              <p:par>
                                <p:cTn id="282" presetID="10" presetClass="entr" fill="hold" nodeType="afterEffect">
                                  <p:stCondLst>
                                    <p:cond delay="0"/>
                                  </p:stCondLst>
                                  <p:childTnLst>
                                    <p:set>
                                      <p:cBhvr>
                                        <p:cTn id="283" dur="1" fill="hold">
                                          <p:stCondLst>
                                            <p:cond delay="0"/>
                                          </p:stCondLst>
                                        </p:cTn>
                                        <p:tgtEl>
                                          <p:spTgt spid="353"/>
                                        </p:tgtEl>
                                        <p:attrNameLst>
                                          <p:attrName>style.visibility</p:attrName>
                                        </p:attrNameLst>
                                      </p:cBhvr>
                                      <p:to>
                                        <p:strVal val="visible"/>
                                      </p:to>
                                    </p:set>
                                    <p:animEffect transition="in" filter="fade">
                                      <p:cBhvr additive="repl">
                                        <p:cTn id="284" dur="350"/>
                                        <p:tgtEl>
                                          <p:spTgt spid="353"/>
                                        </p:tgtEl>
                                      </p:cBhvr>
                                    </p:animEffect>
                                  </p:childTnLst>
                                </p:cTn>
                              </p:par>
                            </p:childTnLst>
                          </p:cTn>
                        </p:par>
                      </p:childTnLst>
                    </p:cTn>
                  </p:par>
                  <p:par>
                    <p:cTn id="285" fill="hold">
                      <p:stCondLst>
                        <p:cond delay="indefinite"/>
                      </p:stCondLst>
                      <p:childTnLst>
                        <p:par>
                          <p:cTn id="286" fill="hold">
                            <p:stCondLst>
                              <p:cond delay="0"/>
                            </p:stCondLst>
                            <p:childTnLst>
                              <p:par>
                                <p:cTn id="287" presetID="10" presetClass="entr" fill="hold" nodeType="afterEffect">
                                  <p:stCondLst>
                                    <p:cond delay="0"/>
                                  </p:stCondLst>
                                  <p:childTnLst>
                                    <p:set>
                                      <p:cBhvr>
                                        <p:cTn id="288" dur="1" fill="hold">
                                          <p:stCondLst>
                                            <p:cond delay="0"/>
                                          </p:stCondLst>
                                        </p:cTn>
                                        <p:tgtEl>
                                          <p:spTgt spid="354"/>
                                        </p:tgtEl>
                                        <p:attrNameLst>
                                          <p:attrName>style.visibility</p:attrName>
                                        </p:attrNameLst>
                                      </p:cBhvr>
                                      <p:to>
                                        <p:strVal val="visible"/>
                                      </p:to>
                                    </p:set>
                                    <p:animEffect transition="in" filter="fade">
                                      <p:cBhvr additive="repl">
                                        <p:cTn id="289" dur="350"/>
                                        <p:tgtEl>
                                          <p:spTgt spid="354"/>
                                        </p:tgtEl>
                                      </p:cBhvr>
                                    </p:animEffect>
                                  </p:childTnLst>
                                </p:cTn>
                              </p:par>
                            </p:childTnLst>
                          </p:cTn>
                        </p:par>
                      </p:childTnLst>
                    </p:cTn>
                  </p:par>
                  <p:par>
                    <p:cTn id="290" fill="hold">
                      <p:stCondLst>
                        <p:cond delay="indefinite"/>
                      </p:stCondLst>
                      <p:childTnLst>
                        <p:par>
                          <p:cTn id="291" fill="hold">
                            <p:stCondLst>
                              <p:cond delay="0"/>
                            </p:stCondLst>
                            <p:childTnLst>
                              <p:par>
                                <p:cTn id="292" presetID="10" presetClass="entr" fill="hold" nodeType="afterEffect">
                                  <p:stCondLst>
                                    <p:cond delay="0"/>
                                  </p:stCondLst>
                                  <p:childTnLst>
                                    <p:set>
                                      <p:cBhvr>
                                        <p:cTn id="293" dur="1" fill="hold">
                                          <p:stCondLst>
                                            <p:cond delay="0"/>
                                          </p:stCondLst>
                                        </p:cTn>
                                        <p:tgtEl>
                                          <p:spTgt spid="355"/>
                                        </p:tgtEl>
                                        <p:attrNameLst>
                                          <p:attrName>style.visibility</p:attrName>
                                        </p:attrNameLst>
                                      </p:cBhvr>
                                      <p:to>
                                        <p:strVal val="visible"/>
                                      </p:to>
                                    </p:set>
                                    <p:animEffect transition="in" filter="fade">
                                      <p:cBhvr additive="repl">
                                        <p:cTn id="294" dur="35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57"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Research Gap</a:t>
            </a:r>
            <a:endParaRPr lang="en-US" sz="2700" b="0" u="none" strike="noStrike">
              <a:solidFill>
                <a:srgbClr val="000000"/>
              </a:solidFill>
              <a:effectLst/>
              <a:uFillTx/>
              <a:latin typeface="Arial"/>
            </a:endParaRPr>
          </a:p>
        </p:txBody>
      </p:sp>
      <p:sp>
        <p:nvSpPr>
          <p:cNvPr id="358"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359"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360" name="Rectangle 5"/>
          <p:cNvSpPr/>
          <p:nvPr/>
        </p:nvSpPr>
        <p:spPr>
          <a:xfrm>
            <a:off x="567000" y="6226920"/>
            <a:ext cx="31035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361"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362"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16</a:t>
            </a:r>
            <a:endParaRPr lang="en-US" sz="900" b="0" u="none" strike="noStrike">
              <a:solidFill>
                <a:srgbClr val="000000"/>
              </a:solidFill>
              <a:effectLst/>
              <a:uFillTx/>
              <a:latin typeface="Arial"/>
            </a:endParaRPr>
          </a:p>
        </p:txBody>
      </p:sp>
      <p:sp>
        <p:nvSpPr>
          <p:cNvPr id="363" name="TextBox 8"/>
          <p:cNvSpPr/>
          <p:nvPr/>
        </p:nvSpPr>
        <p:spPr>
          <a:xfrm>
            <a:off x="567000" y="1627560"/>
            <a:ext cx="25599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dimension</a:t>
            </a:r>
            <a:endParaRPr lang="en-US" sz="1050" b="0" u="none" strike="noStrike">
              <a:solidFill>
                <a:srgbClr val="000000"/>
              </a:solidFill>
              <a:effectLst/>
              <a:uFillTx/>
              <a:latin typeface="Arial"/>
            </a:endParaRPr>
          </a:p>
        </p:txBody>
      </p:sp>
      <p:sp>
        <p:nvSpPr>
          <p:cNvPr id="364" name="TextBox 9"/>
          <p:cNvSpPr/>
          <p:nvPr/>
        </p:nvSpPr>
        <p:spPr>
          <a:xfrm>
            <a:off x="3127320" y="1627560"/>
            <a:ext cx="38401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Jia et al. (2023)</a:t>
            </a:r>
            <a:endParaRPr lang="en-US" sz="1050" b="0" u="none" strike="noStrike">
              <a:solidFill>
                <a:srgbClr val="000000"/>
              </a:solidFill>
              <a:effectLst/>
              <a:uFillTx/>
              <a:latin typeface="Arial"/>
            </a:endParaRPr>
          </a:p>
        </p:txBody>
      </p:sp>
      <p:sp>
        <p:nvSpPr>
          <p:cNvPr id="365" name="TextBox 10"/>
          <p:cNvSpPr/>
          <p:nvPr/>
        </p:nvSpPr>
        <p:spPr>
          <a:xfrm>
            <a:off x="6967800" y="1627560"/>
            <a:ext cx="4656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SAGE-HE</a:t>
            </a:r>
            <a:endParaRPr lang="en-US" sz="1050" b="0" u="none" strike="noStrike">
              <a:solidFill>
                <a:srgbClr val="000000"/>
              </a:solidFill>
              <a:effectLst/>
              <a:uFillTx/>
              <a:latin typeface="Arial"/>
            </a:endParaRPr>
          </a:p>
        </p:txBody>
      </p:sp>
      <p:sp>
        <p:nvSpPr>
          <p:cNvPr id="366" name="Rectangle 11"/>
          <p:cNvSpPr/>
          <p:nvPr/>
        </p:nvSpPr>
        <p:spPr>
          <a:xfrm>
            <a:off x="567000" y="1920240"/>
            <a:ext cx="1105740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367" name="TextBox 12"/>
          <p:cNvSpPr/>
          <p:nvPr/>
        </p:nvSpPr>
        <p:spPr>
          <a:xfrm>
            <a:off x="567000" y="201168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chunk selection</a:t>
            </a:r>
            <a:endParaRPr lang="en-US" sz="1150" b="0" u="none" strike="noStrike">
              <a:solidFill>
                <a:srgbClr val="000000"/>
              </a:solidFill>
              <a:effectLst/>
              <a:uFillTx/>
              <a:latin typeface="Arial"/>
            </a:endParaRPr>
          </a:p>
        </p:txBody>
      </p:sp>
      <p:sp>
        <p:nvSpPr>
          <p:cNvPr id="368" name="TextBox 13"/>
          <p:cNvSpPr/>
          <p:nvPr/>
        </p:nvSpPr>
        <p:spPr>
          <a:xfrm>
            <a:off x="3127320" y="201168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fixed threshold |∇| &gt; τ</a:t>
            </a:r>
            <a:endParaRPr lang="en-US" sz="1150" b="0" u="none" strike="noStrike">
              <a:solidFill>
                <a:srgbClr val="000000"/>
              </a:solidFill>
              <a:effectLst/>
              <a:uFillTx/>
              <a:latin typeface="Arial"/>
            </a:endParaRPr>
          </a:p>
        </p:txBody>
      </p:sp>
      <p:sp>
        <p:nvSpPr>
          <p:cNvPr id="369" name="TextBox 14"/>
          <p:cNvSpPr/>
          <p:nvPr/>
        </p:nvSpPr>
        <p:spPr>
          <a:xfrm>
            <a:off x="6967800" y="2011680"/>
            <a:ext cx="46566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learned score + Sobel prior, λ measured</a:t>
            </a:r>
            <a:endParaRPr lang="en-US" sz="1150" b="0" u="none" strike="noStrike">
              <a:solidFill>
                <a:srgbClr val="000000"/>
              </a:solidFill>
              <a:effectLst/>
              <a:uFillTx/>
              <a:latin typeface="Arial"/>
            </a:endParaRPr>
          </a:p>
        </p:txBody>
      </p:sp>
      <p:sp>
        <p:nvSpPr>
          <p:cNvPr id="370" name="TextBox 15"/>
          <p:cNvSpPr/>
          <p:nvPr/>
        </p:nvSpPr>
        <p:spPr>
          <a:xfrm>
            <a:off x="567000" y="232272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spatial scales</a:t>
            </a:r>
            <a:endParaRPr lang="en-US" sz="1150" b="0" u="none" strike="noStrike">
              <a:solidFill>
                <a:srgbClr val="000000"/>
              </a:solidFill>
              <a:effectLst/>
              <a:uFillTx/>
              <a:latin typeface="Arial"/>
            </a:endParaRPr>
          </a:p>
        </p:txBody>
      </p:sp>
      <p:sp>
        <p:nvSpPr>
          <p:cNvPr id="371" name="TextBox 16"/>
          <p:cNvSpPr/>
          <p:nvPr/>
        </p:nvSpPr>
        <p:spPr>
          <a:xfrm>
            <a:off x="3127320" y="232272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single 7×7 receptive field</a:t>
            </a:r>
            <a:endParaRPr lang="en-US" sz="1150" b="0" u="none" strike="noStrike">
              <a:solidFill>
                <a:srgbClr val="000000"/>
              </a:solidFill>
              <a:effectLst/>
              <a:uFillTx/>
              <a:latin typeface="Arial"/>
            </a:endParaRPr>
          </a:p>
        </p:txBody>
      </p:sp>
      <p:sp>
        <p:nvSpPr>
          <p:cNvPr id="372" name="TextBox 17"/>
          <p:cNvSpPr/>
          <p:nvPr/>
        </p:nvSpPr>
        <p:spPr>
          <a:xfrm>
            <a:off x="6967800" y="2322720"/>
            <a:ext cx="46566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1×1 / 3×3 / dilated / 5×5 in parallel</a:t>
            </a:r>
            <a:endParaRPr lang="en-US" sz="1150" b="0" u="none" strike="noStrike">
              <a:solidFill>
                <a:srgbClr val="000000"/>
              </a:solidFill>
              <a:effectLst/>
              <a:uFillTx/>
              <a:latin typeface="Arial"/>
            </a:endParaRPr>
          </a:p>
        </p:txBody>
      </p:sp>
      <p:sp>
        <p:nvSpPr>
          <p:cNvPr id="373" name="TextBox 18"/>
          <p:cNvSpPr/>
          <p:nvPr/>
        </p:nvSpPr>
        <p:spPr>
          <a:xfrm>
            <a:off x="567000" y="263340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branch combination</a:t>
            </a:r>
            <a:endParaRPr lang="en-US" sz="1150" b="0" u="none" strike="noStrike">
              <a:solidFill>
                <a:srgbClr val="000000"/>
              </a:solidFill>
              <a:effectLst/>
              <a:uFillTx/>
              <a:latin typeface="Arial"/>
            </a:endParaRPr>
          </a:p>
        </p:txBody>
      </p:sp>
      <p:sp>
        <p:nvSpPr>
          <p:cNvPr id="374" name="TextBox 19"/>
          <p:cNvSpPr/>
          <p:nvPr/>
        </p:nvSpPr>
        <p:spPr>
          <a:xfrm>
            <a:off x="3127320" y="263340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none (single path)</a:t>
            </a:r>
            <a:endParaRPr lang="en-US" sz="1150" b="0" u="none" strike="noStrike">
              <a:solidFill>
                <a:srgbClr val="000000"/>
              </a:solidFill>
              <a:effectLst/>
              <a:uFillTx/>
              <a:latin typeface="Arial"/>
            </a:endParaRPr>
          </a:p>
        </p:txBody>
      </p:sp>
      <p:sp>
        <p:nvSpPr>
          <p:cNvPr id="375" name="TextBox 20"/>
          <p:cNvSpPr/>
          <p:nvPr/>
        </p:nvSpPr>
        <p:spPr>
          <a:xfrm>
            <a:off x="6967800" y="2633400"/>
            <a:ext cx="46566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channel-wise gated fusion</a:t>
            </a:r>
            <a:endParaRPr lang="en-US" sz="1150" b="0" u="none" strike="noStrike">
              <a:solidFill>
                <a:srgbClr val="000000"/>
              </a:solidFill>
              <a:effectLst/>
              <a:uFillTx/>
              <a:latin typeface="Arial"/>
            </a:endParaRPr>
          </a:p>
        </p:txBody>
      </p:sp>
      <p:sp>
        <p:nvSpPr>
          <p:cNvPr id="376" name="TextBox 21"/>
          <p:cNvSpPr/>
          <p:nvPr/>
        </p:nvSpPr>
        <p:spPr>
          <a:xfrm>
            <a:off x="567000" y="294444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what is encrypted</a:t>
            </a:r>
            <a:endParaRPr lang="en-US" sz="1150" b="0" u="none" strike="noStrike">
              <a:solidFill>
                <a:srgbClr val="000000"/>
              </a:solidFill>
              <a:effectLst/>
              <a:uFillTx/>
              <a:latin typeface="Arial"/>
            </a:endParaRPr>
          </a:p>
        </p:txBody>
      </p:sp>
      <p:sp>
        <p:nvSpPr>
          <p:cNvPr id="377" name="TextBox 22"/>
          <p:cNvSpPr/>
          <p:nvPr/>
        </p:nvSpPr>
        <p:spPr>
          <a:xfrm>
            <a:off x="3127320" y="294444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selected image chunks</a:t>
            </a:r>
            <a:endParaRPr lang="en-US" sz="1150" b="0" u="none" strike="noStrike">
              <a:solidFill>
                <a:srgbClr val="000000"/>
              </a:solidFill>
              <a:effectLst/>
              <a:uFillTx/>
              <a:latin typeface="Arial"/>
            </a:endParaRPr>
          </a:p>
        </p:txBody>
      </p:sp>
      <p:sp>
        <p:nvSpPr>
          <p:cNvPr id="378" name="TextBox 23"/>
          <p:cNvSpPr/>
          <p:nvPr/>
        </p:nvSpPr>
        <p:spPr>
          <a:xfrm>
            <a:off x="6967800" y="2944440"/>
            <a:ext cx="46566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compressed 64-d feature vector</a:t>
            </a:r>
            <a:endParaRPr lang="en-US" sz="1150" b="0" u="none" strike="noStrike">
              <a:solidFill>
                <a:srgbClr val="000000"/>
              </a:solidFill>
              <a:effectLst/>
              <a:uFillTx/>
              <a:latin typeface="Arial"/>
            </a:endParaRPr>
          </a:p>
        </p:txBody>
      </p:sp>
      <p:sp>
        <p:nvSpPr>
          <p:cNvPr id="379" name="TextBox 24"/>
          <p:cNvSpPr/>
          <p:nvPr/>
        </p:nvSpPr>
        <p:spPr>
          <a:xfrm>
            <a:off x="567000" y="325512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evaluation</a:t>
            </a:r>
            <a:endParaRPr lang="en-US" sz="1150" b="0" u="none" strike="noStrike">
              <a:solidFill>
                <a:srgbClr val="000000"/>
              </a:solidFill>
              <a:effectLst/>
              <a:uFillTx/>
              <a:latin typeface="Arial"/>
            </a:endParaRPr>
          </a:p>
        </p:txBody>
      </p:sp>
      <p:sp>
        <p:nvSpPr>
          <p:cNvPr id="380" name="TextBox 25"/>
          <p:cNvSpPr/>
          <p:nvPr/>
        </p:nvSpPr>
        <p:spPr>
          <a:xfrm>
            <a:off x="3127320" y="325512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accuracy only</a:t>
            </a:r>
            <a:endParaRPr lang="en-US" sz="1150" b="0" u="none" strike="noStrike">
              <a:solidFill>
                <a:srgbClr val="000000"/>
              </a:solidFill>
              <a:effectLst/>
              <a:uFillTx/>
              <a:latin typeface="Arial"/>
            </a:endParaRPr>
          </a:p>
        </p:txBody>
      </p:sp>
      <p:sp>
        <p:nvSpPr>
          <p:cNvPr id="381" name="TextBox 26"/>
          <p:cNvSpPr/>
          <p:nvPr/>
        </p:nvSpPr>
        <p:spPr>
          <a:xfrm>
            <a:off x="6967800" y="3255120"/>
            <a:ext cx="46566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macro P/R/F1, confusion, CI, ablation</a:t>
            </a:r>
            <a:endParaRPr lang="en-US" sz="1150" b="0" u="none" strike="noStrike">
              <a:solidFill>
                <a:srgbClr val="000000"/>
              </a:solidFill>
              <a:effectLst/>
              <a:uFillTx/>
              <a:latin typeface="Arial"/>
            </a:endParaRPr>
          </a:p>
        </p:txBody>
      </p:sp>
      <p:sp>
        <p:nvSpPr>
          <p:cNvPr id="382" name="TextBox 27"/>
          <p:cNvSpPr/>
          <p:nvPr/>
        </p:nvSpPr>
        <p:spPr>
          <a:xfrm>
            <a:off x="567000" y="356616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comparison</a:t>
            </a:r>
            <a:endParaRPr lang="en-US" sz="1150" b="0" u="none" strike="noStrike">
              <a:solidFill>
                <a:srgbClr val="000000"/>
              </a:solidFill>
              <a:effectLst/>
              <a:uFillTx/>
              <a:latin typeface="Arial"/>
            </a:endParaRPr>
          </a:p>
        </p:txBody>
      </p:sp>
      <p:sp>
        <p:nvSpPr>
          <p:cNvPr id="383" name="TextBox 28"/>
          <p:cNvSpPr/>
          <p:nvPr/>
        </p:nvSpPr>
        <p:spPr>
          <a:xfrm>
            <a:off x="3127320" y="356616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across different datasets</a:t>
            </a:r>
            <a:endParaRPr lang="en-US" sz="1150" b="0" u="none" strike="noStrike">
              <a:solidFill>
                <a:srgbClr val="000000"/>
              </a:solidFill>
              <a:effectLst/>
              <a:uFillTx/>
              <a:latin typeface="Arial"/>
            </a:endParaRPr>
          </a:p>
        </p:txBody>
      </p:sp>
      <p:sp>
        <p:nvSpPr>
          <p:cNvPr id="384" name="TextBox 29"/>
          <p:cNvSpPr/>
          <p:nvPr/>
        </p:nvSpPr>
        <p:spPr>
          <a:xfrm>
            <a:off x="6967800" y="3566160"/>
            <a:ext cx="46566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same held-out split for both models</a:t>
            </a:r>
            <a:endParaRPr lang="en-US" sz="1150" b="0" u="none" strike="noStrike">
              <a:solidFill>
                <a:srgbClr val="000000"/>
              </a:solidFill>
              <a:effectLst/>
              <a:uFillTx/>
              <a:latin typeface="Arial"/>
            </a:endParaRPr>
          </a:p>
        </p:txBody>
      </p:sp>
      <p:sp>
        <p:nvSpPr>
          <p:cNvPr id="385" name="Rounded Rectangle 30"/>
          <p:cNvSpPr/>
          <p:nvPr/>
        </p:nvSpPr>
        <p:spPr>
          <a:xfrm>
            <a:off x="567000" y="4325040"/>
            <a:ext cx="5259240" cy="13712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86" name="Rectangle 31"/>
          <p:cNvSpPr/>
          <p:nvPr/>
        </p:nvSpPr>
        <p:spPr>
          <a:xfrm>
            <a:off x="567000" y="4325040"/>
            <a:ext cx="40680" cy="13712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87" name="TextBox 32"/>
          <p:cNvSpPr/>
          <p:nvPr/>
        </p:nvSpPr>
        <p:spPr>
          <a:xfrm>
            <a:off x="786240" y="4462200"/>
            <a:ext cx="4838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3987E5"/>
                </a:solidFill>
                <a:effectLst/>
                <a:uFillTx/>
                <a:latin typeface="Inter"/>
              </a:rPr>
              <a:t>Every row is a testable claim</a:t>
            </a:r>
            <a:endParaRPr lang="en-US" sz="1150" b="0" u="none" strike="noStrike">
              <a:solidFill>
                <a:srgbClr val="000000"/>
              </a:solidFill>
              <a:effectLst/>
              <a:uFillTx/>
              <a:latin typeface="Arial"/>
            </a:endParaRPr>
          </a:p>
        </p:txBody>
      </p:sp>
      <p:sp>
        <p:nvSpPr>
          <p:cNvPr id="388" name="TextBox 33"/>
          <p:cNvSpPr/>
          <p:nvPr/>
        </p:nvSpPr>
        <p:spPr>
          <a:xfrm>
            <a:off x="786240" y="4800600"/>
            <a:ext cx="4838760" cy="7495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Each line maps to a component slide and to a numbered ablation stage, so none of them has to be taken on trust.</a:t>
            </a:r>
            <a:endParaRPr lang="en-US" sz="1150" b="0" u="none" strike="noStrike">
              <a:solidFill>
                <a:srgbClr val="000000"/>
              </a:solidFill>
              <a:effectLst/>
              <a:uFillTx/>
              <a:latin typeface="Arial"/>
            </a:endParaRPr>
          </a:p>
        </p:txBody>
      </p:sp>
      <p:sp>
        <p:nvSpPr>
          <p:cNvPr id="389" name="Rounded Rectangle 34"/>
          <p:cNvSpPr/>
          <p:nvPr/>
        </p:nvSpPr>
        <p:spPr>
          <a:xfrm>
            <a:off x="6365160" y="4325040"/>
            <a:ext cx="5259240" cy="13712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90" name="Rectangle 35"/>
          <p:cNvSpPr/>
          <p:nvPr/>
        </p:nvSpPr>
        <p:spPr>
          <a:xfrm>
            <a:off x="6365160" y="4325040"/>
            <a:ext cx="40680" cy="13712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91" name="TextBox 36"/>
          <p:cNvSpPr/>
          <p:nvPr/>
        </p:nvSpPr>
        <p:spPr>
          <a:xfrm>
            <a:off x="6584760" y="4462200"/>
            <a:ext cx="4838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Spoiler, stated up front</a:t>
            </a:r>
            <a:endParaRPr lang="en-US" sz="1150" b="0" u="none" strike="noStrike">
              <a:solidFill>
                <a:srgbClr val="000000"/>
              </a:solidFill>
              <a:effectLst/>
              <a:uFillTx/>
              <a:latin typeface="Arial"/>
            </a:endParaRPr>
          </a:p>
        </p:txBody>
      </p:sp>
      <p:sp>
        <p:nvSpPr>
          <p:cNvPr id="392" name="TextBox 37"/>
          <p:cNvSpPr/>
          <p:nvPr/>
        </p:nvSpPr>
        <p:spPr>
          <a:xfrm>
            <a:off x="6584760" y="4800600"/>
            <a:ext cx="4838760" cy="7495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last two rows survive contact with the evidence. Most of the first four do not — the ablation later in this deck is where that is shown.</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295" dur="indefinite" restart="never" nodeType="tmRoot">
          <p:childTnLst>
            <p:seq>
              <p:cTn id="296" dur="indefinite" nodeType="mainSeq">
                <p:childTnLst>
                  <p:par>
                    <p:cTn id="297" fill="hold">
                      <p:stCondLst>
                        <p:cond delay="indefinite"/>
                      </p:stCondLst>
                      <p:childTnLst>
                        <p:par>
                          <p:cTn id="298" fill="hold">
                            <p:stCondLst>
                              <p:cond delay="0"/>
                            </p:stCondLst>
                            <p:childTnLst>
                              <p:par>
                                <p:cTn id="299" presetID="10" presetClass="entr" fill="hold" nodeType="clickEffect">
                                  <p:stCondLst>
                                    <p:cond delay="0"/>
                                  </p:stCondLst>
                                  <p:childTnLst>
                                    <p:set>
                                      <p:cBhvr>
                                        <p:cTn id="300" dur="1" fill="hold">
                                          <p:stCondLst>
                                            <p:cond delay="0"/>
                                          </p:stCondLst>
                                        </p:cTn>
                                        <p:tgtEl>
                                          <p:spTgt spid="366"/>
                                        </p:tgtEl>
                                        <p:attrNameLst>
                                          <p:attrName>style.visibility</p:attrName>
                                        </p:attrNameLst>
                                      </p:cBhvr>
                                      <p:to>
                                        <p:strVal val="visible"/>
                                      </p:to>
                                    </p:set>
                                    <p:animEffect transition="in" filter="fade">
                                      <p:cBhvr additive="repl">
                                        <p:cTn id="301" dur="350"/>
                                        <p:tgtEl>
                                          <p:spTgt spid="366"/>
                                        </p:tgtEl>
                                      </p:cBhvr>
                                    </p:animEffect>
                                  </p:childTnLst>
                                </p:cTn>
                              </p:par>
                            </p:childTnLst>
                          </p:cTn>
                        </p:par>
                      </p:childTnLst>
                    </p:cTn>
                  </p:par>
                  <p:par>
                    <p:cTn id="302" fill="hold">
                      <p:stCondLst>
                        <p:cond delay="indefinite"/>
                      </p:stCondLst>
                      <p:childTnLst>
                        <p:par>
                          <p:cTn id="303" fill="hold">
                            <p:stCondLst>
                              <p:cond delay="0"/>
                            </p:stCondLst>
                            <p:childTnLst>
                              <p:par>
                                <p:cTn id="304" presetID="10" presetClass="entr" fill="hold" nodeType="afterEffect">
                                  <p:stCondLst>
                                    <p:cond delay="0"/>
                                  </p:stCondLst>
                                  <p:childTnLst>
                                    <p:set>
                                      <p:cBhvr>
                                        <p:cTn id="305" dur="1" fill="hold">
                                          <p:stCondLst>
                                            <p:cond delay="0"/>
                                          </p:stCondLst>
                                        </p:cTn>
                                        <p:tgtEl>
                                          <p:spTgt spid="367"/>
                                        </p:tgtEl>
                                        <p:attrNameLst>
                                          <p:attrName>style.visibility</p:attrName>
                                        </p:attrNameLst>
                                      </p:cBhvr>
                                      <p:to>
                                        <p:strVal val="visible"/>
                                      </p:to>
                                    </p:set>
                                    <p:animEffect transition="in" filter="fade">
                                      <p:cBhvr additive="repl">
                                        <p:cTn id="306" dur="350"/>
                                        <p:tgtEl>
                                          <p:spTgt spid="367"/>
                                        </p:tgtEl>
                                      </p:cBhvr>
                                    </p:animEffect>
                                  </p:childTnLst>
                                </p:cTn>
                              </p:par>
                            </p:childTnLst>
                          </p:cTn>
                        </p:par>
                      </p:childTnLst>
                    </p:cTn>
                  </p:par>
                  <p:par>
                    <p:cTn id="307" fill="hold">
                      <p:stCondLst>
                        <p:cond delay="indefinite"/>
                      </p:stCondLst>
                      <p:childTnLst>
                        <p:par>
                          <p:cTn id="308" fill="hold">
                            <p:stCondLst>
                              <p:cond delay="0"/>
                            </p:stCondLst>
                            <p:childTnLst>
                              <p:par>
                                <p:cTn id="309" presetID="10" presetClass="entr" fill="hold" nodeType="afterEffect">
                                  <p:stCondLst>
                                    <p:cond delay="0"/>
                                  </p:stCondLst>
                                  <p:childTnLst>
                                    <p:set>
                                      <p:cBhvr>
                                        <p:cTn id="310" dur="1" fill="hold">
                                          <p:stCondLst>
                                            <p:cond delay="0"/>
                                          </p:stCondLst>
                                        </p:cTn>
                                        <p:tgtEl>
                                          <p:spTgt spid="368"/>
                                        </p:tgtEl>
                                        <p:attrNameLst>
                                          <p:attrName>style.visibility</p:attrName>
                                        </p:attrNameLst>
                                      </p:cBhvr>
                                      <p:to>
                                        <p:strVal val="visible"/>
                                      </p:to>
                                    </p:set>
                                    <p:animEffect transition="in" filter="fade">
                                      <p:cBhvr additive="repl">
                                        <p:cTn id="311" dur="350"/>
                                        <p:tgtEl>
                                          <p:spTgt spid="368"/>
                                        </p:tgtEl>
                                      </p:cBhvr>
                                    </p:animEffect>
                                  </p:childTnLst>
                                </p:cTn>
                              </p:par>
                            </p:childTnLst>
                          </p:cTn>
                        </p:par>
                      </p:childTnLst>
                    </p:cTn>
                  </p:par>
                  <p:par>
                    <p:cTn id="312" fill="hold">
                      <p:stCondLst>
                        <p:cond delay="indefinite"/>
                      </p:stCondLst>
                      <p:childTnLst>
                        <p:par>
                          <p:cTn id="313" fill="hold">
                            <p:stCondLst>
                              <p:cond delay="0"/>
                            </p:stCondLst>
                            <p:childTnLst>
                              <p:par>
                                <p:cTn id="314" presetID="10" presetClass="entr" fill="hold" nodeType="afterEffect">
                                  <p:stCondLst>
                                    <p:cond delay="0"/>
                                  </p:stCondLst>
                                  <p:childTnLst>
                                    <p:set>
                                      <p:cBhvr>
                                        <p:cTn id="315" dur="1" fill="hold">
                                          <p:stCondLst>
                                            <p:cond delay="0"/>
                                          </p:stCondLst>
                                        </p:cTn>
                                        <p:tgtEl>
                                          <p:spTgt spid="369"/>
                                        </p:tgtEl>
                                        <p:attrNameLst>
                                          <p:attrName>style.visibility</p:attrName>
                                        </p:attrNameLst>
                                      </p:cBhvr>
                                      <p:to>
                                        <p:strVal val="visible"/>
                                      </p:to>
                                    </p:set>
                                    <p:animEffect transition="in" filter="fade">
                                      <p:cBhvr additive="repl">
                                        <p:cTn id="316" dur="350"/>
                                        <p:tgtEl>
                                          <p:spTgt spid="369"/>
                                        </p:tgtEl>
                                      </p:cBhvr>
                                    </p:animEffect>
                                  </p:childTnLst>
                                </p:cTn>
                              </p:par>
                            </p:childTnLst>
                          </p:cTn>
                        </p:par>
                      </p:childTnLst>
                    </p:cTn>
                  </p:par>
                  <p:par>
                    <p:cTn id="317" fill="hold">
                      <p:stCondLst>
                        <p:cond delay="indefinite"/>
                      </p:stCondLst>
                      <p:childTnLst>
                        <p:par>
                          <p:cTn id="318" fill="hold">
                            <p:stCondLst>
                              <p:cond delay="0"/>
                            </p:stCondLst>
                            <p:childTnLst>
                              <p:par>
                                <p:cTn id="319" presetID="10" presetClass="entr" fill="hold" nodeType="afterEffect">
                                  <p:stCondLst>
                                    <p:cond delay="0"/>
                                  </p:stCondLst>
                                  <p:childTnLst>
                                    <p:set>
                                      <p:cBhvr>
                                        <p:cTn id="320" dur="1" fill="hold">
                                          <p:stCondLst>
                                            <p:cond delay="0"/>
                                          </p:stCondLst>
                                        </p:cTn>
                                        <p:tgtEl>
                                          <p:spTgt spid="370"/>
                                        </p:tgtEl>
                                        <p:attrNameLst>
                                          <p:attrName>style.visibility</p:attrName>
                                        </p:attrNameLst>
                                      </p:cBhvr>
                                      <p:to>
                                        <p:strVal val="visible"/>
                                      </p:to>
                                    </p:set>
                                    <p:animEffect transition="in" filter="fade">
                                      <p:cBhvr additive="repl">
                                        <p:cTn id="321" dur="350"/>
                                        <p:tgtEl>
                                          <p:spTgt spid="370"/>
                                        </p:tgtEl>
                                      </p:cBhvr>
                                    </p:animEffect>
                                  </p:childTnLst>
                                </p:cTn>
                              </p:par>
                            </p:childTnLst>
                          </p:cTn>
                        </p:par>
                      </p:childTnLst>
                    </p:cTn>
                  </p:par>
                  <p:par>
                    <p:cTn id="322" fill="hold">
                      <p:stCondLst>
                        <p:cond delay="indefinite"/>
                      </p:stCondLst>
                      <p:childTnLst>
                        <p:par>
                          <p:cTn id="323" fill="hold">
                            <p:stCondLst>
                              <p:cond delay="0"/>
                            </p:stCondLst>
                            <p:childTnLst>
                              <p:par>
                                <p:cTn id="324" presetID="10" presetClass="entr" fill="hold" nodeType="afterEffect">
                                  <p:stCondLst>
                                    <p:cond delay="0"/>
                                  </p:stCondLst>
                                  <p:childTnLst>
                                    <p:set>
                                      <p:cBhvr>
                                        <p:cTn id="325" dur="1" fill="hold">
                                          <p:stCondLst>
                                            <p:cond delay="0"/>
                                          </p:stCondLst>
                                        </p:cTn>
                                        <p:tgtEl>
                                          <p:spTgt spid="371"/>
                                        </p:tgtEl>
                                        <p:attrNameLst>
                                          <p:attrName>style.visibility</p:attrName>
                                        </p:attrNameLst>
                                      </p:cBhvr>
                                      <p:to>
                                        <p:strVal val="visible"/>
                                      </p:to>
                                    </p:set>
                                    <p:animEffect transition="in" filter="fade">
                                      <p:cBhvr additive="repl">
                                        <p:cTn id="326" dur="35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394"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Proposed Solution  ·  SAGE-HE</a:t>
            </a:r>
            <a:endParaRPr lang="en-US" sz="2700" b="0" u="none" strike="noStrike">
              <a:solidFill>
                <a:srgbClr val="000000"/>
              </a:solidFill>
              <a:effectLst/>
              <a:uFillTx/>
              <a:latin typeface="Arial"/>
            </a:endParaRPr>
          </a:p>
        </p:txBody>
      </p:sp>
      <p:sp>
        <p:nvSpPr>
          <p:cNvPr id="395"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Secure Adaptive Gated Ensemble with Homomorphic Encryption</a:t>
            </a:r>
            <a:endParaRPr lang="en-US" sz="1300" b="0" u="none" strike="noStrike">
              <a:solidFill>
                <a:srgbClr val="000000"/>
              </a:solidFill>
              <a:effectLst/>
              <a:uFillTx/>
              <a:latin typeface="Arial"/>
            </a:endParaRPr>
          </a:p>
        </p:txBody>
      </p:sp>
      <p:sp>
        <p:nvSpPr>
          <p:cNvPr id="396"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397"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398" name="Rectangle 6"/>
          <p:cNvSpPr/>
          <p:nvPr/>
        </p:nvSpPr>
        <p:spPr>
          <a:xfrm>
            <a:off x="567000" y="6226920"/>
            <a:ext cx="32976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399"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400"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17</a:t>
            </a:r>
            <a:endParaRPr lang="en-US" sz="900" b="0" u="none" strike="noStrike">
              <a:solidFill>
                <a:srgbClr val="000000"/>
              </a:solidFill>
              <a:effectLst/>
              <a:uFillTx/>
              <a:latin typeface="Arial"/>
            </a:endParaRPr>
          </a:p>
        </p:txBody>
      </p:sp>
      <p:sp>
        <p:nvSpPr>
          <p:cNvPr id="401" name="TextBox 9"/>
          <p:cNvSpPr/>
          <p:nvPr/>
        </p:nvSpPr>
        <p:spPr>
          <a:xfrm>
            <a:off x="567000" y="1627560"/>
            <a:ext cx="5446440" cy="329148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Global branch. </a:t>
            </a:r>
            <a:r>
              <a:rPr lang="en-US" sz="1250" b="0" u="none" strike="noStrike">
                <a:solidFill>
                  <a:srgbClr val="CBD5E1"/>
                </a:solidFill>
                <a:effectLst/>
                <a:uFillTx/>
                <a:latin typeface="Inter"/>
              </a:rPr>
              <a:t>EfficientNet-B0, ImageNet-pretrained, adapted to one input channel.</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Local branch. </a:t>
            </a:r>
            <a:r>
              <a:rPr lang="en-US" sz="1250" b="0" u="none" strike="noStrike">
                <a:solidFill>
                  <a:srgbClr val="CBD5E1"/>
                </a:solidFill>
                <a:effectLst/>
                <a:uFillTx/>
                <a:latin typeface="Inter"/>
              </a:rPr>
              <a:t>Multi-scale CNN with four parallel receptive fields per block.</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Adaptive selection. </a:t>
            </a:r>
            <a:r>
              <a:rPr lang="en-US" sz="1250" b="0" u="none" strike="noStrike">
                <a:solidFill>
                  <a:srgbClr val="CBD5E1"/>
                </a:solidFill>
                <a:effectLst/>
                <a:uFillTx/>
                <a:latin typeface="Inter"/>
              </a:rPr>
              <a:t>Chunk attention scored by a learned MLP plus a Sobel prior weighted by a learnable λ.</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Gated fusion. </a:t>
            </a:r>
            <a:r>
              <a:rPr lang="en-US" sz="1250" b="0" u="none" strike="noStrike">
                <a:solidFill>
                  <a:srgbClr val="CBD5E1"/>
                </a:solidFill>
                <a:effectLst/>
                <a:uFillTx/>
                <a:latin typeface="Inter"/>
              </a:rPr>
              <a:t>A per-channel gate z mixes the branches: z·g + (1−z)·l.</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Compression. </a:t>
            </a:r>
            <a:r>
              <a:rPr lang="en-US" sz="1250" b="0" u="none" strike="noStrike">
                <a:solidFill>
                  <a:srgbClr val="CBD5E1"/>
                </a:solidFill>
                <a:effectLst/>
                <a:uFillTx/>
                <a:latin typeface="Inter"/>
              </a:rPr>
              <a:t>256 → 64, tanh-bounded — the vector that gets encrypted.</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Encrypted head. </a:t>
            </a:r>
            <a:r>
              <a:rPr lang="en-US" sz="1250" b="0" u="none" strike="noStrike">
                <a:solidFill>
                  <a:srgbClr val="CBD5E1"/>
                </a:solidFill>
                <a:effectLst/>
                <a:uFillTx/>
                <a:latin typeface="Inter"/>
              </a:rPr>
              <a:t>W₂·square(W₁v + b₁) + b₂ evaluated under CKKS.</a:t>
            </a:r>
            <a:endParaRPr lang="en-US" sz="1250" b="0" u="none" strike="noStrike">
              <a:solidFill>
                <a:srgbClr val="000000"/>
              </a:solidFill>
              <a:effectLst/>
              <a:uFillTx/>
              <a:latin typeface="Arial"/>
            </a:endParaRPr>
          </a:p>
        </p:txBody>
      </p:sp>
      <p:sp>
        <p:nvSpPr>
          <p:cNvPr id="402" name="Rounded Rectangle 10"/>
          <p:cNvSpPr/>
          <p:nvPr/>
        </p:nvSpPr>
        <p:spPr>
          <a:xfrm>
            <a:off x="7113240" y="1627560"/>
            <a:ext cx="4511160" cy="15541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03" name="Rectangle 11"/>
          <p:cNvSpPr/>
          <p:nvPr/>
        </p:nvSpPr>
        <p:spPr>
          <a:xfrm>
            <a:off x="7113240" y="1627560"/>
            <a:ext cx="40680" cy="155412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04" name="TextBox 12"/>
          <p:cNvSpPr/>
          <p:nvPr/>
        </p:nvSpPr>
        <p:spPr>
          <a:xfrm>
            <a:off x="7332840" y="176472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3987E5"/>
                </a:solidFill>
                <a:effectLst/>
                <a:uFillTx/>
                <a:latin typeface="Inter"/>
              </a:rPr>
              <a:t>Design constraint that drives everything</a:t>
            </a:r>
            <a:endParaRPr lang="en-US" sz="1150" b="0" u="none" strike="noStrike">
              <a:solidFill>
                <a:srgbClr val="000000"/>
              </a:solidFill>
              <a:effectLst/>
              <a:uFillTx/>
              <a:latin typeface="Arial"/>
            </a:endParaRPr>
          </a:p>
        </p:txBody>
      </p:sp>
      <p:sp>
        <p:nvSpPr>
          <p:cNvPr id="405" name="TextBox 13"/>
          <p:cNvSpPr/>
          <p:nvPr/>
        </p:nvSpPr>
        <p:spPr>
          <a:xfrm>
            <a:off x="7332840" y="2103120"/>
            <a:ext cx="4090320" cy="93240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Only a depth-3 polynomial is affordable under CKKS. So the network is split: arbitrary operations client-side, polynomial-only server-side.</a:t>
            </a:r>
            <a:endParaRPr lang="en-US" sz="1150" b="0" u="none" strike="noStrike">
              <a:solidFill>
                <a:srgbClr val="000000"/>
              </a:solidFill>
              <a:effectLst/>
              <a:uFillTx/>
              <a:latin typeface="Arial"/>
            </a:endParaRPr>
          </a:p>
        </p:txBody>
      </p:sp>
      <p:sp>
        <p:nvSpPr>
          <p:cNvPr id="406" name="Rounded Rectangle 14"/>
          <p:cNvSpPr/>
          <p:nvPr/>
        </p:nvSpPr>
        <p:spPr>
          <a:xfrm>
            <a:off x="7113240" y="3410640"/>
            <a:ext cx="4511160" cy="150840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407" name="Rectangle 15"/>
          <p:cNvSpPr/>
          <p:nvPr/>
        </p:nvSpPr>
        <p:spPr>
          <a:xfrm>
            <a:off x="7113240" y="3410640"/>
            <a:ext cx="40680" cy="150840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408" name="TextBox 16"/>
          <p:cNvSpPr/>
          <p:nvPr/>
        </p:nvSpPr>
        <p:spPr>
          <a:xfrm>
            <a:off x="7332840" y="354780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Trained as deployed</a:t>
            </a:r>
            <a:endParaRPr lang="en-US" sz="1150" b="0" u="none" strike="noStrike">
              <a:solidFill>
                <a:srgbClr val="000000"/>
              </a:solidFill>
              <a:effectLst/>
              <a:uFillTx/>
              <a:latin typeface="Arial"/>
            </a:endParaRPr>
          </a:p>
        </p:txBody>
      </p:sp>
      <p:sp>
        <p:nvSpPr>
          <p:cNvPr id="409" name="TextBox 17"/>
          <p:cNvSpPr/>
          <p:nvPr/>
        </p:nvSpPr>
        <p:spPr>
          <a:xfrm>
            <a:off x="7332840" y="3886200"/>
            <a:ext cx="4090320" cy="88668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head is trained with the square activation it will be evaluated with — not trained with ReLU and swapped afterwards.</a:t>
            </a:r>
            <a:endParaRPr lang="en-US" sz="1150" b="0" u="none" strike="noStrike">
              <a:solidFill>
                <a:srgbClr val="000000"/>
              </a:solidFill>
              <a:effectLst/>
              <a:uFillTx/>
              <a:latin typeface="Arial"/>
            </a:endParaRPr>
          </a:p>
        </p:txBody>
      </p:sp>
      <p:sp>
        <p:nvSpPr>
          <p:cNvPr id="410" name="TextBox 18"/>
          <p:cNvSpPr/>
          <p:nvPr/>
        </p:nvSpPr>
        <p:spPr>
          <a:xfrm>
            <a:off x="567000" y="5724000"/>
            <a:ext cx="11057400" cy="548280"/>
          </a:xfrm>
          <a:prstGeom prst="rect">
            <a:avLst/>
          </a:prstGeom>
          <a:noFill/>
          <a:ln w="0">
            <a:noFill/>
          </a:ln>
        </p:spPr>
        <p:style>
          <a:lnRef idx="0"/>
          <a:fillRef idx="0"/>
          <a:effectRef idx="0"/>
          <a:fontRef idx="minor"/>
        </p:style>
        <p:txBody>
          <a:bodyPr lIns="0" tIns="0" rIns="0" bIns="0" anchor="t">
            <a:spAutoFit/>
          </a:bodyPr>
          <a:p>
            <a:pPr defTabSz="457200">
              <a:lnSpc>
                <a:spcPct val="120000"/>
              </a:lnSpc>
              <a:spcAft>
                <a:spcPts val="400"/>
              </a:spcAft>
            </a:pPr>
            <a:r>
              <a:rPr lang="en-US" sz="1050" b="0" i="1" u="none" strike="noStrike">
                <a:solidFill>
                  <a:srgbClr val="FAB219"/>
                </a:solidFill>
                <a:effectLst/>
                <a:uFillTx/>
                <a:latin typeface="Inter"/>
              </a:rPr>
              <a:t>The next slides explain each component and why it was expected to help. Treat them as hypotheses: the ablation later in this deck tests every one of them against the bare backbone, and most do not survive.</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327" dur="indefinite" restart="never" nodeType="tmRoot">
          <p:childTnLst>
            <p:seq>
              <p:cTn id="328" dur="indefinite" nodeType="mainSeq">
                <p:childTnLst>
                  <p:par>
                    <p:cTn id="329" fill="hold">
                      <p:stCondLst>
                        <p:cond delay="indefinite"/>
                      </p:stCondLst>
                      <p:childTnLst>
                        <p:par>
                          <p:cTn id="330" fill="hold">
                            <p:stCondLst>
                              <p:cond delay="0"/>
                            </p:stCondLst>
                            <p:childTnLst>
                              <p:par>
                                <p:cTn id="331" presetID="10" presetClass="entr" fill="hold" nodeType="clickEffect">
                                  <p:stCondLst>
                                    <p:cond delay="0"/>
                                  </p:stCondLst>
                                  <p:childTnLst>
                                    <p:set>
                                      <p:cBhvr>
                                        <p:cTn id="332" dur="1" fill="hold">
                                          <p:stCondLst>
                                            <p:cond delay="0"/>
                                          </p:stCondLst>
                                        </p:cTn>
                                        <p:tgtEl>
                                          <p:spTgt spid="405"/>
                                        </p:tgtEl>
                                        <p:attrNameLst>
                                          <p:attrName>style.visibility</p:attrName>
                                        </p:attrNameLst>
                                      </p:cBhvr>
                                      <p:to>
                                        <p:strVal val="visible"/>
                                      </p:to>
                                    </p:set>
                                    <p:animEffect transition="in" filter="fade">
                                      <p:cBhvr additive="repl">
                                        <p:cTn id="333" dur="350"/>
                                        <p:tgtEl>
                                          <p:spTgt spid="405"/>
                                        </p:tgtEl>
                                      </p:cBhvr>
                                    </p:animEffect>
                                  </p:childTnLst>
                                </p:cTn>
                              </p:par>
                            </p:childTnLst>
                          </p:cTn>
                        </p:par>
                      </p:childTnLst>
                    </p:cTn>
                  </p:par>
                  <p:par>
                    <p:cTn id="334" fill="hold">
                      <p:stCondLst>
                        <p:cond delay="indefinite"/>
                      </p:stCondLst>
                      <p:childTnLst>
                        <p:par>
                          <p:cTn id="335" fill="hold">
                            <p:stCondLst>
                              <p:cond delay="0"/>
                            </p:stCondLst>
                            <p:childTnLst>
                              <p:par>
                                <p:cTn id="336" presetID="10" presetClass="entr" fill="hold" nodeType="afterEffect">
                                  <p:stCondLst>
                                    <p:cond delay="0"/>
                                  </p:stCondLst>
                                  <p:childTnLst>
                                    <p:set>
                                      <p:cBhvr>
                                        <p:cTn id="337" dur="1" fill="hold">
                                          <p:stCondLst>
                                            <p:cond delay="0"/>
                                          </p:stCondLst>
                                        </p:cTn>
                                        <p:tgtEl>
                                          <p:spTgt spid="406"/>
                                        </p:tgtEl>
                                        <p:attrNameLst>
                                          <p:attrName>style.visibility</p:attrName>
                                        </p:attrNameLst>
                                      </p:cBhvr>
                                      <p:to>
                                        <p:strVal val="visible"/>
                                      </p:to>
                                    </p:set>
                                    <p:animEffect transition="in" filter="fade">
                                      <p:cBhvr additive="repl">
                                        <p:cTn id="338" dur="350"/>
                                        <p:tgtEl>
                                          <p:spTgt spid="406"/>
                                        </p:tgtEl>
                                      </p:cBhvr>
                                    </p:animEffect>
                                  </p:childTnLst>
                                </p:cTn>
                              </p:par>
                            </p:childTnLst>
                          </p:cTn>
                        </p:par>
                      </p:childTnLst>
                    </p:cTn>
                  </p:par>
                  <p:par>
                    <p:cTn id="339" fill="hold">
                      <p:stCondLst>
                        <p:cond delay="indefinite"/>
                      </p:stCondLst>
                      <p:childTnLst>
                        <p:par>
                          <p:cTn id="340" fill="hold">
                            <p:stCondLst>
                              <p:cond delay="0"/>
                            </p:stCondLst>
                            <p:childTnLst>
                              <p:par>
                                <p:cTn id="341" presetID="10" presetClass="entr" fill="hold" nodeType="afterEffect">
                                  <p:stCondLst>
                                    <p:cond delay="0"/>
                                  </p:stCondLst>
                                  <p:childTnLst>
                                    <p:set>
                                      <p:cBhvr>
                                        <p:cTn id="342" dur="1" fill="hold">
                                          <p:stCondLst>
                                            <p:cond delay="0"/>
                                          </p:stCondLst>
                                        </p:cTn>
                                        <p:tgtEl>
                                          <p:spTgt spid="407"/>
                                        </p:tgtEl>
                                        <p:attrNameLst>
                                          <p:attrName>style.visibility</p:attrName>
                                        </p:attrNameLst>
                                      </p:cBhvr>
                                      <p:to>
                                        <p:strVal val="visible"/>
                                      </p:to>
                                    </p:set>
                                    <p:animEffect transition="in" filter="fade">
                                      <p:cBhvr additive="repl">
                                        <p:cTn id="343" dur="350"/>
                                        <p:tgtEl>
                                          <p:spTgt spid="407"/>
                                        </p:tgtEl>
                                      </p:cBhvr>
                                    </p:animEffect>
                                  </p:childTnLst>
                                </p:cTn>
                              </p:par>
                            </p:childTnLst>
                          </p:cTn>
                        </p:par>
                      </p:childTnLst>
                    </p:cTn>
                  </p:par>
                  <p:par>
                    <p:cTn id="344" fill="hold">
                      <p:stCondLst>
                        <p:cond delay="indefinite"/>
                      </p:stCondLst>
                      <p:childTnLst>
                        <p:par>
                          <p:cTn id="345" fill="hold">
                            <p:stCondLst>
                              <p:cond delay="0"/>
                            </p:stCondLst>
                            <p:childTnLst>
                              <p:par>
                                <p:cTn id="346" presetID="10" presetClass="entr" fill="hold" nodeType="afterEffect">
                                  <p:stCondLst>
                                    <p:cond delay="0"/>
                                  </p:stCondLst>
                                  <p:childTnLst>
                                    <p:set>
                                      <p:cBhvr>
                                        <p:cTn id="347" dur="1" fill="hold">
                                          <p:stCondLst>
                                            <p:cond delay="0"/>
                                          </p:stCondLst>
                                        </p:cTn>
                                        <p:tgtEl>
                                          <p:spTgt spid="408"/>
                                        </p:tgtEl>
                                        <p:attrNameLst>
                                          <p:attrName>style.visibility</p:attrName>
                                        </p:attrNameLst>
                                      </p:cBhvr>
                                      <p:to>
                                        <p:strVal val="visible"/>
                                      </p:to>
                                    </p:set>
                                    <p:animEffect transition="in" filter="fade">
                                      <p:cBhvr additive="repl">
                                        <p:cTn id="348" dur="350"/>
                                        <p:tgtEl>
                                          <p:spTgt spid="408"/>
                                        </p:tgtEl>
                                      </p:cBhvr>
                                    </p:animEffect>
                                  </p:childTnLst>
                                </p:cTn>
                              </p:par>
                            </p:childTnLst>
                          </p:cTn>
                        </p:par>
                      </p:childTnLst>
                    </p:cTn>
                  </p:par>
                  <p:par>
                    <p:cTn id="349" fill="hold">
                      <p:stCondLst>
                        <p:cond delay="indefinite"/>
                      </p:stCondLst>
                      <p:childTnLst>
                        <p:par>
                          <p:cTn id="350" fill="hold">
                            <p:stCondLst>
                              <p:cond delay="0"/>
                            </p:stCondLst>
                            <p:childTnLst>
                              <p:par>
                                <p:cTn id="351" presetID="10" presetClass="entr" fill="hold" nodeType="afterEffect">
                                  <p:stCondLst>
                                    <p:cond delay="0"/>
                                  </p:stCondLst>
                                  <p:childTnLst>
                                    <p:set>
                                      <p:cBhvr>
                                        <p:cTn id="352" dur="1" fill="hold">
                                          <p:stCondLst>
                                            <p:cond delay="0"/>
                                          </p:stCondLst>
                                        </p:cTn>
                                        <p:tgtEl>
                                          <p:spTgt spid="409"/>
                                        </p:tgtEl>
                                        <p:attrNameLst>
                                          <p:attrName>style.visibility</p:attrName>
                                        </p:attrNameLst>
                                      </p:cBhvr>
                                      <p:to>
                                        <p:strVal val="visible"/>
                                      </p:to>
                                    </p:set>
                                    <p:animEffect transition="in" filter="fade">
                                      <p:cBhvr additive="repl">
                                        <p:cTn id="353" dur="350"/>
                                        <p:tgtEl>
                                          <p:spTgt spid="409"/>
                                        </p:tgtEl>
                                      </p:cBhvr>
                                    </p:animEffect>
                                  </p:childTnLst>
                                </p:cTn>
                              </p:par>
                            </p:childTnLst>
                          </p:cTn>
                        </p:par>
                      </p:childTnLst>
                    </p:cTn>
                  </p:par>
                  <p:par>
                    <p:cTn id="354" fill="hold">
                      <p:stCondLst>
                        <p:cond delay="indefinite"/>
                      </p:stCondLst>
                      <p:childTnLst>
                        <p:par>
                          <p:cTn id="355" fill="hold">
                            <p:stCondLst>
                              <p:cond delay="0"/>
                            </p:stCondLst>
                            <p:childTnLst>
                              <p:par>
                                <p:cTn id="356" presetID="10" presetClass="entr" fill="hold" nodeType="afterEffect">
                                  <p:stCondLst>
                                    <p:cond delay="0"/>
                                  </p:stCondLst>
                                  <p:childTnLst>
                                    <p:set>
                                      <p:cBhvr>
                                        <p:cTn id="357" dur="1" fill="hold">
                                          <p:stCondLst>
                                            <p:cond delay="0"/>
                                          </p:stCondLst>
                                        </p:cTn>
                                        <p:tgtEl>
                                          <p:spTgt spid="410"/>
                                        </p:tgtEl>
                                        <p:attrNameLst>
                                          <p:attrName>style.visibility</p:attrName>
                                        </p:attrNameLst>
                                      </p:cBhvr>
                                      <p:to>
                                        <p:strVal val="visible"/>
                                      </p:to>
                                    </p:set>
                                    <p:animEffect transition="in" filter="fade">
                                      <p:cBhvr additive="repl">
                                        <p:cTn id="358" dur="35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12"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Novelty and Contributions</a:t>
            </a:r>
            <a:endParaRPr lang="en-US" sz="2700" b="0" u="none" strike="noStrike">
              <a:solidFill>
                <a:srgbClr val="000000"/>
              </a:solidFill>
              <a:effectLst/>
              <a:uFillTx/>
              <a:latin typeface="Arial"/>
            </a:endParaRPr>
          </a:p>
        </p:txBody>
      </p:sp>
      <p:sp>
        <p:nvSpPr>
          <p:cNvPr id="413"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Stated narrowly, because the surrounding literature is dense</a:t>
            </a:r>
            <a:endParaRPr lang="en-US" sz="1300" b="0" u="none" strike="noStrike">
              <a:solidFill>
                <a:srgbClr val="000000"/>
              </a:solidFill>
              <a:effectLst/>
              <a:uFillTx/>
              <a:latin typeface="Arial"/>
            </a:endParaRPr>
          </a:p>
        </p:txBody>
      </p:sp>
      <p:sp>
        <p:nvSpPr>
          <p:cNvPr id="414"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415"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16" name="Rectangle 6"/>
          <p:cNvSpPr/>
          <p:nvPr/>
        </p:nvSpPr>
        <p:spPr>
          <a:xfrm>
            <a:off x="567000" y="6226920"/>
            <a:ext cx="34916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17"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418"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18</a:t>
            </a:r>
            <a:endParaRPr lang="en-US" sz="900" b="0" u="none" strike="noStrike">
              <a:solidFill>
                <a:srgbClr val="000000"/>
              </a:solidFill>
              <a:effectLst/>
              <a:uFillTx/>
              <a:latin typeface="Arial"/>
            </a:endParaRPr>
          </a:p>
        </p:txBody>
      </p:sp>
      <p:sp>
        <p:nvSpPr>
          <p:cNvPr id="419" name="TextBox 9"/>
          <p:cNvSpPr/>
          <p:nvPr/>
        </p:nvSpPr>
        <p:spPr>
          <a:xfrm>
            <a:off x="567000" y="1627560"/>
            <a:ext cx="52592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D03B3B"/>
                </a:solidFill>
                <a:effectLst/>
                <a:uFillTx/>
                <a:latin typeface="Inter"/>
              </a:rPr>
              <a:t>NOT CLAIMED AS NOVEL</a:t>
            </a:r>
            <a:endParaRPr lang="en-US" sz="1100" b="0" u="none" strike="noStrike">
              <a:solidFill>
                <a:srgbClr val="000000"/>
              </a:solidFill>
              <a:effectLst/>
              <a:uFillTx/>
              <a:latin typeface="Arial"/>
            </a:endParaRPr>
          </a:p>
        </p:txBody>
      </p:sp>
      <p:sp>
        <p:nvSpPr>
          <p:cNvPr id="420" name="TextBox 10"/>
          <p:cNvSpPr/>
          <p:nvPr/>
        </p:nvSpPr>
        <p:spPr>
          <a:xfrm>
            <a:off x="567000" y="2011680"/>
            <a:ext cx="5259240" cy="237708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150" b="1" u="none" strike="noStrike">
                <a:solidFill>
                  <a:srgbClr val="D03B3B"/>
                </a:solidFill>
                <a:effectLst/>
                <a:uFillTx/>
                <a:latin typeface="Inter"/>
              </a:rPr>
              <a:t>— </a:t>
            </a:r>
            <a:r>
              <a:rPr lang="en-US" sz="1150" b="0" u="none" strike="noStrike">
                <a:solidFill>
                  <a:srgbClr val="CBD5E1"/>
                </a:solidFill>
                <a:effectLst/>
                <a:uFillTx/>
                <a:latin typeface="Inter"/>
              </a:rPr>
              <a:t>Splitting a network so only a polynomial head is encrypted — this is PRISM (2025) and others.</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D03B3B"/>
                </a:solidFill>
                <a:effectLst/>
                <a:uFillTx/>
                <a:latin typeface="Inter"/>
              </a:rPr>
              <a:t>— </a:t>
            </a:r>
            <a:r>
              <a:rPr lang="en-US" sz="1150" b="0" u="none" strike="noStrike">
                <a:solidFill>
                  <a:srgbClr val="CBD5E1"/>
                </a:solidFill>
                <a:effectLst/>
                <a:uFillTx/>
                <a:latin typeface="Inter"/>
              </a:rPr>
              <a:t>The square activation for CKKS — the base paper and CryptoNets lineage.</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D03B3B"/>
                </a:solidFill>
                <a:effectLst/>
                <a:uFillTx/>
                <a:latin typeface="Inter"/>
              </a:rPr>
              <a:t>— </a:t>
            </a:r>
            <a:r>
              <a:rPr lang="en-US" sz="1150" b="0" u="none" strike="noStrike">
                <a:solidFill>
                  <a:srgbClr val="CBD5E1"/>
                </a:solidFill>
                <a:effectLst/>
                <a:uFillTx/>
                <a:latin typeface="Inter"/>
              </a:rPr>
              <a:t>Dual-branch global/local designs, or gating as a mechanism.</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D03B3B"/>
                </a:solidFill>
                <a:effectLst/>
                <a:uFillTx/>
                <a:latin typeface="Inter"/>
              </a:rPr>
              <a:t>— </a:t>
            </a:r>
            <a:r>
              <a:rPr lang="en-US" sz="1150" b="0" u="none" strike="noStrike">
                <a:solidFill>
                  <a:srgbClr val="CBD5E1"/>
                </a:solidFill>
                <a:effectLst/>
                <a:uFillTx/>
                <a:latin typeface="Inter"/>
              </a:rPr>
              <a:t>EfficientNet on NEU-CLS.</a:t>
            </a:r>
            <a:endParaRPr lang="en-US" sz="1150" b="0" u="none" strike="noStrike">
              <a:solidFill>
                <a:srgbClr val="000000"/>
              </a:solidFill>
              <a:effectLst/>
              <a:uFillTx/>
              <a:latin typeface="Arial"/>
            </a:endParaRPr>
          </a:p>
        </p:txBody>
      </p:sp>
      <p:sp>
        <p:nvSpPr>
          <p:cNvPr id="421" name="TextBox 11"/>
          <p:cNvSpPr/>
          <p:nvPr/>
        </p:nvSpPr>
        <p:spPr>
          <a:xfrm>
            <a:off x="6365160" y="1627560"/>
            <a:ext cx="52592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0CA30C"/>
                </a:solidFill>
                <a:effectLst/>
                <a:uFillTx/>
                <a:latin typeface="Inter"/>
              </a:rPr>
              <a:t>WHAT ACTUALLY HOLDS UP</a:t>
            </a:r>
            <a:endParaRPr lang="en-US" sz="1100" b="0" u="none" strike="noStrike">
              <a:solidFill>
                <a:srgbClr val="000000"/>
              </a:solidFill>
              <a:effectLst/>
              <a:uFillTx/>
              <a:latin typeface="Arial"/>
            </a:endParaRPr>
          </a:p>
        </p:txBody>
      </p:sp>
      <p:sp>
        <p:nvSpPr>
          <p:cNvPr id="422" name="TextBox 12"/>
          <p:cNvSpPr/>
          <p:nvPr/>
        </p:nvSpPr>
        <p:spPr>
          <a:xfrm>
            <a:off x="6365160" y="2011680"/>
            <a:ext cx="5259240" cy="310860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150" b="1" u="none" strike="noStrike">
                <a:solidFill>
                  <a:srgbClr val="0CA30C"/>
                </a:solidFill>
                <a:effectLst/>
                <a:uFillTx/>
                <a:latin typeface="Inter"/>
              </a:rPr>
              <a:t>— </a:t>
            </a:r>
            <a:r>
              <a:rPr lang="en-US" sz="1150" b="0" u="none" strike="noStrike">
                <a:solidFill>
                  <a:srgbClr val="CBD5E1"/>
                </a:solidFill>
                <a:effectLst/>
                <a:uFillTx/>
                <a:latin typeface="Inter"/>
              </a:rPr>
              <a:t>A reproduction and audit of the base paper it does not provide: macro metrics, confusion, CIs, and eight documented under-specifications.</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0CA30C"/>
                </a:solidFill>
                <a:effectLst/>
                <a:uFillTx/>
                <a:latin typeface="Inter"/>
              </a:rPr>
              <a:t>— </a:t>
            </a:r>
            <a:r>
              <a:rPr lang="en-US" sz="1150" b="0" u="none" strike="noStrike">
                <a:solidFill>
                  <a:srgbClr val="CBD5E1"/>
                </a:solidFill>
                <a:effectLst/>
                <a:uFillTx/>
                <a:latin typeface="Inter"/>
              </a:rPr>
              <a:t>Genuine CKKS inference with a quantified exactness bound, not just an agreement count.</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0CA30C"/>
                </a:solidFill>
                <a:effectLst/>
                <a:uFillTx/>
                <a:latin typeface="Inter"/>
              </a:rPr>
              <a:t>— </a:t>
            </a:r>
            <a:r>
              <a:rPr lang="en-US" sz="1150" b="0" u="none" strike="noStrike">
                <a:solidFill>
                  <a:srgbClr val="CBD5E1"/>
                </a:solidFill>
                <a:effectLst/>
                <a:uFillTx/>
                <a:latin typeface="Inter"/>
              </a:rPr>
              <a:t>An evaluation protocol that stays informative on a saturated benchmark — and that is what exposed the result below.</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0CA30C"/>
                </a:solidFill>
                <a:effectLst/>
                <a:uFillTx/>
                <a:latin typeface="Inter"/>
              </a:rPr>
              <a:t>— </a:t>
            </a:r>
            <a:r>
              <a:rPr lang="en-US" sz="1150" b="0" u="none" strike="noStrike">
                <a:solidFill>
                  <a:srgbClr val="CBD5E1"/>
                </a:solidFill>
                <a:effectLst/>
                <a:uFillTx/>
                <a:latin typeface="Inter"/>
              </a:rPr>
              <a:t>An explicit threat-model comparison that states what is NOT protected.</a:t>
            </a:r>
            <a:endParaRPr lang="en-US" sz="1150" b="0" u="none" strike="noStrike">
              <a:solidFill>
                <a:srgbClr val="000000"/>
              </a:solidFill>
              <a:effectLst/>
              <a:uFillTx/>
              <a:latin typeface="Arial"/>
            </a:endParaRPr>
          </a:p>
        </p:txBody>
      </p:sp>
      <p:sp>
        <p:nvSpPr>
          <p:cNvPr id="423" name="Rounded Rectangle 13"/>
          <p:cNvSpPr/>
          <p:nvPr/>
        </p:nvSpPr>
        <p:spPr>
          <a:xfrm>
            <a:off x="567000" y="4599360"/>
            <a:ext cx="11057400" cy="95976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424" name="Rectangle 14"/>
          <p:cNvSpPr/>
          <p:nvPr/>
        </p:nvSpPr>
        <p:spPr>
          <a:xfrm>
            <a:off x="567000" y="4599360"/>
            <a:ext cx="40680" cy="959760"/>
          </a:xfrm>
          <a:prstGeom prst="rect">
            <a:avLst/>
          </a:prstGeom>
          <a:solidFill>
            <a:srgbClr val="D03B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425" name="TextBox 15"/>
          <p:cNvSpPr/>
          <p:nvPr/>
        </p:nvSpPr>
        <p:spPr>
          <a:xfrm>
            <a:off x="786240" y="4736520"/>
            <a:ext cx="106369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D03B3B"/>
                </a:solidFill>
                <a:effectLst/>
                <a:uFillTx/>
                <a:latin typeface="Inter"/>
              </a:rPr>
              <a:t>The proposed architecture is NOT among the contributions</a:t>
            </a:r>
            <a:endParaRPr lang="en-US" sz="1150" b="0" u="none" strike="noStrike">
              <a:solidFill>
                <a:srgbClr val="000000"/>
              </a:solidFill>
              <a:effectLst/>
              <a:uFillTx/>
              <a:latin typeface="Arial"/>
            </a:endParaRPr>
          </a:p>
        </p:txBody>
      </p:sp>
      <p:sp>
        <p:nvSpPr>
          <p:cNvPr id="426" name="TextBox 16"/>
          <p:cNvSpPr/>
          <p:nvPr/>
        </p:nvSpPr>
        <p:spPr>
          <a:xfrm>
            <a:off x="786240" y="5074920"/>
            <a:ext cx="10636920" cy="33804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learned Sobel-conditioned chunk selection was the one genuinely new piece. Measured against its own backbone under matched seeds, it costs accuracy. We report that rather than claim an architectural advance — see the ablation.</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359" dur="indefinite" restart="never" nodeType="tmRoot">
          <p:childTnLst>
            <p:seq>
              <p:cTn id="360" dur="indefinite" nodeType="mainSeq">
                <p:childTnLst>
                  <p:par>
                    <p:cTn id="361" fill="hold">
                      <p:stCondLst>
                        <p:cond delay="indefinite"/>
                      </p:stCondLst>
                      <p:childTnLst>
                        <p:par>
                          <p:cTn id="362" fill="hold">
                            <p:stCondLst>
                              <p:cond delay="0"/>
                            </p:stCondLst>
                            <p:childTnLst>
                              <p:par>
                                <p:cTn id="363" presetID="10" presetClass="entr" fill="hold" nodeType="clickEffect">
                                  <p:stCondLst>
                                    <p:cond delay="0"/>
                                  </p:stCondLst>
                                  <p:childTnLst>
                                    <p:set>
                                      <p:cBhvr>
                                        <p:cTn id="364" dur="1" fill="hold">
                                          <p:stCondLst>
                                            <p:cond delay="0"/>
                                          </p:stCondLst>
                                        </p:cTn>
                                        <p:tgtEl>
                                          <p:spTgt spid="420"/>
                                        </p:tgtEl>
                                        <p:attrNameLst>
                                          <p:attrName>style.visibility</p:attrName>
                                        </p:attrNameLst>
                                      </p:cBhvr>
                                      <p:to>
                                        <p:strVal val="visible"/>
                                      </p:to>
                                    </p:set>
                                    <p:animEffect transition="in" filter="fade">
                                      <p:cBhvr additive="repl">
                                        <p:cTn id="365" dur="350"/>
                                        <p:tgtEl>
                                          <p:spTgt spid="420"/>
                                        </p:tgtEl>
                                      </p:cBhvr>
                                    </p:animEffect>
                                  </p:childTnLst>
                                </p:cTn>
                              </p:par>
                            </p:childTnLst>
                          </p:cTn>
                        </p:par>
                      </p:childTnLst>
                    </p:cTn>
                  </p:par>
                  <p:par>
                    <p:cTn id="366" fill="hold">
                      <p:stCondLst>
                        <p:cond delay="indefinite"/>
                      </p:stCondLst>
                      <p:childTnLst>
                        <p:par>
                          <p:cTn id="367" fill="hold">
                            <p:stCondLst>
                              <p:cond delay="0"/>
                            </p:stCondLst>
                            <p:childTnLst>
                              <p:par>
                                <p:cTn id="368" presetID="10" presetClass="entr" fill="hold" nodeType="afterEffect">
                                  <p:stCondLst>
                                    <p:cond delay="0"/>
                                  </p:stCondLst>
                                  <p:childTnLst>
                                    <p:set>
                                      <p:cBhvr>
                                        <p:cTn id="369" dur="1" fill="hold">
                                          <p:stCondLst>
                                            <p:cond delay="0"/>
                                          </p:stCondLst>
                                        </p:cTn>
                                        <p:tgtEl>
                                          <p:spTgt spid="422"/>
                                        </p:tgtEl>
                                        <p:attrNameLst>
                                          <p:attrName>style.visibility</p:attrName>
                                        </p:attrNameLst>
                                      </p:cBhvr>
                                      <p:to>
                                        <p:strVal val="visible"/>
                                      </p:to>
                                    </p:set>
                                    <p:animEffect transition="in" filter="fade">
                                      <p:cBhvr additive="repl">
                                        <p:cTn id="370" dur="350"/>
                                        <p:tgtEl>
                                          <p:spTgt spid="422"/>
                                        </p:tgtEl>
                                      </p:cBhvr>
                                    </p:animEffect>
                                  </p:childTnLst>
                                </p:cTn>
                              </p:par>
                            </p:childTnLst>
                          </p:cTn>
                        </p:par>
                      </p:childTnLst>
                    </p:cTn>
                  </p:par>
                  <p:par>
                    <p:cTn id="371" fill="hold">
                      <p:stCondLst>
                        <p:cond delay="indefinite"/>
                      </p:stCondLst>
                      <p:childTnLst>
                        <p:par>
                          <p:cTn id="372" fill="hold">
                            <p:stCondLst>
                              <p:cond delay="0"/>
                            </p:stCondLst>
                            <p:childTnLst>
                              <p:par>
                                <p:cTn id="373" presetID="10" presetClass="entr" fill="hold" nodeType="afterEffect">
                                  <p:stCondLst>
                                    <p:cond delay="0"/>
                                  </p:stCondLst>
                                  <p:childTnLst>
                                    <p:set>
                                      <p:cBhvr>
                                        <p:cTn id="374" dur="1" fill="hold">
                                          <p:stCondLst>
                                            <p:cond delay="0"/>
                                          </p:stCondLst>
                                        </p:cTn>
                                        <p:tgtEl>
                                          <p:spTgt spid="423"/>
                                        </p:tgtEl>
                                        <p:attrNameLst>
                                          <p:attrName>style.visibility</p:attrName>
                                        </p:attrNameLst>
                                      </p:cBhvr>
                                      <p:to>
                                        <p:strVal val="visible"/>
                                      </p:to>
                                    </p:set>
                                    <p:animEffect transition="in" filter="fade">
                                      <p:cBhvr additive="repl">
                                        <p:cTn id="375" dur="350"/>
                                        <p:tgtEl>
                                          <p:spTgt spid="423"/>
                                        </p:tgtEl>
                                      </p:cBhvr>
                                    </p:animEffect>
                                  </p:childTnLst>
                                </p:cTn>
                              </p:par>
                            </p:childTnLst>
                          </p:cTn>
                        </p:par>
                      </p:childTnLst>
                    </p:cTn>
                  </p:par>
                  <p:par>
                    <p:cTn id="376" fill="hold">
                      <p:stCondLst>
                        <p:cond delay="indefinite"/>
                      </p:stCondLst>
                      <p:childTnLst>
                        <p:par>
                          <p:cTn id="377" fill="hold">
                            <p:stCondLst>
                              <p:cond delay="0"/>
                            </p:stCondLst>
                            <p:childTnLst>
                              <p:par>
                                <p:cTn id="378" presetID="10" presetClass="entr" fill="hold" nodeType="afterEffect">
                                  <p:stCondLst>
                                    <p:cond delay="0"/>
                                  </p:stCondLst>
                                  <p:childTnLst>
                                    <p:set>
                                      <p:cBhvr>
                                        <p:cTn id="379" dur="1" fill="hold">
                                          <p:stCondLst>
                                            <p:cond delay="0"/>
                                          </p:stCondLst>
                                        </p:cTn>
                                        <p:tgtEl>
                                          <p:spTgt spid="424"/>
                                        </p:tgtEl>
                                        <p:attrNameLst>
                                          <p:attrName>style.visibility</p:attrName>
                                        </p:attrNameLst>
                                      </p:cBhvr>
                                      <p:to>
                                        <p:strVal val="visible"/>
                                      </p:to>
                                    </p:set>
                                    <p:animEffect transition="in" filter="fade">
                                      <p:cBhvr additive="repl">
                                        <p:cTn id="380" dur="350"/>
                                        <p:tgtEl>
                                          <p:spTgt spid="424"/>
                                        </p:tgtEl>
                                      </p:cBhvr>
                                    </p:animEffect>
                                  </p:childTnLst>
                                </p:cTn>
                              </p:par>
                            </p:childTnLst>
                          </p:cTn>
                        </p:par>
                      </p:childTnLst>
                    </p:cTn>
                  </p:par>
                  <p:par>
                    <p:cTn id="381" fill="hold">
                      <p:stCondLst>
                        <p:cond delay="indefinite"/>
                      </p:stCondLst>
                      <p:childTnLst>
                        <p:par>
                          <p:cTn id="382" fill="hold">
                            <p:stCondLst>
                              <p:cond delay="0"/>
                            </p:stCondLst>
                            <p:childTnLst>
                              <p:par>
                                <p:cTn id="383" presetID="10" presetClass="entr" fill="hold" nodeType="afterEffect">
                                  <p:stCondLst>
                                    <p:cond delay="0"/>
                                  </p:stCondLst>
                                  <p:childTnLst>
                                    <p:set>
                                      <p:cBhvr>
                                        <p:cTn id="384" dur="1" fill="hold">
                                          <p:stCondLst>
                                            <p:cond delay="0"/>
                                          </p:stCondLst>
                                        </p:cTn>
                                        <p:tgtEl>
                                          <p:spTgt spid="425"/>
                                        </p:tgtEl>
                                        <p:attrNameLst>
                                          <p:attrName>style.visibility</p:attrName>
                                        </p:attrNameLst>
                                      </p:cBhvr>
                                      <p:to>
                                        <p:strVal val="visible"/>
                                      </p:to>
                                    </p:set>
                                    <p:animEffect transition="in" filter="fade">
                                      <p:cBhvr additive="repl">
                                        <p:cTn id="385" dur="350"/>
                                        <p:tgtEl>
                                          <p:spTgt spid="425"/>
                                        </p:tgtEl>
                                      </p:cBhvr>
                                    </p:animEffect>
                                  </p:childTnLst>
                                </p:cTn>
                              </p:par>
                            </p:childTnLst>
                          </p:cTn>
                        </p:par>
                      </p:childTnLst>
                    </p:cTn>
                  </p:par>
                  <p:par>
                    <p:cTn id="386" fill="hold">
                      <p:stCondLst>
                        <p:cond delay="indefinite"/>
                      </p:stCondLst>
                      <p:childTnLst>
                        <p:par>
                          <p:cTn id="387" fill="hold">
                            <p:stCondLst>
                              <p:cond delay="0"/>
                            </p:stCondLst>
                            <p:childTnLst>
                              <p:par>
                                <p:cTn id="388" presetID="10" presetClass="entr" fill="hold" nodeType="afterEffect">
                                  <p:stCondLst>
                                    <p:cond delay="0"/>
                                  </p:stCondLst>
                                  <p:childTnLst>
                                    <p:set>
                                      <p:cBhvr>
                                        <p:cTn id="389" dur="1" fill="hold">
                                          <p:stCondLst>
                                            <p:cond delay="0"/>
                                          </p:stCondLst>
                                        </p:cTn>
                                        <p:tgtEl>
                                          <p:spTgt spid="426"/>
                                        </p:tgtEl>
                                        <p:attrNameLst>
                                          <p:attrName>style.visibility</p:attrName>
                                        </p:attrNameLst>
                                      </p:cBhvr>
                                      <p:to>
                                        <p:strVal val="visible"/>
                                      </p:to>
                                    </p:set>
                                    <p:animEffect transition="in" filter="fade">
                                      <p:cBhvr additive="repl">
                                        <p:cTn id="390" dur="350"/>
                                        <p:tgtEl>
                                          <p:spTgt spid="4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28"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Complete Proposed Architecture</a:t>
            </a:r>
            <a:endParaRPr lang="en-US" sz="2700" b="0" u="none" strike="noStrike">
              <a:solidFill>
                <a:srgbClr val="000000"/>
              </a:solidFill>
              <a:effectLst/>
              <a:uFillTx/>
              <a:latin typeface="Arial"/>
            </a:endParaRPr>
          </a:p>
        </p:txBody>
      </p:sp>
      <p:sp>
        <p:nvSpPr>
          <p:cNvPr id="429"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430"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31" name="Rectangle 5"/>
          <p:cNvSpPr/>
          <p:nvPr/>
        </p:nvSpPr>
        <p:spPr>
          <a:xfrm>
            <a:off x="567000" y="6226920"/>
            <a:ext cx="36856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32"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433"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19</a:t>
            </a:r>
            <a:endParaRPr lang="en-US" sz="900" b="0" u="none" strike="noStrike">
              <a:solidFill>
                <a:srgbClr val="000000"/>
              </a:solidFill>
              <a:effectLst/>
              <a:uFillTx/>
              <a:latin typeface="Arial"/>
            </a:endParaRPr>
          </a:p>
        </p:txBody>
      </p:sp>
      <p:pic>
        <p:nvPicPr>
          <p:cNvPr id="434" name="Picture 8" descr="01_complete_architecture_1335.png"/>
          <p:cNvPicPr/>
          <p:nvPr/>
        </p:nvPicPr>
        <p:blipFill>
          <a:blip r:embed="rId1"/>
          <a:stretch/>
        </p:blipFill>
        <p:spPr>
          <a:xfrm>
            <a:off x="2027160" y="1490400"/>
            <a:ext cx="8137080" cy="461736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36"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Data Preprocessing</a:t>
            </a:r>
            <a:endParaRPr lang="en-US" sz="2700" b="0" u="none" strike="noStrike">
              <a:solidFill>
                <a:srgbClr val="000000"/>
              </a:solidFill>
              <a:effectLst/>
              <a:uFillTx/>
              <a:latin typeface="Arial"/>
            </a:endParaRPr>
          </a:p>
        </p:txBody>
      </p:sp>
      <p:sp>
        <p:nvSpPr>
          <p:cNvPr id="437"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CLAHE replaces the base paper's global equalisation — a choice the design study measures</a:t>
            </a:r>
            <a:endParaRPr lang="en-US" sz="1300" b="0" u="none" strike="noStrike">
              <a:solidFill>
                <a:srgbClr val="000000"/>
              </a:solidFill>
              <a:effectLst/>
              <a:uFillTx/>
              <a:latin typeface="Arial"/>
            </a:endParaRPr>
          </a:p>
        </p:txBody>
      </p:sp>
      <p:sp>
        <p:nvSpPr>
          <p:cNvPr id="438"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439"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40" name="Rectangle 6"/>
          <p:cNvSpPr/>
          <p:nvPr/>
        </p:nvSpPr>
        <p:spPr>
          <a:xfrm>
            <a:off x="567000" y="6226920"/>
            <a:ext cx="38797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41"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442"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20</a:t>
            </a:r>
            <a:endParaRPr lang="en-US" sz="900" b="0" u="none" strike="noStrike">
              <a:solidFill>
                <a:srgbClr val="000000"/>
              </a:solidFill>
              <a:effectLst/>
              <a:uFillTx/>
              <a:latin typeface="Arial"/>
            </a:endParaRPr>
          </a:p>
        </p:txBody>
      </p:sp>
      <p:pic>
        <p:nvPicPr>
          <p:cNvPr id="443" name="Picture 9" descr="03_preprocessing_pipeline_1486.png"/>
          <p:cNvPicPr/>
          <p:nvPr/>
        </p:nvPicPr>
        <p:blipFill>
          <a:blip r:embed="rId1"/>
          <a:stretch/>
        </p:blipFill>
        <p:spPr>
          <a:xfrm>
            <a:off x="1567080" y="1581840"/>
            <a:ext cx="905724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45"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Preprocessing  ·  before and after</a:t>
            </a:r>
            <a:endParaRPr lang="en-US" sz="2700" b="0" u="none" strike="noStrike">
              <a:solidFill>
                <a:srgbClr val="000000"/>
              </a:solidFill>
              <a:effectLst/>
              <a:uFillTx/>
              <a:latin typeface="Arial"/>
            </a:endParaRPr>
          </a:p>
        </p:txBody>
      </p:sp>
      <p:sp>
        <p:nvSpPr>
          <p:cNvPr id="446"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The same six images under the base paper's contrast step and ours</a:t>
            </a:r>
            <a:endParaRPr lang="en-US" sz="1300" b="0" u="none" strike="noStrike">
              <a:solidFill>
                <a:srgbClr val="000000"/>
              </a:solidFill>
              <a:effectLst/>
              <a:uFillTx/>
              <a:latin typeface="Arial"/>
            </a:endParaRPr>
          </a:p>
        </p:txBody>
      </p:sp>
      <p:sp>
        <p:nvSpPr>
          <p:cNvPr id="447"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448"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49" name="Rectangle 6"/>
          <p:cNvSpPr/>
          <p:nvPr/>
        </p:nvSpPr>
        <p:spPr>
          <a:xfrm>
            <a:off x="567000" y="6226920"/>
            <a:ext cx="40737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50"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451"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21</a:t>
            </a:r>
            <a:endParaRPr lang="en-US" sz="900" b="0" u="none" strike="noStrike">
              <a:solidFill>
                <a:srgbClr val="000000"/>
              </a:solidFill>
              <a:effectLst/>
              <a:uFillTx/>
              <a:latin typeface="Arial"/>
            </a:endParaRPr>
          </a:p>
        </p:txBody>
      </p:sp>
      <p:pic>
        <p:nvPicPr>
          <p:cNvPr id="452" name="Picture 9" descr="ba_preprocessing_1639.png"/>
          <p:cNvPicPr/>
          <p:nvPr/>
        </p:nvPicPr>
        <p:blipFill>
          <a:blip r:embed="rId1"/>
          <a:stretch/>
        </p:blipFill>
        <p:spPr>
          <a:xfrm>
            <a:off x="1100520" y="1627560"/>
            <a:ext cx="9990360" cy="448020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54"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Global Feature Extraction  ·  EfficientNet-B0</a:t>
            </a:r>
            <a:endParaRPr lang="en-US" sz="2700" b="0" u="none" strike="noStrike">
              <a:solidFill>
                <a:srgbClr val="000000"/>
              </a:solidFill>
              <a:effectLst/>
              <a:uFillTx/>
              <a:latin typeface="Arial"/>
            </a:endParaRPr>
          </a:p>
        </p:txBody>
      </p:sp>
      <p:sp>
        <p:nvSpPr>
          <p:cNvPr id="455"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Pretrained weights, adapted to a single-channel input</a:t>
            </a:r>
            <a:endParaRPr lang="en-US" sz="1300" b="0" u="none" strike="noStrike">
              <a:solidFill>
                <a:srgbClr val="000000"/>
              </a:solidFill>
              <a:effectLst/>
              <a:uFillTx/>
              <a:latin typeface="Arial"/>
            </a:endParaRPr>
          </a:p>
        </p:txBody>
      </p:sp>
      <p:sp>
        <p:nvSpPr>
          <p:cNvPr id="456"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457"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58" name="Rectangle 6"/>
          <p:cNvSpPr/>
          <p:nvPr/>
        </p:nvSpPr>
        <p:spPr>
          <a:xfrm>
            <a:off x="567000" y="6226920"/>
            <a:ext cx="42674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59"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460"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22</a:t>
            </a:r>
            <a:endParaRPr lang="en-US" sz="900" b="0" u="none" strike="noStrike">
              <a:solidFill>
                <a:srgbClr val="000000"/>
              </a:solidFill>
              <a:effectLst/>
              <a:uFillTx/>
              <a:latin typeface="Arial"/>
            </a:endParaRPr>
          </a:p>
        </p:txBody>
      </p:sp>
      <p:sp>
        <p:nvSpPr>
          <p:cNvPr id="461" name="TextBox 9"/>
          <p:cNvSpPr/>
          <p:nvPr/>
        </p:nvSpPr>
        <p:spPr>
          <a:xfrm>
            <a:off x="567000" y="1627560"/>
            <a:ext cx="5446440" cy="292572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Why EfficientNet-B0. </a:t>
            </a:r>
            <a:r>
              <a:rPr lang="en-US" sz="1250" b="0" u="none" strike="noStrike">
                <a:solidFill>
                  <a:srgbClr val="CBD5E1"/>
                </a:solidFill>
                <a:effectLst/>
                <a:uFillTx/>
                <a:latin typeface="Inter"/>
              </a:rPr>
              <a:t>Compound scaling gives strong ImageNet features at ~4.0 M parameters — the accuracy/compute point that fits a CPU-trained project.</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Grayscale adaptation. </a:t>
            </a:r>
            <a:r>
              <a:rPr lang="en-US" sz="1250" b="0" u="none" strike="noStrike">
                <a:solidFill>
                  <a:srgbClr val="CBD5E1"/>
                </a:solidFill>
                <a:effectLst/>
                <a:uFillTx/>
                <a:latin typeface="Inter"/>
              </a:rPr>
              <a:t>timm's in_chans=1 sums the pretrained RGB stem filters rather than replicating the channel, preserving filter response magnitude.</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Projection. </a:t>
            </a:r>
            <a:r>
              <a:rPr lang="en-US" sz="1250" b="0" u="none" strike="noStrike">
                <a:solidFill>
                  <a:srgbClr val="CBD5E1"/>
                </a:solidFill>
                <a:effectLst/>
                <a:uFillTx/>
                <a:latin typeface="Inter"/>
              </a:rPr>
              <a:t>1280-d pooled features → Linear + LayerNorm → 256-d, matching the local branch.</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Transfer matters most when data is scarce. </a:t>
            </a:r>
            <a:r>
              <a:rPr lang="en-US" sz="1250" b="0" u="none" strike="noStrike">
                <a:solidFill>
                  <a:srgbClr val="CBD5E1"/>
                </a:solidFill>
                <a:effectLst/>
                <a:uFillTx/>
                <a:latin typeface="Inter"/>
              </a:rPr>
              <a:t>This is visible in the learning curve: the gap over a from-scratch CNN widens as training data shrinks.</a:t>
            </a:r>
            <a:endParaRPr lang="en-US" sz="1250" b="0" u="none" strike="noStrike">
              <a:solidFill>
                <a:srgbClr val="000000"/>
              </a:solidFill>
              <a:effectLst/>
              <a:uFillTx/>
              <a:latin typeface="Arial"/>
            </a:endParaRPr>
          </a:p>
        </p:txBody>
      </p:sp>
      <p:sp>
        <p:nvSpPr>
          <p:cNvPr id="462" name="TextBox 10"/>
          <p:cNvSpPr/>
          <p:nvPr/>
        </p:nvSpPr>
        <p:spPr>
          <a:xfrm>
            <a:off x="7113240" y="162756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component</a:t>
            </a:r>
            <a:endParaRPr lang="en-US" sz="1050" b="0" u="none" strike="noStrike">
              <a:solidFill>
                <a:srgbClr val="000000"/>
              </a:solidFill>
              <a:effectLst/>
              <a:uFillTx/>
              <a:latin typeface="Arial"/>
            </a:endParaRPr>
          </a:p>
        </p:txBody>
      </p:sp>
      <p:sp>
        <p:nvSpPr>
          <p:cNvPr id="463" name="TextBox 11"/>
          <p:cNvSpPr/>
          <p:nvPr/>
        </p:nvSpPr>
        <p:spPr>
          <a:xfrm>
            <a:off x="9490680" y="1627560"/>
            <a:ext cx="21337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parameters</a:t>
            </a:r>
            <a:endParaRPr lang="en-US" sz="1050" b="0" u="none" strike="noStrike">
              <a:solidFill>
                <a:srgbClr val="000000"/>
              </a:solidFill>
              <a:effectLst/>
              <a:uFillTx/>
              <a:latin typeface="Arial"/>
            </a:endParaRPr>
          </a:p>
        </p:txBody>
      </p:sp>
      <p:sp>
        <p:nvSpPr>
          <p:cNvPr id="464" name="Rectangle 12"/>
          <p:cNvSpPr/>
          <p:nvPr/>
        </p:nvSpPr>
        <p:spPr>
          <a:xfrm>
            <a:off x="7113240" y="1920240"/>
            <a:ext cx="451116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465" name="TextBox 13"/>
          <p:cNvSpPr/>
          <p:nvPr/>
        </p:nvSpPr>
        <p:spPr>
          <a:xfrm>
            <a:off x="7113240" y="201168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global branch</a:t>
            </a:r>
            <a:endParaRPr lang="en-US" sz="1100" b="0" u="none" strike="noStrike">
              <a:solidFill>
                <a:srgbClr val="000000"/>
              </a:solidFill>
              <a:effectLst/>
              <a:uFillTx/>
              <a:latin typeface="Arial"/>
            </a:endParaRPr>
          </a:p>
        </p:txBody>
      </p:sp>
      <p:sp>
        <p:nvSpPr>
          <p:cNvPr id="466" name="TextBox 14"/>
          <p:cNvSpPr/>
          <p:nvPr/>
        </p:nvSpPr>
        <p:spPr>
          <a:xfrm>
            <a:off x="9490680" y="2011680"/>
            <a:ext cx="2133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4,335,420</a:t>
            </a:r>
            <a:endParaRPr lang="en-US" sz="1100" b="0" u="none" strike="noStrike">
              <a:solidFill>
                <a:srgbClr val="000000"/>
              </a:solidFill>
              <a:effectLst/>
              <a:uFillTx/>
              <a:latin typeface="Arial"/>
            </a:endParaRPr>
          </a:p>
        </p:txBody>
      </p:sp>
      <p:sp>
        <p:nvSpPr>
          <p:cNvPr id="467" name="TextBox 15"/>
          <p:cNvSpPr/>
          <p:nvPr/>
        </p:nvSpPr>
        <p:spPr>
          <a:xfrm>
            <a:off x="7113240" y="232272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local branch</a:t>
            </a:r>
            <a:endParaRPr lang="en-US" sz="1100" b="0" u="none" strike="noStrike">
              <a:solidFill>
                <a:srgbClr val="000000"/>
              </a:solidFill>
              <a:effectLst/>
              <a:uFillTx/>
              <a:latin typeface="Arial"/>
            </a:endParaRPr>
          </a:p>
        </p:txBody>
      </p:sp>
      <p:sp>
        <p:nvSpPr>
          <p:cNvPr id="468" name="TextBox 16"/>
          <p:cNvSpPr/>
          <p:nvPr/>
        </p:nvSpPr>
        <p:spPr>
          <a:xfrm>
            <a:off x="9490680" y="2322720"/>
            <a:ext cx="2133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190,816</a:t>
            </a:r>
            <a:endParaRPr lang="en-US" sz="1100" b="0" u="none" strike="noStrike">
              <a:solidFill>
                <a:srgbClr val="000000"/>
              </a:solidFill>
              <a:effectLst/>
              <a:uFillTx/>
              <a:latin typeface="Arial"/>
            </a:endParaRPr>
          </a:p>
        </p:txBody>
      </p:sp>
      <p:sp>
        <p:nvSpPr>
          <p:cNvPr id="469" name="TextBox 17"/>
          <p:cNvSpPr/>
          <p:nvPr/>
        </p:nvSpPr>
        <p:spPr>
          <a:xfrm>
            <a:off x="7113240" y="263340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chunk attention</a:t>
            </a:r>
            <a:endParaRPr lang="en-US" sz="1100" b="0" u="none" strike="noStrike">
              <a:solidFill>
                <a:srgbClr val="000000"/>
              </a:solidFill>
              <a:effectLst/>
              <a:uFillTx/>
              <a:latin typeface="Arial"/>
            </a:endParaRPr>
          </a:p>
        </p:txBody>
      </p:sp>
      <p:sp>
        <p:nvSpPr>
          <p:cNvPr id="470" name="TextBox 18"/>
          <p:cNvSpPr/>
          <p:nvPr/>
        </p:nvSpPr>
        <p:spPr>
          <a:xfrm>
            <a:off x="9490680" y="2633400"/>
            <a:ext cx="2133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8,322</a:t>
            </a:r>
            <a:endParaRPr lang="en-US" sz="1100" b="0" u="none" strike="noStrike">
              <a:solidFill>
                <a:srgbClr val="000000"/>
              </a:solidFill>
              <a:effectLst/>
              <a:uFillTx/>
              <a:latin typeface="Arial"/>
            </a:endParaRPr>
          </a:p>
        </p:txBody>
      </p:sp>
      <p:sp>
        <p:nvSpPr>
          <p:cNvPr id="471" name="TextBox 19"/>
          <p:cNvSpPr/>
          <p:nvPr/>
        </p:nvSpPr>
        <p:spPr>
          <a:xfrm>
            <a:off x="7113240" y="294444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fusion</a:t>
            </a:r>
            <a:endParaRPr lang="en-US" sz="1100" b="0" u="none" strike="noStrike">
              <a:solidFill>
                <a:srgbClr val="000000"/>
              </a:solidFill>
              <a:effectLst/>
              <a:uFillTx/>
              <a:latin typeface="Arial"/>
            </a:endParaRPr>
          </a:p>
        </p:txBody>
      </p:sp>
      <p:sp>
        <p:nvSpPr>
          <p:cNvPr id="472" name="TextBox 20"/>
          <p:cNvSpPr/>
          <p:nvPr/>
        </p:nvSpPr>
        <p:spPr>
          <a:xfrm>
            <a:off x="9490680" y="2944440"/>
            <a:ext cx="2133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197,120</a:t>
            </a:r>
            <a:endParaRPr lang="en-US" sz="1100" b="0" u="none" strike="noStrike">
              <a:solidFill>
                <a:srgbClr val="000000"/>
              </a:solidFill>
              <a:effectLst/>
              <a:uFillTx/>
              <a:latin typeface="Arial"/>
            </a:endParaRPr>
          </a:p>
        </p:txBody>
      </p:sp>
      <p:sp>
        <p:nvSpPr>
          <p:cNvPr id="473" name="TextBox 21"/>
          <p:cNvSpPr/>
          <p:nvPr/>
        </p:nvSpPr>
        <p:spPr>
          <a:xfrm>
            <a:off x="7113240" y="325512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compression</a:t>
            </a:r>
            <a:endParaRPr lang="en-US" sz="1100" b="0" u="none" strike="noStrike">
              <a:solidFill>
                <a:srgbClr val="000000"/>
              </a:solidFill>
              <a:effectLst/>
              <a:uFillTx/>
              <a:latin typeface="Arial"/>
            </a:endParaRPr>
          </a:p>
        </p:txBody>
      </p:sp>
      <p:sp>
        <p:nvSpPr>
          <p:cNvPr id="474" name="TextBox 22"/>
          <p:cNvSpPr/>
          <p:nvPr/>
        </p:nvSpPr>
        <p:spPr>
          <a:xfrm>
            <a:off x="9490680" y="3255120"/>
            <a:ext cx="2133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16,448</a:t>
            </a:r>
            <a:endParaRPr lang="en-US" sz="1100" b="0" u="none" strike="noStrike">
              <a:solidFill>
                <a:srgbClr val="000000"/>
              </a:solidFill>
              <a:effectLst/>
              <a:uFillTx/>
              <a:latin typeface="Arial"/>
            </a:endParaRPr>
          </a:p>
        </p:txBody>
      </p:sp>
      <p:sp>
        <p:nvSpPr>
          <p:cNvPr id="475" name="TextBox 23"/>
          <p:cNvSpPr/>
          <p:nvPr/>
        </p:nvSpPr>
        <p:spPr>
          <a:xfrm>
            <a:off x="7113240" y="356616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encrypted head</a:t>
            </a:r>
            <a:endParaRPr lang="en-US" sz="1100" b="0" u="none" strike="noStrike">
              <a:solidFill>
                <a:srgbClr val="000000"/>
              </a:solidFill>
              <a:effectLst/>
              <a:uFillTx/>
              <a:latin typeface="Arial"/>
            </a:endParaRPr>
          </a:p>
        </p:txBody>
      </p:sp>
      <p:sp>
        <p:nvSpPr>
          <p:cNvPr id="476" name="TextBox 24"/>
          <p:cNvSpPr/>
          <p:nvPr/>
        </p:nvSpPr>
        <p:spPr>
          <a:xfrm>
            <a:off x="9490680" y="3566160"/>
            <a:ext cx="2133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2,278</a:t>
            </a:r>
            <a:endParaRPr lang="en-US" sz="1100" b="0" u="none" strike="noStrike">
              <a:solidFill>
                <a:srgbClr val="000000"/>
              </a:solidFill>
              <a:effectLst/>
              <a:uFillTx/>
              <a:latin typeface="Arial"/>
            </a:endParaRPr>
          </a:p>
        </p:txBody>
      </p:sp>
      <p:sp>
        <p:nvSpPr>
          <p:cNvPr id="477" name="Rounded Rectangle 25"/>
          <p:cNvSpPr/>
          <p:nvPr/>
        </p:nvSpPr>
        <p:spPr>
          <a:xfrm>
            <a:off x="7021800" y="3826800"/>
            <a:ext cx="4694040" cy="292320"/>
          </a:xfrm>
          <a:prstGeom prst="roundRect">
            <a:avLst>
              <a:gd name="adj" fmla="val 6000"/>
            </a:avLst>
          </a:prstGeom>
          <a:solidFill>
            <a:srgbClr val="16213C"/>
          </a:solidFill>
          <a:ln w="12700">
            <a:solidFill>
              <a:srgbClr val="16213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78" name="TextBox 26"/>
          <p:cNvSpPr/>
          <p:nvPr/>
        </p:nvSpPr>
        <p:spPr>
          <a:xfrm>
            <a:off x="7113240" y="387720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F1F5F9"/>
                </a:solidFill>
                <a:effectLst/>
                <a:uFillTx/>
                <a:latin typeface="Inter"/>
              </a:rPr>
              <a:t>TOTAL</a:t>
            </a:r>
            <a:endParaRPr lang="en-US" sz="1100" b="0" u="none" strike="noStrike">
              <a:solidFill>
                <a:srgbClr val="000000"/>
              </a:solidFill>
              <a:effectLst/>
              <a:uFillTx/>
              <a:latin typeface="Arial"/>
            </a:endParaRPr>
          </a:p>
        </p:txBody>
      </p:sp>
      <p:sp>
        <p:nvSpPr>
          <p:cNvPr id="479" name="TextBox 27"/>
          <p:cNvSpPr/>
          <p:nvPr/>
        </p:nvSpPr>
        <p:spPr>
          <a:xfrm>
            <a:off x="9490680" y="3877200"/>
            <a:ext cx="2133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F1F5F9"/>
                </a:solidFill>
                <a:effectLst/>
                <a:uFillTx/>
                <a:latin typeface="Source Code Pro"/>
              </a:rPr>
              <a:t>4,750,404</a:t>
            </a:r>
            <a:endParaRPr lang="en-US" sz="110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391" dur="indefinite" restart="never" nodeType="tmRoot">
          <p:childTnLst>
            <p:seq>
              <p:cTn id="392" dur="indefinite" nodeType="mainSeq">
                <p:childTnLst>
                  <p:par>
                    <p:cTn id="393" fill="hold">
                      <p:stCondLst>
                        <p:cond delay="indefinite"/>
                      </p:stCondLst>
                      <p:childTnLst>
                        <p:par>
                          <p:cTn id="394" fill="hold">
                            <p:stCondLst>
                              <p:cond delay="0"/>
                            </p:stCondLst>
                            <p:childTnLst>
                              <p:par>
                                <p:cTn id="395" presetID="10" presetClass="entr" fill="hold" nodeType="clickEffect">
                                  <p:stCondLst>
                                    <p:cond delay="0"/>
                                  </p:stCondLst>
                                  <p:childTnLst>
                                    <p:set>
                                      <p:cBhvr>
                                        <p:cTn id="396" dur="1" fill="hold">
                                          <p:stCondLst>
                                            <p:cond delay="0"/>
                                          </p:stCondLst>
                                        </p:cTn>
                                        <p:tgtEl>
                                          <p:spTgt spid="464"/>
                                        </p:tgtEl>
                                        <p:attrNameLst>
                                          <p:attrName>style.visibility</p:attrName>
                                        </p:attrNameLst>
                                      </p:cBhvr>
                                      <p:to>
                                        <p:strVal val="visible"/>
                                      </p:to>
                                    </p:set>
                                    <p:animEffect transition="in" filter="fade">
                                      <p:cBhvr additive="repl">
                                        <p:cTn id="397" dur="350"/>
                                        <p:tgtEl>
                                          <p:spTgt spid="464"/>
                                        </p:tgtEl>
                                      </p:cBhvr>
                                    </p:animEffect>
                                  </p:childTnLst>
                                </p:cTn>
                              </p:par>
                            </p:childTnLst>
                          </p:cTn>
                        </p:par>
                      </p:childTnLst>
                    </p:cTn>
                  </p:par>
                  <p:par>
                    <p:cTn id="398" fill="hold">
                      <p:stCondLst>
                        <p:cond delay="indefinite"/>
                      </p:stCondLst>
                      <p:childTnLst>
                        <p:par>
                          <p:cTn id="399" fill="hold">
                            <p:stCondLst>
                              <p:cond delay="0"/>
                            </p:stCondLst>
                            <p:childTnLst>
                              <p:par>
                                <p:cTn id="400" presetID="10" presetClass="entr" fill="hold" nodeType="afterEffect">
                                  <p:stCondLst>
                                    <p:cond delay="0"/>
                                  </p:stCondLst>
                                  <p:childTnLst>
                                    <p:set>
                                      <p:cBhvr>
                                        <p:cTn id="401" dur="1" fill="hold">
                                          <p:stCondLst>
                                            <p:cond delay="0"/>
                                          </p:stCondLst>
                                        </p:cTn>
                                        <p:tgtEl>
                                          <p:spTgt spid="465"/>
                                        </p:tgtEl>
                                        <p:attrNameLst>
                                          <p:attrName>style.visibility</p:attrName>
                                        </p:attrNameLst>
                                      </p:cBhvr>
                                      <p:to>
                                        <p:strVal val="visible"/>
                                      </p:to>
                                    </p:set>
                                    <p:animEffect transition="in" filter="fade">
                                      <p:cBhvr additive="repl">
                                        <p:cTn id="402" dur="350"/>
                                        <p:tgtEl>
                                          <p:spTgt spid="465"/>
                                        </p:tgtEl>
                                      </p:cBhvr>
                                    </p:animEffect>
                                  </p:childTnLst>
                                </p:cTn>
                              </p:par>
                            </p:childTnLst>
                          </p:cTn>
                        </p:par>
                      </p:childTnLst>
                    </p:cTn>
                  </p:par>
                  <p:par>
                    <p:cTn id="403" fill="hold">
                      <p:stCondLst>
                        <p:cond delay="indefinite"/>
                      </p:stCondLst>
                      <p:childTnLst>
                        <p:par>
                          <p:cTn id="404" fill="hold">
                            <p:stCondLst>
                              <p:cond delay="0"/>
                            </p:stCondLst>
                            <p:childTnLst>
                              <p:par>
                                <p:cTn id="405" presetID="10" presetClass="entr" fill="hold" nodeType="afterEffect">
                                  <p:stCondLst>
                                    <p:cond delay="0"/>
                                  </p:stCondLst>
                                  <p:childTnLst>
                                    <p:set>
                                      <p:cBhvr>
                                        <p:cTn id="406" dur="1" fill="hold">
                                          <p:stCondLst>
                                            <p:cond delay="0"/>
                                          </p:stCondLst>
                                        </p:cTn>
                                        <p:tgtEl>
                                          <p:spTgt spid="466"/>
                                        </p:tgtEl>
                                        <p:attrNameLst>
                                          <p:attrName>style.visibility</p:attrName>
                                        </p:attrNameLst>
                                      </p:cBhvr>
                                      <p:to>
                                        <p:strVal val="visible"/>
                                      </p:to>
                                    </p:set>
                                    <p:animEffect transition="in" filter="fade">
                                      <p:cBhvr additive="repl">
                                        <p:cTn id="407" dur="350"/>
                                        <p:tgtEl>
                                          <p:spTgt spid="466"/>
                                        </p:tgtEl>
                                      </p:cBhvr>
                                    </p:animEffect>
                                  </p:childTnLst>
                                </p:cTn>
                              </p:par>
                            </p:childTnLst>
                          </p:cTn>
                        </p:par>
                      </p:childTnLst>
                    </p:cTn>
                  </p:par>
                  <p:par>
                    <p:cTn id="408" fill="hold">
                      <p:stCondLst>
                        <p:cond delay="indefinite"/>
                      </p:stCondLst>
                      <p:childTnLst>
                        <p:par>
                          <p:cTn id="409" fill="hold">
                            <p:stCondLst>
                              <p:cond delay="0"/>
                            </p:stCondLst>
                            <p:childTnLst>
                              <p:par>
                                <p:cTn id="410" presetID="10" presetClass="entr" fill="hold" nodeType="afterEffect">
                                  <p:stCondLst>
                                    <p:cond delay="0"/>
                                  </p:stCondLst>
                                  <p:childTnLst>
                                    <p:set>
                                      <p:cBhvr>
                                        <p:cTn id="411" dur="1" fill="hold">
                                          <p:stCondLst>
                                            <p:cond delay="0"/>
                                          </p:stCondLst>
                                        </p:cTn>
                                        <p:tgtEl>
                                          <p:spTgt spid="467"/>
                                        </p:tgtEl>
                                        <p:attrNameLst>
                                          <p:attrName>style.visibility</p:attrName>
                                        </p:attrNameLst>
                                      </p:cBhvr>
                                      <p:to>
                                        <p:strVal val="visible"/>
                                      </p:to>
                                    </p:set>
                                    <p:animEffect transition="in" filter="fade">
                                      <p:cBhvr additive="repl">
                                        <p:cTn id="412" dur="350"/>
                                        <p:tgtEl>
                                          <p:spTgt spid="467"/>
                                        </p:tgtEl>
                                      </p:cBhvr>
                                    </p:animEffect>
                                  </p:childTnLst>
                                </p:cTn>
                              </p:par>
                            </p:childTnLst>
                          </p:cTn>
                        </p:par>
                      </p:childTnLst>
                    </p:cTn>
                  </p:par>
                  <p:par>
                    <p:cTn id="413" fill="hold">
                      <p:stCondLst>
                        <p:cond delay="indefinite"/>
                      </p:stCondLst>
                      <p:childTnLst>
                        <p:par>
                          <p:cTn id="414" fill="hold">
                            <p:stCondLst>
                              <p:cond delay="0"/>
                            </p:stCondLst>
                            <p:childTnLst>
                              <p:par>
                                <p:cTn id="415" presetID="10" presetClass="entr" fill="hold" nodeType="afterEffect">
                                  <p:stCondLst>
                                    <p:cond delay="0"/>
                                  </p:stCondLst>
                                  <p:childTnLst>
                                    <p:set>
                                      <p:cBhvr>
                                        <p:cTn id="416" dur="1" fill="hold">
                                          <p:stCondLst>
                                            <p:cond delay="0"/>
                                          </p:stCondLst>
                                        </p:cTn>
                                        <p:tgtEl>
                                          <p:spTgt spid="468"/>
                                        </p:tgtEl>
                                        <p:attrNameLst>
                                          <p:attrName>style.visibility</p:attrName>
                                        </p:attrNameLst>
                                      </p:cBhvr>
                                      <p:to>
                                        <p:strVal val="visible"/>
                                      </p:to>
                                    </p:set>
                                    <p:animEffect transition="in" filter="fade">
                                      <p:cBhvr additive="repl">
                                        <p:cTn id="417" dur="350"/>
                                        <p:tgtEl>
                                          <p:spTgt spid="468"/>
                                        </p:tgtEl>
                                      </p:cBhvr>
                                    </p:animEffect>
                                  </p:childTnLst>
                                </p:cTn>
                              </p:par>
                            </p:childTnLst>
                          </p:cTn>
                        </p:par>
                      </p:childTnLst>
                    </p:cTn>
                  </p:par>
                  <p:par>
                    <p:cTn id="418" fill="hold">
                      <p:stCondLst>
                        <p:cond delay="indefinite"/>
                      </p:stCondLst>
                      <p:childTnLst>
                        <p:par>
                          <p:cTn id="419" fill="hold">
                            <p:stCondLst>
                              <p:cond delay="0"/>
                            </p:stCondLst>
                            <p:childTnLst>
                              <p:par>
                                <p:cTn id="420" presetID="10" presetClass="entr" fill="hold" nodeType="afterEffect">
                                  <p:stCondLst>
                                    <p:cond delay="0"/>
                                  </p:stCondLst>
                                  <p:childTnLst>
                                    <p:set>
                                      <p:cBhvr>
                                        <p:cTn id="421" dur="1" fill="hold">
                                          <p:stCondLst>
                                            <p:cond delay="0"/>
                                          </p:stCondLst>
                                        </p:cTn>
                                        <p:tgtEl>
                                          <p:spTgt spid="469"/>
                                        </p:tgtEl>
                                        <p:attrNameLst>
                                          <p:attrName>style.visibility</p:attrName>
                                        </p:attrNameLst>
                                      </p:cBhvr>
                                      <p:to>
                                        <p:strVal val="visible"/>
                                      </p:to>
                                    </p:set>
                                    <p:animEffect transition="in" filter="fade">
                                      <p:cBhvr additive="repl">
                                        <p:cTn id="422" dur="350"/>
                                        <p:tgtEl>
                                          <p:spTgt spid="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81"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Multi-Scale Local Branch</a:t>
            </a:r>
            <a:endParaRPr lang="en-US" sz="2700" b="0" u="none" strike="noStrike">
              <a:solidFill>
                <a:srgbClr val="000000"/>
              </a:solidFill>
              <a:effectLst/>
              <a:uFillTx/>
              <a:latin typeface="Arial"/>
            </a:endParaRPr>
          </a:p>
        </p:txBody>
      </p:sp>
      <p:sp>
        <p:nvSpPr>
          <p:cNvPr id="482"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Four parallel receptive fields per block, fused by a 1×1 convolution.</a:t>
            </a:r>
            <a:endParaRPr lang="en-US" sz="1300" b="0" u="none" strike="noStrike">
              <a:solidFill>
                <a:srgbClr val="000000"/>
              </a:solidFill>
              <a:effectLst/>
              <a:uFillTx/>
              <a:latin typeface="Arial"/>
            </a:endParaRPr>
          </a:p>
        </p:txBody>
      </p:sp>
      <p:sp>
        <p:nvSpPr>
          <p:cNvPr id="483"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484"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85" name="Rectangle 6"/>
          <p:cNvSpPr/>
          <p:nvPr/>
        </p:nvSpPr>
        <p:spPr>
          <a:xfrm>
            <a:off x="567000" y="6226920"/>
            <a:ext cx="44614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86"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487"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23</a:t>
            </a:r>
            <a:endParaRPr lang="en-US" sz="900" b="0" u="none" strike="noStrike">
              <a:solidFill>
                <a:srgbClr val="000000"/>
              </a:solidFill>
              <a:effectLst/>
              <a:uFillTx/>
              <a:latin typeface="Arial"/>
            </a:endParaRPr>
          </a:p>
        </p:txBody>
      </p:sp>
      <p:pic>
        <p:nvPicPr>
          <p:cNvPr id="488" name="Picture 9" descr="04_multiscale_extraction_1407.png"/>
          <p:cNvPicPr/>
          <p:nvPr/>
        </p:nvPicPr>
        <p:blipFill>
          <a:blip r:embed="rId1"/>
          <a:stretch/>
        </p:blipFill>
        <p:spPr>
          <a:xfrm>
            <a:off x="1808280" y="1581840"/>
            <a:ext cx="857484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90"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Adaptive Chunk Selection</a:t>
            </a:r>
            <a:endParaRPr lang="en-US" sz="2700" b="0" u="none" strike="noStrike">
              <a:solidFill>
                <a:srgbClr val="000000"/>
              </a:solidFill>
              <a:effectLst/>
              <a:uFillTx/>
              <a:latin typeface="Arial"/>
            </a:endParaRPr>
          </a:p>
        </p:txBody>
      </p:sp>
      <p:sp>
        <p:nvSpPr>
          <p:cNvPr id="491"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250" b="0" u="none" strike="noStrike">
                <a:solidFill>
                  <a:srgbClr val="94A3B8"/>
                </a:solidFill>
                <a:effectLst/>
                <a:uFillTx/>
                <a:latin typeface="Inter"/>
              </a:rPr>
              <a:t>The base paper's rule is photometric and non-differentiable; ours is learned and conditioned on it.</a:t>
            </a:r>
            <a:endParaRPr lang="en-US" sz="1250" b="0" u="none" strike="noStrike">
              <a:solidFill>
                <a:srgbClr val="000000"/>
              </a:solidFill>
              <a:effectLst/>
              <a:uFillTx/>
              <a:latin typeface="Arial"/>
            </a:endParaRPr>
          </a:p>
        </p:txBody>
      </p:sp>
      <p:sp>
        <p:nvSpPr>
          <p:cNvPr id="492" name="Rectangle 4"/>
          <p:cNvSpPr/>
          <p:nvPr/>
        </p:nvSpPr>
        <p:spPr>
          <a:xfrm>
            <a:off x="567000" y="17190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493"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94" name="Rectangle 6"/>
          <p:cNvSpPr/>
          <p:nvPr/>
        </p:nvSpPr>
        <p:spPr>
          <a:xfrm>
            <a:off x="567000" y="6226920"/>
            <a:ext cx="46555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495"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496"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24</a:t>
            </a:r>
            <a:endParaRPr lang="en-US" sz="900" b="0" u="none" strike="noStrike">
              <a:solidFill>
                <a:srgbClr val="000000"/>
              </a:solidFill>
              <a:effectLst/>
              <a:uFillTx/>
              <a:latin typeface="Arial"/>
            </a:endParaRPr>
          </a:p>
        </p:txBody>
      </p:sp>
      <p:pic>
        <p:nvPicPr>
          <p:cNvPr id="497" name="Picture 9" descr="05_adaptive_chunk_selection_1386.png"/>
          <p:cNvPicPr/>
          <p:nvPr/>
        </p:nvPicPr>
        <p:blipFill>
          <a:blip r:embed="rId1"/>
          <a:stretch/>
        </p:blipFill>
        <p:spPr>
          <a:xfrm>
            <a:off x="1872360" y="1581840"/>
            <a:ext cx="844632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499"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Chunk Attention Mechanism</a:t>
            </a:r>
            <a:endParaRPr lang="en-US" sz="2700" b="0" u="none" strike="noStrike">
              <a:solidFill>
                <a:srgbClr val="000000"/>
              </a:solidFill>
              <a:effectLst/>
              <a:uFillTx/>
              <a:latin typeface="Arial"/>
            </a:endParaRPr>
          </a:p>
        </p:txBody>
      </p:sp>
      <p:sp>
        <p:nvSpPr>
          <p:cNvPr id="500"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Soft, differentiable selection over the 4×4 chunk grid.</a:t>
            </a:r>
            <a:endParaRPr lang="en-US" sz="1300" b="0" u="none" strike="noStrike">
              <a:solidFill>
                <a:srgbClr val="000000"/>
              </a:solidFill>
              <a:effectLst/>
              <a:uFillTx/>
              <a:latin typeface="Arial"/>
            </a:endParaRPr>
          </a:p>
        </p:txBody>
      </p:sp>
      <p:sp>
        <p:nvSpPr>
          <p:cNvPr id="501"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502"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03" name="Rectangle 6"/>
          <p:cNvSpPr/>
          <p:nvPr/>
        </p:nvSpPr>
        <p:spPr>
          <a:xfrm>
            <a:off x="567000" y="6226920"/>
            <a:ext cx="48495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04"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505"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25</a:t>
            </a:r>
            <a:endParaRPr lang="en-US" sz="900" b="0" u="none" strike="noStrike">
              <a:solidFill>
                <a:srgbClr val="000000"/>
              </a:solidFill>
              <a:effectLst/>
              <a:uFillTx/>
              <a:latin typeface="Arial"/>
            </a:endParaRPr>
          </a:p>
        </p:txBody>
      </p:sp>
      <p:pic>
        <p:nvPicPr>
          <p:cNvPr id="506" name="Picture 9" descr="06_attention_mechanism_1407.png"/>
          <p:cNvPicPr/>
          <p:nvPr/>
        </p:nvPicPr>
        <p:blipFill>
          <a:blip r:embed="rId1"/>
          <a:stretch/>
        </p:blipFill>
        <p:spPr>
          <a:xfrm>
            <a:off x="1808280" y="1581840"/>
            <a:ext cx="857484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08"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Gated Feature Fusion</a:t>
            </a:r>
            <a:endParaRPr lang="en-US" sz="2700" b="0" u="none" strike="noStrike">
              <a:solidFill>
                <a:srgbClr val="000000"/>
              </a:solidFill>
              <a:effectLst/>
              <a:uFillTx/>
              <a:latin typeface="Arial"/>
            </a:endParaRPr>
          </a:p>
        </p:txBody>
      </p:sp>
      <p:sp>
        <p:nvSpPr>
          <p:cNvPr id="509"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A channel-wise gate, not a scalar weight.</a:t>
            </a:r>
            <a:endParaRPr lang="en-US" sz="1300" b="0" u="none" strike="noStrike">
              <a:solidFill>
                <a:srgbClr val="000000"/>
              </a:solidFill>
              <a:effectLst/>
              <a:uFillTx/>
              <a:latin typeface="Arial"/>
            </a:endParaRPr>
          </a:p>
        </p:txBody>
      </p:sp>
      <p:sp>
        <p:nvSpPr>
          <p:cNvPr id="510"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511"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12" name="Rectangle 6"/>
          <p:cNvSpPr/>
          <p:nvPr/>
        </p:nvSpPr>
        <p:spPr>
          <a:xfrm>
            <a:off x="567000" y="6226920"/>
            <a:ext cx="50436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13"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514"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26</a:t>
            </a:r>
            <a:endParaRPr lang="en-US" sz="900" b="0" u="none" strike="noStrike">
              <a:solidFill>
                <a:srgbClr val="000000"/>
              </a:solidFill>
              <a:effectLst/>
              <a:uFillTx/>
              <a:latin typeface="Arial"/>
            </a:endParaRPr>
          </a:p>
        </p:txBody>
      </p:sp>
      <p:pic>
        <p:nvPicPr>
          <p:cNvPr id="515" name="Picture 9" descr="07_gated_fusion_1394.png"/>
          <p:cNvPicPr/>
          <p:nvPr/>
        </p:nvPicPr>
        <p:blipFill>
          <a:blip r:embed="rId1"/>
          <a:stretch/>
        </p:blipFill>
        <p:spPr>
          <a:xfrm>
            <a:off x="1845720" y="1581840"/>
            <a:ext cx="850032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17"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Feature Compression</a:t>
            </a:r>
            <a:endParaRPr lang="en-US" sz="2700" b="0" u="none" strike="noStrike">
              <a:solidFill>
                <a:srgbClr val="000000"/>
              </a:solidFill>
              <a:effectLst/>
              <a:uFillTx/>
              <a:latin typeface="Arial"/>
            </a:endParaRPr>
          </a:p>
        </p:txBody>
      </p:sp>
      <p:sp>
        <p:nvSpPr>
          <p:cNvPr id="518"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The compressed width d is the encryption-cost lever.</a:t>
            </a:r>
            <a:endParaRPr lang="en-US" sz="1300" b="0" u="none" strike="noStrike">
              <a:solidFill>
                <a:srgbClr val="000000"/>
              </a:solidFill>
              <a:effectLst/>
              <a:uFillTx/>
              <a:latin typeface="Arial"/>
            </a:endParaRPr>
          </a:p>
        </p:txBody>
      </p:sp>
      <p:sp>
        <p:nvSpPr>
          <p:cNvPr id="519"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520"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21" name="Rectangle 6"/>
          <p:cNvSpPr/>
          <p:nvPr/>
        </p:nvSpPr>
        <p:spPr>
          <a:xfrm>
            <a:off x="567000" y="6226920"/>
            <a:ext cx="52376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22"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523"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27</a:t>
            </a:r>
            <a:endParaRPr lang="en-US" sz="900" b="0" u="none" strike="noStrike">
              <a:solidFill>
                <a:srgbClr val="000000"/>
              </a:solidFill>
              <a:effectLst/>
              <a:uFillTx/>
              <a:latin typeface="Arial"/>
            </a:endParaRPr>
          </a:p>
        </p:txBody>
      </p:sp>
      <p:pic>
        <p:nvPicPr>
          <p:cNvPr id="524" name="Picture 9" descr="08_feature_compression_1514.png"/>
          <p:cNvPicPr/>
          <p:nvPr/>
        </p:nvPicPr>
        <p:blipFill>
          <a:blip r:embed="rId1"/>
          <a:stretch/>
        </p:blipFill>
        <p:spPr>
          <a:xfrm>
            <a:off x="1482120" y="1581840"/>
            <a:ext cx="922680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26"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CKKS Encryption</a:t>
            </a:r>
            <a:endParaRPr lang="en-US" sz="2700" b="0" u="none" strike="noStrike">
              <a:solidFill>
                <a:srgbClr val="000000"/>
              </a:solidFill>
              <a:effectLst/>
              <a:uFillTx/>
              <a:latin typeface="Arial"/>
            </a:endParaRPr>
          </a:p>
        </p:txBody>
      </p:sp>
      <p:sp>
        <p:nvSpPr>
          <p:cNvPr id="527"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A five-prime modulus chain supports exactly the three multiplications the head needs.</a:t>
            </a:r>
            <a:endParaRPr lang="en-US" sz="1300" b="0" u="none" strike="noStrike">
              <a:solidFill>
                <a:srgbClr val="000000"/>
              </a:solidFill>
              <a:effectLst/>
              <a:uFillTx/>
              <a:latin typeface="Arial"/>
            </a:endParaRPr>
          </a:p>
        </p:txBody>
      </p:sp>
      <p:sp>
        <p:nvSpPr>
          <p:cNvPr id="528"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529"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30" name="Rectangle 6"/>
          <p:cNvSpPr/>
          <p:nvPr/>
        </p:nvSpPr>
        <p:spPr>
          <a:xfrm>
            <a:off x="567000" y="6226920"/>
            <a:ext cx="54316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31"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532"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28</a:t>
            </a:r>
            <a:endParaRPr lang="en-US" sz="900" b="0" u="none" strike="noStrike">
              <a:solidFill>
                <a:srgbClr val="000000"/>
              </a:solidFill>
              <a:effectLst/>
              <a:uFillTx/>
              <a:latin typeface="Arial"/>
            </a:endParaRPr>
          </a:p>
        </p:txBody>
      </p:sp>
      <p:pic>
        <p:nvPicPr>
          <p:cNvPr id="533" name="Picture 9" descr="09_ckks_workflow_1418.png"/>
          <p:cNvPicPr/>
          <p:nvPr/>
        </p:nvPicPr>
        <p:blipFill>
          <a:blip r:embed="rId1"/>
          <a:stretch/>
        </p:blipFill>
        <p:spPr>
          <a:xfrm>
            <a:off x="1774080" y="1581840"/>
            <a:ext cx="864288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35"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Encrypted Inference Workflow</a:t>
            </a:r>
            <a:endParaRPr lang="en-US" sz="2700" b="0" u="none" strike="noStrike">
              <a:solidFill>
                <a:srgbClr val="000000"/>
              </a:solidFill>
              <a:effectLst/>
              <a:uFillTx/>
              <a:latin typeface="Arial"/>
            </a:endParaRPr>
          </a:p>
        </p:txBody>
      </p:sp>
      <p:sp>
        <p:nvSpPr>
          <p:cNvPr id="536"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Honest-but-curious server; the secret key never leaves the client.</a:t>
            </a:r>
            <a:endParaRPr lang="en-US" sz="1300" b="0" u="none" strike="noStrike">
              <a:solidFill>
                <a:srgbClr val="000000"/>
              </a:solidFill>
              <a:effectLst/>
              <a:uFillTx/>
              <a:latin typeface="Arial"/>
            </a:endParaRPr>
          </a:p>
        </p:txBody>
      </p:sp>
      <p:sp>
        <p:nvSpPr>
          <p:cNvPr id="537"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538"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39" name="Rectangle 6"/>
          <p:cNvSpPr/>
          <p:nvPr/>
        </p:nvSpPr>
        <p:spPr>
          <a:xfrm>
            <a:off x="567000" y="6226920"/>
            <a:ext cx="56257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40"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541"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29</a:t>
            </a:r>
            <a:endParaRPr lang="en-US" sz="900" b="0" u="none" strike="noStrike">
              <a:solidFill>
                <a:srgbClr val="000000"/>
              </a:solidFill>
              <a:effectLst/>
              <a:uFillTx/>
              <a:latin typeface="Arial"/>
            </a:endParaRPr>
          </a:p>
        </p:txBody>
      </p:sp>
      <p:pic>
        <p:nvPicPr>
          <p:cNvPr id="542" name="Picture 9" descr="10_client_server_protocol_1325.png"/>
          <p:cNvPicPr/>
          <p:nvPr/>
        </p:nvPicPr>
        <p:blipFill>
          <a:blip r:embed="rId1"/>
          <a:stretch/>
        </p:blipFill>
        <p:spPr>
          <a:xfrm>
            <a:off x="2055960" y="1581840"/>
            <a:ext cx="8079120" cy="45716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44"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Training Methodology</a:t>
            </a:r>
            <a:endParaRPr lang="en-US" sz="2700" b="0" u="none" strike="noStrike">
              <a:solidFill>
                <a:srgbClr val="000000"/>
              </a:solidFill>
              <a:effectLst/>
              <a:uFillTx/>
              <a:latin typeface="Arial"/>
            </a:endParaRPr>
          </a:p>
        </p:txBody>
      </p:sp>
      <p:sp>
        <p:nvSpPr>
          <p:cNvPr id="545"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546"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47" name="Rectangle 5"/>
          <p:cNvSpPr/>
          <p:nvPr/>
        </p:nvSpPr>
        <p:spPr>
          <a:xfrm>
            <a:off x="567000" y="6226920"/>
            <a:ext cx="58194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48"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549"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30</a:t>
            </a:r>
            <a:endParaRPr lang="en-US" sz="900" b="0" u="none" strike="noStrike">
              <a:solidFill>
                <a:srgbClr val="000000"/>
              </a:solidFill>
              <a:effectLst/>
              <a:uFillTx/>
              <a:latin typeface="Arial"/>
            </a:endParaRPr>
          </a:p>
        </p:txBody>
      </p:sp>
      <p:sp>
        <p:nvSpPr>
          <p:cNvPr id="550" name="TextBox 8"/>
          <p:cNvSpPr/>
          <p:nvPr/>
        </p:nvSpPr>
        <p:spPr>
          <a:xfrm>
            <a:off x="567000" y="1627560"/>
            <a:ext cx="5446440" cy="329148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Optimiser. </a:t>
            </a:r>
            <a:r>
              <a:rPr lang="en-US" sz="1250" b="0" u="none" strike="noStrike">
                <a:solidFill>
                  <a:srgbClr val="CBD5E1"/>
                </a:solidFill>
                <a:effectLst/>
                <a:uFillTx/>
                <a:latin typeface="Inter"/>
              </a:rPr>
              <a:t>AdamW, cosine schedule with linear warm-up, gradient clipping at 5.0.</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Loss. </a:t>
            </a:r>
            <a:r>
              <a:rPr lang="en-US" sz="1250" b="0" u="none" strike="noStrike">
                <a:solidFill>
                  <a:srgbClr val="CBD5E1"/>
                </a:solidFill>
                <a:effectLst/>
                <a:uFillTx/>
                <a:latin typeface="Inter"/>
              </a:rPr>
              <a:t>Cross-entropy with 0.05 label smoothing.</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Selection. </a:t>
            </a:r>
            <a:r>
              <a:rPr lang="en-US" sz="1250" b="0" u="none" strike="noStrike">
                <a:solidFill>
                  <a:srgbClr val="CBD5E1"/>
                </a:solidFill>
                <a:effectLst/>
                <a:uFillTx/>
                <a:latin typeface="Inter"/>
              </a:rPr>
              <a:t>Validation macro-F1, with validation loss as tiebreak — NEU-CLS saturates macro-F1 within a couple of epochs, so the tiebreak is what picks a well-calibrated model rather than the first lucky epoch.</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Hygiene. </a:t>
            </a:r>
            <a:r>
              <a:rPr lang="en-US" sz="1250" b="0" u="none" strike="noStrike">
                <a:solidFill>
                  <a:srgbClr val="CBD5E1"/>
                </a:solidFill>
                <a:effectLst/>
                <a:uFillTx/>
                <a:latin typeface="Inter"/>
              </a:rPr>
              <a:t>Fixed seeds, saved split manifests, resumable checkpoints; the test split is read exactly once, after selection.</a:t>
            </a:r>
            <a:endParaRPr lang="en-US" sz="1250" b="0" u="none" strike="noStrike">
              <a:solidFill>
                <a:srgbClr val="000000"/>
              </a:solidFill>
              <a:effectLst/>
              <a:uFillTx/>
              <a:latin typeface="Arial"/>
            </a:endParaRPr>
          </a:p>
        </p:txBody>
      </p:sp>
      <p:pic>
        <p:nvPicPr>
          <p:cNvPr id="551" name="Picture 9" descr="11_training_workflow_801.png"/>
          <p:cNvPicPr/>
          <p:nvPr/>
        </p:nvPicPr>
        <p:blipFill>
          <a:blip r:embed="rId1"/>
          <a:stretch/>
        </p:blipFill>
        <p:spPr>
          <a:xfrm>
            <a:off x="6739200" y="2406240"/>
            <a:ext cx="4885200" cy="2465640"/>
          </a:xfrm>
          <a:prstGeom prst="rect">
            <a:avLst/>
          </a:prstGeom>
          <a:noFill/>
          <a:ln w="0">
            <a:noFill/>
          </a:ln>
        </p:spPr>
      </p:pic>
    </p:spTree>
  </p:cSld>
  <mc:AlternateContent>
    <mc:Choice Requires="p14">
      <p:transition p14:dur="400">
        <p:fade/>
      </p:transition>
    </mc:Choice>
    <mc:Fallback>
      <p:transition>
        <p:fade/>
      </p:transition>
    </mc:Fallback>
  </mc:AlternateContent>
  <p:timing>
    <p:tnLst>
      <p:par>
        <p:cTn id="423" dur="indefinite" restart="never" nodeType="tmRoot">
          <p:childTnLst>
            <p:seq>
              <p:cTn id="424" dur="indefinite" nodeType="mainSeq">
                <p:childTnLst>
                  <p:par>
                    <p:cTn id="425" fill="hold">
                      <p:stCondLst>
                        <p:cond delay="indefinite"/>
                      </p:stCondLst>
                      <p:childTnLst>
                        <p:par>
                          <p:cTn id="426" fill="hold">
                            <p:stCondLst>
                              <p:cond delay="0"/>
                            </p:stCondLst>
                            <p:childTnLst>
                              <p:par>
                                <p:cTn id="427" presetID="10" presetClass="entr" fill="hold" nodeType="clickEffect">
                                  <p:stCondLst>
                                    <p:cond delay="0"/>
                                  </p:stCondLst>
                                  <p:childTnLst>
                                    <p:set>
                                      <p:cBhvr>
                                        <p:cTn id="428" dur="1" fill="hold">
                                          <p:stCondLst>
                                            <p:cond delay="0"/>
                                          </p:stCondLst>
                                        </p:cTn>
                                        <p:tgtEl>
                                          <p:spTgt spid="551"/>
                                        </p:tgtEl>
                                        <p:attrNameLst>
                                          <p:attrName>style.visibility</p:attrName>
                                        </p:attrNameLst>
                                      </p:cBhvr>
                                      <p:to>
                                        <p:strVal val="visible"/>
                                      </p:to>
                                    </p:set>
                                    <p:animEffect transition="in" filter="fade">
                                      <p:cBhvr additive="repl">
                                        <p:cTn id="429" dur="350"/>
                                        <p:tgtEl>
                                          <p:spTgt spid="5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53"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Experimental Configuration</a:t>
            </a:r>
            <a:endParaRPr lang="en-US" sz="2700" b="0" u="none" strike="noStrike">
              <a:solidFill>
                <a:srgbClr val="000000"/>
              </a:solidFill>
              <a:effectLst/>
              <a:uFillTx/>
              <a:latin typeface="Arial"/>
            </a:endParaRPr>
          </a:p>
        </p:txBody>
      </p:sp>
      <p:sp>
        <p:nvSpPr>
          <p:cNvPr id="554"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Identical data and protocol for both models</a:t>
            </a:r>
            <a:endParaRPr lang="en-US" sz="1300" b="0" u="none" strike="noStrike">
              <a:solidFill>
                <a:srgbClr val="000000"/>
              </a:solidFill>
              <a:effectLst/>
              <a:uFillTx/>
              <a:latin typeface="Arial"/>
            </a:endParaRPr>
          </a:p>
        </p:txBody>
      </p:sp>
      <p:sp>
        <p:nvSpPr>
          <p:cNvPr id="555"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556"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57" name="Rectangle 6"/>
          <p:cNvSpPr/>
          <p:nvPr/>
        </p:nvSpPr>
        <p:spPr>
          <a:xfrm>
            <a:off x="567000" y="6226920"/>
            <a:ext cx="60134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58"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559"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31</a:t>
            </a:r>
            <a:endParaRPr lang="en-US" sz="900" b="0" u="none" strike="noStrike">
              <a:solidFill>
                <a:srgbClr val="000000"/>
              </a:solidFill>
              <a:effectLst/>
              <a:uFillTx/>
              <a:latin typeface="Arial"/>
            </a:endParaRPr>
          </a:p>
        </p:txBody>
      </p:sp>
      <p:sp>
        <p:nvSpPr>
          <p:cNvPr id="560" name="TextBox 9"/>
          <p:cNvSpPr/>
          <p:nvPr/>
        </p:nvSpPr>
        <p:spPr>
          <a:xfrm>
            <a:off x="567000" y="162756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setting</a:t>
            </a:r>
            <a:endParaRPr lang="en-US" sz="1050" b="0" u="none" strike="noStrike">
              <a:solidFill>
                <a:srgbClr val="000000"/>
              </a:solidFill>
              <a:effectLst/>
              <a:uFillTx/>
              <a:latin typeface="Arial"/>
            </a:endParaRPr>
          </a:p>
        </p:txBody>
      </p:sp>
      <p:sp>
        <p:nvSpPr>
          <p:cNvPr id="561" name="TextBox 10"/>
          <p:cNvSpPr/>
          <p:nvPr/>
        </p:nvSpPr>
        <p:spPr>
          <a:xfrm>
            <a:off x="2944440" y="1627560"/>
            <a:ext cx="40039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value</a:t>
            </a:r>
            <a:endParaRPr lang="en-US" sz="1050" b="0" u="none" strike="noStrike">
              <a:solidFill>
                <a:srgbClr val="000000"/>
              </a:solidFill>
              <a:effectLst/>
              <a:uFillTx/>
              <a:latin typeface="Arial"/>
            </a:endParaRPr>
          </a:p>
        </p:txBody>
      </p:sp>
      <p:sp>
        <p:nvSpPr>
          <p:cNvPr id="562" name="Rectangle 11"/>
          <p:cNvSpPr/>
          <p:nvPr/>
        </p:nvSpPr>
        <p:spPr>
          <a:xfrm>
            <a:off x="567000" y="1920240"/>
            <a:ext cx="638136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563" name="TextBox 12"/>
          <p:cNvSpPr/>
          <p:nvPr/>
        </p:nvSpPr>
        <p:spPr>
          <a:xfrm>
            <a:off x="567000" y="201168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dataset</a:t>
            </a:r>
            <a:endParaRPr lang="en-US" sz="1150" b="0" u="none" strike="noStrike">
              <a:solidFill>
                <a:srgbClr val="000000"/>
              </a:solidFill>
              <a:effectLst/>
              <a:uFillTx/>
              <a:latin typeface="Arial"/>
            </a:endParaRPr>
          </a:p>
        </p:txBody>
      </p:sp>
      <p:sp>
        <p:nvSpPr>
          <p:cNvPr id="564" name="TextBox 13"/>
          <p:cNvSpPr/>
          <p:nvPr/>
        </p:nvSpPr>
        <p:spPr>
          <a:xfrm>
            <a:off x="2944440" y="2011680"/>
            <a:ext cx="40039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NEU-CLS, 1799 images after deduplication</a:t>
            </a:r>
            <a:endParaRPr lang="en-US" sz="1150" b="0" u="none" strike="noStrike">
              <a:solidFill>
                <a:srgbClr val="000000"/>
              </a:solidFill>
              <a:effectLst/>
              <a:uFillTx/>
              <a:latin typeface="Arial"/>
            </a:endParaRPr>
          </a:p>
        </p:txBody>
      </p:sp>
      <p:sp>
        <p:nvSpPr>
          <p:cNvPr id="565" name="TextBox 14"/>
          <p:cNvSpPr/>
          <p:nvPr/>
        </p:nvSpPr>
        <p:spPr>
          <a:xfrm>
            <a:off x="567000" y="232272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split</a:t>
            </a:r>
            <a:endParaRPr lang="en-US" sz="1150" b="0" u="none" strike="noStrike">
              <a:solidFill>
                <a:srgbClr val="000000"/>
              </a:solidFill>
              <a:effectLst/>
              <a:uFillTx/>
              <a:latin typeface="Arial"/>
            </a:endParaRPr>
          </a:p>
        </p:txBody>
      </p:sp>
      <p:sp>
        <p:nvSpPr>
          <p:cNvPr id="566" name="TextBox 15"/>
          <p:cNvSpPr/>
          <p:nvPr/>
        </p:nvSpPr>
        <p:spPr>
          <a:xfrm>
            <a:off x="2944440" y="2322720"/>
            <a:ext cx="40039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1223 train / 216 val / 360 test, stratified, seed 1337</a:t>
            </a:r>
            <a:endParaRPr lang="en-US" sz="1150" b="0" u="none" strike="noStrike">
              <a:solidFill>
                <a:srgbClr val="000000"/>
              </a:solidFill>
              <a:effectLst/>
              <a:uFillTx/>
              <a:latin typeface="Arial"/>
            </a:endParaRPr>
          </a:p>
        </p:txBody>
      </p:sp>
      <p:sp>
        <p:nvSpPr>
          <p:cNvPr id="567" name="TextBox 16"/>
          <p:cNvSpPr/>
          <p:nvPr/>
        </p:nvSpPr>
        <p:spPr>
          <a:xfrm>
            <a:off x="567000" y="263340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seeds</a:t>
            </a:r>
            <a:endParaRPr lang="en-US" sz="1150" b="0" u="none" strike="noStrike">
              <a:solidFill>
                <a:srgbClr val="000000"/>
              </a:solidFill>
              <a:effectLst/>
              <a:uFillTx/>
              <a:latin typeface="Arial"/>
            </a:endParaRPr>
          </a:p>
        </p:txBody>
      </p:sp>
      <p:sp>
        <p:nvSpPr>
          <p:cNvPr id="568" name="TextBox 17"/>
          <p:cNvSpPr/>
          <p:nvPr/>
        </p:nvSpPr>
        <p:spPr>
          <a:xfrm>
            <a:off x="2944440" y="2633400"/>
            <a:ext cx="40039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3 independent training seeds per architecture</a:t>
            </a:r>
            <a:endParaRPr lang="en-US" sz="1150" b="0" u="none" strike="noStrike">
              <a:solidFill>
                <a:srgbClr val="000000"/>
              </a:solidFill>
              <a:effectLst/>
              <a:uFillTx/>
              <a:latin typeface="Arial"/>
            </a:endParaRPr>
          </a:p>
        </p:txBody>
      </p:sp>
      <p:sp>
        <p:nvSpPr>
          <p:cNvPr id="569" name="TextBox 18"/>
          <p:cNvSpPr/>
          <p:nvPr/>
        </p:nvSpPr>
        <p:spPr>
          <a:xfrm>
            <a:off x="567000" y="294444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SAGE-HE input</a:t>
            </a:r>
            <a:endParaRPr lang="en-US" sz="1150" b="0" u="none" strike="noStrike">
              <a:solidFill>
                <a:srgbClr val="000000"/>
              </a:solidFill>
              <a:effectLst/>
              <a:uFillTx/>
              <a:latin typeface="Arial"/>
            </a:endParaRPr>
          </a:p>
        </p:txBody>
      </p:sp>
      <p:sp>
        <p:nvSpPr>
          <p:cNvPr id="570" name="TextBox 19"/>
          <p:cNvSpPr/>
          <p:nvPr/>
        </p:nvSpPr>
        <p:spPr>
          <a:xfrm>
            <a:off x="2944440" y="2944440"/>
            <a:ext cx="40039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160×160, CLAHE</a:t>
            </a:r>
            <a:endParaRPr lang="en-US" sz="1150" b="0" u="none" strike="noStrike">
              <a:solidFill>
                <a:srgbClr val="000000"/>
              </a:solidFill>
              <a:effectLst/>
              <a:uFillTx/>
              <a:latin typeface="Arial"/>
            </a:endParaRPr>
          </a:p>
        </p:txBody>
      </p:sp>
      <p:sp>
        <p:nvSpPr>
          <p:cNvPr id="571" name="TextBox 20"/>
          <p:cNvSpPr/>
          <p:nvPr/>
        </p:nvSpPr>
        <p:spPr>
          <a:xfrm>
            <a:off x="567000" y="325512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baseline input</a:t>
            </a:r>
            <a:endParaRPr lang="en-US" sz="1150" b="0" u="none" strike="noStrike">
              <a:solidFill>
                <a:srgbClr val="000000"/>
              </a:solidFill>
              <a:effectLst/>
              <a:uFillTx/>
              <a:latin typeface="Arial"/>
            </a:endParaRPr>
          </a:p>
        </p:txBody>
      </p:sp>
      <p:sp>
        <p:nvSpPr>
          <p:cNvPr id="572" name="TextBox 21"/>
          <p:cNvSpPr/>
          <p:nvPr/>
        </p:nvSpPr>
        <p:spPr>
          <a:xfrm>
            <a:off x="2944440" y="3255120"/>
            <a:ext cx="40039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112×112, histogram equalisation (as published)</a:t>
            </a:r>
            <a:endParaRPr lang="en-US" sz="1150" b="0" u="none" strike="noStrike">
              <a:solidFill>
                <a:srgbClr val="000000"/>
              </a:solidFill>
              <a:effectLst/>
              <a:uFillTx/>
              <a:latin typeface="Arial"/>
            </a:endParaRPr>
          </a:p>
        </p:txBody>
      </p:sp>
      <p:sp>
        <p:nvSpPr>
          <p:cNvPr id="573" name="TextBox 22"/>
          <p:cNvSpPr/>
          <p:nvPr/>
        </p:nvSpPr>
        <p:spPr>
          <a:xfrm>
            <a:off x="567000" y="356616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hardware</a:t>
            </a:r>
            <a:endParaRPr lang="en-US" sz="1150" b="0" u="none" strike="noStrike">
              <a:solidFill>
                <a:srgbClr val="000000"/>
              </a:solidFill>
              <a:effectLst/>
              <a:uFillTx/>
              <a:latin typeface="Arial"/>
            </a:endParaRPr>
          </a:p>
        </p:txBody>
      </p:sp>
      <p:sp>
        <p:nvSpPr>
          <p:cNvPr id="574" name="TextBox 23"/>
          <p:cNvSpPr/>
          <p:nvPr/>
        </p:nvSpPr>
        <p:spPr>
          <a:xfrm>
            <a:off x="2944440" y="3566160"/>
            <a:ext cx="40039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4-vCPU x86-64, no GPU — all timings are CPU timings</a:t>
            </a:r>
            <a:endParaRPr lang="en-US" sz="1150" b="0" u="none" strike="noStrike">
              <a:solidFill>
                <a:srgbClr val="000000"/>
              </a:solidFill>
              <a:effectLst/>
              <a:uFillTx/>
              <a:latin typeface="Arial"/>
            </a:endParaRPr>
          </a:p>
        </p:txBody>
      </p:sp>
      <p:sp>
        <p:nvSpPr>
          <p:cNvPr id="575" name="TextBox 24"/>
          <p:cNvSpPr/>
          <p:nvPr/>
        </p:nvSpPr>
        <p:spPr>
          <a:xfrm>
            <a:off x="567000" y="387720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CKKS</a:t>
            </a:r>
            <a:endParaRPr lang="en-US" sz="1150" b="0" u="none" strike="noStrike">
              <a:solidFill>
                <a:srgbClr val="000000"/>
              </a:solidFill>
              <a:effectLst/>
              <a:uFillTx/>
              <a:latin typeface="Arial"/>
            </a:endParaRPr>
          </a:p>
        </p:txBody>
      </p:sp>
      <p:sp>
        <p:nvSpPr>
          <p:cNvPr id="576" name="TextBox 25"/>
          <p:cNvSpPr/>
          <p:nvPr/>
        </p:nvSpPr>
        <p:spPr>
          <a:xfrm>
            <a:off x="2944440" y="3877200"/>
            <a:ext cx="40039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n=16384, [60,40,40,40,60], scale 2⁴⁰, depth 3</a:t>
            </a:r>
            <a:endParaRPr lang="en-US" sz="1150" b="0" u="none" strike="noStrike">
              <a:solidFill>
                <a:srgbClr val="000000"/>
              </a:solidFill>
              <a:effectLst/>
              <a:uFillTx/>
              <a:latin typeface="Arial"/>
            </a:endParaRPr>
          </a:p>
        </p:txBody>
      </p:sp>
      <p:sp>
        <p:nvSpPr>
          <p:cNvPr id="577" name="Rounded Rectangle 26"/>
          <p:cNvSpPr/>
          <p:nvPr/>
        </p:nvSpPr>
        <p:spPr>
          <a:xfrm>
            <a:off x="8048520" y="1627560"/>
            <a:ext cx="3575880" cy="219420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78" name="Rectangle 27"/>
          <p:cNvSpPr/>
          <p:nvPr/>
        </p:nvSpPr>
        <p:spPr>
          <a:xfrm>
            <a:off x="8048520" y="1627560"/>
            <a:ext cx="40680" cy="219420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79" name="TextBox 28"/>
          <p:cNvSpPr/>
          <p:nvPr/>
        </p:nvSpPr>
        <p:spPr>
          <a:xfrm>
            <a:off x="8268120" y="1764720"/>
            <a:ext cx="31554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No GPU was used</a:t>
            </a:r>
            <a:endParaRPr lang="en-US" sz="1150" b="0" u="none" strike="noStrike">
              <a:solidFill>
                <a:srgbClr val="000000"/>
              </a:solidFill>
              <a:effectLst/>
              <a:uFillTx/>
              <a:latin typeface="Arial"/>
            </a:endParaRPr>
          </a:p>
        </p:txBody>
      </p:sp>
      <p:sp>
        <p:nvSpPr>
          <p:cNvPr id="580" name="TextBox 29"/>
          <p:cNvSpPr/>
          <p:nvPr/>
        </p:nvSpPr>
        <p:spPr>
          <a:xfrm>
            <a:off x="8268120" y="2103120"/>
            <a:ext cx="3155400" cy="157248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project brief specifies GPU training. None was available, so every model was trained on CPU and every latency is a CPU latency. Reported rather than papered over; the code selects CUDA automatically where present.</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430" dur="indefinite" restart="never" nodeType="tmRoot">
          <p:childTnLst>
            <p:seq>
              <p:cTn id="431" dur="indefinite" nodeType="mainSeq">
                <p:childTnLst>
                  <p:par>
                    <p:cTn id="432" fill="hold">
                      <p:stCondLst>
                        <p:cond delay="indefinite"/>
                      </p:stCondLst>
                      <p:childTnLst>
                        <p:par>
                          <p:cTn id="433" fill="hold">
                            <p:stCondLst>
                              <p:cond delay="0"/>
                            </p:stCondLst>
                            <p:childTnLst>
                              <p:par>
                                <p:cTn id="434" presetID="10" presetClass="entr" fill="hold" nodeType="clickEffect">
                                  <p:stCondLst>
                                    <p:cond delay="0"/>
                                  </p:stCondLst>
                                  <p:childTnLst>
                                    <p:set>
                                      <p:cBhvr>
                                        <p:cTn id="435" dur="1" fill="hold">
                                          <p:stCondLst>
                                            <p:cond delay="0"/>
                                          </p:stCondLst>
                                        </p:cTn>
                                        <p:tgtEl>
                                          <p:spTgt spid="562"/>
                                        </p:tgtEl>
                                        <p:attrNameLst>
                                          <p:attrName>style.visibility</p:attrName>
                                        </p:attrNameLst>
                                      </p:cBhvr>
                                      <p:to>
                                        <p:strVal val="visible"/>
                                      </p:to>
                                    </p:set>
                                    <p:animEffect transition="in" filter="fade">
                                      <p:cBhvr additive="repl">
                                        <p:cTn id="436" dur="350"/>
                                        <p:tgtEl>
                                          <p:spTgt spid="562"/>
                                        </p:tgtEl>
                                      </p:cBhvr>
                                    </p:animEffect>
                                  </p:childTnLst>
                                </p:cTn>
                              </p:par>
                            </p:childTnLst>
                          </p:cTn>
                        </p:par>
                      </p:childTnLst>
                    </p:cTn>
                  </p:par>
                  <p:par>
                    <p:cTn id="437" fill="hold">
                      <p:stCondLst>
                        <p:cond delay="indefinite"/>
                      </p:stCondLst>
                      <p:childTnLst>
                        <p:par>
                          <p:cTn id="438" fill="hold">
                            <p:stCondLst>
                              <p:cond delay="0"/>
                            </p:stCondLst>
                            <p:childTnLst>
                              <p:par>
                                <p:cTn id="439" presetID="10" presetClass="entr" fill="hold" nodeType="afterEffect">
                                  <p:stCondLst>
                                    <p:cond delay="0"/>
                                  </p:stCondLst>
                                  <p:childTnLst>
                                    <p:set>
                                      <p:cBhvr>
                                        <p:cTn id="440" dur="1" fill="hold">
                                          <p:stCondLst>
                                            <p:cond delay="0"/>
                                          </p:stCondLst>
                                        </p:cTn>
                                        <p:tgtEl>
                                          <p:spTgt spid="563"/>
                                        </p:tgtEl>
                                        <p:attrNameLst>
                                          <p:attrName>style.visibility</p:attrName>
                                        </p:attrNameLst>
                                      </p:cBhvr>
                                      <p:to>
                                        <p:strVal val="visible"/>
                                      </p:to>
                                    </p:set>
                                    <p:animEffect transition="in" filter="fade">
                                      <p:cBhvr additive="repl">
                                        <p:cTn id="441" dur="350"/>
                                        <p:tgtEl>
                                          <p:spTgt spid="563"/>
                                        </p:tgtEl>
                                      </p:cBhvr>
                                    </p:animEffect>
                                  </p:childTnLst>
                                </p:cTn>
                              </p:par>
                            </p:childTnLst>
                          </p:cTn>
                        </p:par>
                      </p:childTnLst>
                    </p:cTn>
                  </p:par>
                  <p:par>
                    <p:cTn id="442" fill="hold">
                      <p:stCondLst>
                        <p:cond delay="indefinite"/>
                      </p:stCondLst>
                      <p:childTnLst>
                        <p:par>
                          <p:cTn id="443" fill="hold">
                            <p:stCondLst>
                              <p:cond delay="0"/>
                            </p:stCondLst>
                            <p:childTnLst>
                              <p:par>
                                <p:cTn id="444" presetID="10" presetClass="entr" fill="hold" nodeType="afterEffect">
                                  <p:stCondLst>
                                    <p:cond delay="0"/>
                                  </p:stCondLst>
                                  <p:childTnLst>
                                    <p:set>
                                      <p:cBhvr>
                                        <p:cTn id="445" dur="1" fill="hold">
                                          <p:stCondLst>
                                            <p:cond delay="0"/>
                                          </p:stCondLst>
                                        </p:cTn>
                                        <p:tgtEl>
                                          <p:spTgt spid="564"/>
                                        </p:tgtEl>
                                        <p:attrNameLst>
                                          <p:attrName>style.visibility</p:attrName>
                                        </p:attrNameLst>
                                      </p:cBhvr>
                                      <p:to>
                                        <p:strVal val="visible"/>
                                      </p:to>
                                    </p:set>
                                    <p:animEffect transition="in" filter="fade">
                                      <p:cBhvr additive="repl">
                                        <p:cTn id="446" dur="350"/>
                                        <p:tgtEl>
                                          <p:spTgt spid="564"/>
                                        </p:tgtEl>
                                      </p:cBhvr>
                                    </p:animEffect>
                                  </p:childTnLst>
                                </p:cTn>
                              </p:par>
                            </p:childTnLst>
                          </p:cTn>
                        </p:par>
                      </p:childTnLst>
                    </p:cTn>
                  </p:par>
                  <p:par>
                    <p:cTn id="447" fill="hold">
                      <p:stCondLst>
                        <p:cond delay="indefinite"/>
                      </p:stCondLst>
                      <p:childTnLst>
                        <p:par>
                          <p:cTn id="448" fill="hold">
                            <p:stCondLst>
                              <p:cond delay="0"/>
                            </p:stCondLst>
                            <p:childTnLst>
                              <p:par>
                                <p:cTn id="449" presetID="10" presetClass="entr" fill="hold" nodeType="afterEffect">
                                  <p:stCondLst>
                                    <p:cond delay="0"/>
                                  </p:stCondLst>
                                  <p:childTnLst>
                                    <p:set>
                                      <p:cBhvr>
                                        <p:cTn id="450" dur="1" fill="hold">
                                          <p:stCondLst>
                                            <p:cond delay="0"/>
                                          </p:stCondLst>
                                        </p:cTn>
                                        <p:tgtEl>
                                          <p:spTgt spid="565"/>
                                        </p:tgtEl>
                                        <p:attrNameLst>
                                          <p:attrName>style.visibility</p:attrName>
                                        </p:attrNameLst>
                                      </p:cBhvr>
                                      <p:to>
                                        <p:strVal val="visible"/>
                                      </p:to>
                                    </p:set>
                                    <p:animEffect transition="in" filter="fade">
                                      <p:cBhvr additive="repl">
                                        <p:cTn id="451" dur="350"/>
                                        <p:tgtEl>
                                          <p:spTgt spid="565"/>
                                        </p:tgtEl>
                                      </p:cBhvr>
                                    </p:animEffect>
                                  </p:childTnLst>
                                </p:cTn>
                              </p:par>
                            </p:childTnLst>
                          </p:cTn>
                        </p:par>
                      </p:childTnLst>
                    </p:cTn>
                  </p:par>
                  <p:par>
                    <p:cTn id="452" fill="hold">
                      <p:stCondLst>
                        <p:cond delay="indefinite"/>
                      </p:stCondLst>
                      <p:childTnLst>
                        <p:par>
                          <p:cTn id="453" fill="hold">
                            <p:stCondLst>
                              <p:cond delay="0"/>
                            </p:stCondLst>
                            <p:childTnLst>
                              <p:par>
                                <p:cTn id="454" presetID="10" presetClass="entr" fill="hold" nodeType="afterEffect">
                                  <p:stCondLst>
                                    <p:cond delay="0"/>
                                  </p:stCondLst>
                                  <p:childTnLst>
                                    <p:set>
                                      <p:cBhvr>
                                        <p:cTn id="455" dur="1" fill="hold">
                                          <p:stCondLst>
                                            <p:cond delay="0"/>
                                          </p:stCondLst>
                                        </p:cTn>
                                        <p:tgtEl>
                                          <p:spTgt spid="566"/>
                                        </p:tgtEl>
                                        <p:attrNameLst>
                                          <p:attrName>style.visibility</p:attrName>
                                        </p:attrNameLst>
                                      </p:cBhvr>
                                      <p:to>
                                        <p:strVal val="visible"/>
                                      </p:to>
                                    </p:set>
                                    <p:animEffect transition="in" filter="fade">
                                      <p:cBhvr additive="repl">
                                        <p:cTn id="456" dur="350"/>
                                        <p:tgtEl>
                                          <p:spTgt spid="566"/>
                                        </p:tgtEl>
                                      </p:cBhvr>
                                    </p:animEffect>
                                  </p:childTnLst>
                                </p:cTn>
                              </p:par>
                            </p:childTnLst>
                          </p:cTn>
                        </p:par>
                      </p:childTnLst>
                    </p:cTn>
                  </p:par>
                  <p:par>
                    <p:cTn id="457" fill="hold">
                      <p:stCondLst>
                        <p:cond delay="indefinite"/>
                      </p:stCondLst>
                      <p:childTnLst>
                        <p:par>
                          <p:cTn id="458" fill="hold">
                            <p:stCondLst>
                              <p:cond delay="0"/>
                            </p:stCondLst>
                            <p:childTnLst>
                              <p:par>
                                <p:cTn id="459" presetID="10" presetClass="entr" fill="hold" nodeType="afterEffect">
                                  <p:stCondLst>
                                    <p:cond delay="0"/>
                                  </p:stCondLst>
                                  <p:childTnLst>
                                    <p:set>
                                      <p:cBhvr>
                                        <p:cTn id="460" dur="1" fill="hold">
                                          <p:stCondLst>
                                            <p:cond delay="0"/>
                                          </p:stCondLst>
                                        </p:cTn>
                                        <p:tgtEl>
                                          <p:spTgt spid="567"/>
                                        </p:tgtEl>
                                        <p:attrNameLst>
                                          <p:attrName>style.visibility</p:attrName>
                                        </p:attrNameLst>
                                      </p:cBhvr>
                                      <p:to>
                                        <p:strVal val="visible"/>
                                      </p:to>
                                    </p:set>
                                    <p:animEffect transition="in" filter="fade">
                                      <p:cBhvr additive="repl">
                                        <p:cTn id="461" dur="350"/>
                                        <p:tgtEl>
                                          <p:spTgt spid="5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82"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Hyperparameter Optimisation  ·  Optuna</a:t>
            </a:r>
            <a:endParaRPr lang="en-US" sz="2700" b="0" u="none" strike="noStrike">
              <a:solidFill>
                <a:srgbClr val="000000"/>
              </a:solidFill>
              <a:effectLst/>
              <a:uFillTx/>
              <a:latin typeface="Arial"/>
            </a:endParaRPr>
          </a:p>
        </p:txBody>
      </p:sp>
      <p:sp>
        <p:nvSpPr>
          <p:cNvPr id="583"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Run in the reduced-data regime, where the objective still has dynamic range</a:t>
            </a:r>
            <a:endParaRPr lang="en-US" sz="1300" b="0" u="none" strike="noStrike">
              <a:solidFill>
                <a:srgbClr val="000000"/>
              </a:solidFill>
              <a:effectLst/>
              <a:uFillTx/>
              <a:latin typeface="Arial"/>
            </a:endParaRPr>
          </a:p>
        </p:txBody>
      </p:sp>
      <p:sp>
        <p:nvSpPr>
          <p:cNvPr id="584"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585"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86" name="Rectangle 6"/>
          <p:cNvSpPr/>
          <p:nvPr/>
        </p:nvSpPr>
        <p:spPr>
          <a:xfrm>
            <a:off x="567000" y="6226920"/>
            <a:ext cx="62074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587"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588"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32</a:t>
            </a:r>
            <a:endParaRPr lang="en-US" sz="900" b="0" u="none" strike="noStrike">
              <a:solidFill>
                <a:srgbClr val="000000"/>
              </a:solidFill>
              <a:effectLst/>
              <a:uFillTx/>
              <a:latin typeface="Arial"/>
            </a:endParaRPr>
          </a:p>
        </p:txBody>
      </p:sp>
      <p:sp>
        <p:nvSpPr>
          <p:cNvPr id="589" name="Rounded Rectangle 9"/>
          <p:cNvSpPr/>
          <p:nvPr/>
        </p:nvSpPr>
        <p:spPr>
          <a:xfrm>
            <a:off x="567000" y="1627560"/>
            <a:ext cx="2640600" cy="10969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90" name="TextBox 10"/>
          <p:cNvSpPr/>
          <p:nvPr/>
        </p:nvSpPr>
        <p:spPr>
          <a:xfrm>
            <a:off x="76824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15</a:t>
            </a:r>
            <a:endParaRPr lang="en-US" sz="2800" b="0" u="none" strike="noStrike">
              <a:solidFill>
                <a:srgbClr val="000000"/>
              </a:solidFill>
              <a:effectLst/>
              <a:uFillTx/>
              <a:latin typeface="Arial"/>
            </a:endParaRPr>
          </a:p>
        </p:txBody>
      </p:sp>
      <p:sp>
        <p:nvSpPr>
          <p:cNvPr id="591" name="TextBox 11"/>
          <p:cNvSpPr/>
          <p:nvPr/>
        </p:nvSpPr>
        <p:spPr>
          <a:xfrm>
            <a:off x="76824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TPE trials</a:t>
            </a:r>
            <a:endParaRPr lang="en-US" sz="1050" b="0" u="none" strike="noStrike">
              <a:solidFill>
                <a:srgbClr val="000000"/>
              </a:solidFill>
              <a:effectLst/>
              <a:uFillTx/>
              <a:latin typeface="Arial"/>
            </a:endParaRPr>
          </a:p>
        </p:txBody>
      </p:sp>
      <p:sp>
        <p:nvSpPr>
          <p:cNvPr id="592" name="Rounded Rectangle 12"/>
          <p:cNvSpPr/>
          <p:nvPr/>
        </p:nvSpPr>
        <p:spPr>
          <a:xfrm>
            <a:off x="3372480" y="1627560"/>
            <a:ext cx="2640600" cy="10969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93" name="TextBox 13"/>
          <p:cNvSpPr/>
          <p:nvPr/>
        </p:nvSpPr>
        <p:spPr>
          <a:xfrm>
            <a:off x="357372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0.9862</a:t>
            </a:r>
            <a:endParaRPr lang="en-US" sz="2800" b="0" u="none" strike="noStrike">
              <a:solidFill>
                <a:srgbClr val="000000"/>
              </a:solidFill>
              <a:effectLst/>
              <a:uFillTx/>
              <a:latin typeface="Arial"/>
            </a:endParaRPr>
          </a:p>
        </p:txBody>
      </p:sp>
      <p:sp>
        <p:nvSpPr>
          <p:cNvPr id="594" name="TextBox 14"/>
          <p:cNvSpPr/>
          <p:nvPr/>
        </p:nvSpPr>
        <p:spPr>
          <a:xfrm>
            <a:off x="357372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best validation macro-F1</a:t>
            </a:r>
            <a:endParaRPr lang="en-US" sz="1050" b="0" u="none" strike="noStrike">
              <a:solidFill>
                <a:srgbClr val="000000"/>
              </a:solidFill>
              <a:effectLst/>
              <a:uFillTx/>
              <a:latin typeface="Arial"/>
            </a:endParaRPr>
          </a:p>
        </p:txBody>
      </p:sp>
      <p:sp>
        <p:nvSpPr>
          <p:cNvPr id="595" name="Rounded Rectangle 15"/>
          <p:cNvSpPr/>
          <p:nvPr/>
        </p:nvSpPr>
        <p:spPr>
          <a:xfrm>
            <a:off x="6178320" y="1627560"/>
            <a:ext cx="2640600" cy="10969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96" name="TextBox 16"/>
          <p:cNvSpPr/>
          <p:nvPr/>
        </p:nvSpPr>
        <p:spPr>
          <a:xfrm>
            <a:off x="637920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10%</a:t>
            </a:r>
            <a:endParaRPr lang="en-US" sz="2800" b="0" u="none" strike="noStrike">
              <a:solidFill>
                <a:srgbClr val="000000"/>
              </a:solidFill>
              <a:effectLst/>
              <a:uFillTx/>
              <a:latin typeface="Arial"/>
            </a:endParaRPr>
          </a:p>
        </p:txBody>
      </p:sp>
      <p:sp>
        <p:nvSpPr>
          <p:cNvPr id="597" name="TextBox 17"/>
          <p:cNvSpPr/>
          <p:nvPr/>
        </p:nvSpPr>
        <p:spPr>
          <a:xfrm>
            <a:off x="637920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training data per trial</a:t>
            </a:r>
            <a:endParaRPr lang="en-US" sz="1050" b="0" u="none" strike="noStrike">
              <a:solidFill>
                <a:srgbClr val="000000"/>
              </a:solidFill>
              <a:effectLst/>
              <a:uFillTx/>
              <a:latin typeface="Arial"/>
            </a:endParaRPr>
          </a:p>
        </p:txBody>
      </p:sp>
      <p:sp>
        <p:nvSpPr>
          <p:cNvPr id="598" name="Rounded Rectangle 18"/>
          <p:cNvSpPr/>
          <p:nvPr/>
        </p:nvSpPr>
        <p:spPr>
          <a:xfrm>
            <a:off x="8983800" y="1627560"/>
            <a:ext cx="2640600" cy="10969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599" name="TextBox 19"/>
          <p:cNvSpPr/>
          <p:nvPr/>
        </p:nvSpPr>
        <p:spPr>
          <a:xfrm>
            <a:off x="918504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8</a:t>
            </a:r>
            <a:endParaRPr lang="en-US" sz="2800" b="0" u="none" strike="noStrike">
              <a:solidFill>
                <a:srgbClr val="000000"/>
              </a:solidFill>
              <a:effectLst/>
              <a:uFillTx/>
              <a:latin typeface="Arial"/>
            </a:endParaRPr>
          </a:p>
        </p:txBody>
      </p:sp>
      <p:sp>
        <p:nvSpPr>
          <p:cNvPr id="600" name="TextBox 20"/>
          <p:cNvSpPr/>
          <p:nvPr/>
        </p:nvSpPr>
        <p:spPr>
          <a:xfrm>
            <a:off x="918504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epochs per trial</a:t>
            </a:r>
            <a:endParaRPr lang="en-US" sz="1050" b="0" u="none" strike="noStrike">
              <a:solidFill>
                <a:srgbClr val="000000"/>
              </a:solidFill>
              <a:effectLst/>
              <a:uFillTx/>
              <a:latin typeface="Arial"/>
            </a:endParaRPr>
          </a:p>
        </p:txBody>
      </p:sp>
      <p:sp>
        <p:nvSpPr>
          <p:cNvPr id="601" name="TextBox 21"/>
          <p:cNvSpPr/>
          <p:nvPr/>
        </p:nvSpPr>
        <p:spPr>
          <a:xfrm>
            <a:off x="567000" y="3044880"/>
            <a:ext cx="2102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parameter</a:t>
            </a:r>
            <a:endParaRPr lang="en-US" sz="1050" b="0" u="none" strike="noStrike">
              <a:solidFill>
                <a:srgbClr val="000000"/>
              </a:solidFill>
              <a:effectLst/>
              <a:uFillTx/>
              <a:latin typeface="Arial"/>
            </a:endParaRPr>
          </a:p>
        </p:txBody>
      </p:sp>
      <p:sp>
        <p:nvSpPr>
          <p:cNvPr id="602" name="TextBox 22"/>
          <p:cNvSpPr/>
          <p:nvPr/>
        </p:nvSpPr>
        <p:spPr>
          <a:xfrm>
            <a:off x="2670120" y="3044880"/>
            <a:ext cx="2408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best value</a:t>
            </a:r>
            <a:endParaRPr lang="en-US" sz="1050" b="0" u="none" strike="noStrike">
              <a:solidFill>
                <a:srgbClr val="000000"/>
              </a:solidFill>
              <a:effectLst/>
              <a:uFillTx/>
              <a:latin typeface="Arial"/>
            </a:endParaRPr>
          </a:p>
        </p:txBody>
      </p:sp>
      <p:sp>
        <p:nvSpPr>
          <p:cNvPr id="603" name="Rectangle 23"/>
          <p:cNvSpPr/>
          <p:nvPr/>
        </p:nvSpPr>
        <p:spPr>
          <a:xfrm>
            <a:off x="567000" y="3337560"/>
            <a:ext cx="451116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604" name="TextBox 24"/>
          <p:cNvSpPr/>
          <p:nvPr/>
        </p:nvSpPr>
        <p:spPr>
          <a:xfrm>
            <a:off x="567000" y="3429000"/>
            <a:ext cx="21027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contrast</a:t>
            </a:r>
            <a:endParaRPr lang="en-US" sz="1100" b="0" u="none" strike="noStrike">
              <a:solidFill>
                <a:srgbClr val="000000"/>
              </a:solidFill>
              <a:effectLst/>
              <a:uFillTx/>
              <a:latin typeface="Arial"/>
            </a:endParaRPr>
          </a:p>
        </p:txBody>
      </p:sp>
      <p:sp>
        <p:nvSpPr>
          <p:cNvPr id="605" name="TextBox 25"/>
          <p:cNvSpPr/>
          <p:nvPr/>
        </p:nvSpPr>
        <p:spPr>
          <a:xfrm>
            <a:off x="2670120" y="3429000"/>
            <a:ext cx="2408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histeq</a:t>
            </a:r>
            <a:endParaRPr lang="en-US" sz="1100" b="0" u="none" strike="noStrike">
              <a:solidFill>
                <a:srgbClr val="000000"/>
              </a:solidFill>
              <a:effectLst/>
              <a:uFillTx/>
              <a:latin typeface="Arial"/>
            </a:endParaRPr>
          </a:p>
        </p:txBody>
      </p:sp>
      <p:sp>
        <p:nvSpPr>
          <p:cNvPr id="606" name="TextBox 26"/>
          <p:cNvSpPr/>
          <p:nvPr/>
        </p:nvSpPr>
        <p:spPr>
          <a:xfrm>
            <a:off x="567000" y="3740040"/>
            <a:ext cx="21027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lr</a:t>
            </a:r>
            <a:endParaRPr lang="en-US" sz="1100" b="0" u="none" strike="noStrike">
              <a:solidFill>
                <a:srgbClr val="000000"/>
              </a:solidFill>
              <a:effectLst/>
              <a:uFillTx/>
              <a:latin typeface="Arial"/>
            </a:endParaRPr>
          </a:p>
        </p:txBody>
      </p:sp>
      <p:sp>
        <p:nvSpPr>
          <p:cNvPr id="607" name="TextBox 27"/>
          <p:cNvSpPr/>
          <p:nvPr/>
        </p:nvSpPr>
        <p:spPr>
          <a:xfrm>
            <a:off x="2670120" y="3740040"/>
            <a:ext cx="2408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0.0005304883441224623</a:t>
            </a:r>
            <a:endParaRPr lang="en-US" sz="1100" b="0" u="none" strike="noStrike">
              <a:solidFill>
                <a:srgbClr val="000000"/>
              </a:solidFill>
              <a:effectLst/>
              <a:uFillTx/>
              <a:latin typeface="Arial"/>
            </a:endParaRPr>
          </a:p>
        </p:txBody>
      </p:sp>
      <p:sp>
        <p:nvSpPr>
          <p:cNvPr id="608" name="TextBox 28"/>
          <p:cNvSpPr/>
          <p:nvPr/>
        </p:nvSpPr>
        <p:spPr>
          <a:xfrm>
            <a:off x="567000" y="4050720"/>
            <a:ext cx="21027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weight_decay</a:t>
            </a:r>
            <a:endParaRPr lang="en-US" sz="1100" b="0" u="none" strike="noStrike">
              <a:solidFill>
                <a:srgbClr val="000000"/>
              </a:solidFill>
              <a:effectLst/>
              <a:uFillTx/>
              <a:latin typeface="Arial"/>
            </a:endParaRPr>
          </a:p>
        </p:txBody>
      </p:sp>
      <p:sp>
        <p:nvSpPr>
          <p:cNvPr id="609" name="TextBox 29"/>
          <p:cNvSpPr/>
          <p:nvPr/>
        </p:nvSpPr>
        <p:spPr>
          <a:xfrm>
            <a:off x="2670120" y="4050720"/>
            <a:ext cx="2408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1.2242594760084797e-06</a:t>
            </a:r>
            <a:endParaRPr lang="en-US" sz="1100" b="0" u="none" strike="noStrike">
              <a:solidFill>
                <a:srgbClr val="000000"/>
              </a:solidFill>
              <a:effectLst/>
              <a:uFillTx/>
              <a:latin typeface="Arial"/>
            </a:endParaRPr>
          </a:p>
        </p:txBody>
      </p:sp>
      <p:sp>
        <p:nvSpPr>
          <p:cNvPr id="610" name="TextBox 30"/>
          <p:cNvSpPr/>
          <p:nvPr/>
        </p:nvSpPr>
        <p:spPr>
          <a:xfrm>
            <a:off x="567000" y="4361760"/>
            <a:ext cx="21027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batch_size</a:t>
            </a:r>
            <a:endParaRPr lang="en-US" sz="1100" b="0" u="none" strike="noStrike">
              <a:solidFill>
                <a:srgbClr val="000000"/>
              </a:solidFill>
              <a:effectLst/>
              <a:uFillTx/>
              <a:latin typeface="Arial"/>
            </a:endParaRPr>
          </a:p>
        </p:txBody>
      </p:sp>
      <p:sp>
        <p:nvSpPr>
          <p:cNvPr id="611" name="TextBox 31"/>
          <p:cNvSpPr/>
          <p:nvPr/>
        </p:nvSpPr>
        <p:spPr>
          <a:xfrm>
            <a:off x="2670120" y="4361760"/>
            <a:ext cx="2408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16</a:t>
            </a:r>
            <a:endParaRPr lang="en-US" sz="1100" b="0" u="none" strike="noStrike">
              <a:solidFill>
                <a:srgbClr val="000000"/>
              </a:solidFill>
              <a:effectLst/>
              <a:uFillTx/>
              <a:latin typeface="Arial"/>
            </a:endParaRPr>
          </a:p>
        </p:txBody>
      </p:sp>
      <p:sp>
        <p:nvSpPr>
          <p:cNvPr id="612" name="TextBox 32"/>
          <p:cNvSpPr/>
          <p:nvPr/>
        </p:nvSpPr>
        <p:spPr>
          <a:xfrm>
            <a:off x="567000" y="4672440"/>
            <a:ext cx="21027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compressed_dim</a:t>
            </a:r>
            <a:endParaRPr lang="en-US" sz="1100" b="0" u="none" strike="noStrike">
              <a:solidFill>
                <a:srgbClr val="000000"/>
              </a:solidFill>
              <a:effectLst/>
              <a:uFillTx/>
              <a:latin typeface="Arial"/>
            </a:endParaRPr>
          </a:p>
        </p:txBody>
      </p:sp>
      <p:sp>
        <p:nvSpPr>
          <p:cNvPr id="613" name="TextBox 33"/>
          <p:cNvSpPr/>
          <p:nvPr/>
        </p:nvSpPr>
        <p:spPr>
          <a:xfrm>
            <a:off x="2670120" y="4672440"/>
            <a:ext cx="2408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64</a:t>
            </a:r>
            <a:endParaRPr lang="en-US" sz="1100" b="0" u="none" strike="noStrike">
              <a:solidFill>
                <a:srgbClr val="000000"/>
              </a:solidFill>
              <a:effectLst/>
              <a:uFillTx/>
              <a:latin typeface="Arial"/>
            </a:endParaRPr>
          </a:p>
        </p:txBody>
      </p:sp>
      <p:sp>
        <p:nvSpPr>
          <p:cNvPr id="614" name="TextBox 34"/>
          <p:cNvSpPr/>
          <p:nvPr/>
        </p:nvSpPr>
        <p:spPr>
          <a:xfrm>
            <a:off x="567000" y="4983480"/>
            <a:ext cx="21027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head_hidden</a:t>
            </a:r>
            <a:endParaRPr lang="en-US" sz="1100" b="0" u="none" strike="noStrike">
              <a:solidFill>
                <a:srgbClr val="000000"/>
              </a:solidFill>
              <a:effectLst/>
              <a:uFillTx/>
              <a:latin typeface="Arial"/>
            </a:endParaRPr>
          </a:p>
        </p:txBody>
      </p:sp>
      <p:sp>
        <p:nvSpPr>
          <p:cNvPr id="615" name="TextBox 35"/>
          <p:cNvSpPr/>
          <p:nvPr/>
        </p:nvSpPr>
        <p:spPr>
          <a:xfrm>
            <a:off x="2670120" y="4983480"/>
            <a:ext cx="2408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64</a:t>
            </a:r>
            <a:endParaRPr lang="en-US" sz="1100" b="0" u="none" strike="noStrike">
              <a:solidFill>
                <a:srgbClr val="000000"/>
              </a:solidFill>
              <a:effectLst/>
              <a:uFillTx/>
              <a:latin typeface="Arial"/>
            </a:endParaRPr>
          </a:p>
        </p:txBody>
      </p:sp>
      <p:sp>
        <p:nvSpPr>
          <p:cNvPr id="616" name="TextBox 36"/>
          <p:cNvSpPr/>
          <p:nvPr/>
        </p:nvSpPr>
        <p:spPr>
          <a:xfrm>
            <a:off x="567000" y="5294520"/>
            <a:ext cx="21027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fusion</a:t>
            </a:r>
            <a:endParaRPr lang="en-US" sz="1100" b="0" u="none" strike="noStrike">
              <a:solidFill>
                <a:srgbClr val="000000"/>
              </a:solidFill>
              <a:effectLst/>
              <a:uFillTx/>
              <a:latin typeface="Arial"/>
            </a:endParaRPr>
          </a:p>
        </p:txBody>
      </p:sp>
      <p:sp>
        <p:nvSpPr>
          <p:cNvPr id="617" name="TextBox 37"/>
          <p:cNvSpPr/>
          <p:nvPr/>
        </p:nvSpPr>
        <p:spPr>
          <a:xfrm>
            <a:off x="2670120" y="5294520"/>
            <a:ext cx="2408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gated</a:t>
            </a:r>
            <a:endParaRPr lang="en-US" sz="1100" b="0" u="none" strike="noStrike">
              <a:solidFill>
                <a:srgbClr val="000000"/>
              </a:solidFill>
              <a:effectLst/>
              <a:uFillTx/>
              <a:latin typeface="Arial"/>
            </a:endParaRPr>
          </a:p>
        </p:txBody>
      </p:sp>
      <p:sp>
        <p:nvSpPr>
          <p:cNvPr id="618" name="TextBox 38"/>
          <p:cNvSpPr/>
          <p:nvPr/>
        </p:nvSpPr>
        <p:spPr>
          <a:xfrm>
            <a:off x="567000" y="5605200"/>
            <a:ext cx="21027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use_sobel</a:t>
            </a:r>
            <a:endParaRPr lang="en-US" sz="1100" b="0" u="none" strike="noStrike">
              <a:solidFill>
                <a:srgbClr val="000000"/>
              </a:solidFill>
              <a:effectLst/>
              <a:uFillTx/>
              <a:latin typeface="Arial"/>
            </a:endParaRPr>
          </a:p>
        </p:txBody>
      </p:sp>
      <p:sp>
        <p:nvSpPr>
          <p:cNvPr id="619" name="TextBox 39"/>
          <p:cNvSpPr/>
          <p:nvPr/>
        </p:nvSpPr>
        <p:spPr>
          <a:xfrm>
            <a:off x="2670120" y="5605200"/>
            <a:ext cx="240804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False</a:t>
            </a:r>
            <a:endParaRPr lang="en-US" sz="1100" b="0" u="none" strike="noStrike">
              <a:solidFill>
                <a:srgbClr val="000000"/>
              </a:solidFill>
              <a:effectLst/>
              <a:uFillTx/>
              <a:latin typeface="Arial"/>
            </a:endParaRPr>
          </a:p>
        </p:txBody>
      </p:sp>
      <p:sp>
        <p:nvSpPr>
          <p:cNvPr id="620" name="TextBox 40"/>
          <p:cNvSpPr/>
          <p:nvPr/>
        </p:nvSpPr>
        <p:spPr>
          <a:xfrm>
            <a:off x="6645600" y="304488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parameter</a:t>
            </a:r>
            <a:endParaRPr lang="en-US" sz="1050" b="0" u="none" strike="noStrike">
              <a:solidFill>
                <a:srgbClr val="000000"/>
              </a:solidFill>
              <a:effectLst/>
              <a:uFillTx/>
              <a:latin typeface="Arial"/>
            </a:endParaRPr>
          </a:p>
        </p:txBody>
      </p:sp>
      <p:sp>
        <p:nvSpPr>
          <p:cNvPr id="621" name="TextBox 41"/>
          <p:cNvSpPr/>
          <p:nvPr/>
        </p:nvSpPr>
        <p:spPr>
          <a:xfrm>
            <a:off x="9023040" y="3044880"/>
            <a:ext cx="26013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importance</a:t>
            </a:r>
            <a:endParaRPr lang="en-US" sz="1050" b="0" u="none" strike="noStrike">
              <a:solidFill>
                <a:srgbClr val="000000"/>
              </a:solidFill>
              <a:effectLst/>
              <a:uFillTx/>
              <a:latin typeface="Arial"/>
            </a:endParaRPr>
          </a:p>
        </p:txBody>
      </p:sp>
      <p:sp>
        <p:nvSpPr>
          <p:cNvPr id="622" name="Rectangle 42"/>
          <p:cNvSpPr/>
          <p:nvPr/>
        </p:nvSpPr>
        <p:spPr>
          <a:xfrm>
            <a:off x="6645600" y="3337560"/>
            <a:ext cx="497880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623" name="TextBox 43"/>
          <p:cNvSpPr/>
          <p:nvPr/>
        </p:nvSpPr>
        <p:spPr>
          <a:xfrm>
            <a:off x="6645600" y="342900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lr</a:t>
            </a:r>
            <a:endParaRPr lang="en-US" sz="1100" b="0" u="none" strike="noStrike">
              <a:solidFill>
                <a:srgbClr val="000000"/>
              </a:solidFill>
              <a:effectLst/>
              <a:uFillTx/>
              <a:latin typeface="Arial"/>
            </a:endParaRPr>
          </a:p>
        </p:txBody>
      </p:sp>
      <p:sp>
        <p:nvSpPr>
          <p:cNvPr id="624" name="TextBox 44"/>
          <p:cNvSpPr/>
          <p:nvPr/>
        </p:nvSpPr>
        <p:spPr>
          <a:xfrm>
            <a:off x="9023040" y="3429000"/>
            <a:ext cx="2601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0.899</a:t>
            </a:r>
            <a:endParaRPr lang="en-US" sz="1100" b="0" u="none" strike="noStrike">
              <a:solidFill>
                <a:srgbClr val="000000"/>
              </a:solidFill>
              <a:effectLst/>
              <a:uFillTx/>
              <a:latin typeface="Arial"/>
            </a:endParaRPr>
          </a:p>
        </p:txBody>
      </p:sp>
      <p:sp>
        <p:nvSpPr>
          <p:cNvPr id="625" name="TextBox 45"/>
          <p:cNvSpPr/>
          <p:nvPr/>
        </p:nvSpPr>
        <p:spPr>
          <a:xfrm>
            <a:off x="6645600" y="374004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use_sobel</a:t>
            </a:r>
            <a:endParaRPr lang="en-US" sz="1100" b="0" u="none" strike="noStrike">
              <a:solidFill>
                <a:srgbClr val="000000"/>
              </a:solidFill>
              <a:effectLst/>
              <a:uFillTx/>
              <a:latin typeface="Arial"/>
            </a:endParaRPr>
          </a:p>
        </p:txBody>
      </p:sp>
      <p:sp>
        <p:nvSpPr>
          <p:cNvPr id="626" name="TextBox 46"/>
          <p:cNvSpPr/>
          <p:nvPr/>
        </p:nvSpPr>
        <p:spPr>
          <a:xfrm>
            <a:off x="9023040" y="3740040"/>
            <a:ext cx="2601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0.039</a:t>
            </a:r>
            <a:endParaRPr lang="en-US" sz="1100" b="0" u="none" strike="noStrike">
              <a:solidFill>
                <a:srgbClr val="000000"/>
              </a:solidFill>
              <a:effectLst/>
              <a:uFillTx/>
              <a:latin typeface="Arial"/>
            </a:endParaRPr>
          </a:p>
        </p:txBody>
      </p:sp>
      <p:sp>
        <p:nvSpPr>
          <p:cNvPr id="627" name="TextBox 47"/>
          <p:cNvSpPr/>
          <p:nvPr/>
        </p:nvSpPr>
        <p:spPr>
          <a:xfrm>
            <a:off x="6645600" y="405072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contrast</a:t>
            </a:r>
            <a:endParaRPr lang="en-US" sz="1100" b="0" u="none" strike="noStrike">
              <a:solidFill>
                <a:srgbClr val="000000"/>
              </a:solidFill>
              <a:effectLst/>
              <a:uFillTx/>
              <a:latin typeface="Arial"/>
            </a:endParaRPr>
          </a:p>
        </p:txBody>
      </p:sp>
      <p:sp>
        <p:nvSpPr>
          <p:cNvPr id="628" name="TextBox 48"/>
          <p:cNvSpPr/>
          <p:nvPr/>
        </p:nvSpPr>
        <p:spPr>
          <a:xfrm>
            <a:off x="9023040" y="4050720"/>
            <a:ext cx="2601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0.025</a:t>
            </a:r>
            <a:endParaRPr lang="en-US" sz="1100" b="0" u="none" strike="noStrike">
              <a:solidFill>
                <a:srgbClr val="000000"/>
              </a:solidFill>
              <a:effectLst/>
              <a:uFillTx/>
              <a:latin typeface="Arial"/>
            </a:endParaRPr>
          </a:p>
        </p:txBody>
      </p:sp>
      <p:sp>
        <p:nvSpPr>
          <p:cNvPr id="629" name="TextBox 49"/>
          <p:cNvSpPr/>
          <p:nvPr/>
        </p:nvSpPr>
        <p:spPr>
          <a:xfrm>
            <a:off x="6645600" y="436176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fusion</a:t>
            </a:r>
            <a:endParaRPr lang="en-US" sz="1100" b="0" u="none" strike="noStrike">
              <a:solidFill>
                <a:srgbClr val="000000"/>
              </a:solidFill>
              <a:effectLst/>
              <a:uFillTx/>
              <a:latin typeface="Arial"/>
            </a:endParaRPr>
          </a:p>
        </p:txBody>
      </p:sp>
      <p:sp>
        <p:nvSpPr>
          <p:cNvPr id="630" name="TextBox 50"/>
          <p:cNvSpPr/>
          <p:nvPr/>
        </p:nvSpPr>
        <p:spPr>
          <a:xfrm>
            <a:off x="9023040" y="4361760"/>
            <a:ext cx="2601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0.017</a:t>
            </a:r>
            <a:endParaRPr lang="en-US" sz="1100" b="0" u="none" strike="noStrike">
              <a:solidFill>
                <a:srgbClr val="000000"/>
              </a:solidFill>
              <a:effectLst/>
              <a:uFillTx/>
              <a:latin typeface="Arial"/>
            </a:endParaRPr>
          </a:p>
        </p:txBody>
      </p:sp>
      <p:sp>
        <p:nvSpPr>
          <p:cNvPr id="631" name="TextBox 51"/>
          <p:cNvSpPr/>
          <p:nvPr/>
        </p:nvSpPr>
        <p:spPr>
          <a:xfrm>
            <a:off x="6645600" y="467244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head_hidden</a:t>
            </a:r>
            <a:endParaRPr lang="en-US" sz="1100" b="0" u="none" strike="noStrike">
              <a:solidFill>
                <a:srgbClr val="000000"/>
              </a:solidFill>
              <a:effectLst/>
              <a:uFillTx/>
              <a:latin typeface="Arial"/>
            </a:endParaRPr>
          </a:p>
        </p:txBody>
      </p:sp>
      <p:sp>
        <p:nvSpPr>
          <p:cNvPr id="632" name="TextBox 52"/>
          <p:cNvSpPr/>
          <p:nvPr/>
        </p:nvSpPr>
        <p:spPr>
          <a:xfrm>
            <a:off x="9023040" y="4672440"/>
            <a:ext cx="2601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0.013</a:t>
            </a:r>
            <a:endParaRPr lang="en-US" sz="1100" b="0" u="none" strike="noStrike">
              <a:solidFill>
                <a:srgbClr val="000000"/>
              </a:solidFill>
              <a:effectLst/>
              <a:uFillTx/>
              <a:latin typeface="Arial"/>
            </a:endParaRPr>
          </a:p>
        </p:txBody>
      </p:sp>
      <p:sp>
        <p:nvSpPr>
          <p:cNvPr id="633" name="TextBox 53"/>
          <p:cNvSpPr/>
          <p:nvPr/>
        </p:nvSpPr>
        <p:spPr>
          <a:xfrm>
            <a:off x="6645600" y="4983480"/>
            <a:ext cx="237708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compressed_dim</a:t>
            </a:r>
            <a:endParaRPr lang="en-US" sz="1100" b="0" u="none" strike="noStrike">
              <a:solidFill>
                <a:srgbClr val="000000"/>
              </a:solidFill>
              <a:effectLst/>
              <a:uFillTx/>
              <a:latin typeface="Arial"/>
            </a:endParaRPr>
          </a:p>
        </p:txBody>
      </p:sp>
      <p:sp>
        <p:nvSpPr>
          <p:cNvPr id="634" name="TextBox 54"/>
          <p:cNvSpPr/>
          <p:nvPr/>
        </p:nvSpPr>
        <p:spPr>
          <a:xfrm>
            <a:off x="9023040" y="4983480"/>
            <a:ext cx="26013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0.006</a:t>
            </a:r>
            <a:endParaRPr lang="en-US" sz="1100" b="0" u="none" strike="noStrike">
              <a:solidFill>
                <a:srgbClr val="000000"/>
              </a:solidFill>
              <a:effectLst/>
              <a:uFillTx/>
              <a:latin typeface="Arial"/>
            </a:endParaRPr>
          </a:p>
        </p:txBody>
      </p:sp>
      <p:sp>
        <p:nvSpPr>
          <p:cNvPr id="635" name="TextBox 55"/>
          <p:cNvSpPr/>
          <p:nvPr/>
        </p:nvSpPr>
        <p:spPr>
          <a:xfrm>
            <a:off x="567000" y="5650920"/>
            <a:ext cx="11057400" cy="6030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i="1" u="none" strike="noStrike">
                <a:solidFill>
                  <a:srgbClr val="FAB219"/>
                </a:solidFill>
                <a:effectLst/>
                <a:uFillTx/>
                <a:latin typeface="Inter"/>
              </a:rPr>
              <a:t>The search could pick the fusion strategy, the compressed width, the head width, the contrast step and whether to use the Sobel prior at all. It puts 0.899 of the importance on `lr` alone and 0.099 on every architectural choice combined — and its best trial switches the Sobel prior off. A completely different procedure, pointing the same way as the ablation.</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462" dur="indefinite" restart="never" nodeType="tmRoot">
          <p:childTnLst>
            <p:seq>
              <p:cTn id="463" dur="indefinite" nodeType="mainSeq">
                <p:childTnLst>
                  <p:par>
                    <p:cTn id="464" fill="hold">
                      <p:stCondLst>
                        <p:cond delay="indefinite"/>
                      </p:stCondLst>
                      <p:childTnLst>
                        <p:par>
                          <p:cTn id="465" fill="hold">
                            <p:stCondLst>
                              <p:cond delay="0"/>
                            </p:stCondLst>
                            <p:childTnLst>
                              <p:par>
                                <p:cTn id="466" presetID="10" presetClass="entr" fill="hold" nodeType="clickEffect">
                                  <p:stCondLst>
                                    <p:cond delay="0"/>
                                  </p:stCondLst>
                                  <p:childTnLst>
                                    <p:set>
                                      <p:cBhvr>
                                        <p:cTn id="467" dur="1" fill="hold">
                                          <p:stCondLst>
                                            <p:cond delay="0"/>
                                          </p:stCondLst>
                                        </p:cTn>
                                        <p:tgtEl>
                                          <p:spTgt spid="590"/>
                                        </p:tgtEl>
                                        <p:attrNameLst>
                                          <p:attrName>style.visibility</p:attrName>
                                        </p:attrNameLst>
                                      </p:cBhvr>
                                      <p:to>
                                        <p:strVal val="visible"/>
                                      </p:to>
                                    </p:set>
                                    <p:animEffect transition="in" filter="fade">
                                      <p:cBhvr additive="repl">
                                        <p:cTn id="468" dur="350"/>
                                        <p:tgtEl>
                                          <p:spTgt spid="590"/>
                                        </p:tgtEl>
                                      </p:cBhvr>
                                    </p:animEffect>
                                  </p:childTnLst>
                                </p:cTn>
                              </p:par>
                            </p:childTnLst>
                          </p:cTn>
                        </p:par>
                      </p:childTnLst>
                    </p:cTn>
                  </p:par>
                  <p:par>
                    <p:cTn id="469" fill="hold">
                      <p:stCondLst>
                        <p:cond delay="indefinite"/>
                      </p:stCondLst>
                      <p:childTnLst>
                        <p:par>
                          <p:cTn id="470" fill="hold">
                            <p:stCondLst>
                              <p:cond delay="0"/>
                            </p:stCondLst>
                            <p:childTnLst>
                              <p:par>
                                <p:cTn id="471" presetID="10" presetClass="entr" fill="hold" nodeType="afterEffect">
                                  <p:stCondLst>
                                    <p:cond delay="0"/>
                                  </p:stCondLst>
                                  <p:childTnLst>
                                    <p:set>
                                      <p:cBhvr>
                                        <p:cTn id="472" dur="1" fill="hold">
                                          <p:stCondLst>
                                            <p:cond delay="0"/>
                                          </p:stCondLst>
                                        </p:cTn>
                                        <p:tgtEl>
                                          <p:spTgt spid="591"/>
                                        </p:tgtEl>
                                        <p:attrNameLst>
                                          <p:attrName>style.visibility</p:attrName>
                                        </p:attrNameLst>
                                      </p:cBhvr>
                                      <p:to>
                                        <p:strVal val="visible"/>
                                      </p:to>
                                    </p:set>
                                    <p:animEffect transition="in" filter="fade">
                                      <p:cBhvr additive="repl">
                                        <p:cTn id="473" dur="350"/>
                                        <p:tgtEl>
                                          <p:spTgt spid="591"/>
                                        </p:tgtEl>
                                      </p:cBhvr>
                                    </p:animEffect>
                                  </p:childTnLst>
                                </p:cTn>
                              </p:par>
                            </p:childTnLst>
                          </p:cTn>
                        </p:par>
                      </p:childTnLst>
                    </p:cTn>
                  </p:par>
                  <p:par>
                    <p:cTn id="474" fill="hold">
                      <p:stCondLst>
                        <p:cond delay="indefinite"/>
                      </p:stCondLst>
                      <p:childTnLst>
                        <p:par>
                          <p:cTn id="475" fill="hold">
                            <p:stCondLst>
                              <p:cond delay="0"/>
                            </p:stCondLst>
                            <p:childTnLst>
                              <p:par>
                                <p:cTn id="476" presetID="10" presetClass="entr" fill="hold" nodeType="afterEffect">
                                  <p:stCondLst>
                                    <p:cond delay="0"/>
                                  </p:stCondLst>
                                  <p:childTnLst>
                                    <p:set>
                                      <p:cBhvr>
                                        <p:cTn id="477" dur="1" fill="hold">
                                          <p:stCondLst>
                                            <p:cond delay="0"/>
                                          </p:stCondLst>
                                        </p:cTn>
                                        <p:tgtEl>
                                          <p:spTgt spid="593"/>
                                        </p:tgtEl>
                                        <p:attrNameLst>
                                          <p:attrName>style.visibility</p:attrName>
                                        </p:attrNameLst>
                                      </p:cBhvr>
                                      <p:to>
                                        <p:strVal val="visible"/>
                                      </p:to>
                                    </p:set>
                                    <p:animEffect transition="in" filter="fade">
                                      <p:cBhvr additive="repl">
                                        <p:cTn id="478" dur="350"/>
                                        <p:tgtEl>
                                          <p:spTgt spid="593"/>
                                        </p:tgtEl>
                                      </p:cBhvr>
                                    </p:animEffect>
                                  </p:childTnLst>
                                </p:cTn>
                              </p:par>
                            </p:childTnLst>
                          </p:cTn>
                        </p:par>
                      </p:childTnLst>
                    </p:cTn>
                  </p:par>
                  <p:par>
                    <p:cTn id="479" fill="hold">
                      <p:stCondLst>
                        <p:cond delay="indefinite"/>
                      </p:stCondLst>
                      <p:childTnLst>
                        <p:par>
                          <p:cTn id="480" fill="hold">
                            <p:stCondLst>
                              <p:cond delay="0"/>
                            </p:stCondLst>
                            <p:childTnLst>
                              <p:par>
                                <p:cTn id="481" presetID="10" presetClass="entr" fill="hold" nodeType="afterEffect">
                                  <p:stCondLst>
                                    <p:cond delay="0"/>
                                  </p:stCondLst>
                                  <p:childTnLst>
                                    <p:set>
                                      <p:cBhvr>
                                        <p:cTn id="482" dur="1" fill="hold">
                                          <p:stCondLst>
                                            <p:cond delay="0"/>
                                          </p:stCondLst>
                                        </p:cTn>
                                        <p:tgtEl>
                                          <p:spTgt spid="594"/>
                                        </p:tgtEl>
                                        <p:attrNameLst>
                                          <p:attrName>style.visibility</p:attrName>
                                        </p:attrNameLst>
                                      </p:cBhvr>
                                      <p:to>
                                        <p:strVal val="visible"/>
                                      </p:to>
                                    </p:set>
                                    <p:animEffect transition="in" filter="fade">
                                      <p:cBhvr additive="repl">
                                        <p:cTn id="483" dur="350"/>
                                        <p:tgtEl>
                                          <p:spTgt spid="594"/>
                                        </p:tgtEl>
                                      </p:cBhvr>
                                    </p:animEffect>
                                  </p:childTnLst>
                                </p:cTn>
                              </p:par>
                            </p:childTnLst>
                          </p:cTn>
                        </p:par>
                      </p:childTnLst>
                    </p:cTn>
                  </p:par>
                  <p:par>
                    <p:cTn id="484" fill="hold">
                      <p:stCondLst>
                        <p:cond delay="indefinite"/>
                      </p:stCondLst>
                      <p:childTnLst>
                        <p:par>
                          <p:cTn id="485" fill="hold">
                            <p:stCondLst>
                              <p:cond delay="0"/>
                            </p:stCondLst>
                            <p:childTnLst>
                              <p:par>
                                <p:cTn id="486" presetID="10" presetClass="entr" fill="hold" nodeType="afterEffect">
                                  <p:stCondLst>
                                    <p:cond delay="0"/>
                                  </p:stCondLst>
                                  <p:childTnLst>
                                    <p:set>
                                      <p:cBhvr>
                                        <p:cTn id="487" dur="1" fill="hold">
                                          <p:stCondLst>
                                            <p:cond delay="0"/>
                                          </p:stCondLst>
                                        </p:cTn>
                                        <p:tgtEl>
                                          <p:spTgt spid="596"/>
                                        </p:tgtEl>
                                        <p:attrNameLst>
                                          <p:attrName>style.visibility</p:attrName>
                                        </p:attrNameLst>
                                      </p:cBhvr>
                                      <p:to>
                                        <p:strVal val="visible"/>
                                      </p:to>
                                    </p:set>
                                    <p:animEffect transition="in" filter="fade">
                                      <p:cBhvr additive="repl">
                                        <p:cTn id="488" dur="350"/>
                                        <p:tgtEl>
                                          <p:spTgt spid="596"/>
                                        </p:tgtEl>
                                      </p:cBhvr>
                                    </p:animEffect>
                                  </p:childTnLst>
                                </p:cTn>
                              </p:par>
                            </p:childTnLst>
                          </p:cTn>
                        </p:par>
                      </p:childTnLst>
                    </p:cTn>
                  </p:par>
                  <p:par>
                    <p:cTn id="489" fill="hold">
                      <p:stCondLst>
                        <p:cond delay="indefinite"/>
                      </p:stCondLst>
                      <p:childTnLst>
                        <p:par>
                          <p:cTn id="490" fill="hold">
                            <p:stCondLst>
                              <p:cond delay="0"/>
                            </p:stCondLst>
                            <p:childTnLst>
                              <p:par>
                                <p:cTn id="491" presetID="10" presetClass="entr" fill="hold" nodeType="afterEffect">
                                  <p:stCondLst>
                                    <p:cond delay="0"/>
                                  </p:stCondLst>
                                  <p:childTnLst>
                                    <p:set>
                                      <p:cBhvr>
                                        <p:cTn id="492" dur="1" fill="hold">
                                          <p:stCondLst>
                                            <p:cond delay="0"/>
                                          </p:stCondLst>
                                        </p:cTn>
                                        <p:tgtEl>
                                          <p:spTgt spid="597"/>
                                        </p:tgtEl>
                                        <p:attrNameLst>
                                          <p:attrName>style.visibility</p:attrName>
                                        </p:attrNameLst>
                                      </p:cBhvr>
                                      <p:to>
                                        <p:strVal val="visible"/>
                                      </p:to>
                                    </p:set>
                                    <p:animEffect transition="in" filter="fade">
                                      <p:cBhvr additive="repl">
                                        <p:cTn id="493" dur="350"/>
                                        <p:tgtEl>
                                          <p:spTgt spid="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37" name="TextBox 2"/>
          <p:cNvSpPr/>
          <p:nvPr/>
        </p:nvSpPr>
        <p:spPr>
          <a:xfrm>
            <a:off x="567000" y="2541960"/>
            <a:ext cx="1705320" cy="9140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5800" b="1" u="none" strike="noStrike">
                <a:solidFill>
                  <a:srgbClr val="60A5FA"/>
                </a:solidFill>
                <a:effectLst/>
                <a:uFillTx/>
                <a:latin typeface="Inter"/>
              </a:rPr>
              <a:t>02</a:t>
            </a:r>
            <a:endParaRPr lang="en-US" sz="5800" b="0" u="none" strike="noStrike">
              <a:solidFill>
                <a:srgbClr val="000000"/>
              </a:solidFill>
              <a:effectLst/>
              <a:uFillTx/>
              <a:latin typeface="Arial"/>
            </a:endParaRPr>
          </a:p>
        </p:txBody>
      </p:sp>
      <p:sp>
        <p:nvSpPr>
          <p:cNvPr id="638" name="Rectangle 3"/>
          <p:cNvSpPr/>
          <p:nvPr/>
        </p:nvSpPr>
        <p:spPr>
          <a:xfrm>
            <a:off x="567000" y="3584520"/>
            <a:ext cx="1096920" cy="3168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2960" rIns="90000" bIns="-1296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639" name="TextBox 4"/>
          <p:cNvSpPr/>
          <p:nvPr/>
        </p:nvSpPr>
        <p:spPr>
          <a:xfrm>
            <a:off x="567000" y="3822120"/>
            <a:ext cx="8251920" cy="6397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3000" b="1" u="none" strike="noStrike">
                <a:solidFill>
                  <a:srgbClr val="F1F5F9"/>
                </a:solidFill>
                <a:effectLst/>
                <a:uFillTx/>
                <a:latin typeface="Inter"/>
              </a:rPr>
              <a:t>Experimental Results</a:t>
            </a:r>
            <a:endParaRPr lang="en-US" sz="3000" b="0" u="none" strike="noStrike">
              <a:solidFill>
                <a:srgbClr val="000000"/>
              </a:solidFill>
              <a:effectLst/>
              <a:uFillTx/>
              <a:latin typeface="Arial"/>
            </a:endParaRPr>
          </a:p>
        </p:txBody>
      </p:sp>
      <p:sp>
        <p:nvSpPr>
          <p:cNvPr id="640" name="TextBox 5"/>
          <p:cNvSpPr/>
          <p:nvPr/>
        </p:nvSpPr>
        <p:spPr>
          <a:xfrm>
            <a:off x="567000" y="4590360"/>
            <a:ext cx="731664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50" b="0" u="none" strike="noStrike">
                <a:solidFill>
                  <a:srgbClr val="94A3B8"/>
                </a:solidFill>
                <a:effectLst/>
                <a:uFillTx/>
                <a:latin typeface="Inter"/>
              </a:rPr>
              <a:t>One held-out test split, read once, for every number that follows</a:t>
            </a:r>
            <a:endParaRPr lang="en-US" sz="13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494" dur="indefinite" restart="never" nodeType="tmRoot">
          <p:childTnLst>
            <p:seq>
              <p:cTn id="495" dur="indefinite" nodeType="mainSeq">
                <p:childTnLst>
                  <p:par>
                    <p:cTn id="496" fill="hold">
                      <p:stCondLst>
                        <p:cond delay="indefinite"/>
                      </p:stCondLst>
                      <p:childTnLst>
                        <p:par>
                          <p:cTn id="497" fill="hold">
                            <p:stCondLst>
                              <p:cond delay="0"/>
                            </p:stCondLst>
                            <p:childTnLst>
                              <p:par>
                                <p:cTn id="498" presetID="10" presetClass="entr" fill="hold" nodeType="clickEffect">
                                  <p:stCondLst>
                                    <p:cond delay="0"/>
                                  </p:stCondLst>
                                  <p:childTnLst>
                                    <p:set>
                                      <p:cBhvr>
                                        <p:cTn id="499" dur="1" fill="hold">
                                          <p:stCondLst>
                                            <p:cond delay="0"/>
                                          </p:stCondLst>
                                        </p:cTn>
                                        <p:tgtEl>
                                          <p:spTgt spid="637"/>
                                        </p:tgtEl>
                                        <p:attrNameLst>
                                          <p:attrName>style.visibility</p:attrName>
                                        </p:attrNameLst>
                                      </p:cBhvr>
                                      <p:to>
                                        <p:strVal val="visible"/>
                                      </p:to>
                                    </p:set>
                                    <p:animEffect transition="in" filter="fade">
                                      <p:cBhvr additive="repl">
                                        <p:cTn id="500" dur="350"/>
                                        <p:tgtEl>
                                          <p:spTgt spid="637"/>
                                        </p:tgtEl>
                                      </p:cBhvr>
                                    </p:animEffect>
                                  </p:childTnLst>
                                </p:cTn>
                              </p:par>
                            </p:childTnLst>
                          </p:cTn>
                        </p:par>
                      </p:childTnLst>
                    </p:cTn>
                  </p:par>
                  <p:par>
                    <p:cTn id="501" fill="hold">
                      <p:stCondLst>
                        <p:cond delay="indefinite"/>
                      </p:stCondLst>
                      <p:childTnLst>
                        <p:par>
                          <p:cTn id="502" fill="hold">
                            <p:stCondLst>
                              <p:cond delay="0"/>
                            </p:stCondLst>
                            <p:childTnLst>
                              <p:par>
                                <p:cTn id="503" presetID="10" presetClass="entr" fill="hold" nodeType="afterEffect">
                                  <p:stCondLst>
                                    <p:cond delay="0"/>
                                  </p:stCondLst>
                                  <p:childTnLst>
                                    <p:set>
                                      <p:cBhvr>
                                        <p:cTn id="504" dur="1" fill="hold">
                                          <p:stCondLst>
                                            <p:cond delay="0"/>
                                          </p:stCondLst>
                                        </p:cTn>
                                        <p:tgtEl>
                                          <p:spTgt spid="638"/>
                                        </p:tgtEl>
                                        <p:attrNameLst>
                                          <p:attrName>style.visibility</p:attrName>
                                        </p:attrNameLst>
                                      </p:cBhvr>
                                      <p:to>
                                        <p:strVal val="visible"/>
                                      </p:to>
                                    </p:set>
                                    <p:animEffect transition="in" filter="fade">
                                      <p:cBhvr additive="repl">
                                        <p:cTn id="505" dur="350"/>
                                        <p:tgtEl>
                                          <p:spTgt spid="638"/>
                                        </p:tgtEl>
                                      </p:cBhvr>
                                    </p:animEffect>
                                  </p:childTnLst>
                                </p:cTn>
                              </p:par>
                            </p:childTnLst>
                          </p:cTn>
                        </p:par>
                      </p:childTnLst>
                    </p:cTn>
                  </p:par>
                  <p:par>
                    <p:cTn id="506" fill="hold">
                      <p:stCondLst>
                        <p:cond delay="indefinite"/>
                      </p:stCondLst>
                      <p:childTnLst>
                        <p:par>
                          <p:cTn id="507" fill="hold">
                            <p:stCondLst>
                              <p:cond delay="0"/>
                            </p:stCondLst>
                            <p:childTnLst>
                              <p:par>
                                <p:cTn id="508" presetID="10" presetClass="entr" fill="hold" nodeType="afterEffect">
                                  <p:stCondLst>
                                    <p:cond delay="0"/>
                                  </p:stCondLst>
                                  <p:childTnLst>
                                    <p:set>
                                      <p:cBhvr>
                                        <p:cTn id="509" dur="1" fill="hold">
                                          <p:stCondLst>
                                            <p:cond delay="0"/>
                                          </p:stCondLst>
                                        </p:cTn>
                                        <p:tgtEl>
                                          <p:spTgt spid="639"/>
                                        </p:tgtEl>
                                        <p:attrNameLst>
                                          <p:attrName>style.visibility</p:attrName>
                                        </p:attrNameLst>
                                      </p:cBhvr>
                                      <p:to>
                                        <p:strVal val="visible"/>
                                      </p:to>
                                    </p:set>
                                    <p:animEffect transition="in" filter="fade">
                                      <p:cBhvr additive="repl">
                                        <p:cTn id="510" dur="350"/>
                                        <p:tgtEl>
                                          <p:spTgt spid="639"/>
                                        </p:tgtEl>
                                      </p:cBhvr>
                                    </p:animEffect>
                                  </p:childTnLst>
                                </p:cTn>
                              </p:par>
                            </p:childTnLst>
                          </p:cTn>
                        </p:par>
                      </p:childTnLst>
                    </p:cTn>
                  </p:par>
                  <p:par>
                    <p:cTn id="511" fill="hold">
                      <p:stCondLst>
                        <p:cond delay="indefinite"/>
                      </p:stCondLst>
                      <p:childTnLst>
                        <p:par>
                          <p:cTn id="512" fill="hold">
                            <p:stCondLst>
                              <p:cond delay="0"/>
                            </p:stCondLst>
                            <p:childTnLst>
                              <p:par>
                                <p:cTn id="513" presetID="10" presetClass="entr" fill="hold" nodeType="afterEffect">
                                  <p:stCondLst>
                                    <p:cond delay="0"/>
                                  </p:stCondLst>
                                  <p:childTnLst>
                                    <p:set>
                                      <p:cBhvr>
                                        <p:cTn id="514" dur="1" fill="hold">
                                          <p:stCondLst>
                                            <p:cond delay="0"/>
                                          </p:stCondLst>
                                        </p:cTn>
                                        <p:tgtEl>
                                          <p:spTgt spid="640"/>
                                        </p:tgtEl>
                                        <p:attrNameLst>
                                          <p:attrName>style.visibility</p:attrName>
                                        </p:attrNameLst>
                                      </p:cBhvr>
                                      <p:to>
                                        <p:strVal val="visible"/>
                                      </p:to>
                                    </p:set>
                                    <p:animEffect transition="in" filter="fade">
                                      <p:cBhvr additive="repl">
                                        <p:cTn id="515" dur="350"/>
                                        <p:tgtEl>
                                          <p:spTgt spid="6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42"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Accuracy Comparison</a:t>
            </a:r>
            <a:endParaRPr lang="en-US" sz="2700" b="0" u="none" strike="noStrike">
              <a:solidFill>
                <a:srgbClr val="000000"/>
              </a:solidFill>
              <a:effectLst/>
              <a:uFillTx/>
              <a:latin typeface="Arial"/>
            </a:endParaRPr>
          </a:p>
        </p:txBody>
      </p:sp>
      <p:sp>
        <p:nvSpPr>
          <p:cNvPr id="643"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Mean ± standard deviation over 3 seeds, identical held-out split</a:t>
            </a:r>
            <a:endParaRPr lang="en-US" sz="1300" b="0" u="none" strike="noStrike">
              <a:solidFill>
                <a:srgbClr val="000000"/>
              </a:solidFill>
              <a:effectLst/>
              <a:uFillTx/>
              <a:latin typeface="Arial"/>
            </a:endParaRPr>
          </a:p>
        </p:txBody>
      </p:sp>
      <p:sp>
        <p:nvSpPr>
          <p:cNvPr id="644"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645"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646" name="Rectangle 6"/>
          <p:cNvSpPr/>
          <p:nvPr/>
        </p:nvSpPr>
        <p:spPr>
          <a:xfrm>
            <a:off x="567000" y="6226920"/>
            <a:ext cx="65955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647"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648"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34</a:t>
            </a:r>
            <a:endParaRPr lang="en-US" sz="900" b="0" u="none" strike="noStrike">
              <a:solidFill>
                <a:srgbClr val="000000"/>
              </a:solidFill>
              <a:effectLst/>
              <a:uFillTx/>
              <a:latin typeface="Arial"/>
            </a:endParaRPr>
          </a:p>
        </p:txBody>
      </p:sp>
      <p:pic>
        <p:nvPicPr>
          <p:cNvPr id="649" name="Picture 9" descr="accuracy_comparison_986.png"/>
          <p:cNvPicPr/>
          <p:nvPr/>
        </p:nvPicPr>
        <p:blipFill>
          <a:blip r:embed="rId1"/>
          <a:stretch/>
        </p:blipFill>
        <p:spPr>
          <a:xfrm>
            <a:off x="567000" y="1740960"/>
            <a:ext cx="6007320" cy="3613680"/>
          </a:xfrm>
          <a:prstGeom prst="rect">
            <a:avLst/>
          </a:prstGeom>
          <a:noFill/>
          <a:ln w="0">
            <a:noFill/>
          </a:ln>
        </p:spPr>
      </p:pic>
      <p:sp>
        <p:nvSpPr>
          <p:cNvPr id="650" name="Rounded Rectangle 10"/>
          <p:cNvSpPr/>
          <p:nvPr/>
        </p:nvSpPr>
        <p:spPr>
          <a:xfrm>
            <a:off x="7113240" y="1627560"/>
            <a:ext cx="4511160" cy="173700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51" name="Rectangle 11"/>
          <p:cNvSpPr/>
          <p:nvPr/>
        </p:nvSpPr>
        <p:spPr>
          <a:xfrm>
            <a:off x="7113240" y="1627560"/>
            <a:ext cx="40680" cy="173700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52" name="TextBox 12"/>
          <p:cNvSpPr/>
          <p:nvPr/>
        </p:nvSpPr>
        <p:spPr>
          <a:xfrm>
            <a:off x="7332840" y="176472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Read this carefully</a:t>
            </a:r>
            <a:endParaRPr lang="en-US" sz="1150" b="0" u="none" strike="noStrike">
              <a:solidFill>
                <a:srgbClr val="000000"/>
              </a:solidFill>
              <a:effectLst/>
              <a:uFillTx/>
              <a:latin typeface="Arial"/>
            </a:endParaRPr>
          </a:p>
        </p:txBody>
      </p:sp>
      <p:sp>
        <p:nvSpPr>
          <p:cNvPr id="653" name="TextBox 13"/>
          <p:cNvSpPr/>
          <p:nvPr/>
        </p:nvSpPr>
        <p:spPr>
          <a:xfrm>
            <a:off x="7332840" y="2103120"/>
            <a:ext cx="4090320" cy="111528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SAGE-HE beats our reproduced baseline by 6.0 points. It does NOT follow that it beats the published 97.1%, which was measured on an unknown split.</a:t>
            </a:r>
            <a:endParaRPr lang="en-US" sz="1150" b="0" u="none" strike="noStrike">
              <a:solidFill>
                <a:srgbClr val="000000"/>
              </a:solidFill>
              <a:effectLst/>
              <a:uFillTx/>
              <a:latin typeface="Arial"/>
            </a:endParaRPr>
          </a:p>
        </p:txBody>
      </p:sp>
      <p:sp>
        <p:nvSpPr>
          <p:cNvPr id="654" name="Rounded Rectangle 14"/>
          <p:cNvSpPr/>
          <p:nvPr/>
        </p:nvSpPr>
        <p:spPr>
          <a:xfrm>
            <a:off x="7113240" y="3593520"/>
            <a:ext cx="4511160" cy="15998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655" name="Rectangle 15"/>
          <p:cNvSpPr/>
          <p:nvPr/>
        </p:nvSpPr>
        <p:spPr>
          <a:xfrm>
            <a:off x="7113240" y="3593520"/>
            <a:ext cx="40680" cy="1599840"/>
          </a:xfrm>
          <a:prstGeom prst="rect">
            <a:avLst/>
          </a:prstGeom>
          <a:solidFill>
            <a:srgbClr val="D03B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656" name="TextBox 16"/>
          <p:cNvSpPr/>
          <p:nvPr/>
        </p:nvSpPr>
        <p:spPr>
          <a:xfrm>
            <a:off x="7332840" y="373068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D03B3B"/>
                </a:solidFill>
                <a:effectLst/>
                <a:uFillTx/>
                <a:latin typeface="Inter"/>
              </a:rPr>
              <a:t>Reproduction finding</a:t>
            </a:r>
            <a:endParaRPr lang="en-US" sz="1150" b="0" u="none" strike="noStrike">
              <a:solidFill>
                <a:srgbClr val="000000"/>
              </a:solidFill>
              <a:effectLst/>
              <a:uFillTx/>
              <a:latin typeface="Arial"/>
            </a:endParaRPr>
          </a:p>
        </p:txBody>
      </p:sp>
      <p:sp>
        <p:nvSpPr>
          <p:cNvPr id="657" name="TextBox 17"/>
          <p:cNvSpPr/>
          <p:nvPr/>
        </p:nvSpPr>
        <p:spPr>
          <a:xfrm>
            <a:off x="7332840" y="4069080"/>
            <a:ext cx="4090320" cy="9781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Our faithful reproduction reaches 93.98%, below the published 97.1%. We could not reproduce the paper's figure from its own description — reported as a result in its own right.</a:t>
            </a:r>
            <a:endParaRPr lang="en-US" sz="1150" b="0" u="none" strike="noStrike">
              <a:solidFill>
                <a:srgbClr val="000000"/>
              </a:solidFill>
              <a:effectLst/>
              <a:uFillTx/>
              <a:latin typeface="Arial"/>
            </a:endParaRPr>
          </a:p>
        </p:txBody>
      </p:sp>
      <p:sp>
        <p:nvSpPr>
          <p:cNvPr id="658" name="TextBox 18"/>
          <p:cNvSpPr/>
          <p:nvPr/>
        </p:nvSpPr>
        <p:spPr>
          <a:xfrm>
            <a:off x="567000" y="5650920"/>
            <a:ext cx="11057400" cy="639720"/>
          </a:xfrm>
          <a:prstGeom prst="rect">
            <a:avLst/>
          </a:prstGeom>
          <a:noFill/>
          <a:ln w="0">
            <a:noFill/>
          </a:ln>
        </p:spPr>
        <p:style>
          <a:lnRef idx="0"/>
          <a:fillRef idx="0"/>
          <a:effectRef idx="0"/>
          <a:fontRef idx="minor"/>
        </p:style>
        <p:txBody>
          <a:bodyPr lIns="0" tIns="0" rIns="0" bIns="0" anchor="t">
            <a:spAutoFit/>
          </a:bodyPr>
          <a:p>
            <a:pPr defTabSz="457200">
              <a:lnSpc>
                <a:spcPct val="120000"/>
              </a:lnSpc>
              <a:spcAft>
                <a:spcPts val="400"/>
              </a:spcAft>
            </a:pPr>
            <a:r>
              <a:rPr lang="en-US" sz="1050" b="0" i="1" u="none" strike="noStrike">
                <a:solidFill>
                  <a:srgbClr val="FAB219"/>
                </a:solidFill>
                <a:effectLst/>
                <a:uFillTx/>
                <a:latin typeface="Inter"/>
              </a:rPr>
              <a:t>This margin is NOT evidence for the proposed components. SAGE-HE uses a pretrained 4.7 M-parameter backbone; the baseline is a 35 k-parameter network trained from scratch, because that is what the paper describes. Transfer learning and capacity explain much of the gap — the architectural contribution is isolated in the ablation, where every stage shares the same backbone.</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516" dur="indefinite" restart="never" nodeType="tmRoot">
          <p:childTnLst>
            <p:seq>
              <p:cTn id="517" dur="indefinite" nodeType="mainSeq">
                <p:childTnLst>
                  <p:par>
                    <p:cTn id="518" fill="hold">
                      <p:stCondLst>
                        <p:cond delay="indefinite"/>
                      </p:stCondLst>
                      <p:childTnLst>
                        <p:par>
                          <p:cTn id="519" fill="hold">
                            <p:stCondLst>
                              <p:cond delay="0"/>
                            </p:stCondLst>
                            <p:childTnLst>
                              <p:par>
                                <p:cTn id="520" presetID="10" presetClass="entr" fill="hold" nodeType="clickEffect">
                                  <p:stCondLst>
                                    <p:cond delay="0"/>
                                  </p:stCondLst>
                                  <p:childTnLst>
                                    <p:set>
                                      <p:cBhvr>
                                        <p:cTn id="521" dur="1" fill="hold">
                                          <p:stCondLst>
                                            <p:cond delay="0"/>
                                          </p:stCondLst>
                                        </p:cTn>
                                        <p:tgtEl>
                                          <p:spTgt spid="653"/>
                                        </p:tgtEl>
                                        <p:attrNameLst>
                                          <p:attrName>style.visibility</p:attrName>
                                        </p:attrNameLst>
                                      </p:cBhvr>
                                      <p:to>
                                        <p:strVal val="visible"/>
                                      </p:to>
                                    </p:set>
                                    <p:animEffect transition="in" filter="fade">
                                      <p:cBhvr additive="repl">
                                        <p:cTn id="522" dur="350"/>
                                        <p:tgtEl>
                                          <p:spTgt spid="653"/>
                                        </p:tgtEl>
                                      </p:cBhvr>
                                    </p:animEffect>
                                  </p:childTnLst>
                                </p:cTn>
                              </p:par>
                            </p:childTnLst>
                          </p:cTn>
                        </p:par>
                      </p:childTnLst>
                    </p:cTn>
                  </p:par>
                  <p:par>
                    <p:cTn id="523" fill="hold">
                      <p:stCondLst>
                        <p:cond delay="indefinite"/>
                      </p:stCondLst>
                      <p:childTnLst>
                        <p:par>
                          <p:cTn id="524" fill="hold">
                            <p:stCondLst>
                              <p:cond delay="0"/>
                            </p:stCondLst>
                            <p:childTnLst>
                              <p:par>
                                <p:cTn id="525" presetID="10" presetClass="entr" fill="hold" nodeType="afterEffect">
                                  <p:stCondLst>
                                    <p:cond delay="0"/>
                                  </p:stCondLst>
                                  <p:childTnLst>
                                    <p:set>
                                      <p:cBhvr>
                                        <p:cTn id="526" dur="1" fill="hold">
                                          <p:stCondLst>
                                            <p:cond delay="0"/>
                                          </p:stCondLst>
                                        </p:cTn>
                                        <p:tgtEl>
                                          <p:spTgt spid="654"/>
                                        </p:tgtEl>
                                        <p:attrNameLst>
                                          <p:attrName>style.visibility</p:attrName>
                                        </p:attrNameLst>
                                      </p:cBhvr>
                                      <p:to>
                                        <p:strVal val="visible"/>
                                      </p:to>
                                    </p:set>
                                    <p:animEffect transition="in" filter="fade">
                                      <p:cBhvr additive="repl">
                                        <p:cTn id="527" dur="350"/>
                                        <p:tgtEl>
                                          <p:spTgt spid="654"/>
                                        </p:tgtEl>
                                      </p:cBhvr>
                                    </p:animEffect>
                                  </p:childTnLst>
                                </p:cTn>
                              </p:par>
                            </p:childTnLst>
                          </p:cTn>
                        </p:par>
                      </p:childTnLst>
                    </p:cTn>
                  </p:par>
                  <p:par>
                    <p:cTn id="528" fill="hold">
                      <p:stCondLst>
                        <p:cond delay="indefinite"/>
                      </p:stCondLst>
                      <p:childTnLst>
                        <p:par>
                          <p:cTn id="529" fill="hold">
                            <p:stCondLst>
                              <p:cond delay="0"/>
                            </p:stCondLst>
                            <p:childTnLst>
                              <p:par>
                                <p:cTn id="530" presetID="10" presetClass="entr" fill="hold" nodeType="afterEffect">
                                  <p:stCondLst>
                                    <p:cond delay="0"/>
                                  </p:stCondLst>
                                  <p:childTnLst>
                                    <p:set>
                                      <p:cBhvr>
                                        <p:cTn id="531" dur="1" fill="hold">
                                          <p:stCondLst>
                                            <p:cond delay="0"/>
                                          </p:stCondLst>
                                        </p:cTn>
                                        <p:tgtEl>
                                          <p:spTgt spid="655"/>
                                        </p:tgtEl>
                                        <p:attrNameLst>
                                          <p:attrName>style.visibility</p:attrName>
                                        </p:attrNameLst>
                                      </p:cBhvr>
                                      <p:to>
                                        <p:strVal val="visible"/>
                                      </p:to>
                                    </p:set>
                                    <p:animEffect transition="in" filter="fade">
                                      <p:cBhvr additive="repl">
                                        <p:cTn id="532" dur="350"/>
                                        <p:tgtEl>
                                          <p:spTgt spid="655"/>
                                        </p:tgtEl>
                                      </p:cBhvr>
                                    </p:animEffect>
                                  </p:childTnLst>
                                </p:cTn>
                              </p:par>
                            </p:childTnLst>
                          </p:cTn>
                        </p:par>
                      </p:childTnLst>
                    </p:cTn>
                  </p:par>
                  <p:par>
                    <p:cTn id="533" fill="hold">
                      <p:stCondLst>
                        <p:cond delay="indefinite"/>
                      </p:stCondLst>
                      <p:childTnLst>
                        <p:par>
                          <p:cTn id="534" fill="hold">
                            <p:stCondLst>
                              <p:cond delay="0"/>
                            </p:stCondLst>
                            <p:childTnLst>
                              <p:par>
                                <p:cTn id="535" presetID="10" presetClass="entr" fill="hold" nodeType="afterEffect">
                                  <p:stCondLst>
                                    <p:cond delay="0"/>
                                  </p:stCondLst>
                                  <p:childTnLst>
                                    <p:set>
                                      <p:cBhvr>
                                        <p:cTn id="536" dur="1" fill="hold">
                                          <p:stCondLst>
                                            <p:cond delay="0"/>
                                          </p:stCondLst>
                                        </p:cTn>
                                        <p:tgtEl>
                                          <p:spTgt spid="656"/>
                                        </p:tgtEl>
                                        <p:attrNameLst>
                                          <p:attrName>style.visibility</p:attrName>
                                        </p:attrNameLst>
                                      </p:cBhvr>
                                      <p:to>
                                        <p:strVal val="visible"/>
                                      </p:to>
                                    </p:set>
                                    <p:animEffect transition="in" filter="fade">
                                      <p:cBhvr additive="repl">
                                        <p:cTn id="537" dur="350"/>
                                        <p:tgtEl>
                                          <p:spTgt spid="656"/>
                                        </p:tgtEl>
                                      </p:cBhvr>
                                    </p:animEffect>
                                  </p:childTnLst>
                                </p:cTn>
                              </p:par>
                            </p:childTnLst>
                          </p:cTn>
                        </p:par>
                      </p:childTnLst>
                    </p:cTn>
                  </p:par>
                  <p:par>
                    <p:cTn id="538" fill="hold">
                      <p:stCondLst>
                        <p:cond delay="indefinite"/>
                      </p:stCondLst>
                      <p:childTnLst>
                        <p:par>
                          <p:cTn id="539" fill="hold">
                            <p:stCondLst>
                              <p:cond delay="0"/>
                            </p:stCondLst>
                            <p:childTnLst>
                              <p:par>
                                <p:cTn id="540" presetID="10" presetClass="entr" fill="hold" nodeType="afterEffect">
                                  <p:stCondLst>
                                    <p:cond delay="0"/>
                                  </p:stCondLst>
                                  <p:childTnLst>
                                    <p:set>
                                      <p:cBhvr>
                                        <p:cTn id="541" dur="1" fill="hold">
                                          <p:stCondLst>
                                            <p:cond delay="0"/>
                                          </p:stCondLst>
                                        </p:cTn>
                                        <p:tgtEl>
                                          <p:spTgt spid="657"/>
                                        </p:tgtEl>
                                        <p:attrNameLst>
                                          <p:attrName>style.visibility</p:attrName>
                                        </p:attrNameLst>
                                      </p:cBhvr>
                                      <p:to>
                                        <p:strVal val="visible"/>
                                      </p:to>
                                    </p:set>
                                    <p:animEffect transition="in" filter="fade">
                                      <p:cBhvr additive="repl">
                                        <p:cTn id="542" dur="350"/>
                                        <p:tgtEl>
                                          <p:spTgt spid="657"/>
                                        </p:tgtEl>
                                      </p:cBhvr>
                                    </p:animEffect>
                                  </p:childTnLst>
                                </p:cTn>
                              </p:par>
                            </p:childTnLst>
                          </p:cTn>
                        </p:par>
                      </p:childTnLst>
                    </p:cTn>
                  </p:par>
                  <p:par>
                    <p:cTn id="543" fill="hold">
                      <p:stCondLst>
                        <p:cond delay="indefinite"/>
                      </p:stCondLst>
                      <p:childTnLst>
                        <p:par>
                          <p:cTn id="544" fill="hold">
                            <p:stCondLst>
                              <p:cond delay="0"/>
                            </p:stCondLst>
                            <p:childTnLst>
                              <p:par>
                                <p:cTn id="545" presetID="10" presetClass="entr" fill="hold" nodeType="afterEffect">
                                  <p:stCondLst>
                                    <p:cond delay="0"/>
                                  </p:stCondLst>
                                  <p:childTnLst>
                                    <p:set>
                                      <p:cBhvr>
                                        <p:cTn id="546" dur="1" fill="hold">
                                          <p:stCondLst>
                                            <p:cond delay="0"/>
                                          </p:stCondLst>
                                        </p:cTn>
                                        <p:tgtEl>
                                          <p:spTgt spid="658"/>
                                        </p:tgtEl>
                                        <p:attrNameLst>
                                          <p:attrName>style.visibility</p:attrName>
                                        </p:attrNameLst>
                                      </p:cBhvr>
                                      <p:to>
                                        <p:strVal val="visible"/>
                                      </p:to>
                                    </p:set>
                                    <p:animEffect transition="in" filter="fade">
                                      <p:cBhvr additive="repl">
                                        <p:cTn id="547" dur="350"/>
                                        <p:tgtEl>
                                          <p:spTgt spid="6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60"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Did the reproduction fail because of OUR assumptions?</a:t>
            </a:r>
            <a:endParaRPr lang="en-US" sz="2700" b="0" u="none" strike="noStrike">
              <a:solidFill>
                <a:srgbClr val="000000"/>
              </a:solidFill>
              <a:effectLst/>
              <a:uFillTx/>
              <a:latin typeface="Arial"/>
            </a:endParaRPr>
          </a:p>
        </p:txBody>
      </p:sp>
      <p:sp>
        <p:nvSpPr>
          <p:cNvPr id="661"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The 97.1% claim rests on choices the paper never states — so we attacked our own finding</a:t>
            </a:r>
            <a:endParaRPr lang="en-US" sz="1300" b="0" u="none" strike="noStrike">
              <a:solidFill>
                <a:srgbClr val="000000"/>
              </a:solidFill>
              <a:effectLst/>
              <a:uFillTx/>
              <a:latin typeface="Arial"/>
            </a:endParaRPr>
          </a:p>
        </p:txBody>
      </p:sp>
      <p:sp>
        <p:nvSpPr>
          <p:cNvPr id="662"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663"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664" name="Rectangle 6"/>
          <p:cNvSpPr/>
          <p:nvPr/>
        </p:nvSpPr>
        <p:spPr>
          <a:xfrm>
            <a:off x="567000" y="6226920"/>
            <a:ext cx="67896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665"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666"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35</a:t>
            </a:r>
            <a:endParaRPr lang="en-US" sz="900" b="0" u="none" strike="noStrike">
              <a:solidFill>
                <a:srgbClr val="000000"/>
              </a:solidFill>
              <a:effectLst/>
              <a:uFillTx/>
              <a:latin typeface="Arial"/>
            </a:endParaRPr>
          </a:p>
        </p:txBody>
      </p:sp>
      <p:sp>
        <p:nvSpPr>
          <p:cNvPr id="667" name="TextBox 9"/>
          <p:cNvSpPr/>
          <p:nvPr/>
        </p:nvSpPr>
        <p:spPr>
          <a:xfrm>
            <a:off x="567000" y="1627560"/>
            <a:ext cx="38401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baseline variant (seed 42, full data)</a:t>
            </a:r>
            <a:endParaRPr lang="en-US" sz="1050" b="0" u="none" strike="noStrike">
              <a:solidFill>
                <a:srgbClr val="000000"/>
              </a:solidFill>
              <a:effectLst/>
              <a:uFillTx/>
              <a:latin typeface="Arial"/>
            </a:endParaRPr>
          </a:p>
        </p:txBody>
      </p:sp>
      <p:sp>
        <p:nvSpPr>
          <p:cNvPr id="668" name="TextBox 10"/>
          <p:cNvSpPr/>
          <p:nvPr/>
        </p:nvSpPr>
        <p:spPr>
          <a:xfrm>
            <a:off x="4407480" y="1627560"/>
            <a:ext cx="19800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accuracy %</a:t>
            </a:r>
            <a:endParaRPr lang="en-US" sz="1050" b="0" u="none" strike="noStrike">
              <a:solidFill>
                <a:srgbClr val="000000"/>
              </a:solidFill>
              <a:effectLst/>
              <a:uFillTx/>
              <a:latin typeface="Arial"/>
            </a:endParaRPr>
          </a:p>
        </p:txBody>
      </p:sp>
      <p:sp>
        <p:nvSpPr>
          <p:cNvPr id="669" name="Rectangle 11"/>
          <p:cNvSpPr/>
          <p:nvPr/>
        </p:nvSpPr>
        <p:spPr>
          <a:xfrm>
            <a:off x="567000" y="1920240"/>
            <a:ext cx="582048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670" name="TextBox 12"/>
          <p:cNvSpPr/>
          <p:nvPr/>
        </p:nvSpPr>
        <p:spPr>
          <a:xfrm>
            <a:off x="567000" y="201168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16 channels, square</a:t>
            </a:r>
            <a:endParaRPr lang="en-US" sz="1100" b="0" u="none" strike="noStrike">
              <a:solidFill>
                <a:srgbClr val="000000"/>
              </a:solidFill>
              <a:effectLst/>
              <a:uFillTx/>
              <a:latin typeface="Arial"/>
            </a:endParaRPr>
          </a:p>
        </p:txBody>
      </p:sp>
      <p:sp>
        <p:nvSpPr>
          <p:cNvPr id="671" name="TextBox 13"/>
          <p:cNvSpPr/>
          <p:nvPr/>
        </p:nvSpPr>
        <p:spPr>
          <a:xfrm>
            <a:off x="4407480" y="2011680"/>
            <a:ext cx="1980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95.00</a:t>
            </a:r>
            <a:endParaRPr lang="en-US" sz="1100" b="0" u="none" strike="noStrike">
              <a:solidFill>
                <a:srgbClr val="000000"/>
              </a:solidFill>
              <a:effectLst/>
              <a:uFillTx/>
              <a:latin typeface="Arial"/>
            </a:endParaRPr>
          </a:p>
        </p:txBody>
      </p:sp>
      <p:sp>
        <p:nvSpPr>
          <p:cNvPr id="672" name="TextBox 14"/>
          <p:cNvSpPr/>
          <p:nvPr/>
        </p:nvSpPr>
        <p:spPr>
          <a:xfrm>
            <a:off x="567000" y="232272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32 channels, square  (our reproduction)</a:t>
            </a:r>
            <a:endParaRPr lang="en-US" sz="1100" b="0" u="none" strike="noStrike">
              <a:solidFill>
                <a:srgbClr val="000000"/>
              </a:solidFill>
              <a:effectLst/>
              <a:uFillTx/>
              <a:latin typeface="Arial"/>
            </a:endParaRPr>
          </a:p>
        </p:txBody>
      </p:sp>
      <p:sp>
        <p:nvSpPr>
          <p:cNvPr id="673" name="TextBox 15"/>
          <p:cNvSpPr/>
          <p:nvPr/>
        </p:nvSpPr>
        <p:spPr>
          <a:xfrm>
            <a:off x="4407480" y="2322720"/>
            <a:ext cx="1980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94.72</a:t>
            </a:r>
            <a:endParaRPr lang="en-US" sz="1100" b="0" u="none" strike="noStrike">
              <a:solidFill>
                <a:srgbClr val="000000"/>
              </a:solidFill>
              <a:effectLst/>
              <a:uFillTx/>
              <a:latin typeface="Arial"/>
            </a:endParaRPr>
          </a:p>
        </p:txBody>
      </p:sp>
      <p:sp>
        <p:nvSpPr>
          <p:cNvPr id="674" name="TextBox 16"/>
          <p:cNvSpPr/>
          <p:nvPr/>
        </p:nvSpPr>
        <p:spPr>
          <a:xfrm>
            <a:off x="567000" y="263340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64 channels, square</a:t>
            </a:r>
            <a:endParaRPr lang="en-US" sz="1100" b="0" u="none" strike="noStrike">
              <a:solidFill>
                <a:srgbClr val="000000"/>
              </a:solidFill>
              <a:effectLst/>
              <a:uFillTx/>
              <a:latin typeface="Arial"/>
            </a:endParaRPr>
          </a:p>
        </p:txBody>
      </p:sp>
      <p:sp>
        <p:nvSpPr>
          <p:cNvPr id="675" name="TextBox 17"/>
          <p:cNvSpPr/>
          <p:nvPr/>
        </p:nvSpPr>
        <p:spPr>
          <a:xfrm>
            <a:off x="4407480" y="2633400"/>
            <a:ext cx="1980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90.28</a:t>
            </a:r>
            <a:endParaRPr lang="en-US" sz="1100" b="0" u="none" strike="noStrike">
              <a:solidFill>
                <a:srgbClr val="000000"/>
              </a:solidFill>
              <a:effectLst/>
              <a:uFillTx/>
              <a:latin typeface="Arial"/>
            </a:endParaRPr>
          </a:p>
        </p:txBody>
      </p:sp>
      <p:sp>
        <p:nvSpPr>
          <p:cNvPr id="676" name="TextBox 18"/>
          <p:cNvSpPr/>
          <p:nvPr/>
        </p:nvSpPr>
        <p:spPr>
          <a:xfrm>
            <a:off x="567000" y="294444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32 channels, ReLU</a:t>
            </a:r>
            <a:endParaRPr lang="en-US" sz="1100" b="0" u="none" strike="noStrike">
              <a:solidFill>
                <a:srgbClr val="000000"/>
              </a:solidFill>
              <a:effectLst/>
              <a:uFillTx/>
              <a:latin typeface="Arial"/>
            </a:endParaRPr>
          </a:p>
        </p:txBody>
      </p:sp>
      <p:sp>
        <p:nvSpPr>
          <p:cNvPr id="677" name="TextBox 19"/>
          <p:cNvSpPr/>
          <p:nvPr/>
        </p:nvSpPr>
        <p:spPr>
          <a:xfrm>
            <a:off x="4407480" y="2944440"/>
            <a:ext cx="1980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86.94</a:t>
            </a:r>
            <a:endParaRPr lang="en-US" sz="1100" b="0" u="none" strike="noStrike">
              <a:solidFill>
                <a:srgbClr val="000000"/>
              </a:solidFill>
              <a:effectLst/>
              <a:uFillTx/>
              <a:latin typeface="Arial"/>
            </a:endParaRPr>
          </a:p>
        </p:txBody>
      </p:sp>
      <p:sp>
        <p:nvSpPr>
          <p:cNvPr id="678" name="TextBox 20"/>
          <p:cNvSpPr/>
          <p:nvPr/>
        </p:nvSpPr>
        <p:spPr>
          <a:xfrm>
            <a:off x="567000" y="325512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F1F5F9"/>
                </a:solidFill>
                <a:effectLst/>
                <a:uFillTx/>
                <a:latin typeface="Inter"/>
              </a:rPr>
              <a:t>128 channels, square</a:t>
            </a:r>
            <a:endParaRPr lang="en-US" sz="1100" b="0" u="none" strike="noStrike">
              <a:solidFill>
                <a:srgbClr val="000000"/>
              </a:solidFill>
              <a:effectLst/>
              <a:uFillTx/>
              <a:latin typeface="Arial"/>
            </a:endParaRPr>
          </a:p>
        </p:txBody>
      </p:sp>
      <p:sp>
        <p:nvSpPr>
          <p:cNvPr id="679" name="TextBox 21"/>
          <p:cNvSpPr/>
          <p:nvPr/>
        </p:nvSpPr>
        <p:spPr>
          <a:xfrm>
            <a:off x="4407480" y="3255120"/>
            <a:ext cx="1980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u="none" strike="noStrike">
                <a:solidFill>
                  <a:srgbClr val="CBD5E1"/>
                </a:solidFill>
                <a:effectLst/>
                <a:uFillTx/>
                <a:latin typeface="Source Code Pro"/>
              </a:rPr>
              <a:t>86.67</a:t>
            </a:r>
            <a:endParaRPr lang="en-US" sz="1100" b="0" u="none" strike="noStrike">
              <a:solidFill>
                <a:srgbClr val="000000"/>
              </a:solidFill>
              <a:effectLst/>
              <a:uFillTx/>
              <a:latin typeface="Arial"/>
            </a:endParaRPr>
          </a:p>
        </p:txBody>
      </p:sp>
      <p:sp>
        <p:nvSpPr>
          <p:cNvPr id="680" name="Rounded Rectangle 22"/>
          <p:cNvSpPr/>
          <p:nvPr/>
        </p:nvSpPr>
        <p:spPr>
          <a:xfrm>
            <a:off x="475560" y="3515760"/>
            <a:ext cx="6003360" cy="292320"/>
          </a:xfrm>
          <a:prstGeom prst="roundRect">
            <a:avLst>
              <a:gd name="adj" fmla="val 6000"/>
            </a:avLst>
          </a:prstGeom>
          <a:solidFill>
            <a:srgbClr val="16213C"/>
          </a:solidFill>
          <a:ln w="12700">
            <a:solidFill>
              <a:srgbClr val="16213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81" name="TextBox 23"/>
          <p:cNvSpPr/>
          <p:nvPr/>
        </p:nvSpPr>
        <p:spPr>
          <a:xfrm>
            <a:off x="567000" y="3566160"/>
            <a:ext cx="3840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F1F5F9"/>
                </a:solidFill>
                <a:effectLst/>
                <a:uFillTx/>
                <a:latin typeface="Inter"/>
              </a:rPr>
              <a:t>published claim (Jia et al., Table 3)</a:t>
            </a:r>
            <a:endParaRPr lang="en-US" sz="1100" b="0" u="none" strike="noStrike">
              <a:solidFill>
                <a:srgbClr val="000000"/>
              </a:solidFill>
              <a:effectLst/>
              <a:uFillTx/>
              <a:latin typeface="Arial"/>
            </a:endParaRPr>
          </a:p>
        </p:txBody>
      </p:sp>
      <p:sp>
        <p:nvSpPr>
          <p:cNvPr id="682" name="TextBox 24"/>
          <p:cNvSpPr/>
          <p:nvPr/>
        </p:nvSpPr>
        <p:spPr>
          <a:xfrm>
            <a:off x="4407480" y="3566160"/>
            <a:ext cx="198000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FAB219"/>
                </a:solidFill>
                <a:effectLst/>
                <a:uFillTx/>
                <a:latin typeface="Source Code Pro"/>
              </a:rPr>
              <a:t>97.10</a:t>
            </a:r>
            <a:endParaRPr lang="en-US" sz="1100" b="0" u="none" strike="noStrike">
              <a:solidFill>
                <a:srgbClr val="000000"/>
              </a:solidFill>
              <a:effectLst/>
              <a:uFillTx/>
              <a:latin typeface="Arial"/>
            </a:endParaRPr>
          </a:p>
        </p:txBody>
      </p:sp>
      <p:sp>
        <p:nvSpPr>
          <p:cNvPr id="683" name="Rounded Rectangle 25"/>
          <p:cNvSpPr/>
          <p:nvPr/>
        </p:nvSpPr>
        <p:spPr>
          <a:xfrm>
            <a:off x="7113240" y="1627560"/>
            <a:ext cx="4511160" cy="22399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84" name="Rectangle 26"/>
          <p:cNvSpPr/>
          <p:nvPr/>
        </p:nvSpPr>
        <p:spPr>
          <a:xfrm>
            <a:off x="7113240" y="1627560"/>
            <a:ext cx="40680" cy="223992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85" name="TextBox 27"/>
          <p:cNvSpPr/>
          <p:nvPr/>
        </p:nvSpPr>
        <p:spPr>
          <a:xfrm>
            <a:off x="7332840" y="176472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The finding survives the attack</a:t>
            </a:r>
            <a:endParaRPr lang="en-US" sz="1150" b="0" u="none" strike="noStrike">
              <a:solidFill>
                <a:srgbClr val="000000"/>
              </a:solidFill>
              <a:effectLst/>
              <a:uFillTx/>
              <a:latin typeface="Arial"/>
            </a:endParaRPr>
          </a:p>
        </p:txBody>
      </p:sp>
      <p:sp>
        <p:nvSpPr>
          <p:cNvPr id="686" name="TextBox 28"/>
          <p:cNvSpPr/>
          <p:nvPr/>
        </p:nvSpPr>
        <p:spPr>
          <a:xfrm>
            <a:off x="7332840" y="2103120"/>
            <a:ext cx="4090320" cy="161820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Varying the two things the paper leaves unspecified — convolution width and activation — the best variant reaches 95.00%, still 2.10 points short of the published figure.</a:t>
            </a:r>
            <a:endParaRPr lang="en-US" sz="1150" b="0" u="none" strike="noStrike">
              <a:solidFill>
                <a:srgbClr val="000000"/>
              </a:solidFill>
              <a:effectLst/>
              <a:uFillTx/>
              <a:latin typeface="Arial"/>
            </a:endParaRPr>
          </a:p>
          <a:p>
            <a:pPr defTabSz="457200">
              <a:lnSpc>
                <a:spcPct val="124000"/>
              </a:lnSpc>
              <a:spcAft>
                <a:spcPts val="400"/>
              </a:spcAft>
            </a:pP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So the gap is not an artefact of our assumptions. Some other unreported detail may explain it; we cannot test what is not described.</a:t>
            </a:r>
            <a:endParaRPr lang="en-US" sz="1150" b="0" u="none" strike="noStrike">
              <a:solidFill>
                <a:srgbClr val="000000"/>
              </a:solidFill>
              <a:effectLst/>
              <a:uFillTx/>
              <a:latin typeface="Arial"/>
            </a:endParaRPr>
          </a:p>
        </p:txBody>
      </p:sp>
      <p:sp>
        <p:nvSpPr>
          <p:cNvPr id="687" name="Rounded Rectangle 29"/>
          <p:cNvSpPr/>
          <p:nvPr/>
        </p:nvSpPr>
        <p:spPr>
          <a:xfrm>
            <a:off x="7113240" y="4096440"/>
            <a:ext cx="4511160" cy="16912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88" name="Rectangle 30"/>
          <p:cNvSpPr/>
          <p:nvPr/>
        </p:nvSpPr>
        <p:spPr>
          <a:xfrm>
            <a:off x="7113240" y="4096440"/>
            <a:ext cx="40680" cy="169128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89" name="TextBox 31"/>
          <p:cNvSpPr/>
          <p:nvPr/>
        </p:nvSpPr>
        <p:spPr>
          <a:xfrm>
            <a:off x="7332840" y="423360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3987E5"/>
                </a:solidFill>
                <a:effectLst/>
                <a:uFillTx/>
                <a:latin typeface="Inter"/>
              </a:rPr>
              <a:t>A side finding</a:t>
            </a:r>
            <a:endParaRPr lang="en-US" sz="1150" b="0" u="none" strike="noStrike">
              <a:solidFill>
                <a:srgbClr val="000000"/>
              </a:solidFill>
              <a:effectLst/>
              <a:uFillTx/>
              <a:latin typeface="Arial"/>
            </a:endParaRPr>
          </a:p>
        </p:txBody>
      </p:sp>
      <p:sp>
        <p:nvSpPr>
          <p:cNvPr id="690" name="TextBox 32"/>
          <p:cNvSpPr/>
          <p:nvPr/>
        </p:nvSpPr>
        <p:spPr>
          <a:xfrm>
            <a:off x="7332840" y="4572000"/>
            <a:ext cx="4090320" cy="10695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Swapping to ReLU costs 7.8 points against the square activation. On this architecture the CKKS-compatible choice is also the better-performing one — the opposite of the usual 'polynomial activation is the price of encryption' trade-off.</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548" dur="indefinite" restart="never" nodeType="tmRoot">
          <p:childTnLst>
            <p:seq>
              <p:cTn id="549" dur="indefinite" nodeType="mainSeq">
                <p:childTnLst>
                  <p:par>
                    <p:cTn id="550" fill="hold">
                      <p:stCondLst>
                        <p:cond delay="indefinite"/>
                      </p:stCondLst>
                      <p:childTnLst>
                        <p:par>
                          <p:cTn id="551" fill="hold">
                            <p:stCondLst>
                              <p:cond delay="0"/>
                            </p:stCondLst>
                            <p:childTnLst>
                              <p:par>
                                <p:cTn id="552" presetID="10" presetClass="entr" fill="hold" nodeType="clickEffect">
                                  <p:stCondLst>
                                    <p:cond delay="0"/>
                                  </p:stCondLst>
                                  <p:childTnLst>
                                    <p:set>
                                      <p:cBhvr>
                                        <p:cTn id="553" dur="1" fill="hold">
                                          <p:stCondLst>
                                            <p:cond delay="0"/>
                                          </p:stCondLst>
                                        </p:cTn>
                                        <p:tgtEl>
                                          <p:spTgt spid="669"/>
                                        </p:tgtEl>
                                        <p:attrNameLst>
                                          <p:attrName>style.visibility</p:attrName>
                                        </p:attrNameLst>
                                      </p:cBhvr>
                                      <p:to>
                                        <p:strVal val="visible"/>
                                      </p:to>
                                    </p:set>
                                    <p:animEffect transition="in" filter="fade">
                                      <p:cBhvr additive="repl">
                                        <p:cTn id="554" dur="350"/>
                                        <p:tgtEl>
                                          <p:spTgt spid="669"/>
                                        </p:tgtEl>
                                      </p:cBhvr>
                                    </p:animEffect>
                                  </p:childTnLst>
                                </p:cTn>
                              </p:par>
                            </p:childTnLst>
                          </p:cTn>
                        </p:par>
                      </p:childTnLst>
                    </p:cTn>
                  </p:par>
                  <p:par>
                    <p:cTn id="555" fill="hold">
                      <p:stCondLst>
                        <p:cond delay="indefinite"/>
                      </p:stCondLst>
                      <p:childTnLst>
                        <p:par>
                          <p:cTn id="556" fill="hold">
                            <p:stCondLst>
                              <p:cond delay="0"/>
                            </p:stCondLst>
                            <p:childTnLst>
                              <p:par>
                                <p:cTn id="557" presetID="10" presetClass="entr" fill="hold" nodeType="afterEffect">
                                  <p:stCondLst>
                                    <p:cond delay="0"/>
                                  </p:stCondLst>
                                  <p:childTnLst>
                                    <p:set>
                                      <p:cBhvr>
                                        <p:cTn id="558" dur="1" fill="hold">
                                          <p:stCondLst>
                                            <p:cond delay="0"/>
                                          </p:stCondLst>
                                        </p:cTn>
                                        <p:tgtEl>
                                          <p:spTgt spid="670"/>
                                        </p:tgtEl>
                                        <p:attrNameLst>
                                          <p:attrName>style.visibility</p:attrName>
                                        </p:attrNameLst>
                                      </p:cBhvr>
                                      <p:to>
                                        <p:strVal val="visible"/>
                                      </p:to>
                                    </p:set>
                                    <p:animEffect transition="in" filter="fade">
                                      <p:cBhvr additive="repl">
                                        <p:cTn id="559" dur="350"/>
                                        <p:tgtEl>
                                          <p:spTgt spid="670"/>
                                        </p:tgtEl>
                                      </p:cBhvr>
                                    </p:animEffect>
                                  </p:childTnLst>
                                </p:cTn>
                              </p:par>
                            </p:childTnLst>
                          </p:cTn>
                        </p:par>
                      </p:childTnLst>
                    </p:cTn>
                  </p:par>
                  <p:par>
                    <p:cTn id="560" fill="hold">
                      <p:stCondLst>
                        <p:cond delay="indefinite"/>
                      </p:stCondLst>
                      <p:childTnLst>
                        <p:par>
                          <p:cTn id="561" fill="hold">
                            <p:stCondLst>
                              <p:cond delay="0"/>
                            </p:stCondLst>
                            <p:childTnLst>
                              <p:par>
                                <p:cTn id="562" presetID="10" presetClass="entr" fill="hold" nodeType="afterEffect">
                                  <p:stCondLst>
                                    <p:cond delay="0"/>
                                  </p:stCondLst>
                                  <p:childTnLst>
                                    <p:set>
                                      <p:cBhvr>
                                        <p:cTn id="563" dur="1" fill="hold">
                                          <p:stCondLst>
                                            <p:cond delay="0"/>
                                          </p:stCondLst>
                                        </p:cTn>
                                        <p:tgtEl>
                                          <p:spTgt spid="671"/>
                                        </p:tgtEl>
                                        <p:attrNameLst>
                                          <p:attrName>style.visibility</p:attrName>
                                        </p:attrNameLst>
                                      </p:cBhvr>
                                      <p:to>
                                        <p:strVal val="visible"/>
                                      </p:to>
                                    </p:set>
                                    <p:animEffect transition="in" filter="fade">
                                      <p:cBhvr additive="repl">
                                        <p:cTn id="564" dur="350"/>
                                        <p:tgtEl>
                                          <p:spTgt spid="671"/>
                                        </p:tgtEl>
                                      </p:cBhvr>
                                    </p:animEffect>
                                  </p:childTnLst>
                                </p:cTn>
                              </p:par>
                            </p:childTnLst>
                          </p:cTn>
                        </p:par>
                      </p:childTnLst>
                    </p:cTn>
                  </p:par>
                  <p:par>
                    <p:cTn id="565" fill="hold">
                      <p:stCondLst>
                        <p:cond delay="indefinite"/>
                      </p:stCondLst>
                      <p:childTnLst>
                        <p:par>
                          <p:cTn id="566" fill="hold">
                            <p:stCondLst>
                              <p:cond delay="0"/>
                            </p:stCondLst>
                            <p:childTnLst>
                              <p:par>
                                <p:cTn id="567" presetID="10" presetClass="entr" fill="hold" nodeType="afterEffect">
                                  <p:stCondLst>
                                    <p:cond delay="0"/>
                                  </p:stCondLst>
                                  <p:childTnLst>
                                    <p:set>
                                      <p:cBhvr>
                                        <p:cTn id="568" dur="1" fill="hold">
                                          <p:stCondLst>
                                            <p:cond delay="0"/>
                                          </p:stCondLst>
                                        </p:cTn>
                                        <p:tgtEl>
                                          <p:spTgt spid="672"/>
                                        </p:tgtEl>
                                        <p:attrNameLst>
                                          <p:attrName>style.visibility</p:attrName>
                                        </p:attrNameLst>
                                      </p:cBhvr>
                                      <p:to>
                                        <p:strVal val="visible"/>
                                      </p:to>
                                    </p:set>
                                    <p:animEffect transition="in" filter="fade">
                                      <p:cBhvr additive="repl">
                                        <p:cTn id="569" dur="350"/>
                                        <p:tgtEl>
                                          <p:spTgt spid="672"/>
                                        </p:tgtEl>
                                      </p:cBhvr>
                                    </p:animEffect>
                                  </p:childTnLst>
                                </p:cTn>
                              </p:par>
                            </p:childTnLst>
                          </p:cTn>
                        </p:par>
                      </p:childTnLst>
                    </p:cTn>
                  </p:par>
                  <p:par>
                    <p:cTn id="570" fill="hold">
                      <p:stCondLst>
                        <p:cond delay="indefinite"/>
                      </p:stCondLst>
                      <p:childTnLst>
                        <p:par>
                          <p:cTn id="571" fill="hold">
                            <p:stCondLst>
                              <p:cond delay="0"/>
                            </p:stCondLst>
                            <p:childTnLst>
                              <p:par>
                                <p:cTn id="572" presetID="10" presetClass="entr" fill="hold" nodeType="afterEffect">
                                  <p:stCondLst>
                                    <p:cond delay="0"/>
                                  </p:stCondLst>
                                  <p:childTnLst>
                                    <p:set>
                                      <p:cBhvr>
                                        <p:cTn id="573" dur="1" fill="hold">
                                          <p:stCondLst>
                                            <p:cond delay="0"/>
                                          </p:stCondLst>
                                        </p:cTn>
                                        <p:tgtEl>
                                          <p:spTgt spid="673"/>
                                        </p:tgtEl>
                                        <p:attrNameLst>
                                          <p:attrName>style.visibility</p:attrName>
                                        </p:attrNameLst>
                                      </p:cBhvr>
                                      <p:to>
                                        <p:strVal val="visible"/>
                                      </p:to>
                                    </p:set>
                                    <p:animEffect transition="in" filter="fade">
                                      <p:cBhvr additive="repl">
                                        <p:cTn id="574" dur="350"/>
                                        <p:tgtEl>
                                          <p:spTgt spid="673"/>
                                        </p:tgtEl>
                                      </p:cBhvr>
                                    </p:animEffect>
                                  </p:childTnLst>
                                </p:cTn>
                              </p:par>
                            </p:childTnLst>
                          </p:cTn>
                        </p:par>
                      </p:childTnLst>
                    </p:cTn>
                  </p:par>
                  <p:par>
                    <p:cTn id="575" fill="hold">
                      <p:stCondLst>
                        <p:cond delay="indefinite"/>
                      </p:stCondLst>
                      <p:childTnLst>
                        <p:par>
                          <p:cTn id="576" fill="hold">
                            <p:stCondLst>
                              <p:cond delay="0"/>
                            </p:stCondLst>
                            <p:childTnLst>
                              <p:par>
                                <p:cTn id="577" presetID="10" presetClass="entr" fill="hold" nodeType="afterEffect">
                                  <p:stCondLst>
                                    <p:cond delay="0"/>
                                  </p:stCondLst>
                                  <p:childTnLst>
                                    <p:set>
                                      <p:cBhvr>
                                        <p:cTn id="578" dur="1" fill="hold">
                                          <p:stCondLst>
                                            <p:cond delay="0"/>
                                          </p:stCondLst>
                                        </p:cTn>
                                        <p:tgtEl>
                                          <p:spTgt spid="674"/>
                                        </p:tgtEl>
                                        <p:attrNameLst>
                                          <p:attrName>style.visibility</p:attrName>
                                        </p:attrNameLst>
                                      </p:cBhvr>
                                      <p:to>
                                        <p:strVal val="visible"/>
                                      </p:to>
                                    </p:set>
                                    <p:animEffect transition="in" filter="fade">
                                      <p:cBhvr additive="repl">
                                        <p:cTn id="579" dur="350"/>
                                        <p:tgtEl>
                                          <p:spTgt spid="6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692"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Is the difference statistically real?</a:t>
            </a:r>
            <a:endParaRPr lang="en-US" sz="2700" b="0" u="none" strike="noStrike">
              <a:solidFill>
                <a:srgbClr val="000000"/>
              </a:solidFill>
              <a:effectLst/>
              <a:uFillTx/>
              <a:latin typeface="Arial"/>
            </a:endParaRPr>
          </a:p>
        </p:txBody>
      </p:sp>
      <p:sp>
        <p:nvSpPr>
          <p:cNvPr id="693"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Both models scored on the identical 360 test images, so the comparison is paired</a:t>
            </a:r>
            <a:endParaRPr lang="en-US" sz="1300" b="0" u="none" strike="noStrike">
              <a:solidFill>
                <a:srgbClr val="000000"/>
              </a:solidFill>
              <a:effectLst/>
              <a:uFillTx/>
              <a:latin typeface="Arial"/>
            </a:endParaRPr>
          </a:p>
        </p:txBody>
      </p:sp>
      <p:sp>
        <p:nvSpPr>
          <p:cNvPr id="694"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695"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696" name="Rectangle 6"/>
          <p:cNvSpPr/>
          <p:nvPr/>
        </p:nvSpPr>
        <p:spPr>
          <a:xfrm>
            <a:off x="567000" y="6226920"/>
            <a:ext cx="69836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697"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698"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36</a:t>
            </a:r>
            <a:endParaRPr lang="en-US" sz="900" b="0" u="none" strike="noStrike">
              <a:solidFill>
                <a:srgbClr val="000000"/>
              </a:solidFill>
              <a:effectLst/>
              <a:uFillTx/>
              <a:latin typeface="Arial"/>
            </a:endParaRPr>
          </a:p>
        </p:txBody>
      </p:sp>
      <p:sp>
        <p:nvSpPr>
          <p:cNvPr id="699" name="Rounded Rectangle 9"/>
          <p:cNvSpPr/>
          <p:nvPr/>
        </p:nvSpPr>
        <p:spPr>
          <a:xfrm>
            <a:off x="56700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00" name="TextBox 10"/>
          <p:cNvSpPr/>
          <p:nvPr/>
        </p:nvSpPr>
        <p:spPr>
          <a:xfrm>
            <a:off x="76824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0CA30C"/>
                </a:solidFill>
                <a:effectLst/>
                <a:uFillTx/>
                <a:latin typeface="Inter"/>
              </a:rPr>
              <a:t>+5.28 pts</a:t>
            </a:r>
            <a:endParaRPr lang="en-US" sz="2800" b="0" u="none" strike="noStrike">
              <a:solidFill>
                <a:srgbClr val="000000"/>
              </a:solidFill>
              <a:effectLst/>
              <a:uFillTx/>
              <a:latin typeface="Arial"/>
            </a:endParaRPr>
          </a:p>
        </p:txBody>
      </p:sp>
      <p:sp>
        <p:nvSpPr>
          <p:cNvPr id="701" name="TextBox 11"/>
          <p:cNvSpPr/>
          <p:nvPr/>
        </p:nvSpPr>
        <p:spPr>
          <a:xfrm>
            <a:off x="76824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accuracy improvement</a:t>
            </a:r>
            <a:endParaRPr lang="en-US" sz="1050" b="0" u="none" strike="noStrike">
              <a:solidFill>
                <a:srgbClr val="000000"/>
              </a:solidFill>
              <a:effectLst/>
              <a:uFillTx/>
              <a:latin typeface="Arial"/>
            </a:endParaRPr>
          </a:p>
        </p:txBody>
      </p:sp>
      <p:sp>
        <p:nvSpPr>
          <p:cNvPr id="702" name="Rounded Rectangle 12"/>
          <p:cNvSpPr/>
          <p:nvPr/>
        </p:nvSpPr>
        <p:spPr>
          <a:xfrm>
            <a:off x="337248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03" name="TextBox 13"/>
          <p:cNvSpPr/>
          <p:nvPr/>
        </p:nvSpPr>
        <p:spPr>
          <a:xfrm>
            <a:off x="357372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+3.1 to +7.8</a:t>
            </a:r>
            <a:endParaRPr lang="en-US" sz="2800" b="0" u="none" strike="noStrike">
              <a:solidFill>
                <a:srgbClr val="000000"/>
              </a:solidFill>
              <a:effectLst/>
              <a:uFillTx/>
              <a:latin typeface="Arial"/>
            </a:endParaRPr>
          </a:p>
        </p:txBody>
      </p:sp>
      <p:sp>
        <p:nvSpPr>
          <p:cNvPr id="704" name="TextBox 14"/>
          <p:cNvSpPr/>
          <p:nvPr/>
        </p:nvSpPr>
        <p:spPr>
          <a:xfrm>
            <a:off x="357372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95% bootstrap CI on the delta (pts)</a:t>
            </a:r>
            <a:endParaRPr lang="en-US" sz="1050" b="0" u="none" strike="noStrike">
              <a:solidFill>
                <a:srgbClr val="000000"/>
              </a:solidFill>
              <a:effectLst/>
              <a:uFillTx/>
              <a:latin typeface="Arial"/>
            </a:endParaRPr>
          </a:p>
        </p:txBody>
      </p:sp>
      <p:sp>
        <p:nvSpPr>
          <p:cNvPr id="705" name="Rounded Rectangle 15"/>
          <p:cNvSpPr/>
          <p:nvPr/>
        </p:nvSpPr>
        <p:spPr>
          <a:xfrm>
            <a:off x="617832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06" name="TextBox 16"/>
          <p:cNvSpPr/>
          <p:nvPr/>
        </p:nvSpPr>
        <p:spPr>
          <a:xfrm>
            <a:off x="637920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0CA30C"/>
                </a:solidFill>
                <a:effectLst/>
                <a:uFillTx/>
                <a:latin typeface="Inter"/>
              </a:rPr>
              <a:t>p = 3.8e-06</a:t>
            </a:r>
            <a:endParaRPr lang="en-US" sz="2800" b="0" u="none" strike="noStrike">
              <a:solidFill>
                <a:srgbClr val="000000"/>
              </a:solidFill>
              <a:effectLst/>
              <a:uFillTx/>
              <a:latin typeface="Arial"/>
            </a:endParaRPr>
          </a:p>
        </p:txBody>
      </p:sp>
      <p:sp>
        <p:nvSpPr>
          <p:cNvPr id="707" name="TextBox 17"/>
          <p:cNvSpPr/>
          <p:nvPr/>
        </p:nvSpPr>
        <p:spPr>
          <a:xfrm>
            <a:off x="637920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McNemar, exact binomial</a:t>
            </a:r>
            <a:endParaRPr lang="en-US" sz="1050" b="0" u="none" strike="noStrike">
              <a:solidFill>
                <a:srgbClr val="000000"/>
              </a:solidFill>
              <a:effectLst/>
              <a:uFillTx/>
              <a:latin typeface="Arial"/>
            </a:endParaRPr>
          </a:p>
        </p:txBody>
      </p:sp>
      <p:sp>
        <p:nvSpPr>
          <p:cNvPr id="708" name="Rounded Rectangle 18"/>
          <p:cNvSpPr/>
          <p:nvPr/>
        </p:nvSpPr>
        <p:spPr>
          <a:xfrm>
            <a:off x="898380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09" name="TextBox 19"/>
          <p:cNvSpPr/>
          <p:nvPr/>
        </p:nvSpPr>
        <p:spPr>
          <a:xfrm>
            <a:off x="918504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0CA30C"/>
                </a:solidFill>
                <a:effectLst/>
                <a:uFillTx/>
                <a:latin typeface="Inter"/>
              </a:rPr>
              <a:t>19 : 0</a:t>
            </a:r>
            <a:endParaRPr lang="en-US" sz="2800" b="0" u="none" strike="noStrike">
              <a:solidFill>
                <a:srgbClr val="000000"/>
              </a:solidFill>
              <a:effectLst/>
              <a:uFillTx/>
              <a:latin typeface="Arial"/>
            </a:endParaRPr>
          </a:p>
        </p:txBody>
      </p:sp>
      <p:sp>
        <p:nvSpPr>
          <p:cNvPr id="710" name="TextBox 20"/>
          <p:cNvSpPr/>
          <p:nvPr/>
        </p:nvSpPr>
        <p:spPr>
          <a:xfrm>
            <a:off x="918504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images gained : lost</a:t>
            </a:r>
            <a:endParaRPr lang="en-US" sz="1050" b="0" u="none" strike="noStrike">
              <a:solidFill>
                <a:srgbClr val="000000"/>
              </a:solidFill>
              <a:effectLst/>
              <a:uFillTx/>
              <a:latin typeface="Arial"/>
            </a:endParaRPr>
          </a:p>
        </p:txBody>
      </p:sp>
      <p:sp>
        <p:nvSpPr>
          <p:cNvPr id="711" name="TextBox 21"/>
          <p:cNvSpPr/>
          <p:nvPr/>
        </p:nvSpPr>
        <p:spPr>
          <a:xfrm>
            <a:off x="567000" y="3136320"/>
            <a:ext cx="29257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outcome on a test image</a:t>
            </a:r>
            <a:endParaRPr lang="en-US" sz="1050" b="0" u="none" strike="noStrike">
              <a:solidFill>
                <a:srgbClr val="000000"/>
              </a:solidFill>
              <a:effectLst/>
              <a:uFillTx/>
              <a:latin typeface="Arial"/>
            </a:endParaRPr>
          </a:p>
        </p:txBody>
      </p:sp>
      <p:sp>
        <p:nvSpPr>
          <p:cNvPr id="712" name="TextBox 22"/>
          <p:cNvSpPr/>
          <p:nvPr/>
        </p:nvSpPr>
        <p:spPr>
          <a:xfrm>
            <a:off x="3493080" y="3136320"/>
            <a:ext cx="19591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count</a:t>
            </a:r>
            <a:endParaRPr lang="en-US" sz="1050" b="0" u="none" strike="noStrike">
              <a:solidFill>
                <a:srgbClr val="000000"/>
              </a:solidFill>
              <a:effectLst/>
              <a:uFillTx/>
              <a:latin typeface="Arial"/>
            </a:endParaRPr>
          </a:p>
        </p:txBody>
      </p:sp>
      <p:sp>
        <p:nvSpPr>
          <p:cNvPr id="713" name="Rectangle 23"/>
          <p:cNvSpPr/>
          <p:nvPr/>
        </p:nvSpPr>
        <p:spPr>
          <a:xfrm>
            <a:off x="567000" y="3429000"/>
            <a:ext cx="488520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714" name="TextBox 24"/>
          <p:cNvSpPr/>
          <p:nvPr/>
        </p:nvSpPr>
        <p:spPr>
          <a:xfrm>
            <a:off x="567000" y="3520440"/>
            <a:ext cx="2925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both correct</a:t>
            </a:r>
            <a:endParaRPr lang="en-US" sz="1150" b="0" u="none" strike="noStrike">
              <a:solidFill>
                <a:srgbClr val="000000"/>
              </a:solidFill>
              <a:effectLst/>
              <a:uFillTx/>
              <a:latin typeface="Arial"/>
            </a:endParaRPr>
          </a:p>
        </p:txBody>
      </p:sp>
      <p:sp>
        <p:nvSpPr>
          <p:cNvPr id="715" name="TextBox 25"/>
          <p:cNvSpPr/>
          <p:nvPr/>
        </p:nvSpPr>
        <p:spPr>
          <a:xfrm>
            <a:off x="3493080" y="3520440"/>
            <a:ext cx="1959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341</a:t>
            </a:r>
            <a:endParaRPr lang="en-US" sz="1150" b="0" u="none" strike="noStrike">
              <a:solidFill>
                <a:srgbClr val="000000"/>
              </a:solidFill>
              <a:effectLst/>
              <a:uFillTx/>
              <a:latin typeface="Arial"/>
            </a:endParaRPr>
          </a:p>
        </p:txBody>
      </p:sp>
      <p:sp>
        <p:nvSpPr>
          <p:cNvPr id="716" name="TextBox 26"/>
          <p:cNvSpPr/>
          <p:nvPr/>
        </p:nvSpPr>
        <p:spPr>
          <a:xfrm>
            <a:off x="567000" y="3831480"/>
            <a:ext cx="2925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SAGE-HE only correct</a:t>
            </a:r>
            <a:endParaRPr lang="en-US" sz="1150" b="0" u="none" strike="noStrike">
              <a:solidFill>
                <a:srgbClr val="000000"/>
              </a:solidFill>
              <a:effectLst/>
              <a:uFillTx/>
              <a:latin typeface="Arial"/>
            </a:endParaRPr>
          </a:p>
        </p:txBody>
      </p:sp>
      <p:sp>
        <p:nvSpPr>
          <p:cNvPr id="717" name="TextBox 27"/>
          <p:cNvSpPr/>
          <p:nvPr/>
        </p:nvSpPr>
        <p:spPr>
          <a:xfrm>
            <a:off x="3493080" y="3831480"/>
            <a:ext cx="1959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19</a:t>
            </a:r>
            <a:endParaRPr lang="en-US" sz="1150" b="0" u="none" strike="noStrike">
              <a:solidFill>
                <a:srgbClr val="000000"/>
              </a:solidFill>
              <a:effectLst/>
              <a:uFillTx/>
              <a:latin typeface="Arial"/>
            </a:endParaRPr>
          </a:p>
        </p:txBody>
      </p:sp>
      <p:sp>
        <p:nvSpPr>
          <p:cNvPr id="718" name="TextBox 28"/>
          <p:cNvSpPr/>
          <p:nvPr/>
        </p:nvSpPr>
        <p:spPr>
          <a:xfrm>
            <a:off x="567000" y="4142160"/>
            <a:ext cx="2925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baseline only correct</a:t>
            </a:r>
            <a:endParaRPr lang="en-US" sz="1150" b="0" u="none" strike="noStrike">
              <a:solidFill>
                <a:srgbClr val="000000"/>
              </a:solidFill>
              <a:effectLst/>
              <a:uFillTx/>
              <a:latin typeface="Arial"/>
            </a:endParaRPr>
          </a:p>
        </p:txBody>
      </p:sp>
      <p:sp>
        <p:nvSpPr>
          <p:cNvPr id="719" name="TextBox 29"/>
          <p:cNvSpPr/>
          <p:nvPr/>
        </p:nvSpPr>
        <p:spPr>
          <a:xfrm>
            <a:off x="3493080" y="4142160"/>
            <a:ext cx="1959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0</a:t>
            </a:r>
            <a:endParaRPr lang="en-US" sz="1150" b="0" u="none" strike="noStrike">
              <a:solidFill>
                <a:srgbClr val="000000"/>
              </a:solidFill>
              <a:effectLst/>
              <a:uFillTx/>
              <a:latin typeface="Arial"/>
            </a:endParaRPr>
          </a:p>
        </p:txBody>
      </p:sp>
      <p:sp>
        <p:nvSpPr>
          <p:cNvPr id="720" name="TextBox 30"/>
          <p:cNvSpPr/>
          <p:nvPr/>
        </p:nvSpPr>
        <p:spPr>
          <a:xfrm>
            <a:off x="567000" y="4453200"/>
            <a:ext cx="2925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both wrong</a:t>
            </a:r>
            <a:endParaRPr lang="en-US" sz="1150" b="0" u="none" strike="noStrike">
              <a:solidFill>
                <a:srgbClr val="000000"/>
              </a:solidFill>
              <a:effectLst/>
              <a:uFillTx/>
              <a:latin typeface="Arial"/>
            </a:endParaRPr>
          </a:p>
        </p:txBody>
      </p:sp>
      <p:sp>
        <p:nvSpPr>
          <p:cNvPr id="721" name="TextBox 31"/>
          <p:cNvSpPr/>
          <p:nvPr/>
        </p:nvSpPr>
        <p:spPr>
          <a:xfrm>
            <a:off x="3493080" y="4453200"/>
            <a:ext cx="1959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0</a:t>
            </a:r>
            <a:endParaRPr lang="en-US" sz="1150" b="0" u="none" strike="noStrike">
              <a:solidFill>
                <a:srgbClr val="000000"/>
              </a:solidFill>
              <a:effectLst/>
              <a:uFillTx/>
              <a:latin typeface="Arial"/>
            </a:endParaRPr>
          </a:p>
        </p:txBody>
      </p:sp>
      <p:sp>
        <p:nvSpPr>
          <p:cNvPr id="722" name="TextBox 32"/>
          <p:cNvSpPr/>
          <p:nvPr/>
        </p:nvSpPr>
        <p:spPr>
          <a:xfrm>
            <a:off x="567000" y="4763880"/>
            <a:ext cx="2925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discordant pairs</a:t>
            </a:r>
            <a:endParaRPr lang="en-US" sz="1150" b="0" u="none" strike="noStrike">
              <a:solidFill>
                <a:srgbClr val="000000"/>
              </a:solidFill>
              <a:effectLst/>
              <a:uFillTx/>
              <a:latin typeface="Arial"/>
            </a:endParaRPr>
          </a:p>
        </p:txBody>
      </p:sp>
      <p:sp>
        <p:nvSpPr>
          <p:cNvPr id="723" name="TextBox 33"/>
          <p:cNvSpPr/>
          <p:nvPr/>
        </p:nvSpPr>
        <p:spPr>
          <a:xfrm>
            <a:off x="3493080" y="4763880"/>
            <a:ext cx="19591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19</a:t>
            </a:r>
            <a:endParaRPr lang="en-US" sz="1150" b="0" u="none" strike="noStrike">
              <a:solidFill>
                <a:srgbClr val="000000"/>
              </a:solidFill>
              <a:effectLst/>
              <a:uFillTx/>
              <a:latin typeface="Arial"/>
            </a:endParaRPr>
          </a:p>
        </p:txBody>
      </p:sp>
      <p:sp>
        <p:nvSpPr>
          <p:cNvPr id="724" name="Rounded Rectangle 34"/>
          <p:cNvSpPr/>
          <p:nvPr/>
        </p:nvSpPr>
        <p:spPr>
          <a:xfrm>
            <a:off x="6365160" y="3136320"/>
            <a:ext cx="5259240" cy="219420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25" name="Rectangle 35"/>
          <p:cNvSpPr/>
          <p:nvPr/>
        </p:nvSpPr>
        <p:spPr>
          <a:xfrm>
            <a:off x="6365160" y="3136320"/>
            <a:ext cx="40680" cy="219420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26" name="TextBox 36"/>
          <p:cNvSpPr/>
          <p:nvPr/>
        </p:nvSpPr>
        <p:spPr>
          <a:xfrm>
            <a:off x="6584760" y="3273480"/>
            <a:ext cx="4838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Why McNemar and not a two-sample test</a:t>
            </a:r>
            <a:endParaRPr lang="en-US" sz="1150" b="0" u="none" strike="noStrike">
              <a:solidFill>
                <a:srgbClr val="000000"/>
              </a:solidFill>
              <a:effectLst/>
              <a:uFillTx/>
              <a:latin typeface="Arial"/>
            </a:endParaRPr>
          </a:p>
        </p:txBody>
      </p:sp>
      <p:sp>
        <p:nvSpPr>
          <p:cNvPr id="727" name="TextBox 37"/>
          <p:cNvSpPr/>
          <p:nvPr/>
        </p:nvSpPr>
        <p:spPr>
          <a:xfrm>
            <a:off x="6584760" y="3611880"/>
            <a:ext cx="4838760" cy="157248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two models see the same images, so the predictions are paired. McNemar looks only at the images where they disagree and asks whether the split is more lopsided than a coin flip.</a:t>
            </a:r>
            <a:endParaRPr lang="en-US" sz="1150" b="0" u="none" strike="noStrike">
              <a:solidFill>
                <a:srgbClr val="000000"/>
              </a:solidFill>
              <a:effectLst/>
              <a:uFillTx/>
              <a:latin typeface="Arial"/>
            </a:endParaRPr>
          </a:p>
          <a:p>
            <a:pPr defTabSz="457200">
              <a:lnSpc>
                <a:spcPct val="124000"/>
              </a:lnSpc>
              <a:spcAft>
                <a:spcPts val="400"/>
              </a:spcAft>
            </a:pP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Here every one of the 19 disagreements went the same way: SAGE-HE never missed an image the baseline got right.</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580" dur="indefinite" restart="never" nodeType="tmRoot">
          <p:childTnLst>
            <p:seq>
              <p:cTn id="581" dur="indefinite" nodeType="mainSeq">
                <p:childTnLst>
                  <p:par>
                    <p:cTn id="582" fill="hold">
                      <p:stCondLst>
                        <p:cond delay="indefinite"/>
                      </p:stCondLst>
                      <p:childTnLst>
                        <p:par>
                          <p:cTn id="583" fill="hold">
                            <p:stCondLst>
                              <p:cond delay="0"/>
                            </p:stCondLst>
                            <p:childTnLst>
                              <p:par>
                                <p:cTn id="584" presetID="10" presetClass="entr" fill="hold" nodeType="clickEffect">
                                  <p:stCondLst>
                                    <p:cond delay="0"/>
                                  </p:stCondLst>
                                  <p:childTnLst>
                                    <p:set>
                                      <p:cBhvr>
                                        <p:cTn id="585" dur="1" fill="hold">
                                          <p:stCondLst>
                                            <p:cond delay="0"/>
                                          </p:stCondLst>
                                        </p:cTn>
                                        <p:tgtEl>
                                          <p:spTgt spid="700"/>
                                        </p:tgtEl>
                                        <p:attrNameLst>
                                          <p:attrName>style.visibility</p:attrName>
                                        </p:attrNameLst>
                                      </p:cBhvr>
                                      <p:to>
                                        <p:strVal val="visible"/>
                                      </p:to>
                                    </p:set>
                                    <p:animEffect transition="in" filter="fade">
                                      <p:cBhvr additive="repl">
                                        <p:cTn id="586" dur="350"/>
                                        <p:tgtEl>
                                          <p:spTgt spid="700"/>
                                        </p:tgtEl>
                                      </p:cBhvr>
                                    </p:animEffect>
                                  </p:childTnLst>
                                </p:cTn>
                              </p:par>
                            </p:childTnLst>
                          </p:cTn>
                        </p:par>
                      </p:childTnLst>
                    </p:cTn>
                  </p:par>
                  <p:par>
                    <p:cTn id="587" fill="hold">
                      <p:stCondLst>
                        <p:cond delay="indefinite"/>
                      </p:stCondLst>
                      <p:childTnLst>
                        <p:par>
                          <p:cTn id="588" fill="hold">
                            <p:stCondLst>
                              <p:cond delay="0"/>
                            </p:stCondLst>
                            <p:childTnLst>
                              <p:par>
                                <p:cTn id="589" presetID="10" presetClass="entr" fill="hold" nodeType="afterEffect">
                                  <p:stCondLst>
                                    <p:cond delay="0"/>
                                  </p:stCondLst>
                                  <p:childTnLst>
                                    <p:set>
                                      <p:cBhvr>
                                        <p:cTn id="590" dur="1" fill="hold">
                                          <p:stCondLst>
                                            <p:cond delay="0"/>
                                          </p:stCondLst>
                                        </p:cTn>
                                        <p:tgtEl>
                                          <p:spTgt spid="701"/>
                                        </p:tgtEl>
                                        <p:attrNameLst>
                                          <p:attrName>style.visibility</p:attrName>
                                        </p:attrNameLst>
                                      </p:cBhvr>
                                      <p:to>
                                        <p:strVal val="visible"/>
                                      </p:to>
                                    </p:set>
                                    <p:animEffect transition="in" filter="fade">
                                      <p:cBhvr additive="repl">
                                        <p:cTn id="591" dur="350"/>
                                        <p:tgtEl>
                                          <p:spTgt spid="701"/>
                                        </p:tgtEl>
                                      </p:cBhvr>
                                    </p:animEffect>
                                  </p:childTnLst>
                                </p:cTn>
                              </p:par>
                            </p:childTnLst>
                          </p:cTn>
                        </p:par>
                      </p:childTnLst>
                    </p:cTn>
                  </p:par>
                  <p:par>
                    <p:cTn id="592" fill="hold">
                      <p:stCondLst>
                        <p:cond delay="indefinite"/>
                      </p:stCondLst>
                      <p:childTnLst>
                        <p:par>
                          <p:cTn id="593" fill="hold">
                            <p:stCondLst>
                              <p:cond delay="0"/>
                            </p:stCondLst>
                            <p:childTnLst>
                              <p:par>
                                <p:cTn id="594" presetID="10" presetClass="entr" fill="hold" nodeType="afterEffect">
                                  <p:stCondLst>
                                    <p:cond delay="0"/>
                                  </p:stCondLst>
                                  <p:childTnLst>
                                    <p:set>
                                      <p:cBhvr>
                                        <p:cTn id="595" dur="1" fill="hold">
                                          <p:stCondLst>
                                            <p:cond delay="0"/>
                                          </p:stCondLst>
                                        </p:cTn>
                                        <p:tgtEl>
                                          <p:spTgt spid="703"/>
                                        </p:tgtEl>
                                        <p:attrNameLst>
                                          <p:attrName>style.visibility</p:attrName>
                                        </p:attrNameLst>
                                      </p:cBhvr>
                                      <p:to>
                                        <p:strVal val="visible"/>
                                      </p:to>
                                    </p:set>
                                    <p:animEffect transition="in" filter="fade">
                                      <p:cBhvr additive="repl">
                                        <p:cTn id="596" dur="350"/>
                                        <p:tgtEl>
                                          <p:spTgt spid="703"/>
                                        </p:tgtEl>
                                      </p:cBhvr>
                                    </p:animEffect>
                                  </p:childTnLst>
                                </p:cTn>
                              </p:par>
                            </p:childTnLst>
                          </p:cTn>
                        </p:par>
                      </p:childTnLst>
                    </p:cTn>
                  </p:par>
                  <p:par>
                    <p:cTn id="597" fill="hold">
                      <p:stCondLst>
                        <p:cond delay="indefinite"/>
                      </p:stCondLst>
                      <p:childTnLst>
                        <p:par>
                          <p:cTn id="598" fill="hold">
                            <p:stCondLst>
                              <p:cond delay="0"/>
                            </p:stCondLst>
                            <p:childTnLst>
                              <p:par>
                                <p:cTn id="599" presetID="10" presetClass="entr" fill="hold" nodeType="afterEffect">
                                  <p:stCondLst>
                                    <p:cond delay="0"/>
                                  </p:stCondLst>
                                  <p:childTnLst>
                                    <p:set>
                                      <p:cBhvr>
                                        <p:cTn id="600" dur="1" fill="hold">
                                          <p:stCondLst>
                                            <p:cond delay="0"/>
                                          </p:stCondLst>
                                        </p:cTn>
                                        <p:tgtEl>
                                          <p:spTgt spid="704"/>
                                        </p:tgtEl>
                                        <p:attrNameLst>
                                          <p:attrName>style.visibility</p:attrName>
                                        </p:attrNameLst>
                                      </p:cBhvr>
                                      <p:to>
                                        <p:strVal val="visible"/>
                                      </p:to>
                                    </p:set>
                                    <p:animEffect transition="in" filter="fade">
                                      <p:cBhvr additive="repl">
                                        <p:cTn id="601" dur="350"/>
                                        <p:tgtEl>
                                          <p:spTgt spid="704"/>
                                        </p:tgtEl>
                                      </p:cBhvr>
                                    </p:animEffect>
                                  </p:childTnLst>
                                </p:cTn>
                              </p:par>
                            </p:childTnLst>
                          </p:cTn>
                        </p:par>
                      </p:childTnLst>
                    </p:cTn>
                  </p:par>
                  <p:par>
                    <p:cTn id="602" fill="hold">
                      <p:stCondLst>
                        <p:cond delay="indefinite"/>
                      </p:stCondLst>
                      <p:childTnLst>
                        <p:par>
                          <p:cTn id="603" fill="hold">
                            <p:stCondLst>
                              <p:cond delay="0"/>
                            </p:stCondLst>
                            <p:childTnLst>
                              <p:par>
                                <p:cTn id="604" presetID="10" presetClass="entr" fill="hold" nodeType="afterEffect">
                                  <p:stCondLst>
                                    <p:cond delay="0"/>
                                  </p:stCondLst>
                                  <p:childTnLst>
                                    <p:set>
                                      <p:cBhvr>
                                        <p:cTn id="605" dur="1" fill="hold">
                                          <p:stCondLst>
                                            <p:cond delay="0"/>
                                          </p:stCondLst>
                                        </p:cTn>
                                        <p:tgtEl>
                                          <p:spTgt spid="706"/>
                                        </p:tgtEl>
                                        <p:attrNameLst>
                                          <p:attrName>style.visibility</p:attrName>
                                        </p:attrNameLst>
                                      </p:cBhvr>
                                      <p:to>
                                        <p:strVal val="visible"/>
                                      </p:to>
                                    </p:set>
                                    <p:animEffect transition="in" filter="fade">
                                      <p:cBhvr additive="repl">
                                        <p:cTn id="606" dur="350"/>
                                        <p:tgtEl>
                                          <p:spTgt spid="706"/>
                                        </p:tgtEl>
                                      </p:cBhvr>
                                    </p:animEffect>
                                  </p:childTnLst>
                                </p:cTn>
                              </p:par>
                            </p:childTnLst>
                          </p:cTn>
                        </p:par>
                      </p:childTnLst>
                    </p:cTn>
                  </p:par>
                  <p:par>
                    <p:cTn id="607" fill="hold">
                      <p:stCondLst>
                        <p:cond delay="indefinite"/>
                      </p:stCondLst>
                      <p:childTnLst>
                        <p:par>
                          <p:cTn id="608" fill="hold">
                            <p:stCondLst>
                              <p:cond delay="0"/>
                            </p:stCondLst>
                            <p:childTnLst>
                              <p:par>
                                <p:cTn id="609" presetID="10" presetClass="entr" fill="hold" nodeType="afterEffect">
                                  <p:stCondLst>
                                    <p:cond delay="0"/>
                                  </p:stCondLst>
                                  <p:childTnLst>
                                    <p:set>
                                      <p:cBhvr>
                                        <p:cTn id="610" dur="1" fill="hold">
                                          <p:stCondLst>
                                            <p:cond delay="0"/>
                                          </p:stCondLst>
                                        </p:cTn>
                                        <p:tgtEl>
                                          <p:spTgt spid="707"/>
                                        </p:tgtEl>
                                        <p:attrNameLst>
                                          <p:attrName>style.visibility</p:attrName>
                                        </p:attrNameLst>
                                      </p:cBhvr>
                                      <p:to>
                                        <p:strVal val="visible"/>
                                      </p:to>
                                    </p:set>
                                    <p:animEffect transition="in" filter="fade">
                                      <p:cBhvr additive="repl">
                                        <p:cTn id="611" dur="350"/>
                                        <p:tgtEl>
                                          <p:spTgt spid="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29"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Chunk Selection  ·  before and after, on real test images</a:t>
            </a:r>
            <a:endParaRPr lang="en-US" sz="2700" b="0" u="none" strike="noStrike">
              <a:solidFill>
                <a:srgbClr val="000000"/>
              </a:solidFill>
              <a:effectLst/>
              <a:uFillTx/>
              <a:latin typeface="Arial"/>
            </a:endParaRPr>
          </a:p>
        </p:txBody>
      </p:sp>
      <p:sp>
        <p:nvSpPr>
          <p:cNvPr id="730"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Fixed Sobel threshold (base paper) against the learned attention, same images</a:t>
            </a:r>
            <a:endParaRPr lang="en-US" sz="1300" b="0" u="none" strike="noStrike">
              <a:solidFill>
                <a:srgbClr val="000000"/>
              </a:solidFill>
              <a:effectLst/>
              <a:uFillTx/>
              <a:latin typeface="Arial"/>
            </a:endParaRPr>
          </a:p>
        </p:txBody>
      </p:sp>
      <p:sp>
        <p:nvSpPr>
          <p:cNvPr id="731"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732"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33" name="Rectangle 6"/>
          <p:cNvSpPr/>
          <p:nvPr/>
        </p:nvSpPr>
        <p:spPr>
          <a:xfrm>
            <a:off x="567000" y="6226920"/>
            <a:ext cx="71776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34"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735"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37</a:t>
            </a:r>
            <a:endParaRPr lang="en-US" sz="900" b="0" u="none" strike="noStrike">
              <a:solidFill>
                <a:srgbClr val="000000"/>
              </a:solidFill>
              <a:effectLst/>
              <a:uFillTx/>
              <a:latin typeface="Arial"/>
            </a:endParaRPr>
          </a:p>
        </p:txBody>
      </p:sp>
      <p:pic>
        <p:nvPicPr>
          <p:cNvPr id="736" name="Picture 9" descr="ba_chunk_selection_1076.png"/>
          <p:cNvPicPr/>
          <p:nvPr/>
        </p:nvPicPr>
        <p:blipFill>
          <a:blip r:embed="rId1"/>
          <a:stretch/>
        </p:blipFill>
        <p:spPr>
          <a:xfrm>
            <a:off x="2815200" y="1627560"/>
            <a:ext cx="6561360" cy="4114440"/>
          </a:xfrm>
          <a:prstGeom prst="rect">
            <a:avLst/>
          </a:prstGeom>
          <a:noFill/>
          <a:ln w="0">
            <a:noFill/>
          </a:ln>
        </p:spPr>
      </p:pic>
      <p:sp>
        <p:nvSpPr>
          <p:cNvPr id="737" name="TextBox 10"/>
          <p:cNvSpPr/>
          <p:nvPr/>
        </p:nvSpPr>
        <p:spPr>
          <a:xfrm>
            <a:off x="567000" y="5760720"/>
            <a:ext cx="11057400" cy="502560"/>
          </a:xfrm>
          <a:prstGeom prst="rect">
            <a:avLst/>
          </a:prstGeom>
          <a:noFill/>
          <a:ln w="0">
            <a:noFill/>
          </a:ln>
        </p:spPr>
        <p:style>
          <a:lnRef idx="0"/>
          <a:fillRef idx="0"/>
          <a:effectRef idx="0"/>
          <a:fontRef idx="minor"/>
        </p:style>
        <p:txBody>
          <a:bodyPr lIns="0" tIns="0" rIns="0" bIns="0" anchor="t">
            <a:spAutoFit/>
          </a:bodyPr>
          <a:p>
            <a:pPr defTabSz="457200">
              <a:lnSpc>
                <a:spcPct val="120000"/>
              </a:lnSpc>
              <a:spcAft>
                <a:spcPts val="400"/>
              </a:spcAft>
            </a:pPr>
            <a:r>
              <a:rPr lang="en-US" sz="1100" b="0" i="1" u="none" strike="noStrike">
                <a:solidFill>
                  <a:srgbClr val="94A3B8"/>
                </a:solidFill>
                <a:effectLst/>
                <a:uFillTx/>
                <a:latin typeface="Inter"/>
              </a:rPr>
              <a:t>The attention is not uniform noise: it concentrates on localised defects (inclusion, concentration 0.42) and spreads out on diffuse texture (pitted_surface, 0.04) — the behaviour a useful selector should show.</a:t>
            </a:r>
            <a:endParaRPr lang="en-US" sz="110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612" dur="indefinite" restart="never" nodeType="tmRoot">
          <p:childTnLst>
            <p:seq>
              <p:cTn id="613" dur="indefinite" nodeType="mainSeq">
                <p:childTnLst>
                  <p:par>
                    <p:cTn id="614" fill="hold">
                      <p:stCondLst>
                        <p:cond delay="indefinite"/>
                      </p:stCondLst>
                      <p:childTnLst>
                        <p:par>
                          <p:cTn id="615" fill="hold">
                            <p:stCondLst>
                              <p:cond delay="0"/>
                            </p:stCondLst>
                            <p:childTnLst>
                              <p:par>
                                <p:cTn id="616" presetID="10" presetClass="entr" fill="hold" nodeType="clickEffect">
                                  <p:stCondLst>
                                    <p:cond delay="0"/>
                                  </p:stCondLst>
                                  <p:childTnLst>
                                    <p:set>
                                      <p:cBhvr>
                                        <p:cTn id="617" dur="1" fill="hold">
                                          <p:stCondLst>
                                            <p:cond delay="0"/>
                                          </p:stCondLst>
                                        </p:cTn>
                                        <p:tgtEl>
                                          <p:spTgt spid="737"/>
                                        </p:tgtEl>
                                        <p:attrNameLst>
                                          <p:attrName>style.visibility</p:attrName>
                                        </p:attrNameLst>
                                      </p:cBhvr>
                                      <p:to>
                                        <p:strVal val="visible"/>
                                      </p:to>
                                    </p:set>
                                    <p:animEffect transition="in" filter="fade">
                                      <p:cBhvr additive="repl">
                                        <p:cTn id="618" dur="350"/>
                                        <p:tgtEl>
                                          <p:spTgt spid="7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39"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Precision and Recall</a:t>
            </a:r>
            <a:endParaRPr lang="en-US" sz="2700" b="0" u="none" strike="noStrike">
              <a:solidFill>
                <a:srgbClr val="000000"/>
              </a:solidFill>
              <a:effectLst/>
              <a:uFillTx/>
              <a:latin typeface="Arial"/>
            </a:endParaRPr>
          </a:p>
        </p:txBody>
      </p:sp>
      <p:sp>
        <p:nvSpPr>
          <p:cNvPr id="740"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Macro-averaged — the base paper reports none of these for NEU-CLS</a:t>
            </a:r>
            <a:endParaRPr lang="en-US" sz="1300" b="0" u="none" strike="noStrike">
              <a:solidFill>
                <a:srgbClr val="000000"/>
              </a:solidFill>
              <a:effectLst/>
              <a:uFillTx/>
              <a:latin typeface="Arial"/>
            </a:endParaRPr>
          </a:p>
        </p:txBody>
      </p:sp>
      <p:sp>
        <p:nvSpPr>
          <p:cNvPr id="741"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742"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43" name="Rectangle 6"/>
          <p:cNvSpPr/>
          <p:nvPr/>
        </p:nvSpPr>
        <p:spPr>
          <a:xfrm>
            <a:off x="567000" y="6226920"/>
            <a:ext cx="73713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44"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745"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38</a:t>
            </a:r>
            <a:endParaRPr lang="en-US" sz="900" b="0" u="none" strike="noStrike">
              <a:solidFill>
                <a:srgbClr val="000000"/>
              </a:solidFill>
              <a:effectLst/>
              <a:uFillTx/>
              <a:latin typeface="Arial"/>
            </a:endParaRPr>
          </a:p>
        </p:txBody>
      </p:sp>
      <p:pic>
        <p:nvPicPr>
          <p:cNvPr id="746" name="Picture 9" descr="metric_comparison_1054.png"/>
          <p:cNvPicPr/>
          <p:nvPr/>
        </p:nvPicPr>
        <p:blipFill>
          <a:blip r:embed="rId1"/>
          <a:stretch/>
        </p:blipFill>
        <p:spPr>
          <a:xfrm>
            <a:off x="2881800" y="1627560"/>
            <a:ext cx="6427800" cy="3474360"/>
          </a:xfrm>
          <a:prstGeom prst="rect">
            <a:avLst/>
          </a:prstGeom>
          <a:noFill/>
          <a:ln w="0">
            <a:noFill/>
          </a:ln>
        </p:spPr>
      </p:pic>
      <p:sp>
        <p:nvSpPr>
          <p:cNvPr id="747" name="Rounded Rectangle 10"/>
          <p:cNvSpPr/>
          <p:nvPr/>
        </p:nvSpPr>
        <p:spPr>
          <a:xfrm>
            <a:off x="567000" y="5330880"/>
            <a:ext cx="3575880" cy="9140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48" name="TextBox 11"/>
          <p:cNvSpPr/>
          <p:nvPr/>
        </p:nvSpPr>
        <p:spPr>
          <a:xfrm>
            <a:off x="768240" y="5486400"/>
            <a:ext cx="317340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100.00%</a:t>
            </a:r>
            <a:endParaRPr lang="en-US" sz="2800" b="0" u="none" strike="noStrike">
              <a:solidFill>
                <a:srgbClr val="000000"/>
              </a:solidFill>
              <a:effectLst/>
              <a:uFillTx/>
              <a:latin typeface="Arial"/>
            </a:endParaRPr>
          </a:p>
        </p:txBody>
      </p:sp>
      <p:sp>
        <p:nvSpPr>
          <p:cNvPr id="749" name="TextBox 12"/>
          <p:cNvSpPr/>
          <p:nvPr/>
        </p:nvSpPr>
        <p:spPr>
          <a:xfrm>
            <a:off x="768240" y="6080760"/>
            <a:ext cx="317340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SAGE-HE macro precision</a:t>
            </a:r>
            <a:endParaRPr lang="en-US" sz="1050" b="0" u="none" strike="noStrike">
              <a:solidFill>
                <a:srgbClr val="000000"/>
              </a:solidFill>
              <a:effectLst/>
              <a:uFillTx/>
              <a:latin typeface="Arial"/>
            </a:endParaRPr>
          </a:p>
        </p:txBody>
      </p:sp>
      <p:sp>
        <p:nvSpPr>
          <p:cNvPr id="750" name="Rounded Rectangle 13"/>
          <p:cNvSpPr/>
          <p:nvPr/>
        </p:nvSpPr>
        <p:spPr>
          <a:xfrm>
            <a:off x="4307760" y="5330880"/>
            <a:ext cx="3575880" cy="9140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751" name="TextBox 14"/>
          <p:cNvSpPr/>
          <p:nvPr/>
        </p:nvSpPr>
        <p:spPr>
          <a:xfrm>
            <a:off x="4509000" y="5486400"/>
            <a:ext cx="317340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100.00%</a:t>
            </a:r>
            <a:endParaRPr lang="en-US" sz="2800" b="0" u="none" strike="noStrike">
              <a:solidFill>
                <a:srgbClr val="000000"/>
              </a:solidFill>
              <a:effectLst/>
              <a:uFillTx/>
              <a:latin typeface="Arial"/>
            </a:endParaRPr>
          </a:p>
        </p:txBody>
      </p:sp>
      <p:sp>
        <p:nvSpPr>
          <p:cNvPr id="752" name="TextBox 15"/>
          <p:cNvSpPr/>
          <p:nvPr/>
        </p:nvSpPr>
        <p:spPr>
          <a:xfrm>
            <a:off x="4509000" y="6080760"/>
            <a:ext cx="317340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SAGE-HE macro recall</a:t>
            </a:r>
            <a:endParaRPr lang="en-US" sz="1050" b="0" u="none" strike="noStrike">
              <a:solidFill>
                <a:srgbClr val="000000"/>
              </a:solidFill>
              <a:effectLst/>
              <a:uFillTx/>
              <a:latin typeface="Arial"/>
            </a:endParaRPr>
          </a:p>
        </p:txBody>
      </p:sp>
      <p:sp>
        <p:nvSpPr>
          <p:cNvPr id="753" name="Rounded Rectangle 16"/>
          <p:cNvSpPr/>
          <p:nvPr/>
        </p:nvSpPr>
        <p:spPr>
          <a:xfrm>
            <a:off x="8048520" y="5330880"/>
            <a:ext cx="3575880" cy="9140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54" name="TextBox 17"/>
          <p:cNvSpPr/>
          <p:nvPr/>
        </p:nvSpPr>
        <p:spPr>
          <a:xfrm>
            <a:off x="8249760" y="5486400"/>
            <a:ext cx="317340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100.00%</a:t>
            </a:r>
            <a:endParaRPr lang="en-US" sz="2800" b="0" u="none" strike="noStrike">
              <a:solidFill>
                <a:srgbClr val="000000"/>
              </a:solidFill>
              <a:effectLst/>
              <a:uFillTx/>
              <a:latin typeface="Arial"/>
            </a:endParaRPr>
          </a:p>
        </p:txBody>
      </p:sp>
      <p:sp>
        <p:nvSpPr>
          <p:cNvPr id="755" name="TextBox 18"/>
          <p:cNvSpPr/>
          <p:nvPr/>
        </p:nvSpPr>
        <p:spPr>
          <a:xfrm>
            <a:off x="8249760" y="6080760"/>
            <a:ext cx="317340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SAGE-HE macro F1</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619" dur="indefinite" restart="never" nodeType="tmRoot">
          <p:childTnLst>
            <p:seq>
              <p:cTn id="620" dur="indefinite" nodeType="mainSeq">
                <p:childTnLst>
                  <p:par>
                    <p:cTn id="621" fill="hold">
                      <p:stCondLst>
                        <p:cond delay="indefinite"/>
                      </p:stCondLst>
                      <p:childTnLst>
                        <p:par>
                          <p:cTn id="622" fill="hold">
                            <p:stCondLst>
                              <p:cond delay="0"/>
                            </p:stCondLst>
                            <p:childTnLst>
                              <p:par>
                                <p:cTn id="623" presetID="10" presetClass="entr" fill="hold" nodeType="clickEffect">
                                  <p:stCondLst>
                                    <p:cond delay="0"/>
                                  </p:stCondLst>
                                  <p:childTnLst>
                                    <p:set>
                                      <p:cBhvr>
                                        <p:cTn id="624" dur="1" fill="hold">
                                          <p:stCondLst>
                                            <p:cond delay="0"/>
                                          </p:stCondLst>
                                        </p:cTn>
                                        <p:tgtEl>
                                          <p:spTgt spid="747"/>
                                        </p:tgtEl>
                                        <p:attrNameLst>
                                          <p:attrName>style.visibility</p:attrName>
                                        </p:attrNameLst>
                                      </p:cBhvr>
                                      <p:to>
                                        <p:strVal val="visible"/>
                                      </p:to>
                                    </p:set>
                                    <p:animEffect transition="in" filter="fade">
                                      <p:cBhvr additive="repl">
                                        <p:cTn id="625" dur="350"/>
                                        <p:tgtEl>
                                          <p:spTgt spid="747"/>
                                        </p:tgtEl>
                                      </p:cBhvr>
                                    </p:animEffect>
                                  </p:childTnLst>
                                </p:cTn>
                              </p:par>
                            </p:childTnLst>
                          </p:cTn>
                        </p:par>
                      </p:childTnLst>
                    </p:cTn>
                  </p:par>
                  <p:par>
                    <p:cTn id="626" fill="hold">
                      <p:stCondLst>
                        <p:cond delay="indefinite"/>
                      </p:stCondLst>
                      <p:childTnLst>
                        <p:par>
                          <p:cTn id="627" fill="hold">
                            <p:stCondLst>
                              <p:cond delay="0"/>
                            </p:stCondLst>
                            <p:childTnLst>
                              <p:par>
                                <p:cTn id="628" presetID="10" presetClass="entr" fill="hold" nodeType="afterEffect">
                                  <p:stCondLst>
                                    <p:cond delay="0"/>
                                  </p:stCondLst>
                                  <p:childTnLst>
                                    <p:set>
                                      <p:cBhvr>
                                        <p:cTn id="629" dur="1" fill="hold">
                                          <p:stCondLst>
                                            <p:cond delay="0"/>
                                          </p:stCondLst>
                                        </p:cTn>
                                        <p:tgtEl>
                                          <p:spTgt spid="748"/>
                                        </p:tgtEl>
                                        <p:attrNameLst>
                                          <p:attrName>style.visibility</p:attrName>
                                        </p:attrNameLst>
                                      </p:cBhvr>
                                      <p:to>
                                        <p:strVal val="visible"/>
                                      </p:to>
                                    </p:set>
                                    <p:animEffect transition="in" filter="fade">
                                      <p:cBhvr additive="repl">
                                        <p:cTn id="630" dur="350"/>
                                        <p:tgtEl>
                                          <p:spTgt spid="748"/>
                                        </p:tgtEl>
                                      </p:cBhvr>
                                    </p:animEffect>
                                  </p:childTnLst>
                                </p:cTn>
                              </p:par>
                            </p:childTnLst>
                          </p:cTn>
                        </p:par>
                      </p:childTnLst>
                    </p:cTn>
                  </p:par>
                  <p:par>
                    <p:cTn id="631" fill="hold">
                      <p:stCondLst>
                        <p:cond delay="indefinite"/>
                      </p:stCondLst>
                      <p:childTnLst>
                        <p:par>
                          <p:cTn id="632" fill="hold">
                            <p:stCondLst>
                              <p:cond delay="0"/>
                            </p:stCondLst>
                            <p:childTnLst>
                              <p:par>
                                <p:cTn id="633" presetID="10" presetClass="entr" fill="hold" nodeType="afterEffect">
                                  <p:stCondLst>
                                    <p:cond delay="0"/>
                                  </p:stCondLst>
                                  <p:childTnLst>
                                    <p:set>
                                      <p:cBhvr>
                                        <p:cTn id="634" dur="1" fill="hold">
                                          <p:stCondLst>
                                            <p:cond delay="0"/>
                                          </p:stCondLst>
                                        </p:cTn>
                                        <p:tgtEl>
                                          <p:spTgt spid="749"/>
                                        </p:tgtEl>
                                        <p:attrNameLst>
                                          <p:attrName>style.visibility</p:attrName>
                                        </p:attrNameLst>
                                      </p:cBhvr>
                                      <p:to>
                                        <p:strVal val="visible"/>
                                      </p:to>
                                    </p:set>
                                    <p:animEffect transition="in" filter="fade">
                                      <p:cBhvr additive="repl">
                                        <p:cTn id="635" dur="350"/>
                                        <p:tgtEl>
                                          <p:spTgt spid="749"/>
                                        </p:tgtEl>
                                      </p:cBhvr>
                                    </p:animEffect>
                                  </p:childTnLst>
                                </p:cTn>
                              </p:par>
                            </p:childTnLst>
                          </p:cTn>
                        </p:par>
                      </p:childTnLst>
                    </p:cTn>
                  </p:par>
                  <p:par>
                    <p:cTn id="636" fill="hold">
                      <p:stCondLst>
                        <p:cond delay="indefinite"/>
                      </p:stCondLst>
                      <p:childTnLst>
                        <p:par>
                          <p:cTn id="637" fill="hold">
                            <p:stCondLst>
                              <p:cond delay="0"/>
                            </p:stCondLst>
                            <p:childTnLst>
                              <p:par>
                                <p:cTn id="638" presetID="10" presetClass="entr" fill="hold" nodeType="afterEffect">
                                  <p:stCondLst>
                                    <p:cond delay="0"/>
                                  </p:stCondLst>
                                  <p:childTnLst>
                                    <p:set>
                                      <p:cBhvr>
                                        <p:cTn id="639" dur="1" fill="hold">
                                          <p:stCondLst>
                                            <p:cond delay="0"/>
                                          </p:stCondLst>
                                        </p:cTn>
                                        <p:tgtEl>
                                          <p:spTgt spid="750"/>
                                        </p:tgtEl>
                                        <p:attrNameLst>
                                          <p:attrName>style.visibility</p:attrName>
                                        </p:attrNameLst>
                                      </p:cBhvr>
                                      <p:to>
                                        <p:strVal val="visible"/>
                                      </p:to>
                                    </p:set>
                                    <p:animEffect transition="in" filter="fade">
                                      <p:cBhvr additive="repl">
                                        <p:cTn id="640" dur="350"/>
                                        <p:tgtEl>
                                          <p:spTgt spid="750"/>
                                        </p:tgtEl>
                                      </p:cBhvr>
                                    </p:animEffect>
                                  </p:childTnLst>
                                </p:cTn>
                              </p:par>
                            </p:childTnLst>
                          </p:cTn>
                        </p:par>
                      </p:childTnLst>
                    </p:cTn>
                  </p:par>
                  <p:par>
                    <p:cTn id="641" fill="hold">
                      <p:stCondLst>
                        <p:cond delay="indefinite"/>
                      </p:stCondLst>
                      <p:childTnLst>
                        <p:par>
                          <p:cTn id="642" fill="hold">
                            <p:stCondLst>
                              <p:cond delay="0"/>
                            </p:stCondLst>
                            <p:childTnLst>
                              <p:par>
                                <p:cTn id="643" presetID="10" presetClass="entr" fill="hold" nodeType="afterEffect">
                                  <p:stCondLst>
                                    <p:cond delay="0"/>
                                  </p:stCondLst>
                                  <p:childTnLst>
                                    <p:set>
                                      <p:cBhvr>
                                        <p:cTn id="644" dur="1" fill="hold">
                                          <p:stCondLst>
                                            <p:cond delay="0"/>
                                          </p:stCondLst>
                                        </p:cTn>
                                        <p:tgtEl>
                                          <p:spTgt spid="751"/>
                                        </p:tgtEl>
                                        <p:attrNameLst>
                                          <p:attrName>style.visibility</p:attrName>
                                        </p:attrNameLst>
                                      </p:cBhvr>
                                      <p:to>
                                        <p:strVal val="visible"/>
                                      </p:to>
                                    </p:set>
                                    <p:animEffect transition="in" filter="fade">
                                      <p:cBhvr additive="repl">
                                        <p:cTn id="645" dur="350"/>
                                        <p:tgtEl>
                                          <p:spTgt spid="751"/>
                                        </p:tgtEl>
                                      </p:cBhvr>
                                    </p:animEffect>
                                  </p:childTnLst>
                                </p:cTn>
                              </p:par>
                            </p:childTnLst>
                          </p:cTn>
                        </p:par>
                      </p:childTnLst>
                    </p:cTn>
                  </p:par>
                  <p:par>
                    <p:cTn id="646" fill="hold">
                      <p:stCondLst>
                        <p:cond delay="indefinite"/>
                      </p:stCondLst>
                      <p:childTnLst>
                        <p:par>
                          <p:cTn id="647" fill="hold">
                            <p:stCondLst>
                              <p:cond delay="0"/>
                            </p:stCondLst>
                            <p:childTnLst>
                              <p:par>
                                <p:cTn id="648" presetID="10" presetClass="entr" fill="hold" nodeType="afterEffect">
                                  <p:stCondLst>
                                    <p:cond delay="0"/>
                                  </p:stCondLst>
                                  <p:childTnLst>
                                    <p:set>
                                      <p:cBhvr>
                                        <p:cTn id="649" dur="1" fill="hold">
                                          <p:stCondLst>
                                            <p:cond delay="0"/>
                                          </p:stCondLst>
                                        </p:cTn>
                                        <p:tgtEl>
                                          <p:spTgt spid="752"/>
                                        </p:tgtEl>
                                        <p:attrNameLst>
                                          <p:attrName>style.visibility</p:attrName>
                                        </p:attrNameLst>
                                      </p:cBhvr>
                                      <p:to>
                                        <p:strVal val="visible"/>
                                      </p:to>
                                    </p:set>
                                    <p:animEffect transition="in" filter="fade">
                                      <p:cBhvr additive="repl">
                                        <p:cTn id="650" dur="350"/>
                                        <p:tgtEl>
                                          <p:spTgt spid="7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57"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Confusion Matrices  ·  before and after</a:t>
            </a:r>
            <a:endParaRPr lang="en-US" sz="2700" b="0" u="none" strike="noStrike">
              <a:solidFill>
                <a:srgbClr val="000000"/>
              </a:solidFill>
              <a:effectLst/>
              <a:uFillTx/>
              <a:latin typeface="Arial"/>
            </a:endParaRPr>
          </a:p>
        </p:txBody>
      </p:sp>
      <p:sp>
        <p:nvSpPr>
          <p:cNvPr id="758"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Identical 360 test images, identical colour scale</a:t>
            </a:r>
            <a:endParaRPr lang="en-US" sz="1300" b="0" u="none" strike="noStrike">
              <a:solidFill>
                <a:srgbClr val="000000"/>
              </a:solidFill>
              <a:effectLst/>
              <a:uFillTx/>
              <a:latin typeface="Arial"/>
            </a:endParaRPr>
          </a:p>
        </p:txBody>
      </p:sp>
      <p:sp>
        <p:nvSpPr>
          <p:cNvPr id="759"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760"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61" name="Rectangle 6"/>
          <p:cNvSpPr/>
          <p:nvPr/>
        </p:nvSpPr>
        <p:spPr>
          <a:xfrm>
            <a:off x="567000" y="6226920"/>
            <a:ext cx="75654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62"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763"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39</a:t>
            </a:r>
            <a:endParaRPr lang="en-US" sz="900" b="0" u="none" strike="noStrike">
              <a:solidFill>
                <a:srgbClr val="000000"/>
              </a:solidFill>
              <a:effectLst/>
              <a:uFillTx/>
              <a:latin typeface="Arial"/>
            </a:endParaRPr>
          </a:p>
        </p:txBody>
      </p:sp>
      <p:pic>
        <p:nvPicPr>
          <p:cNvPr id="764" name="Picture 9" descr="ba_confusion_1418.png"/>
          <p:cNvPicPr/>
          <p:nvPr/>
        </p:nvPicPr>
        <p:blipFill>
          <a:blip r:embed="rId1"/>
          <a:stretch/>
        </p:blipFill>
        <p:spPr>
          <a:xfrm>
            <a:off x="1773720" y="1627560"/>
            <a:ext cx="8643960" cy="41144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66"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Per-Class Performance  ·  before and after</a:t>
            </a:r>
            <a:endParaRPr lang="en-US" sz="2700" b="0" u="none" strike="noStrike">
              <a:solidFill>
                <a:srgbClr val="000000"/>
              </a:solidFill>
              <a:effectLst/>
              <a:uFillTx/>
              <a:latin typeface="Arial"/>
            </a:endParaRPr>
          </a:p>
        </p:txBody>
      </p:sp>
      <p:sp>
        <p:nvSpPr>
          <p:cNvPr id="767"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Per-class F1 for every defect type, same test split</a:t>
            </a:r>
            <a:endParaRPr lang="en-US" sz="1300" b="0" u="none" strike="noStrike">
              <a:solidFill>
                <a:srgbClr val="000000"/>
              </a:solidFill>
              <a:effectLst/>
              <a:uFillTx/>
              <a:latin typeface="Arial"/>
            </a:endParaRPr>
          </a:p>
        </p:txBody>
      </p:sp>
      <p:sp>
        <p:nvSpPr>
          <p:cNvPr id="768"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769"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70" name="Rectangle 6"/>
          <p:cNvSpPr/>
          <p:nvPr/>
        </p:nvSpPr>
        <p:spPr>
          <a:xfrm>
            <a:off x="567000" y="6226920"/>
            <a:ext cx="77594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71"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772"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40</a:t>
            </a:r>
            <a:endParaRPr lang="en-US" sz="900" b="0" u="none" strike="noStrike">
              <a:solidFill>
                <a:srgbClr val="000000"/>
              </a:solidFill>
              <a:effectLst/>
              <a:uFillTx/>
              <a:latin typeface="Arial"/>
            </a:endParaRPr>
          </a:p>
        </p:txBody>
      </p:sp>
      <p:pic>
        <p:nvPicPr>
          <p:cNvPr id="773" name="Picture 9" descr="ba_per_class_1407.png"/>
          <p:cNvPicPr/>
          <p:nvPr/>
        </p:nvPicPr>
        <p:blipFill>
          <a:blip r:embed="rId1"/>
          <a:stretch/>
        </p:blipFill>
        <p:spPr>
          <a:xfrm>
            <a:off x="1807560" y="1627560"/>
            <a:ext cx="8576280" cy="411444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75"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Training and Validation Curves</a:t>
            </a:r>
            <a:endParaRPr lang="en-US" sz="2700" b="0" u="none" strike="noStrike">
              <a:solidFill>
                <a:srgbClr val="000000"/>
              </a:solidFill>
              <a:effectLst/>
              <a:uFillTx/>
              <a:latin typeface="Arial"/>
            </a:endParaRPr>
          </a:p>
        </p:txBody>
      </p:sp>
      <p:sp>
        <p:nvSpPr>
          <p:cNvPr id="776"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777"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78" name="Rectangle 5"/>
          <p:cNvSpPr/>
          <p:nvPr/>
        </p:nvSpPr>
        <p:spPr>
          <a:xfrm>
            <a:off x="567000" y="6226920"/>
            <a:ext cx="79534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79"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780"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41</a:t>
            </a:r>
            <a:endParaRPr lang="en-US" sz="900" b="0" u="none" strike="noStrike">
              <a:solidFill>
                <a:srgbClr val="000000"/>
              </a:solidFill>
              <a:effectLst/>
              <a:uFillTx/>
              <a:latin typeface="Arial"/>
            </a:endParaRPr>
          </a:p>
        </p:txBody>
      </p:sp>
      <p:pic>
        <p:nvPicPr>
          <p:cNvPr id="781" name="Picture 8" descr="curves_sage_1535.png"/>
          <p:cNvPicPr/>
          <p:nvPr/>
        </p:nvPicPr>
        <p:blipFill>
          <a:blip r:embed="rId1"/>
          <a:stretch/>
        </p:blipFill>
        <p:spPr>
          <a:xfrm>
            <a:off x="1416240" y="1627560"/>
            <a:ext cx="9358920" cy="3565800"/>
          </a:xfrm>
          <a:prstGeom prst="rect">
            <a:avLst/>
          </a:prstGeom>
          <a:noFill/>
          <a:ln w="0">
            <a:noFill/>
          </a:ln>
        </p:spPr>
      </p:pic>
      <p:sp>
        <p:nvSpPr>
          <p:cNvPr id="782" name="TextBox 9"/>
          <p:cNvSpPr/>
          <p:nvPr/>
        </p:nvSpPr>
        <p:spPr>
          <a:xfrm>
            <a:off x="567000" y="5394960"/>
            <a:ext cx="1105740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i="1" u="none" strike="noStrike">
                <a:solidFill>
                  <a:srgbClr val="94A3B8"/>
                </a:solidFill>
                <a:effectLst/>
                <a:uFillTx/>
                <a:latin typeface="Inter"/>
              </a:rPr>
              <a:t>Validation macro-F1 reaches 1.0 within two epochs — the saturation that motivates the reduced-data ablation protocol. Validation loss keeps improving afterwards, which is what the selection tiebreak uses.</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651" dur="indefinite" restart="never" nodeType="tmRoot">
          <p:childTnLst>
            <p:seq>
              <p:cTn id="652" dur="indefinite" nodeType="mainSeq">
                <p:childTnLst>
                  <p:par>
                    <p:cTn id="653" fill="hold">
                      <p:stCondLst>
                        <p:cond delay="indefinite"/>
                      </p:stCondLst>
                      <p:childTnLst>
                        <p:par>
                          <p:cTn id="654" fill="hold">
                            <p:stCondLst>
                              <p:cond delay="0"/>
                            </p:stCondLst>
                            <p:childTnLst>
                              <p:par>
                                <p:cTn id="655" presetID="10" presetClass="entr" fill="hold" nodeType="clickEffect">
                                  <p:stCondLst>
                                    <p:cond delay="0"/>
                                  </p:stCondLst>
                                  <p:childTnLst>
                                    <p:set>
                                      <p:cBhvr>
                                        <p:cTn id="656" dur="1" fill="hold">
                                          <p:stCondLst>
                                            <p:cond delay="0"/>
                                          </p:stCondLst>
                                        </p:cTn>
                                        <p:tgtEl>
                                          <p:spTgt spid="782"/>
                                        </p:tgtEl>
                                        <p:attrNameLst>
                                          <p:attrName>style.visibility</p:attrName>
                                        </p:attrNameLst>
                                      </p:cBhvr>
                                      <p:to>
                                        <p:strVal val="visible"/>
                                      </p:to>
                                    </p:set>
                                    <p:animEffect transition="in" filter="fade">
                                      <p:cBhvr additive="repl">
                                        <p:cTn id="657" dur="350"/>
                                        <p:tgtEl>
                                          <p:spTgt spid="7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84"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Learning Curve  ·  where the architectures actually separate</a:t>
            </a:r>
            <a:endParaRPr lang="en-US" sz="2700" b="0" u="none" strike="noStrike">
              <a:solidFill>
                <a:srgbClr val="000000"/>
              </a:solidFill>
              <a:effectLst/>
              <a:uFillTx/>
              <a:latin typeface="Arial"/>
            </a:endParaRPr>
          </a:p>
        </p:txBody>
      </p:sp>
      <p:sp>
        <p:nvSpPr>
          <p:cNvPr id="785"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Test macro-F1 against training-set size, same held-out test split throughout</a:t>
            </a:r>
            <a:endParaRPr lang="en-US" sz="1300" b="0" u="none" strike="noStrike">
              <a:solidFill>
                <a:srgbClr val="000000"/>
              </a:solidFill>
              <a:effectLst/>
              <a:uFillTx/>
              <a:latin typeface="Arial"/>
            </a:endParaRPr>
          </a:p>
        </p:txBody>
      </p:sp>
      <p:sp>
        <p:nvSpPr>
          <p:cNvPr id="786"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787"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88" name="Rectangle 6"/>
          <p:cNvSpPr/>
          <p:nvPr/>
        </p:nvSpPr>
        <p:spPr>
          <a:xfrm>
            <a:off x="567000" y="6226920"/>
            <a:ext cx="81475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789"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790"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42</a:t>
            </a:r>
            <a:endParaRPr lang="en-US" sz="900" b="0" u="none" strike="noStrike">
              <a:solidFill>
                <a:srgbClr val="000000"/>
              </a:solidFill>
              <a:effectLst/>
              <a:uFillTx/>
              <a:latin typeface="Arial"/>
            </a:endParaRPr>
          </a:p>
        </p:txBody>
      </p:sp>
      <p:pic>
        <p:nvPicPr>
          <p:cNvPr id="791" name="Picture 9" descr="learning_curve_1078.png"/>
          <p:cNvPicPr/>
          <p:nvPr/>
        </p:nvPicPr>
        <p:blipFill>
          <a:blip r:embed="rId1"/>
          <a:stretch/>
        </p:blipFill>
        <p:spPr>
          <a:xfrm>
            <a:off x="567000" y="1763640"/>
            <a:ext cx="6568560" cy="3750480"/>
          </a:xfrm>
          <a:prstGeom prst="rect">
            <a:avLst/>
          </a:prstGeom>
          <a:noFill/>
          <a:ln w="0">
            <a:noFill/>
          </a:ln>
        </p:spPr>
      </p:pic>
      <p:sp>
        <p:nvSpPr>
          <p:cNvPr id="792" name="Rounded Rectangle 10"/>
          <p:cNvSpPr/>
          <p:nvPr/>
        </p:nvSpPr>
        <p:spPr>
          <a:xfrm>
            <a:off x="7487280" y="1627560"/>
            <a:ext cx="4137120" cy="20113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93" name="Rectangle 11"/>
          <p:cNvSpPr/>
          <p:nvPr/>
        </p:nvSpPr>
        <p:spPr>
          <a:xfrm>
            <a:off x="7487280" y="1627560"/>
            <a:ext cx="40680" cy="201132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94" name="TextBox 12"/>
          <p:cNvSpPr/>
          <p:nvPr/>
        </p:nvSpPr>
        <p:spPr>
          <a:xfrm>
            <a:off x="7706880" y="1764720"/>
            <a:ext cx="37162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Why this is the honest comparison</a:t>
            </a:r>
            <a:endParaRPr lang="en-US" sz="1150" b="0" u="none" strike="noStrike">
              <a:solidFill>
                <a:srgbClr val="000000"/>
              </a:solidFill>
              <a:effectLst/>
              <a:uFillTx/>
              <a:latin typeface="Arial"/>
            </a:endParaRPr>
          </a:p>
        </p:txBody>
      </p:sp>
      <p:sp>
        <p:nvSpPr>
          <p:cNvPr id="795" name="TextBox 13"/>
          <p:cNvSpPr/>
          <p:nvPr/>
        </p:nvSpPr>
        <p:spPr>
          <a:xfrm>
            <a:off x="7706880" y="2103120"/>
            <a:ext cx="3716280" cy="138960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At full data both models are near ceiling and the difference is within noise. The gap is real and large in the low-data regime — which is also the regime where a factory has few labelled defect examples.</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658" dur="indefinite" restart="never" nodeType="tmRoot">
          <p:childTnLst>
            <p:seq>
              <p:cTn id="659" dur="indefinite" nodeType="mainSeq">
                <p:childTnLst>
                  <p:par>
                    <p:cTn id="660" fill="hold">
                      <p:stCondLst>
                        <p:cond delay="indefinite"/>
                      </p:stCondLst>
                      <p:childTnLst>
                        <p:par>
                          <p:cTn id="661" fill="hold">
                            <p:stCondLst>
                              <p:cond delay="0"/>
                            </p:stCondLst>
                            <p:childTnLst>
                              <p:par>
                                <p:cTn id="662" presetID="10" presetClass="entr" fill="hold" nodeType="clickEffect">
                                  <p:stCondLst>
                                    <p:cond delay="0"/>
                                  </p:stCondLst>
                                  <p:childTnLst>
                                    <p:set>
                                      <p:cBhvr>
                                        <p:cTn id="663" dur="1" fill="hold">
                                          <p:stCondLst>
                                            <p:cond delay="0"/>
                                          </p:stCondLst>
                                        </p:cTn>
                                        <p:tgtEl>
                                          <p:spTgt spid="795"/>
                                        </p:tgtEl>
                                        <p:attrNameLst>
                                          <p:attrName>style.visibility</p:attrName>
                                        </p:attrNameLst>
                                      </p:cBhvr>
                                      <p:to>
                                        <p:strVal val="visible"/>
                                      </p:to>
                                    </p:set>
                                    <p:animEffect transition="in" filter="fade">
                                      <p:cBhvr additive="repl">
                                        <p:cTn id="664" dur="350"/>
                                        <p:tgtEl>
                                          <p:spTgt spid="7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797"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Ablation Study</a:t>
            </a:r>
            <a:endParaRPr lang="en-US" sz="2700" b="0" u="none" strike="noStrike">
              <a:solidFill>
                <a:srgbClr val="000000"/>
              </a:solidFill>
              <a:effectLst/>
              <a:uFillTx/>
              <a:latin typeface="Arial"/>
            </a:endParaRPr>
          </a:p>
        </p:txBody>
      </p:sp>
      <p:sp>
        <p:nvSpPr>
          <p:cNvPr id="798"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Reduced-data regime (15% of training split) so components are separable</a:t>
            </a:r>
            <a:endParaRPr lang="en-US" sz="1300" b="0" u="none" strike="noStrike">
              <a:solidFill>
                <a:srgbClr val="000000"/>
              </a:solidFill>
              <a:effectLst/>
              <a:uFillTx/>
              <a:latin typeface="Arial"/>
            </a:endParaRPr>
          </a:p>
        </p:txBody>
      </p:sp>
      <p:sp>
        <p:nvSpPr>
          <p:cNvPr id="799"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800"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01" name="Rectangle 6"/>
          <p:cNvSpPr/>
          <p:nvPr/>
        </p:nvSpPr>
        <p:spPr>
          <a:xfrm>
            <a:off x="567000" y="6226920"/>
            <a:ext cx="83415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02"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803"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43</a:t>
            </a:r>
            <a:endParaRPr lang="en-US" sz="900" b="0" u="none" strike="noStrike">
              <a:solidFill>
                <a:srgbClr val="000000"/>
              </a:solidFill>
              <a:effectLst/>
              <a:uFillTx/>
              <a:latin typeface="Arial"/>
            </a:endParaRPr>
          </a:p>
        </p:txBody>
      </p:sp>
      <p:pic>
        <p:nvPicPr>
          <p:cNvPr id="804" name="Picture 9" descr="ablation_1287.png"/>
          <p:cNvPicPr/>
          <p:nvPr/>
        </p:nvPicPr>
        <p:blipFill>
          <a:blip r:embed="rId1"/>
          <a:stretch/>
        </p:blipFill>
        <p:spPr>
          <a:xfrm>
            <a:off x="2172600" y="1627560"/>
            <a:ext cx="7846560" cy="4023000"/>
          </a:xfrm>
          <a:prstGeom prst="rect">
            <a:avLst/>
          </a:prstGeom>
          <a:noFill/>
          <a:ln w="0">
            <a:noFill/>
          </a:ln>
        </p:spPr>
      </p:pic>
    </p:spTree>
  </p:cSld>
  <mc:AlternateContent>
    <mc:Choice Requires="p14">
      <p:transition p14:dur="400">
        <p:fade/>
      </p:transition>
    </mc:Choice>
    <mc:Fallback>
      <p:transition>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06"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Ablation  ·  what the numbers say</a:t>
            </a:r>
            <a:endParaRPr lang="en-US" sz="2700" b="0" u="none" strike="noStrike">
              <a:solidFill>
                <a:srgbClr val="000000"/>
              </a:solidFill>
              <a:effectLst/>
              <a:uFillTx/>
              <a:latin typeface="Arial"/>
            </a:endParaRPr>
          </a:p>
        </p:txBody>
      </p:sp>
      <p:sp>
        <p:nvSpPr>
          <p:cNvPr id="807"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808"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09" name="Rectangle 5"/>
          <p:cNvSpPr/>
          <p:nvPr/>
        </p:nvSpPr>
        <p:spPr>
          <a:xfrm>
            <a:off x="567000" y="6226920"/>
            <a:ext cx="85356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10"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811"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44</a:t>
            </a:r>
            <a:endParaRPr lang="en-US" sz="900" b="0" u="none" strike="noStrike">
              <a:solidFill>
                <a:srgbClr val="000000"/>
              </a:solidFill>
              <a:effectLst/>
              <a:uFillTx/>
              <a:latin typeface="Arial"/>
            </a:endParaRPr>
          </a:p>
        </p:txBody>
      </p:sp>
      <p:sp>
        <p:nvSpPr>
          <p:cNvPr id="812" name="TextBox 8"/>
          <p:cNvSpPr/>
          <p:nvPr/>
        </p:nvSpPr>
        <p:spPr>
          <a:xfrm>
            <a:off x="567000" y="1627560"/>
            <a:ext cx="27428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configuration</a:t>
            </a:r>
            <a:endParaRPr lang="en-US" sz="1050" b="0" u="none" strike="noStrike">
              <a:solidFill>
                <a:srgbClr val="000000"/>
              </a:solidFill>
              <a:effectLst/>
              <a:uFillTx/>
              <a:latin typeface="Arial"/>
            </a:endParaRPr>
          </a:p>
        </p:txBody>
      </p:sp>
      <p:sp>
        <p:nvSpPr>
          <p:cNvPr id="813" name="TextBox 9"/>
          <p:cNvSpPr/>
          <p:nvPr/>
        </p:nvSpPr>
        <p:spPr>
          <a:xfrm>
            <a:off x="3310200" y="1627560"/>
            <a:ext cx="19198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macro F1 (mean ± sd)</a:t>
            </a:r>
            <a:endParaRPr lang="en-US" sz="1050" b="0" u="none" strike="noStrike">
              <a:solidFill>
                <a:srgbClr val="000000"/>
              </a:solidFill>
              <a:effectLst/>
              <a:uFillTx/>
              <a:latin typeface="Arial"/>
            </a:endParaRPr>
          </a:p>
        </p:txBody>
      </p:sp>
      <p:sp>
        <p:nvSpPr>
          <p:cNvPr id="814" name="TextBox 10"/>
          <p:cNvSpPr/>
          <p:nvPr/>
        </p:nvSpPr>
        <p:spPr>
          <a:xfrm>
            <a:off x="5230440" y="1627560"/>
            <a:ext cx="1157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accuracy</a:t>
            </a:r>
            <a:endParaRPr lang="en-US" sz="1050" b="0" u="none" strike="noStrike">
              <a:solidFill>
                <a:srgbClr val="000000"/>
              </a:solidFill>
              <a:effectLst/>
              <a:uFillTx/>
              <a:latin typeface="Arial"/>
            </a:endParaRPr>
          </a:p>
        </p:txBody>
      </p:sp>
      <p:sp>
        <p:nvSpPr>
          <p:cNvPr id="815" name="Rectangle 11"/>
          <p:cNvSpPr/>
          <p:nvPr/>
        </p:nvSpPr>
        <p:spPr>
          <a:xfrm>
            <a:off x="567000" y="1920240"/>
            <a:ext cx="582048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16" name="TextBox 12"/>
          <p:cNvSpPr/>
          <p:nvPr/>
        </p:nvSpPr>
        <p:spPr>
          <a:xfrm>
            <a:off x="567000" y="2011680"/>
            <a:ext cx="27428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baseline cnn</a:t>
            </a:r>
            <a:endParaRPr lang="en-US" sz="1050" b="0" u="none" strike="noStrike">
              <a:solidFill>
                <a:srgbClr val="000000"/>
              </a:solidFill>
              <a:effectLst/>
              <a:uFillTx/>
              <a:latin typeface="Arial"/>
            </a:endParaRPr>
          </a:p>
        </p:txBody>
      </p:sp>
      <p:sp>
        <p:nvSpPr>
          <p:cNvPr id="817" name="TextBox 13"/>
          <p:cNvSpPr/>
          <p:nvPr/>
        </p:nvSpPr>
        <p:spPr>
          <a:xfrm>
            <a:off x="3310200" y="2011680"/>
            <a:ext cx="191988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50.6 ± 1.2</a:t>
            </a:r>
            <a:endParaRPr lang="en-US" sz="1050" b="0" u="none" strike="noStrike">
              <a:solidFill>
                <a:srgbClr val="000000"/>
              </a:solidFill>
              <a:effectLst/>
              <a:uFillTx/>
              <a:latin typeface="Arial"/>
            </a:endParaRPr>
          </a:p>
        </p:txBody>
      </p:sp>
      <p:sp>
        <p:nvSpPr>
          <p:cNvPr id="818" name="TextBox 14"/>
          <p:cNvSpPr/>
          <p:nvPr/>
        </p:nvSpPr>
        <p:spPr>
          <a:xfrm>
            <a:off x="5230440" y="2011680"/>
            <a:ext cx="11570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51.6</a:t>
            </a:r>
            <a:endParaRPr lang="en-US" sz="1050" b="0" u="none" strike="noStrike">
              <a:solidFill>
                <a:srgbClr val="000000"/>
              </a:solidFill>
              <a:effectLst/>
              <a:uFillTx/>
              <a:latin typeface="Arial"/>
            </a:endParaRPr>
          </a:p>
        </p:txBody>
      </p:sp>
      <p:sp>
        <p:nvSpPr>
          <p:cNvPr id="819" name="TextBox 15"/>
          <p:cNvSpPr/>
          <p:nvPr/>
        </p:nvSpPr>
        <p:spPr>
          <a:xfrm>
            <a:off x="567000" y="2313360"/>
            <a:ext cx="27428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global only</a:t>
            </a:r>
            <a:endParaRPr lang="en-US" sz="1050" b="0" u="none" strike="noStrike">
              <a:solidFill>
                <a:srgbClr val="000000"/>
              </a:solidFill>
              <a:effectLst/>
              <a:uFillTx/>
              <a:latin typeface="Arial"/>
            </a:endParaRPr>
          </a:p>
        </p:txBody>
      </p:sp>
      <p:sp>
        <p:nvSpPr>
          <p:cNvPr id="820" name="TextBox 16"/>
          <p:cNvSpPr/>
          <p:nvPr/>
        </p:nvSpPr>
        <p:spPr>
          <a:xfrm>
            <a:off x="3310200" y="2313360"/>
            <a:ext cx="191988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93.5 ± 0.4</a:t>
            </a:r>
            <a:endParaRPr lang="en-US" sz="1050" b="0" u="none" strike="noStrike">
              <a:solidFill>
                <a:srgbClr val="000000"/>
              </a:solidFill>
              <a:effectLst/>
              <a:uFillTx/>
              <a:latin typeface="Arial"/>
            </a:endParaRPr>
          </a:p>
        </p:txBody>
      </p:sp>
      <p:sp>
        <p:nvSpPr>
          <p:cNvPr id="821" name="TextBox 17"/>
          <p:cNvSpPr/>
          <p:nvPr/>
        </p:nvSpPr>
        <p:spPr>
          <a:xfrm>
            <a:off x="5230440" y="2313360"/>
            <a:ext cx="11570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93.5</a:t>
            </a:r>
            <a:endParaRPr lang="en-US" sz="1050" b="0" u="none" strike="noStrike">
              <a:solidFill>
                <a:srgbClr val="000000"/>
              </a:solidFill>
              <a:effectLst/>
              <a:uFillTx/>
              <a:latin typeface="Arial"/>
            </a:endParaRPr>
          </a:p>
        </p:txBody>
      </p:sp>
      <p:sp>
        <p:nvSpPr>
          <p:cNvPr id="822" name="TextBox 18"/>
          <p:cNvSpPr/>
          <p:nvPr/>
        </p:nvSpPr>
        <p:spPr>
          <a:xfrm>
            <a:off x="567000" y="2615040"/>
            <a:ext cx="27428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local only</a:t>
            </a:r>
            <a:endParaRPr lang="en-US" sz="1050" b="0" u="none" strike="noStrike">
              <a:solidFill>
                <a:srgbClr val="000000"/>
              </a:solidFill>
              <a:effectLst/>
              <a:uFillTx/>
              <a:latin typeface="Arial"/>
            </a:endParaRPr>
          </a:p>
        </p:txBody>
      </p:sp>
      <p:sp>
        <p:nvSpPr>
          <p:cNvPr id="823" name="TextBox 19"/>
          <p:cNvSpPr/>
          <p:nvPr/>
        </p:nvSpPr>
        <p:spPr>
          <a:xfrm>
            <a:off x="3310200" y="2615040"/>
            <a:ext cx="191988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33.9 ± 33.5</a:t>
            </a:r>
            <a:endParaRPr lang="en-US" sz="1050" b="0" u="none" strike="noStrike">
              <a:solidFill>
                <a:srgbClr val="000000"/>
              </a:solidFill>
              <a:effectLst/>
              <a:uFillTx/>
              <a:latin typeface="Arial"/>
            </a:endParaRPr>
          </a:p>
        </p:txBody>
      </p:sp>
      <p:sp>
        <p:nvSpPr>
          <p:cNvPr id="824" name="TextBox 20"/>
          <p:cNvSpPr/>
          <p:nvPr/>
        </p:nvSpPr>
        <p:spPr>
          <a:xfrm>
            <a:off x="5230440" y="2615040"/>
            <a:ext cx="11570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40.0</a:t>
            </a:r>
            <a:endParaRPr lang="en-US" sz="1050" b="0" u="none" strike="noStrike">
              <a:solidFill>
                <a:srgbClr val="000000"/>
              </a:solidFill>
              <a:effectLst/>
              <a:uFillTx/>
              <a:latin typeface="Arial"/>
            </a:endParaRPr>
          </a:p>
        </p:txBody>
      </p:sp>
      <p:sp>
        <p:nvSpPr>
          <p:cNvPr id="825" name="TextBox 21"/>
          <p:cNvSpPr/>
          <p:nvPr/>
        </p:nvSpPr>
        <p:spPr>
          <a:xfrm>
            <a:off x="567000" y="2917080"/>
            <a:ext cx="27428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dual concat</a:t>
            </a:r>
            <a:endParaRPr lang="en-US" sz="1050" b="0" u="none" strike="noStrike">
              <a:solidFill>
                <a:srgbClr val="000000"/>
              </a:solidFill>
              <a:effectLst/>
              <a:uFillTx/>
              <a:latin typeface="Arial"/>
            </a:endParaRPr>
          </a:p>
        </p:txBody>
      </p:sp>
      <p:sp>
        <p:nvSpPr>
          <p:cNvPr id="826" name="TextBox 22"/>
          <p:cNvSpPr/>
          <p:nvPr/>
        </p:nvSpPr>
        <p:spPr>
          <a:xfrm>
            <a:off x="3310200" y="2917080"/>
            <a:ext cx="191988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90.0 ± 2.1</a:t>
            </a:r>
            <a:endParaRPr lang="en-US" sz="1050" b="0" u="none" strike="noStrike">
              <a:solidFill>
                <a:srgbClr val="000000"/>
              </a:solidFill>
              <a:effectLst/>
              <a:uFillTx/>
              <a:latin typeface="Arial"/>
            </a:endParaRPr>
          </a:p>
        </p:txBody>
      </p:sp>
      <p:sp>
        <p:nvSpPr>
          <p:cNvPr id="827" name="TextBox 23"/>
          <p:cNvSpPr/>
          <p:nvPr/>
        </p:nvSpPr>
        <p:spPr>
          <a:xfrm>
            <a:off x="5230440" y="2917080"/>
            <a:ext cx="11570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90.0</a:t>
            </a:r>
            <a:endParaRPr lang="en-US" sz="1050" b="0" u="none" strike="noStrike">
              <a:solidFill>
                <a:srgbClr val="000000"/>
              </a:solidFill>
              <a:effectLst/>
              <a:uFillTx/>
              <a:latin typeface="Arial"/>
            </a:endParaRPr>
          </a:p>
        </p:txBody>
      </p:sp>
      <p:sp>
        <p:nvSpPr>
          <p:cNvPr id="828" name="TextBox 24"/>
          <p:cNvSpPr/>
          <p:nvPr/>
        </p:nvSpPr>
        <p:spPr>
          <a:xfrm>
            <a:off x="567000" y="3218760"/>
            <a:ext cx="27428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dual attention</a:t>
            </a:r>
            <a:endParaRPr lang="en-US" sz="1050" b="0" u="none" strike="noStrike">
              <a:solidFill>
                <a:srgbClr val="000000"/>
              </a:solidFill>
              <a:effectLst/>
              <a:uFillTx/>
              <a:latin typeface="Arial"/>
            </a:endParaRPr>
          </a:p>
        </p:txBody>
      </p:sp>
      <p:sp>
        <p:nvSpPr>
          <p:cNvPr id="829" name="TextBox 25"/>
          <p:cNvSpPr/>
          <p:nvPr/>
        </p:nvSpPr>
        <p:spPr>
          <a:xfrm>
            <a:off x="3310200" y="3218760"/>
            <a:ext cx="191988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91.1 ± 1.2</a:t>
            </a:r>
            <a:endParaRPr lang="en-US" sz="1050" b="0" u="none" strike="noStrike">
              <a:solidFill>
                <a:srgbClr val="000000"/>
              </a:solidFill>
              <a:effectLst/>
              <a:uFillTx/>
              <a:latin typeface="Arial"/>
            </a:endParaRPr>
          </a:p>
        </p:txBody>
      </p:sp>
      <p:sp>
        <p:nvSpPr>
          <p:cNvPr id="830" name="TextBox 26"/>
          <p:cNvSpPr/>
          <p:nvPr/>
        </p:nvSpPr>
        <p:spPr>
          <a:xfrm>
            <a:off x="5230440" y="3218760"/>
            <a:ext cx="11570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91.2</a:t>
            </a:r>
            <a:endParaRPr lang="en-US" sz="1050" b="0" u="none" strike="noStrike">
              <a:solidFill>
                <a:srgbClr val="000000"/>
              </a:solidFill>
              <a:effectLst/>
              <a:uFillTx/>
              <a:latin typeface="Arial"/>
            </a:endParaRPr>
          </a:p>
        </p:txBody>
      </p:sp>
      <p:sp>
        <p:nvSpPr>
          <p:cNvPr id="831" name="TextBox 27"/>
          <p:cNvSpPr/>
          <p:nvPr/>
        </p:nvSpPr>
        <p:spPr>
          <a:xfrm>
            <a:off x="567000" y="3520440"/>
            <a:ext cx="27428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dual gated</a:t>
            </a:r>
            <a:endParaRPr lang="en-US" sz="1050" b="0" u="none" strike="noStrike">
              <a:solidFill>
                <a:srgbClr val="000000"/>
              </a:solidFill>
              <a:effectLst/>
              <a:uFillTx/>
              <a:latin typeface="Arial"/>
            </a:endParaRPr>
          </a:p>
        </p:txBody>
      </p:sp>
      <p:sp>
        <p:nvSpPr>
          <p:cNvPr id="832" name="TextBox 28"/>
          <p:cNvSpPr/>
          <p:nvPr/>
        </p:nvSpPr>
        <p:spPr>
          <a:xfrm>
            <a:off x="3310200" y="3520440"/>
            <a:ext cx="191988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90.6 ± 2.9</a:t>
            </a:r>
            <a:endParaRPr lang="en-US" sz="1050" b="0" u="none" strike="noStrike">
              <a:solidFill>
                <a:srgbClr val="000000"/>
              </a:solidFill>
              <a:effectLst/>
              <a:uFillTx/>
              <a:latin typeface="Arial"/>
            </a:endParaRPr>
          </a:p>
        </p:txBody>
      </p:sp>
      <p:sp>
        <p:nvSpPr>
          <p:cNvPr id="833" name="TextBox 29"/>
          <p:cNvSpPr/>
          <p:nvPr/>
        </p:nvSpPr>
        <p:spPr>
          <a:xfrm>
            <a:off x="5230440" y="3520440"/>
            <a:ext cx="11570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90.9</a:t>
            </a:r>
            <a:endParaRPr lang="en-US" sz="1050" b="0" u="none" strike="noStrike">
              <a:solidFill>
                <a:srgbClr val="000000"/>
              </a:solidFill>
              <a:effectLst/>
              <a:uFillTx/>
              <a:latin typeface="Arial"/>
            </a:endParaRPr>
          </a:p>
        </p:txBody>
      </p:sp>
      <p:sp>
        <p:nvSpPr>
          <p:cNvPr id="834" name="TextBox 30"/>
          <p:cNvSpPr/>
          <p:nvPr/>
        </p:nvSpPr>
        <p:spPr>
          <a:xfrm>
            <a:off x="567000" y="3822120"/>
            <a:ext cx="27428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chunk attention</a:t>
            </a:r>
            <a:endParaRPr lang="en-US" sz="1050" b="0" u="none" strike="noStrike">
              <a:solidFill>
                <a:srgbClr val="000000"/>
              </a:solidFill>
              <a:effectLst/>
              <a:uFillTx/>
              <a:latin typeface="Arial"/>
            </a:endParaRPr>
          </a:p>
        </p:txBody>
      </p:sp>
      <p:sp>
        <p:nvSpPr>
          <p:cNvPr id="835" name="TextBox 31"/>
          <p:cNvSpPr/>
          <p:nvPr/>
        </p:nvSpPr>
        <p:spPr>
          <a:xfrm>
            <a:off x="3310200" y="3822120"/>
            <a:ext cx="191988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89.4 ± 3.6</a:t>
            </a:r>
            <a:endParaRPr lang="en-US" sz="1050" b="0" u="none" strike="noStrike">
              <a:solidFill>
                <a:srgbClr val="000000"/>
              </a:solidFill>
              <a:effectLst/>
              <a:uFillTx/>
              <a:latin typeface="Arial"/>
            </a:endParaRPr>
          </a:p>
        </p:txBody>
      </p:sp>
      <p:sp>
        <p:nvSpPr>
          <p:cNvPr id="836" name="TextBox 32"/>
          <p:cNvSpPr/>
          <p:nvPr/>
        </p:nvSpPr>
        <p:spPr>
          <a:xfrm>
            <a:off x="5230440" y="3822120"/>
            <a:ext cx="11570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89.6</a:t>
            </a:r>
            <a:endParaRPr lang="en-US" sz="1050" b="0" u="none" strike="noStrike">
              <a:solidFill>
                <a:srgbClr val="000000"/>
              </a:solidFill>
              <a:effectLst/>
              <a:uFillTx/>
              <a:latin typeface="Arial"/>
            </a:endParaRPr>
          </a:p>
        </p:txBody>
      </p:sp>
      <p:sp>
        <p:nvSpPr>
          <p:cNvPr id="837" name="TextBox 33"/>
          <p:cNvSpPr/>
          <p:nvPr/>
        </p:nvSpPr>
        <p:spPr>
          <a:xfrm>
            <a:off x="567000" y="4123800"/>
            <a:ext cx="27428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chunk attention no sobel</a:t>
            </a:r>
            <a:endParaRPr lang="en-US" sz="1050" b="0" u="none" strike="noStrike">
              <a:solidFill>
                <a:srgbClr val="000000"/>
              </a:solidFill>
              <a:effectLst/>
              <a:uFillTx/>
              <a:latin typeface="Arial"/>
            </a:endParaRPr>
          </a:p>
        </p:txBody>
      </p:sp>
      <p:sp>
        <p:nvSpPr>
          <p:cNvPr id="838" name="TextBox 34"/>
          <p:cNvSpPr/>
          <p:nvPr/>
        </p:nvSpPr>
        <p:spPr>
          <a:xfrm>
            <a:off x="3310200" y="4123800"/>
            <a:ext cx="191988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67.8 ± 42.3</a:t>
            </a:r>
            <a:endParaRPr lang="en-US" sz="1050" b="0" u="none" strike="noStrike">
              <a:solidFill>
                <a:srgbClr val="000000"/>
              </a:solidFill>
              <a:effectLst/>
              <a:uFillTx/>
              <a:latin typeface="Arial"/>
            </a:endParaRPr>
          </a:p>
        </p:txBody>
      </p:sp>
      <p:sp>
        <p:nvSpPr>
          <p:cNvPr id="839" name="TextBox 35"/>
          <p:cNvSpPr/>
          <p:nvPr/>
        </p:nvSpPr>
        <p:spPr>
          <a:xfrm>
            <a:off x="5230440" y="4123800"/>
            <a:ext cx="1157040" cy="301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70.6</a:t>
            </a:r>
            <a:endParaRPr lang="en-US" sz="1050" b="0" u="none" strike="noStrike">
              <a:solidFill>
                <a:srgbClr val="000000"/>
              </a:solidFill>
              <a:effectLst/>
              <a:uFillTx/>
              <a:latin typeface="Arial"/>
            </a:endParaRPr>
          </a:p>
        </p:txBody>
      </p:sp>
      <p:sp>
        <p:nvSpPr>
          <p:cNvPr id="840" name="Rounded Rectangle 36"/>
          <p:cNvSpPr/>
          <p:nvPr/>
        </p:nvSpPr>
        <p:spPr>
          <a:xfrm>
            <a:off x="7113240" y="1627560"/>
            <a:ext cx="4511160" cy="19198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41" name="Rectangle 37"/>
          <p:cNvSpPr/>
          <p:nvPr/>
        </p:nvSpPr>
        <p:spPr>
          <a:xfrm>
            <a:off x="7113240" y="1627560"/>
            <a:ext cx="40680" cy="1919880"/>
          </a:xfrm>
          <a:prstGeom prst="rect">
            <a:avLst/>
          </a:prstGeom>
          <a:solidFill>
            <a:srgbClr val="D03B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42" name="TextBox 38"/>
          <p:cNvSpPr/>
          <p:nvPr/>
        </p:nvSpPr>
        <p:spPr>
          <a:xfrm>
            <a:off x="7332840" y="176472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D03B3B"/>
                </a:solidFill>
                <a:effectLst/>
                <a:uFillTx/>
                <a:latin typeface="Inter"/>
              </a:rPr>
              <a:t>Every proposed component costs accuracy</a:t>
            </a:r>
            <a:endParaRPr lang="en-US" sz="1150" b="0" u="none" strike="noStrike">
              <a:solidFill>
                <a:srgbClr val="000000"/>
              </a:solidFill>
              <a:effectLst/>
              <a:uFillTx/>
              <a:latin typeface="Arial"/>
            </a:endParaRPr>
          </a:p>
        </p:txBody>
      </p:sp>
      <p:sp>
        <p:nvSpPr>
          <p:cNvPr id="843" name="TextBox 39"/>
          <p:cNvSpPr/>
          <p:nvPr/>
        </p:nvSpPr>
        <p:spPr>
          <a:xfrm>
            <a:off x="7332840" y="2103120"/>
            <a:ext cx="4090320" cy="12981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adding the local branch   -2.82 pts</a:t>
            </a: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adding chunk attention   -1.26 pts</a:t>
            </a: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adding the Sobel prior   -1.28 pts</a:t>
            </a: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full model vs its backbone   -4.08 pts</a:t>
            </a:r>
            <a:endParaRPr lang="en-US" sz="1150" b="0" u="none" strike="noStrike">
              <a:solidFill>
                <a:srgbClr val="000000"/>
              </a:solidFill>
              <a:effectLst/>
              <a:uFillTx/>
              <a:latin typeface="Arial"/>
            </a:endParaRPr>
          </a:p>
        </p:txBody>
      </p:sp>
      <p:sp>
        <p:nvSpPr>
          <p:cNvPr id="844" name="Rounded Rectangle 40"/>
          <p:cNvSpPr/>
          <p:nvPr/>
        </p:nvSpPr>
        <p:spPr>
          <a:xfrm>
            <a:off x="7113240" y="3776400"/>
            <a:ext cx="4511160" cy="16912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45" name="Rectangle 41"/>
          <p:cNvSpPr/>
          <p:nvPr/>
        </p:nvSpPr>
        <p:spPr>
          <a:xfrm>
            <a:off x="7113240" y="3776400"/>
            <a:ext cx="40680" cy="169128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46" name="TextBox 42"/>
          <p:cNvSpPr/>
          <p:nvPr/>
        </p:nvSpPr>
        <p:spPr>
          <a:xfrm>
            <a:off x="7332840" y="3913560"/>
            <a:ext cx="40903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What is actually established</a:t>
            </a:r>
            <a:endParaRPr lang="en-US" sz="1150" b="0" u="none" strike="noStrike">
              <a:solidFill>
                <a:srgbClr val="000000"/>
              </a:solidFill>
              <a:effectLst/>
              <a:uFillTx/>
              <a:latin typeface="Arial"/>
            </a:endParaRPr>
          </a:p>
        </p:txBody>
      </p:sp>
      <p:sp>
        <p:nvSpPr>
          <p:cNvPr id="847" name="TextBox 43"/>
          <p:cNvSpPr/>
          <p:nvPr/>
        </p:nvSpPr>
        <p:spPr>
          <a:xfrm>
            <a:off x="7332840" y="4251960"/>
            <a:ext cx="4090320" cy="10695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Two contrasts hold on every seed and carry the conclusion: the local branch costs accuracy, and the full model scores below its own backbone (−0.6 to −7.0 pts, negative on all three seeds).</a:t>
            </a: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Finer attributions — chunk attention vs. Sobel prior — do not separate cleanly at this sample size and are not claimed.</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665" dur="indefinite" restart="never" nodeType="tmRoot">
          <p:childTnLst>
            <p:seq>
              <p:cTn id="666" dur="indefinite" nodeType="mainSeq">
                <p:childTnLst>
                  <p:par>
                    <p:cTn id="667" fill="hold">
                      <p:stCondLst>
                        <p:cond delay="indefinite"/>
                      </p:stCondLst>
                      <p:childTnLst>
                        <p:par>
                          <p:cTn id="668" fill="hold">
                            <p:stCondLst>
                              <p:cond delay="0"/>
                            </p:stCondLst>
                            <p:childTnLst>
                              <p:par>
                                <p:cTn id="669" presetID="10" presetClass="entr" fill="hold" nodeType="clickEffect">
                                  <p:stCondLst>
                                    <p:cond delay="0"/>
                                  </p:stCondLst>
                                  <p:childTnLst>
                                    <p:set>
                                      <p:cBhvr>
                                        <p:cTn id="670" dur="1" fill="hold">
                                          <p:stCondLst>
                                            <p:cond delay="0"/>
                                          </p:stCondLst>
                                        </p:cTn>
                                        <p:tgtEl>
                                          <p:spTgt spid="815"/>
                                        </p:tgtEl>
                                        <p:attrNameLst>
                                          <p:attrName>style.visibility</p:attrName>
                                        </p:attrNameLst>
                                      </p:cBhvr>
                                      <p:to>
                                        <p:strVal val="visible"/>
                                      </p:to>
                                    </p:set>
                                    <p:animEffect transition="in" filter="fade">
                                      <p:cBhvr additive="repl">
                                        <p:cTn id="671" dur="350"/>
                                        <p:tgtEl>
                                          <p:spTgt spid="815"/>
                                        </p:tgtEl>
                                      </p:cBhvr>
                                    </p:animEffect>
                                  </p:childTnLst>
                                </p:cTn>
                              </p:par>
                            </p:childTnLst>
                          </p:cTn>
                        </p:par>
                      </p:childTnLst>
                    </p:cTn>
                  </p:par>
                  <p:par>
                    <p:cTn id="672" fill="hold">
                      <p:stCondLst>
                        <p:cond delay="indefinite"/>
                      </p:stCondLst>
                      <p:childTnLst>
                        <p:par>
                          <p:cTn id="673" fill="hold">
                            <p:stCondLst>
                              <p:cond delay="0"/>
                            </p:stCondLst>
                            <p:childTnLst>
                              <p:par>
                                <p:cTn id="674" presetID="10" presetClass="entr" fill="hold" nodeType="afterEffect">
                                  <p:stCondLst>
                                    <p:cond delay="0"/>
                                  </p:stCondLst>
                                  <p:childTnLst>
                                    <p:set>
                                      <p:cBhvr>
                                        <p:cTn id="675" dur="1" fill="hold">
                                          <p:stCondLst>
                                            <p:cond delay="0"/>
                                          </p:stCondLst>
                                        </p:cTn>
                                        <p:tgtEl>
                                          <p:spTgt spid="816"/>
                                        </p:tgtEl>
                                        <p:attrNameLst>
                                          <p:attrName>style.visibility</p:attrName>
                                        </p:attrNameLst>
                                      </p:cBhvr>
                                      <p:to>
                                        <p:strVal val="visible"/>
                                      </p:to>
                                    </p:set>
                                    <p:animEffect transition="in" filter="fade">
                                      <p:cBhvr additive="repl">
                                        <p:cTn id="676" dur="350"/>
                                        <p:tgtEl>
                                          <p:spTgt spid="816"/>
                                        </p:tgtEl>
                                      </p:cBhvr>
                                    </p:animEffect>
                                  </p:childTnLst>
                                </p:cTn>
                              </p:par>
                            </p:childTnLst>
                          </p:cTn>
                        </p:par>
                      </p:childTnLst>
                    </p:cTn>
                  </p:par>
                  <p:par>
                    <p:cTn id="677" fill="hold">
                      <p:stCondLst>
                        <p:cond delay="indefinite"/>
                      </p:stCondLst>
                      <p:childTnLst>
                        <p:par>
                          <p:cTn id="678" fill="hold">
                            <p:stCondLst>
                              <p:cond delay="0"/>
                            </p:stCondLst>
                            <p:childTnLst>
                              <p:par>
                                <p:cTn id="679" presetID="10" presetClass="entr" fill="hold" nodeType="afterEffect">
                                  <p:stCondLst>
                                    <p:cond delay="0"/>
                                  </p:stCondLst>
                                  <p:childTnLst>
                                    <p:set>
                                      <p:cBhvr>
                                        <p:cTn id="680" dur="1" fill="hold">
                                          <p:stCondLst>
                                            <p:cond delay="0"/>
                                          </p:stCondLst>
                                        </p:cTn>
                                        <p:tgtEl>
                                          <p:spTgt spid="817"/>
                                        </p:tgtEl>
                                        <p:attrNameLst>
                                          <p:attrName>style.visibility</p:attrName>
                                        </p:attrNameLst>
                                      </p:cBhvr>
                                      <p:to>
                                        <p:strVal val="visible"/>
                                      </p:to>
                                    </p:set>
                                    <p:animEffect transition="in" filter="fade">
                                      <p:cBhvr additive="repl">
                                        <p:cTn id="681" dur="350"/>
                                        <p:tgtEl>
                                          <p:spTgt spid="817"/>
                                        </p:tgtEl>
                                      </p:cBhvr>
                                    </p:animEffect>
                                  </p:childTnLst>
                                </p:cTn>
                              </p:par>
                            </p:childTnLst>
                          </p:cTn>
                        </p:par>
                      </p:childTnLst>
                    </p:cTn>
                  </p:par>
                  <p:par>
                    <p:cTn id="682" fill="hold">
                      <p:stCondLst>
                        <p:cond delay="indefinite"/>
                      </p:stCondLst>
                      <p:childTnLst>
                        <p:par>
                          <p:cTn id="683" fill="hold">
                            <p:stCondLst>
                              <p:cond delay="0"/>
                            </p:stCondLst>
                            <p:childTnLst>
                              <p:par>
                                <p:cTn id="684" presetID="10" presetClass="entr" fill="hold" nodeType="afterEffect">
                                  <p:stCondLst>
                                    <p:cond delay="0"/>
                                  </p:stCondLst>
                                  <p:childTnLst>
                                    <p:set>
                                      <p:cBhvr>
                                        <p:cTn id="685" dur="1" fill="hold">
                                          <p:stCondLst>
                                            <p:cond delay="0"/>
                                          </p:stCondLst>
                                        </p:cTn>
                                        <p:tgtEl>
                                          <p:spTgt spid="818"/>
                                        </p:tgtEl>
                                        <p:attrNameLst>
                                          <p:attrName>style.visibility</p:attrName>
                                        </p:attrNameLst>
                                      </p:cBhvr>
                                      <p:to>
                                        <p:strVal val="visible"/>
                                      </p:to>
                                    </p:set>
                                    <p:animEffect transition="in" filter="fade">
                                      <p:cBhvr additive="repl">
                                        <p:cTn id="686" dur="350"/>
                                        <p:tgtEl>
                                          <p:spTgt spid="818"/>
                                        </p:tgtEl>
                                      </p:cBhvr>
                                    </p:animEffect>
                                  </p:childTnLst>
                                </p:cTn>
                              </p:par>
                            </p:childTnLst>
                          </p:cTn>
                        </p:par>
                      </p:childTnLst>
                    </p:cTn>
                  </p:par>
                  <p:par>
                    <p:cTn id="687" fill="hold">
                      <p:stCondLst>
                        <p:cond delay="indefinite"/>
                      </p:stCondLst>
                      <p:childTnLst>
                        <p:par>
                          <p:cTn id="688" fill="hold">
                            <p:stCondLst>
                              <p:cond delay="0"/>
                            </p:stCondLst>
                            <p:childTnLst>
                              <p:par>
                                <p:cTn id="689" presetID="10" presetClass="entr" fill="hold" nodeType="afterEffect">
                                  <p:stCondLst>
                                    <p:cond delay="0"/>
                                  </p:stCondLst>
                                  <p:childTnLst>
                                    <p:set>
                                      <p:cBhvr>
                                        <p:cTn id="690" dur="1" fill="hold">
                                          <p:stCondLst>
                                            <p:cond delay="0"/>
                                          </p:stCondLst>
                                        </p:cTn>
                                        <p:tgtEl>
                                          <p:spTgt spid="819"/>
                                        </p:tgtEl>
                                        <p:attrNameLst>
                                          <p:attrName>style.visibility</p:attrName>
                                        </p:attrNameLst>
                                      </p:cBhvr>
                                      <p:to>
                                        <p:strVal val="visible"/>
                                      </p:to>
                                    </p:set>
                                    <p:animEffect transition="in" filter="fade">
                                      <p:cBhvr additive="repl">
                                        <p:cTn id="691" dur="350"/>
                                        <p:tgtEl>
                                          <p:spTgt spid="819"/>
                                        </p:tgtEl>
                                      </p:cBhvr>
                                    </p:animEffect>
                                  </p:childTnLst>
                                </p:cTn>
                              </p:par>
                            </p:childTnLst>
                          </p:cTn>
                        </p:par>
                      </p:childTnLst>
                    </p:cTn>
                  </p:par>
                  <p:par>
                    <p:cTn id="692" fill="hold">
                      <p:stCondLst>
                        <p:cond delay="indefinite"/>
                      </p:stCondLst>
                      <p:childTnLst>
                        <p:par>
                          <p:cTn id="693" fill="hold">
                            <p:stCondLst>
                              <p:cond delay="0"/>
                            </p:stCondLst>
                            <p:childTnLst>
                              <p:par>
                                <p:cTn id="694" presetID="10" presetClass="entr" fill="hold" nodeType="afterEffect">
                                  <p:stCondLst>
                                    <p:cond delay="0"/>
                                  </p:stCondLst>
                                  <p:childTnLst>
                                    <p:set>
                                      <p:cBhvr>
                                        <p:cTn id="695" dur="1" fill="hold">
                                          <p:stCondLst>
                                            <p:cond delay="0"/>
                                          </p:stCondLst>
                                        </p:cTn>
                                        <p:tgtEl>
                                          <p:spTgt spid="820"/>
                                        </p:tgtEl>
                                        <p:attrNameLst>
                                          <p:attrName>style.visibility</p:attrName>
                                        </p:attrNameLst>
                                      </p:cBhvr>
                                      <p:to>
                                        <p:strVal val="visible"/>
                                      </p:to>
                                    </p:set>
                                    <p:animEffect transition="in" filter="fade">
                                      <p:cBhvr additive="repl">
                                        <p:cTn id="696" dur="350"/>
                                        <p:tgtEl>
                                          <p:spTgt spid="8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8"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49"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Design Studies</a:t>
            </a:r>
            <a:endParaRPr lang="en-US" sz="2700" b="0" u="none" strike="noStrike">
              <a:solidFill>
                <a:srgbClr val="000000"/>
              </a:solidFill>
              <a:effectLst/>
              <a:uFillTx/>
              <a:latin typeface="Arial"/>
            </a:endParaRPr>
          </a:p>
        </p:txBody>
      </p:sp>
      <p:sp>
        <p:nvSpPr>
          <p:cNvPr id="850"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Each variant changes one choice against the specified configuration (89.38% macro F1)</a:t>
            </a:r>
            <a:endParaRPr lang="en-US" sz="1300" b="0" u="none" strike="noStrike">
              <a:solidFill>
                <a:srgbClr val="000000"/>
              </a:solidFill>
              <a:effectLst/>
              <a:uFillTx/>
              <a:latin typeface="Arial"/>
            </a:endParaRPr>
          </a:p>
        </p:txBody>
      </p:sp>
      <p:sp>
        <p:nvSpPr>
          <p:cNvPr id="851"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852"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53" name="Rectangle 6"/>
          <p:cNvSpPr/>
          <p:nvPr/>
        </p:nvSpPr>
        <p:spPr>
          <a:xfrm>
            <a:off x="567000" y="6226920"/>
            <a:ext cx="87296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54"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855"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45</a:t>
            </a:r>
            <a:endParaRPr lang="en-US" sz="900" b="0" u="none" strike="noStrike">
              <a:solidFill>
                <a:srgbClr val="000000"/>
              </a:solidFill>
              <a:effectLst/>
              <a:uFillTx/>
              <a:latin typeface="Arial"/>
            </a:endParaRPr>
          </a:p>
        </p:txBody>
      </p:sp>
      <p:sp>
        <p:nvSpPr>
          <p:cNvPr id="856" name="TextBox 9"/>
          <p:cNvSpPr/>
          <p:nvPr/>
        </p:nvSpPr>
        <p:spPr>
          <a:xfrm>
            <a:off x="567000" y="1627560"/>
            <a:ext cx="5259240" cy="2556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60A5FA"/>
                </a:solidFill>
                <a:effectLst/>
                <a:uFillTx/>
                <a:latin typeface="Inter"/>
              </a:rPr>
              <a:t>INPUT RESOLUTION</a:t>
            </a:r>
            <a:endParaRPr lang="en-US" sz="1050" b="0" u="none" strike="noStrike">
              <a:solidFill>
                <a:srgbClr val="000000"/>
              </a:solidFill>
              <a:effectLst/>
              <a:uFillTx/>
              <a:latin typeface="Arial"/>
            </a:endParaRPr>
          </a:p>
        </p:txBody>
      </p:sp>
      <p:sp>
        <p:nvSpPr>
          <p:cNvPr id="857" name="TextBox 10"/>
          <p:cNvSpPr/>
          <p:nvPr/>
        </p:nvSpPr>
        <p:spPr>
          <a:xfrm>
            <a:off x="567000" y="199332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variant</a:t>
            </a:r>
            <a:endParaRPr lang="en-US" sz="1050" b="0" u="none" strike="noStrike">
              <a:solidFill>
                <a:srgbClr val="000000"/>
              </a:solidFill>
              <a:effectLst/>
              <a:uFillTx/>
              <a:latin typeface="Arial"/>
            </a:endParaRPr>
          </a:p>
        </p:txBody>
      </p:sp>
      <p:sp>
        <p:nvSpPr>
          <p:cNvPr id="858" name="TextBox 11"/>
          <p:cNvSpPr/>
          <p:nvPr/>
        </p:nvSpPr>
        <p:spPr>
          <a:xfrm>
            <a:off x="2944440" y="199332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macro F1 %</a:t>
            </a:r>
            <a:endParaRPr lang="en-US" sz="1050" b="0" u="none" strike="noStrike">
              <a:solidFill>
                <a:srgbClr val="000000"/>
              </a:solidFill>
              <a:effectLst/>
              <a:uFillTx/>
              <a:latin typeface="Arial"/>
            </a:endParaRPr>
          </a:p>
        </p:txBody>
      </p:sp>
      <p:sp>
        <p:nvSpPr>
          <p:cNvPr id="859" name="Rectangle 12"/>
          <p:cNvSpPr/>
          <p:nvPr/>
        </p:nvSpPr>
        <p:spPr>
          <a:xfrm>
            <a:off x="567000" y="2286000"/>
            <a:ext cx="525924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860" name="TextBox 13"/>
          <p:cNvSpPr/>
          <p:nvPr/>
        </p:nvSpPr>
        <p:spPr>
          <a:xfrm>
            <a:off x="567000" y="237744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112</a:t>
            </a:r>
            <a:endParaRPr lang="en-US" sz="1050" b="0" u="none" strike="noStrike">
              <a:solidFill>
                <a:srgbClr val="000000"/>
              </a:solidFill>
              <a:effectLst/>
              <a:uFillTx/>
              <a:latin typeface="Arial"/>
            </a:endParaRPr>
          </a:p>
        </p:txBody>
      </p:sp>
      <p:sp>
        <p:nvSpPr>
          <p:cNvPr id="861" name="TextBox 14"/>
          <p:cNvSpPr/>
          <p:nvPr/>
        </p:nvSpPr>
        <p:spPr>
          <a:xfrm>
            <a:off x="2944440" y="237744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87.4 ± 5.4</a:t>
            </a:r>
            <a:endParaRPr lang="en-US" sz="1050" b="0" u="none" strike="noStrike">
              <a:solidFill>
                <a:srgbClr val="000000"/>
              </a:solidFill>
              <a:effectLst/>
              <a:uFillTx/>
              <a:latin typeface="Arial"/>
            </a:endParaRPr>
          </a:p>
        </p:txBody>
      </p:sp>
      <p:sp>
        <p:nvSpPr>
          <p:cNvPr id="862" name="TextBox 15"/>
          <p:cNvSpPr/>
          <p:nvPr/>
        </p:nvSpPr>
        <p:spPr>
          <a:xfrm>
            <a:off x="567000" y="265176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200</a:t>
            </a:r>
            <a:endParaRPr lang="en-US" sz="1050" b="0" u="none" strike="noStrike">
              <a:solidFill>
                <a:srgbClr val="000000"/>
              </a:solidFill>
              <a:effectLst/>
              <a:uFillTx/>
              <a:latin typeface="Arial"/>
            </a:endParaRPr>
          </a:p>
        </p:txBody>
      </p:sp>
      <p:sp>
        <p:nvSpPr>
          <p:cNvPr id="863" name="TextBox 16"/>
          <p:cNvSpPr/>
          <p:nvPr/>
        </p:nvSpPr>
        <p:spPr>
          <a:xfrm>
            <a:off x="2944440" y="265176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91.8 ± 2.0</a:t>
            </a:r>
            <a:endParaRPr lang="en-US" sz="1050" b="0" u="none" strike="noStrike">
              <a:solidFill>
                <a:srgbClr val="000000"/>
              </a:solidFill>
              <a:effectLst/>
              <a:uFillTx/>
              <a:latin typeface="Arial"/>
            </a:endParaRPr>
          </a:p>
        </p:txBody>
      </p:sp>
      <p:sp>
        <p:nvSpPr>
          <p:cNvPr id="864" name="TextBox 17"/>
          <p:cNvSpPr/>
          <p:nvPr/>
        </p:nvSpPr>
        <p:spPr>
          <a:xfrm>
            <a:off x="6365160" y="1627560"/>
            <a:ext cx="5259240" cy="2556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60A5FA"/>
                </a:solidFill>
                <a:effectLst/>
                <a:uFillTx/>
                <a:latin typeface="Inter"/>
              </a:rPr>
              <a:t>CONTRAST ENHANCEMENT</a:t>
            </a:r>
            <a:endParaRPr lang="en-US" sz="1050" b="0" u="none" strike="noStrike">
              <a:solidFill>
                <a:srgbClr val="000000"/>
              </a:solidFill>
              <a:effectLst/>
              <a:uFillTx/>
              <a:latin typeface="Arial"/>
            </a:endParaRPr>
          </a:p>
        </p:txBody>
      </p:sp>
      <p:sp>
        <p:nvSpPr>
          <p:cNvPr id="865" name="TextBox 18"/>
          <p:cNvSpPr/>
          <p:nvPr/>
        </p:nvSpPr>
        <p:spPr>
          <a:xfrm>
            <a:off x="6365160" y="199332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variant</a:t>
            </a:r>
            <a:endParaRPr lang="en-US" sz="1050" b="0" u="none" strike="noStrike">
              <a:solidFill>
                <a:srgbClr val="000000"/>
              </a:solidFill>
              <a:effectLst/>
              <a:uFillTx/>
              <a:latin typeface="Arial"/>
            </a:endParaRPr>
          </a:p>
        </p:txBody>
      </p:sp>
      <p:sp>
        <p:nvSpPr>
          <p:cNvPr id="866" name="TextBox 19"/>
          <p:cNvSpPr/>
          <p:nvPr/>
        </p:nvSpPr>
        <p:spPr>
          <a:xfrm>
            <a:off x="8742600" y="199332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macro F1 %</a:t>
            </a:r>
            <a:endParaRPr lang="en-US" sz="1050" b="0" u="none" strike="noStrike">
              <a:solidFill>
                <a:srgbClr val="000000"/>
              </a:solidFill>
              <a:effectLst/>
              <a:uFillTx/>
              <a:latin typeface="Arial"/>
            </a:endParaRPr>
          </a:p>
        </p:txBody>
      </p:sp>
      <p:sp>
        <p:nvSpPr>
          <p:cNvPr id="867" name="Rectangle 20"/>
          <p:cNvSpPr/>
          <p:nvPr/>
        </p:nvSpPr>
        <p:spPr>
          <a:xfrm>
            <a:off x="6365160" y="2286000"/>
            <a:ext cx="525924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868" name="TextBox 21"/>
          <p:cNvSpPr/>
          <p:nvPr/>
        </p:nvSpPr>
        <p:spPr>
          <a:xfrm>
            <a:off x="6365160" y="237744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histeq</a:t>
            </a:r>
            <a:endParaRPr lang="en-US" sz="1050" b="0" u="none" strike="noStrike">
              <a:solidFill>
                <a:srgbClr val="000000"/>
              </a:solidFill>
              <a:effectLst/>
              <a:uFillTx/>
              <a:latin typeface="Arial"/>
            </a:endParaRPr>
          </a:p>
        </p:txBody>
      </p:sp>
      <p:sp>
        <p:nvSpPr>
          <p:cNvPr id="869" name="TextBox 22"/>
          <p:cNvSpPr/>
          <p:nvPr/>
        </p:nvSpPr>
        <p:spPr>
          <a:xfrm>
            <a:off x="8742600" y="237744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87.9 ± 4.3</a:t>
            </a:r>
            <a:endParaRPr lang="en-US" sz="1050" b="0" u="none" strike="noStrike">
              <a:solidFill>
                <a:srgbClr val="000000"/>
              </a:solidFill>
              <a:effectLst/>
              <a:uFillTx/>
              <a:latin typeface="Arial"/>
            </a:endParaRPr>
          </a:p>
        </p:txBody>
      </p:sp>
      <p:sp>
        <p:nvSpPr>
          <p:cNvPr id="870" name="TextBox 23"/>
          <p:cNvSpPr/>
          <p:nvPr/>
        </p:nvSpPr>
        <p:spPr>
          <a:xfrm>
            <a:off x="6365160" y="265176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none</a:t>
            </a:r>
            <a:endParaRPr lang="en-US" sz="1050" b="0" u="none" strike="noStrike">
              <a:solidFill>
                <a:srgbClr val="000000"/>
              </a:solidFill>
              <a:effectLst/>
              <a:uFillTx/>
              <a:latin typeface="Arial"/>
            </a:endParaRPr>
          </a:p>
        </p:txBody>
      </p:sp>
      <p:sp>
        <p:nvSpPr>
          <p:cNvPr id="871" name="TextBox 24"/>
          <p:cNvSpPr/>
          <p:nvPr/>
        </p:nvSpPr>
        <p:spPr>
          <a:xfrm>
            <a:off x="8742600" y="265176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91.2 ± 4.7</a:t>
            </a:r>
            <a:endParaRPr lang="en-US" sz="1050" b="0" u="none" strike="noStrike">
              <a:solidFill>
                <a:srgbClr val="000000"/>
              </a:solidFill>
              <a:effectLst/>
              <a:uFillTx/>
              <a:latin typeface="Arial"/>
            </a:endParaRPr>
          </a:p>
        </p:txBody>
      </p:sp>
      <p:sp>
        <p:nvSpPr>
          <p:cNvPr id="872" name="TextBox 25"/>
          <p:cNvSpPr/>
          <p:nvPr/>
        </p:nvSpPr>
        <p:spPr>
          <a:xfrm>
            <a:off x="567000" y="3776400"/>
            <a:ext cx="5259240" cy="2556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60A5FA"/>
                </a:solidFill>
                <a:effectLst/>
                <a:uFillTx/>
                <a:latin typeface="Inter"/>
              </a:rPr>
              <a:t>COMPRESSED DIMENSION</a:t>
            </a:r>
            <a:endParaRPr lang="en-US" sz="1050" b="0" u="none" strike="noStrike">
              <a:solidFill>
                <a:srgbClr val="000000"/>
              </a:solidFill>
              <a:effectLst/>
              <a:uFillTx/>
              <a:latin typeface="Arial"/>
            </a:endParaRPr>
          </a:p>
        </p:txBody>
      </p:sp>
      <p:sp>
        <p:nvSpPr>
          <p:cNvPr id="873" name="TextBox 26"/>
          <p:cNvSpPr/>
          <p:nvPr/>
        </p:nvSpPr>
        <p:spPr>
          <a:xfrm>
            <a:off x="567000" y="414216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variant</a:t>
            </a:r>
            <a:endParaRPr lang="en-US" sz="1050" b="0" u="none" strike="noStrike">
              <a:solidFill>
                <a:srgbClr val="000000"/>
              </a:solidFill>
              <a:effectLst/>
              <a:uFillTx/>
              <a:latin typeface="Arial"/>
            </a:endParaRPr>
          </a:p>
        </p:txBody>
      </p:sp>
      <p:sp>
        <p:nvSpPr>
          <p:cNvPr id="874" name="TextBox 27"/>
          <p:cNvSpPr/>
          <p:nvPr/>
        </p:nvSpPr>
        <p:spPr>
          <a:xfrm>
            <a:off x="2944440" y="414216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macro F1 %</a:t>
            </a:r>
            <a:endParaRPr lang="en-US" sz="1050" b="0" u="none" strike="noStrike">
              <a:solidFill>
                <a:srgbClr val="000000"/>
              </a:solidFill>
              <a:effectLst/>
              <a:uFillTx/>
              <a:latin typeface="Arial"/>
            </a:endParaRPr>
          </a:p>
        </p:txBody>
      </p:sp>
      <p:sp>
        <p:nvSpPr>
          <p:cNvPr id="875" name="Rectangle 28"/>
          <p:cNvSpPr/>
          <p:nvPr/>
        </p:nvSpPr>
        <p:spPr>
          <a:xfrm>
            <a:off x="567000" y="4434840"/>
            <a:ext cx="525924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876" name="TextBox 29"/>
          <p:cNvSpPr/>
          <p:nvPr/>
        </p:nvSpPr>
        <p:spPr>
          <a:xfrm>
            <a:off x="567000" y="452628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128</a:t>
            </a:r>
            <a:endParaRPr lang="en-US" sz="1050" b="0" u="none" strike="noStrike">
              <a:solidFill>
                <a:srgbClr val="000000"/>
              </a:solidFill>
              <a:effectLst/>
              <a:uFillTx/>
              <a:latin typeface="Arial"/>
            </a:endParaRPr>
          </a:p>
        </p:txBody>
      </p:sp>
      <p:sp>
        <p:nvSpPr>
          <p:cNvPr id="877" name="TextBox 30"/>
          <p:cNvSpPr/>
          <p:nvPr/>
        </p:nvSpPr>
        <p:spPr>
          <a:xfrm>
            <a:off x="2944440" y="452628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91.1 ± 1.8</a:t>
            </a:r>
            <a:endParaRPr lang="en-US" sz="1050" b="0" u="none" strike="noStrike">
              <a:solidFill>
                <a:srgbClr val="000000"/>
              </a:solidFill>
              <a:effectLst/>
              <a:uFillTx/>
              <a:latin typeface="Arial"/>
            </a:endParaRPr>
          </a:p>
        </p:txBody>
      </p:sp>
      <p:sp>
        <p:nvSpPr>
          <p:cNvPr id="878" name="TextBox 31"/>
          <p:cNvSpPr/>
          <p:nvPr/>
        </p:nvSpPr>
        <p:spPr>
          <a:xfrm>
            <a:off x="567000" y="480060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256</a:t>
            </a:r>
            <a:endParaRPr lang="en-US" sz="1050" b="0" u="none" strike="noStrike">
              <a:solidFill>
                <a:srgbClr val="000000"/>
              </a:solidFill>
              <a:effectLst/>
              <a:uFillTx/>
              <a:latin typeface="Arial"/>
            </a:endParaRPr>
          </a:p>
        </p:txBody>
      </p:sp>
      <p:sp>
        <p:nvSpPr>
          <p:cNvPr id="879" name="TextBox 32"/>
          <p:cNvSpPr/>
          <p:nvPr/>
        </p:nvSpPr>
        <p:spPr>
          <a:xfrm>
            <a:off x="2944440" y="480060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90.7 ± 1.9</a:t>
            </a:r>
            <a:endParaRPr lang="en-US" sz="1050" b="0" u="none" strike="noStrike">
              <a:solidFill>
                <a:srgbClr val="000000"/>
              </a:solidFill>
              <a:effectLst/>
              <a:uFillTx/>
              <a:latin typeface="Arial"/>
            </a:endParaRPr>
          </a:p>
        </p:txBody>
      </p:sp>
      <p:sp>
        <p:nvSpPr>
          <p:cNvPr id="880" name="TextBox 33"/>
          <p:cNvSpPr/>
          <p:nvPr/>
        </p:nvSpPr>
        <p:spPr>
          <a:xfrm>
            <a:off x="567000" y="507492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32</a:t>
            </a:r>
            <a:endParaRPr lang="en-US" sz="1050" b="0" u="none" strike="noStrike">
              <a:solidFill>
                <a:srgbClr val="000000"/>
              </a:solidFill>
              <a:effectLst/>
              <a:uFillTx/>
              <a:latin typeface="Arial"/>
            </a:endParaRPr>
          </a:p>
        </p:txBody>
      </p:sp>
      <p:sp>
        <p:nvSpPr>
          <p:cNvPr id="881" name="TextBox 34"/>
          <p:cNvSpPr/>
          <p:nvPr/>
        </p:nvSpPr>
        <p:spPr>
          <a:xfrm>
            <a:off x="2944440" y="507492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56.9 ± 39.6</a:t>
            </a:r>
            <a:endParaRPr lang="en-US" sz="1050" b="0" u="none" strike="noStrike">
              <a:solidFill>
                <a:srgbClr val="000000"/>
              </a:solidFill>
              <a:effectLst/>
              <a:uFillTx/>
              <a:latin typeface="Arial"/>
            </a:endParaRPr>
          </a:p>
        </p:txBody>
      </p:sp>
      <p:sp>
        <p:nvSpPr>
          <p:cNvPr id="882" name="TextBox 35"/>
          <p:cNvSpPr/>
          <p:nvPr/>
        </p:nvSpPr>
        <p:spPr>
          <a:xfrm>
            <a:off x="6365160" y="3776400"/>
            <a:ext cx="5259240" cy="2556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60A5FA"/>
                </a:solidFill>
                <a:effectLst/>
                <a:uFillTx/>
                <a:latin typeface="Inter"/>
              </a:rPr>
              <a:t>HARD TOP-K SELECTION</a:t>
            </a:r>
            <a:endParaRPr lang="en-US" sz="1050" b="0" u="none" strike="noStrike">
              <a:solidFill>
                <a:srgbClr val="000000"/>
              </a:solidFill>
              <a:effectLst/>
              <a:uFillTx/>
              <a:latin typeface="Arial"/>
            </a:endParaRPr>
          </a:p>
        </p:txBody>
      </p:sp>
      <p:sp>
        <p:nvSpPr>
          <p:cNvPr id="883" name="TextBox 36"/>
          <p:cNvSpPr/>
          <p:nvPr/>
        </p:nvSpPr>
        <p:spPr>
          <a:xfrm>
            <a:off x="6365160" y="414216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variant</a:t>
            </a:r>
            <a:endParaRPr lang="en-US" sz="1050" b="0" u="none" strike="noStrike">
              <a:solidFill>
                <a:srgbClr val="000000"/>
              </a:solidFill>
              <a:effectLst/>
              <a:uFillTx/>
              <a:latin typeface="Arial"/>
            </a:endParaRPr>
          </a:p>
        </p:txBody>
      </p:sp>
      <p:sp>
        <p:nvSpPr>
          <p:cNvPr id="884" name="TextBox 37"/>
          <p:cNvSpPr/>
          <p:nvPr/>
        </p:nvSpPr>
        <p:spPr>
          <a:xfrm>
            <a:off x="8742600" y="414216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macro F1 %</a:t>
            </a:r>
            <a:endParaRPr lang="en-US" sz="1050" b="0" u="none" strike="noStrike">
              <a:solidFill>
                <a:srgbClr val="000000"/>
              </a:solidFill>
              <a:effectLst/>
              <a:uFillTx/>
              <a:latin typeface="Arial"/>
            </a:endParaRPr>
          </a:p>
        </p:txBody>
      </p:sp>
      <p:sp>
        <p:nvSpPr>
          <p:cNvPr id="885" name="Rectangle 38"/>
          <p:cNvSpPr/>
          <p:nvPr/>
        </p:nvSpPr>
        <p:spPr>
          <a:xfrm>
            <a:off x="6365160" y="4434840"/>
            <a:ext cx="525924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886" name="TextBox 39"/>
          <p:cNvSpPr/>
          <p:nvPr/>
        </p:nvSpPr>
        <p:spPr>
          <a:xfrm>
            <a:off x="6365160" y="452628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4</a:t>
            </a:r>
            <a:endParaRPr lang="en-US" sz="1050" b="0" u="none" strike="noStrike">
              <a:solidFill>
                <a:srgbClr val="000000"/>
              </a:solidFill>
              <a:effectLst/>
              <a:uFillTx/>
              <a:latin typeface="Arial"/>
            </a:endParaRPr>
          </a:p>
        </p:txBody>
      </p:sp>
      <p:sp>
        <p:nvSpPr>
          <p:cNvPr id="887" name="TextBox 40"/>
          <p:cNvSpPr/>
          <p:nvPr/>
        </p:nvSpPr>
        <p:spPr>
          <a:xfrm>
            <a:off x="8742600" y="452628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43.0 ± 41.9</a:t>
            </a:r>
            <a:endParaRPr lang="en-US" sz="1050" b="0" u="none" strike="noStrike">
              <a:solidFill>
                <a:srgbClr val="000000"/>
              </a:solidFill>
              <a:effectLst/>
              <a:uFillTx/>
              <a:latin typeface="Arial"/>
            </a:endParaRPr>
          </a:p>
        </p:txBody>
      </p:sp>
      <p:sp>
        <p:nvSpPr>
          <p:cNvPr id="888" name="TextBox 41"/>
          <p:cNvSpPr/>
          <p:nvPr/>
        </p:nvSpPr>
        <p:spPr>
          <a:xfrm>
            <a:off x="6365160" y="4800600"/>
            <a:ext cx="237708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8</a:t>
            </a:r>
            <a:endParaRPr lang="en-US" sz="1050" b="0" u="none" strike="noStrike">
              <a:solidFill>
                <a:srgbClr val="000000"/>
              </a:solidFill>
              <a:effectLst/>
              <a:uFillTx/>
              <a:latin typeface="Arial"/>
            </a:endParaRPr>
          </a:p>
        </p:txBody>
      </p:sp>
      <p:sp>
        <p:nvSpPr>
          <p:cNvPr id="889" name="TextBox 42"/>
          <p:cNvSpPr/>
          <p:nvPr/>
        </p:nvSpPr>
        <p:spPr>
          <a:xfrm>
            <a:off x="8742600" y="4800600"/>
            <a:ext cx="2881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90.5 ± 2.9</a:t>
            </a:r>
            <a:endParaRPr lang="en-US" sz="1050" b="0" u="none" strike="noStrike">
              <a:solidFill>
                <a:srgbClr val="000000"/>
              </a:solidFill>
              <a:effectLst/>
              <a:uFillTx/>
              <a:latin typeface="Arial"/>
            </a:endParaRPr>
          </a:p>
        </p:txBody>
      </p:sp>
      <p:sp>
        <p:nvSpPr>
          <p:cNvPr id="890" name="TextBox 43"/>
          <p:cNvSpPr/>
          <p:nvPr/>
        </p:nvSpPr>
        <p:spPr>
          <a:xfrm>
            <a:off x="567000" y="5559480"/>
            <a:ext cx="11057400" cy="6030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i="1" u="none" strike="noStrike">
                <a:solidFill>
                  <a:srgbClr val="FAB219"/>
                </a:solidFill>
                <a:effectLst/>
                <a:uFillTx/>
                <a:latin typeface="Inter"/>
              </a:rPr>
              <a:t>Only 2 of 9 variants differ from the reference by more than their own seed-to-seed spread — the rest are indistinguishable, not ranked. Measured at 61 training images: at full training size every variant sits at ceiling and these studies would show nothing, which is the same reason the ablation is run here.</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697" dur="indefinite" restart="never" nodeType="tmRoot">
          <p:childTnLst>
            <p:seq>
              <p:cTn id="698" dur="indefinite" nodeType="mainSeq">
                <p:childTnLst>
                  <p:par>
                    <p:cTn id="699" fill="hold">
                      <p:stCondLst>
                        <p:cond delay="indefinite"/>
                      </p:stCondLst>
                      <p:childTnLst>
                        <p:par>
                          <p:cTn id="700" fill="hold">
                            <p:stCondLst>
                              <p:cond delay="0"/>
                            </p:stCondLst>
                            <p:childTnLst>
                              <p:par>
                                <p:cTn id="701" presetID="10" presetClass="entr" fill="hold" nodeType="clickEffect">
                                  <p:stCondLst>
                                    <p:cond delay="0"/>
                                  </p:stCondLst>
                                  <p:childTnLst>
                                    <p:set>
                                      <p:cBhvr>
                                        <p:cTn id="702" dur="1" fill="hold">
                                          <p:stCondLst>
                                            <p:cond delay="0"/>
                                          </p:stCondLst>
                                        </p:cTn>
                                        <p:tgtEl>
                                          <p:spTgt spid="857"/>
                                        </p:tgtEl>
                                        <p:attrNameLst>
                                          <p:attrName>style.visibility</p:attrName>
                                        </p:attrNameLst>
                                      </p:cBhvr>
                                      <p:to>
                                        <p:strVal val="visible"/>
                                      </p:to>
                                    </p:set>
                                    <p:animEffect transition="in" filter="fade">
                                      <p:cBhvr additive="repl">
                                        <p:cTn id="703" dur="350"/>
                                        <p:tgtEl>
                                          <p:spTgt spid="857"/>
                                        </p:tgtEl>
                                      </p:cBhvr>
                                    </p:animEffect>
                                  </p:childTnLst>
                                </p:cTn>
                              </p:par>
                            </p:childTnLst>
                          </p:cTn>
                        </p:par>
                      </p:childTnLst>
                    </p:cTn>
                  </p:par>
                  <p:par>
                    <p:cTn id="704" fill="hold">
                      <p:stCondLst>
                        <p:cond delay="indefinite"/>
                      </p:stCondLst>
                      <p:childTnLst>
                        <p:par>
                          <p:cTn id="705" fill="hold">
                            <p:stCondLst>
                              <p:cond delay="0"/>
                            </p:stCondLst>
                            <p:childTnLst>
                              <p:par>
                                <p:cTn id="706" presetID="10" presetClass="entr" fill="hold" nodeType="afterEffect">
                                  <p:stCondLst>
                                    <p:cond delay="0"/>
                                  </p:stCondLst>
                                  <p:childTnLst>
                                    <p:set>
                                      <p:cBhvr>
                                        <p:cTn id="707" dur="1" fill="hold">
                                          <p:stCondLst>
                                            <p:cond delay="0"/>
                                          </p:stCondLst>
                                        </p:cTn>
                                        <p:tgtEl>
                                          <p:spTgt spid="858"/>
                                        </p:tgtEl>
                                        <p:attrNameLst>
                                          <p:attrName>style.visibility</p:attrName>
                                        </p:attrNameLst>
                                      </p:cBhvr>
                                      <p:to>
                                        <p:strVal val="visible"/>
                                      </p:to>
                                    </p:set>
                                    <p:animEffect transition="in" filter="fade">
                                      <p:cBhvr additive="repl">
                                        <p:cTn id="708" dur="350"/>
                                        <p:tgtEl>
                                          <p:spTgt spid="858"/>
                                        </p:tgtEl>
                                      </p:cBhvr>
                                    </p:animEffect>
                                  </p:childTnLst>
                                </p:cTn>
                              </p:par>
                            </p:childTnLst>
                          </p:cTn>
                        </p:par>
                      </p:childTnLst>
                    </p:cTn>
                  </p:par>
                  <p:par>
                    <p:cTn id="709" fill="hold">
                      <p:stCondLst>
                        <p:cond delay="indefinite"/>
                      </p:stCondLst>
                      <p:childTnLst>
                        <p:par>
                          <p:cTn id="710" fill="hold">
                            <p:stCondLst>
                              <p:cond delay="0"/>
                            </p:stCondLst>
                            <p:childTnLst>
                              <p:par>
                                <p:cTn id="711" presetID="10" presetClass="entr" fill="hold" nodeType="afterEffect">
                                  <p:stCondLst>
                                    <p:cond delay="0"/>
                                  </p:stCondLst>
                                  <p:childTnLst>
                                    <p:set>
                                      <p:cBhvr>
                                        <p:cTn id="712" dur="1" fill="hold">
                                          <p:stCondLst>
                                            <p:cond delay="0"/>
                                          </p:stCondLst>
                                        </p:cTn>
                                        <p:tgtEl>
                                          <p:spTgt spid="859"/>
                                        </p:tgtEl>
                                        <p:attrNameLst>
                                          <p:attrName>style.visibility</p:attrName>
                                        </p:attrNameLst>
                                      </p:cBhvr>
                                      <p:to>
                                        <p:strVal val="visible"/>
                                      </p:to>
                                    </p:set>
                                    <p:animEffect transition="in" filter="fade">
                                      <p:cBhvr additive="repl">
                                        <p:cTn id="713" dur="350"/>
                                        <p:tgtEl>
                                          <p:spTgt spid="859"/>
                                        </p:tgtEl>
                                      </p:cBhvr>
                                    </p:animEffect>
                                  </p:childTnLst>
                                </p:cTn>
                              </p:par>
                            </p:childTnLst>
                          </p:cTn>
                        </p:par>
                      </p:childTnLst>
                    </p:cTn>
                  </p:par>
                  <p:par>
                    <p:cTn id="714" fill="hold">
                      <p:stCondLst>
                        <p:cond delay="indefinite"/>
                      </p:stCondLst>
                      <p:childTnLst>
                        <p:par>
                          <p:cTn id="715" fill="hold">
                            <p:stCondLst>
                              <p:cond delay="0"/>
                            </p:stCondLst>
                            <p:childTnLst>
                              <p:par>
                                <p:cTn id="716" presetID="10" presetClass="entr" fill="hold" nodeType="afterEffect">
                                  <p:stCondLst>
                                    <p:cond delay="0"/>
                                  </p:stCondLst>
                                  <p:childTnLst>
                                    <p:set>
                                      <p:cBhvr>
                                        <p:cTn id="717" dur="1" fill="hold">
                                          <p:stCondLst>
                                            <p:cond delay="0"/>
                                          </p:stCondLst>
                                        </p:cTn>
                                        <p:tgtEl>
                                          <p:spTgt spid="860"/>
                                        </p:tgtEl>
                                        <p:attrNameLst>
                                          <p:attrName>style.visibility</p:attrName>
                                        </p:attrNameLst>
                                      </p:cBhvr>
                                      <p:to>
                                        <p:strVal val="visible"/>
                                      </p:to>
                                    </p:set>
                                    <p:animEffect transition="in" filter="fade">
                                      <p:cBhvr additive="repl">
                                        <p:cTn id="718" dur="350"/>
                                        <p:tgtEl>
                                          <p:spTgt spid="860"/>
                                        </p:tgtEl>
                                      </p:cBhvr>
                                    </p:animEffect>
                                  </p:childTnLst>
                                </p:cTn>
                              </p:par>
                            </p:childTnLst>
                          </p:cTn>
                        </p:par>
                      </p:childTnLst>
                    </p:cTn>
                  </p:par>
                  <p:par>
                    <p:cTn id="719" fill="hold">
                      <p:stCondLst>
                        <p:cond delay="indefinite"/>
                      </p:stCondLst>
                      <p:childTnLst>
                        <p:par>
                          <p:cTn id="720" fill="hold">
                            <p:stCondLst>
                              <p:cond delay="0"/>
                            </p:stCondLst>
                            <p:childTnLst>
                              <p:par>
                                <p:cTn id="721" presetID="10" presetClass="entr" fill="hold" nodeType="afterEffect">
                                  <p:stCondLst>
                                    <p:cond delay="0"/>
                                  </p:stCondLst>
                                  <p:childTnLst>
                                    <p:set>
                                      <p:cBhvr>
                                        <p:cTn id="722" dur="1" fill="hold">
                                          <p:stCondLst>
                                            <p:cond delay="0"/>
                                          </p:stCondLst>
                                        </p:cTn>
                                        <p:tgtEl>
                                          <p:spTgt spid="861"/>
                                        </p:tgtEl>
                                        <p:attrNameLst>
                                          <p:attrName>style.visibility</p:attrName>
                                        </p:attrNameLst>
                                      </p:cBhvr>
                                      <p:to>
                                        <p:strVal val="visible"/>
                                      </p:to>
                                    </p:set>
                                    <p:animEffect transition="in" filter="fade">
                                      <p:cBhvr additive="repl">
                                        <p:cTn id="723" dur="350"/>
                                        <p:tgtEl>
                                          <p:spTgt spid="861"/>
                                        </p:tgtEl>
                                      </p:cBhvr>
                                    </p:animEffect>
                                  </p:childTnLst>
                                </p:cTn>
                              </p:par>
                            </p:childTnLst>
                          </p:cTn>
                        </p:par>
                      </p:childTnLst>
                    </p:cTn>
                  </p:par>
                  <p:par>
                    <p:cTn id="724" fill="hold">
                      <p:stCondLst>
                        <p:cond delay="indefinite"/>
                      </p:stCondLst>
                      <p:childTnLst>
                        <p:par>
                          <p:cTn id="725" fill="hold">
                            <p:stCondLst>
                              <p:cond delay="0"/>
                            </p:stCondLst>
                            <p:childTnLst>
                              <p:par>
                                <p:cTn id="726" presetID="10" presetClass="entr" fill="hold" nodeType="afterEffect">
                                  <p:stCondLst>
                                    <p:cond delay="0"/>
                                  </p:stCondLst>
                                  <p:childTnLst>
                                    <p:set>
                                      <p:cBhvr>
                                        <p:cTn id="727" dur="1" fill="hold">
                                          <p:stCondLst>
                                            <p:cond delay="0"/>
                                          </p:stCondLst>
                                        </p:cTn>
                                        <p:tgtEl>
                                          <p:spTgt spid="862"/>
                                        </p:tgtEl>
                                        <p:attrNameLst>
                                          <p:attrName>style.visibility</p:attrName>
                                        </p:attrNameLst>
                                      </p:cBhvr>
                                      <p:to>
                                        <p:strVal val="visible"/>
                                      </p:to>
                                    </p:set>
                                    <p:animEffect transition="in" filter="fade">
                                      <p:cBhvr additive="repl">
                                        <p:cTn id="728" dur="350"/>
                                        <p:tgtEl>
                                          <p:spTgt spid="8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892"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What did not work</a:t>
            </a:r>
            <a:endParaRPr lang="en-US" sz="2700" b="0" u="none" strike="noStrike">
              <a:solidFill>
                <a:srgbClr val="000000"/>
              </a:solidFill>
              <a:effectLst/>
              <a:uFillTx/>
              <a:latin typeface="Arial"/>
            </a:endParaRPr>
          </a:p>
        </p:txBody>
      </p:sp>
      <p:sp>
        <p:nvSpPr>
          <p:cNvPr id="893"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Reported because the evidence says so, not because it helps the story</a:t>
            </a:r>
            <a:endParaRPr lang="en-US" sz="1300" b="0" u="none" strike="noStrike">
              <a:solidFill>
                <a:srgbClr val="000000"/>
              </a:solidFill>
              <a:effectLst/>
              <a:uFillTx/>
              <a:latin typeface="Arial"/>
            </a:endParaRPr>
          </a:p>
        </p:txBody>
      </p:sp>
      <p:sp>
        <p:nvSpPr>
          <p:cNvPr id="894"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895"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96" name="Rectangle 6"/>
          <p:cNvSpPr/>
          <p:nvPr/>
        </p:nvSpPr>
        <p:spPr>
          <a:xfrm>
            <a:off x="567000" y="6226920"/>
            <a:ext cx="89236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897"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898"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46</a:t>
            </a:r>
            <a:endParaRPr lang="en-US" sz="900" b="0" u="none" strike="noStrike">
              <a:solidFill>
                <a:srgbClr val="000000"/>
              </a:solidFill>
              <a:effectLst/>
              <a:uFillTx/>
              <a:latin typeface="Arial"/>
            </a:endParaRPr>
          </a:p>
        </p:txBody>
      </p:sp>
      <p:sp>
        <p:nvSpPr>
          <p:cNvPr id="899" name="Rounded Rectangle 9"/>
          <p:cNvSpPr/>
          <p:nvPr/>
        </p:nvSpPr>
        <p:spPr>
          <a:xfrm>
            <a:off x="567000" y="1627560"/>
            <a:ext cx="5259240" cy="21484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00" name="Rectangle 10"/>
          <p:cNvSpPr/>
          <p:nvPr/>
        </p:nvSpPr>
        <p:spPr>
          <a:xfrm>
            <a:off x="567000" y="1627560"/>
            <a:ext cx="40680" cy="2148480"/>
          </a:xfrm>
          <a:prstGeom prst="rect">
            <a:avLst/>
          </a:prstGeom>
          <a:solidFill>
            <a:srgbClr val="D03B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01" name="TextBox 11"/>
          <p:cNvSpPr/>
          <p:nvPr/>
        </p:nvSpPr>
        <p:spPr>
          <a:xfrm>
            <a:off x="786240" y="1764720"/>
            <a:ext cx="4838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D03B3B"/>
                </a:solidFill>
                <a:effectLst/>
                <a:uFillTx/>
                <a:latin typeface="Inter"/>
              </a:rPr>
              <a:t>λ never learned anything</a:t>
            </a:r>
            <a:endParaRPr lang="en-US" sz="1150" b="0" u="none" strike="noStrike">
              <a:solidFill>
                <a:srgbClr val="000000"/>
              </a:solidFill>
              <a:effectLst/>
              <a:uFillTx/>
              <a:latin typeface="Arial"/>
            </a:endParaRPr>
          </a:p>
        </p:txBody>
      </p:sp>
      <p:sp>
        <p:nvSpPr>
          <p:cNvPr id="902" name="TextBox 12"/>
          <p:cNvSpPr/>
          <p:nvPr/>
        </p:nvSpPr>
        <p:spPr>
          <a:xfrm>
            <a:off x="786240" y="2103120"/>
            <a:ext cx="4838760" cy="15267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learnable Sobel trust was meant to be a readout: drive it to zero and the model is telling us the prior is useless.</a:t>
            </a:r>
            <a:endParaRPr lang="en-US" sz="1150" b="0" u="none" strike="noStrike">
              <a:solidFill>
                <a:srgbClr val="000000"/>
              </a:solidFill>
              <a:effectLst/>
              <a:uFillTx/>
              <a:latin typeface="Arial"/>
            </a:endParaRPr>
          </a:p>
          <a:p>
            <a:pPr defTabSz="457200">
              <a:lnSpc>
                <a:spcPct val="124000"/>
              </a:lnSpc>
              <a:spcAft>
                <a:spcPts val="400"/>
              </a:spcAft>
            </a:pP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It moves by at most 0.0097 from its initialisation of 1.0 in every run. One unregularised scalar among 4.7 M parameters gets negligible gradient.</a:t>
            </a:r>
            <a:endParaRPr lang="en-US" sz="1150" b="0" u="none" strike="noStrike">
              <a:solidFill>
                <a:srgbClr val="000000"/>
              </a:solidFill>
              <a:effectLst/>
              <a:uFillTx/>
              <a:latin typeface="Arial"/>
            </a:endParaRPr>
          </a:p>
        </p:txBody>
      </p:sp>
      <p:sp>
        <p:nvSpPr>
          <p:cNvPr id="903" name="Rounded Rectangle 13"/>
          <p:cNvSpPr/>
          <p:nvPr/>
        </p:nvSpPr>
        <p:spPr>
          <a:xfrm>
            <a:off x="6365160" y="1627560"/>
            <a:ext cx="5259240" cy="21484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04" name="Rectangle 14"/>
          <p:cNvSpPr/>
          <p:nvPr/>
        </p:nvSpPr>
        <p:spPr>
          <a:xfrm>
            <a:off x="6365160" y="1627560"/>
            <a:ext cx="40680" cy="2148480"/>
          </a:xfrm>
          <a:prstGeom prst="rect">
            <a:avLst/>
          </a:prstGeom>
          <a:solidFill>
            <a:srgbClr val="D03B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05" name="TextBox 15"/>
          <p:cNvSpPr/>
          <p:nvPr/>
        </p:nvSpPr>
        <p:spPr>
          <a:xfrm>
            <a:off x="6584760" y="1764720"/>
            <a:ext cx="4838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D03B3B"/>
                </a:solidFill>
                <a:effectLst/>
                <a:uFillTx/>
                <a:latin typeface="Inter"/>
              </a:rPr>
              <a:t>Training collapses at 61 images</a:t>
            </a:r>
            <a:endParaRPr lang="en-US" sz="1150" b="0" u="none" strike="noStrike">
              <a:solidFill>
                <a:srgbClr val="000000"/>
              </a:solidFill>
              <a:effectLst/>
              <a:uFillTx/>
              <a:latin typeface="Arial"/>
            </a:endParaRPr>
          </a:p>
        </p:txBody>
      </p:sp>
      <p:sp>
        <p:nvSpPr>
          <p:cNvPr id="906" name="TextBox 16"/>
          <p:cNvSpPr/>
          <p:nvPr/>
        </p:nvSpPr>
        <p:spPr>
          <a:xfrm>
            <a:off x="6584760" y="2103120"/>
            <a:ext cx="4838760" cy="15267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Some low-data configurations fail to train entirely — the no-Sobel control scored 19% macro F1 on one seed and 92% on another. Collapsed runs are flagged and excluded from the robust deltas rather than averaged in, because one collapse inverts the sign of a three-seed mean.</a:t>
            </a:r>
            <a:endParaRPr lang="en-US" sz="1150" b="0" u="none" strike="noStrike">
              <a:solidFill>
                <a:srgbClr val="000000"/>
              </a:solidFill>
              <a:effectLst/>
              <a:uFillTx/>
              <a:latin typeface="Arial"/>
            </a:endParaRPr>
          </a:p>
        </p:txBody>
      </p:sp>
      <p:sp>
        <p:nvSpPr>
          <p:cNvPr id="907" name="TextBox 17"/>
          <p:cNvSpPr/>
          <p:nvPr/>
        </p:nvSpPr>
        <p:spPr>
          <a:xfrm>
            <a:off x="567000" y="3913560"/>
            <a:ext cx="11057400" cy="25560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60A5FA"/>
                </a:solidFill>
                <a:effectLst/>
                <a:uFillTx/>
                <a:latin typeface="Inter"/>
              </a:rPr>
              <a:t>BACKBONE ALONE vs THE FULL MODEL, MATCHED SEEDS</a:t>
            </a:r>
            <a:endParaRPr lang="en-US" sz="1050" b="0" u="none" strike="noStrike">
              <a:solidFill>
                <a:srgbClr val="000000"/>
              </a:solidFill>
              <a:effectLst/>
              <a:uFillTx/>
              <a:latin typeface="Arial"/>
            </a:endParaRPr>
          </a:p>
        </p:txBody>
      </p:sp>
      <p:sp>
        <p:nvSpPr>
          <p:cNvPr id="908" name="TextBox 18"/>
          <p:cNvSpPr/>
          <p:nvPr/>
        </p:nvSpPr>
        <p:spPr>
          <a:xfrm>
            <a:off x="567000" y="4279320"/>
            <a:ext cx="13712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training data</a:t>
            </a:r>
            <a:endParaRPr lang="en-US" sz="1050" b="0" u="none" strike="noStrike">
              <a:solidFill>
                <a:srgbClr val="000000"/>
              </a:solidFill>
              <a:effectLst/>
              <a:uFillTx/>
              <a:latin typeface="Arial"/>
            </a:endParaRPr>
          </a:p>
        </p:txBody>
      </p:sp>
      <p:sp>
        <p:nvSpPr>
          <p:cNvPr id="909" name="TextBox 19"/>
          <p:cNvSpPr/>
          <p:nvPr/>
        </p:nvSpPr>
        <p:spPr>
          <a:xfrm>
            <a:off x="1938600" y="4279320"/>
            <a:ext cx="11883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backbone</a:t>
            </a:r>
            <a:endParaRPr lang="en-US" sz="1050" b="0" u="none" strike="noStrike">
              <a:solidFill>
                <a:srgbClr val="000000"/>
              </a:solidFill>
              <a:effectLst/>
              <a:uFillTx/>
              <a:latin typeface="Arial"/>
            </a:endParaRPr>
          </a:p>
        </p:txBody>
      </p:sp>
      <p:sp>
        <p:nvSpPr>
          <p:cNvPr id="910" name="TextBox 20"/>
          <p:cNvSpPr/>
          <p:nvPr/>
        </p:nvSpPr>
        <p:spPr>
          <a:xfrm>
            <a:off x="3127320" y="4279320"/>
            <a:ext cx="12798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full model</a:t>
            </a:r>
            <a:endParaRPr lang="en-US" sz="1050" b="0" u="none" strike="noStrike">
              <a:solidFill>
                <a:srgbClr val="000000"/>
              </a:solidFill>
              <a:effectLst/>
              <a:uFillTx/>
              <a:latin typeface="Arial"/>
            </a:endParaRPr>
          </a:p>
        </p:txBody>
      </p:sp>
      <p:sp>
        <p:nvSpPr>
          <p:cNvPr id="911" name="TextBox 21"/>
          <p:cNvSpPr/>
          <p:nvPr/>
        </p:nvSpPr>
        <p:spPr>
          <a:xfrm>
            <a:off x="4407480" y="4279320"/>
            <a:ext cx="9140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Δ</a:t>
            </a:r>
            <a:endParaRPr lang="en-US" sz="1050" b="0" u="none" strike="noStrike">
              <a:solidFill>
                <a:srgbClr val="000000"/>
              </a:solidFill>
              <a:effectLst/>
              <a:uFillTx/>
              <a:latin typeface="Arial"/>
            </a:endParaRPr>
          </a:p>
        </p:txBody>
      </p:sp>
      <p:sp>
        <p:nvSpPr>
          <p:cNvPr id="912" name="TextBox 22"/>
          <p:cNvSpPr/>
          <p:nvPr/>
        </p:nvSpPr>
        <p:spPr>
          <a:xfrm>
            <a:off x="5321880" y="4279320"/>
            <a:ext cx="20005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per-seed</a:t>
            </a:r>
            <a:endParaRPr lang="en-US" sz="1050" b="0" u="none" strike="noStrike">
              <a:solidFill>
                <a:srgbClr val="000000"/>
              </a:solidFill>
              <a:effectLst/>
              <a:uFillTx/>
              <a:latin typeface="Arial"/>
            </a:endParaRPr>
          </a:p>
        </p:txBody>
      </p:sp>
      <p:sp>
        <p:nvSpPr>
          <p:cNvPr id="913" name="Rectangle 23"/>
          <p:cNvSpPr/>
          <p:nvPr/>
        </p:nvSpPr>
        <p:spPr>
          <a:xfrm>
            <a:off x="567000" y="4572000"/>
            <a:ext cx="675540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914" name="TextBox 24"/>
          <p:cNvSpPr/>
          <p:nvPr/>
        </p:nvSpPr>
        <p:spPr>
          <a:xfrm>
            <a:off x="567000" y="4663440"/>
            <a:ext cx="137124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5%</a:t>
            </a:r>
            <a:endParaRPr lang="en-US" sz="1050" b="0" u="none" strike="noStrike">
              <a:solidFill>
                <a:srgbClr val="000000"/>
              </a:solidFill>
              <a:effectLst/>
              <a:uFillTx/>
              <a:latin typeface="Arial"/>
            </a:endParaRPr>
          </a:p>
        </p:txBody>
      </p:sp>
      <p:sp>
        <p:nvSpPr>
          <p:cNvPr id="915" name="TextBox 25"/>
          <p:cNvSpPr/>
          <p:nvPr/>
        </p:nvSpPr>
        <p:spPr>
          <a:xfrm>
            <a:off x="1938600" y="4663440"/>
            <a:ext cx="11883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93.46</a:t>
            </a:r>
            <a:endParaRPr lang="en-US" sz="1050" b="0" u="none" strike="noStrike">
              <a:solidFill>
                <a:srgbClr val="000000"/>
              </a:solidFill>
              <a:effectLst/>
              <a:uFillTx/>
              <a:latin typeface="Arial"/>
            </a:endParaRPr>
          </a:p>
        </p:txBody>
      </p:sp>
      <p:sp>
        <p:nvSpPr>
          <p:cNvPr id="916" name="TextBox 26"/>
          <p:cNvSpPr/>
          <p:nvPr/>
        </p:nvSpPr>
        <p:spPr>
          <a:xfrm>
            <a:off x="3127320" y="4663440"/>
            <a:ext cx="12798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89.38</a:t>
            </a:r>
            <a:endParaRPr lang="en-US" sz="1050" b="0" u="none" strike="noStrike">
              <a:solidFill>
                <a:srgbClr val="000000"/>
              </a:solidFill>
              <a:effectLst/>
              <a:uFillTx/>
              <a:latin typeface="Arial"/>
            </a:endParaRPr>
          </a:p>
        </p:txBody>
      </p:sp>
      <p:sp>
        <p:nvSpPr>
          <p:cNvPr id="917" name="TextBox 27"/>
          <p:cNvSpPr/>
          <p:nvPr/>
        </p:nvSpPr>
        <p:spPr>
          <a:xfrm>
            <a:off x="4407480" y="4663440"/>
            <a:ext cx="91404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-4.08</a:t>
            </a:r>
            <a:endParaRPr lang="en-US" sz="1050" b="0" u="none" strike="noStrike">
              <a:solidFill>
                <a:srgbClr val="000000"/>
              </a:solidFill>
              <a:effectLst/>
              <a:uFillTx/>
              <a:latin typeface="Arial"/>
            </a:endParaRPr>
          </a:p>
        </p:txBody>
      </p:sp>
      <p:sp>
        <p:nvSpPr>
          <p:cNvPr id="918" name="TextBox 28"/>
          <p:cNvSpPr/>
          <p:nvPr/>
        </p:nvSpPr>
        <p:spPr>
          <a:xfrm>
            <a:off x="5321880" y="4663440"/>
            <a:ext cx="200052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all negative</a:t>
            </a:r>
            <a:endParaRPr lang="en-US" sz="1050" b="0" u="none" strike="noStrike">
              <a:solidFill>
                <a:srgbClr val="000000"/>
              </a:solidFill>
              <a:effectLst/>
              <a:uFillTx/>
              <a:latin typeface="Arial"/>
            </a:endParaRPr>
          </a:p>
        </p:txBody>
      </p:sp>
      <p:sp>
        <p:nvSpPr>
          <p:cNvPr id="919" name="TextBox 29"/>
          <p:cNvSpPr/>
          <p:nvPr/>
        </p:nvSpPr>
        <p:spPr>
          <a:xfrm>
            <a:off x="567000" y="4956120"/>
            <a:ext cx="137124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10%</a:t>
            </a:r>
            <a:endParaRPr lang="en-US" sz="1050" b="0" u="none" strike="noStrike">
              <a:solidFill>
                <a:srgbClr val="000000"/>
              </a:solidFill>
              <a:effectLst/>
              <a:uFillTx/>
              <a:latin typeface="Arial"/>
            </a:endParaRPr>
          </a:p>
        </p:txBody>
      </p:sp>
      <p:sp>
        <p:nvSpPr>
          <p:cNvPr id="920" name="TextBox 30"/>
          <p:cNvSpPr/>
          <p:nvPr/>
        </p:nvSpPr>
        <p:spPr>
          <a:xfrm>
            <a:off x="1938600" y="4956120"/>
            <a:ext cx="11883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98.81</a:t>
            </a:r>
            <a:endParaRPr lang="en-US" sz="1050" b="0" u="none" strike="noStrike">
              <a:solidFill>
                <a:srgbClr val="000000"/>
              </a:solidFill>
              <a:effectLst/>
              <a:uFillTx/>
              <a:latin typeface="Arial"/>
            </a:endParaRPr>
          </a:p>
        </p:txBody>
      </p:sp>
      <p:sp>
        <p:nvSpPr>
          <p:cNvPr id="921" name="TextBox 31"/>
          <p:cNvSpPr/>
          <p:nvPr/>
        </p:nvSpPr>
        <p:spPr>
          <a:xfrm>
            <a:off x="3127320" y="4956120"/>
            <a:ext cx="12798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99.35</a:t>
            </a:r>
            <a:endParaRPr lang="en-US" sz="1050" b="0" u="none" strike="noStrike">
              <a:solidFill>
                <a:srgbClr val="000000"/>
              </a:solidFill>
              <a:effectLst/>
              <a:uFillTx/>
              <a:latin typeface="Arial"/>
            </a:endParaRPr>
          </a:p>
        </p:txBody>
      </p:sp>
      <p:sp>
        <p:nvSpPr>
          <p:cNvPr id="922" name="TextBox 32"/>
          <p:cNvSpPr/>
          <p:nvPr/>
        </p:nvSpPr>
        <p:spPr>
          <a:xfrm>
            <a:off x="4407480" y="4956120"/>
            <a:ext cx="91404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+0.55</a:t>
            </a:r>
            <a:endParaRPr lang="en-US" sz="1050" b="0" u="none" strike="noStrike">
              <a:solidFill>
                <a:srgbClr val="000000"/>
              </a:solidFill>
              <a:effectLst/>
              <a:uFillTx/>
              <a:latin typeface="Arial"/>
            </a:endParaRPr>
          </a:p>
        </p:txBody>
      </p:sp>
      <p:sp>
        <p:nvSpPr>
          <p:cNvPr id="923" name="TextBox 33"/>
          <p:cNvSpPr/>
          <p:nvPr/>
        </p:nvSpPr>
        <p:spPr>
          <a:xfrm>
            <a:off x="5321880" y="4956120"/>
            <a:ext cx="200052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sign flips</a:t>
            </a:r>
            <a:endParaRPr lang="en-US" sz="1050" b="0" u="none" strike="noStrike">
              <a:solidFill>
                <a:srgbClr val="000000"/>
              </a:solidFill>
              <a:effectLst/>
              <a:uFillTx/>
              <a:latin typeface="Arial"/>
            </a:endParaRPr>
          </a:p>
        </p:txBody>
      </p:sp>
      <p:sp>
        <p:nvSpPr>
          <p:cNvPr id="924" name="Rounded Rectangle 34"/>
          <p:cNvSpPr/>
          <p:nvPr/>
        </p:nvSpPr>
        <p:spPr>
          <a:xfrm>
            <a:off x="7861680" y="3913560"/>
            <a:ext cx="3762720" cy="1782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25" name="Rectangle 35"/>
          <p:cNvSpPr/>
          <p:nvPr/>
        </p:nvSpPr>
        <p:spPr>
          <a:xfrm>
            <a:off x="7861680" y="3913560"/>
            <a:ext cx="40680" cy="178272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26" name="TextBox 36"/>
          <p:cNvSpPr/>
          <p:nvPr/>
        </p:nvSpPr>
        <p:spPr>
          <a:xfrm>
            <a:off x="8080920" y="4050720"/>
            <a:ext cx="33422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The effect is regime-dependent</a:t>
            </a:r>
            <a:endParaRPr lang="en-US" sz="1150" b="0" u="none" strike="noStrike">
              <a:solidFill>
                <a:srgbClr val="000000"/>
              </a:solidFill>
              <a:effectLst/>
              <a:uFillTx/>
              <a:latin typeface="Arial"/>
            </a:endParaRPr>
          </a:p>
        </p:txBody>
      </p:sp>
      <p:sp>
        <p:nvSpPr>
          <p:cNvPr id="927" name="TextBox 37"/>
          <p:cNvSpPr/>
          <p:nvPr/>
        </p:nvSpPr>
        <p:spPr>
          <a:xfrm>
            <a:off x="8080920" y="4389120"/>
            <a:ext cx="3342240" cy="116100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Clearly harmful when labelled data is scarce; indistinguishable once it is not, as both arms reach the dataset ceiling. No measured regime shows a reliable benefit.</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729" dur="indefinite" restart="never" nodeType="tmRoot">
          <p:childTnLst>
            <p:seq>
              <p:cTn id="730" dur="indefinite" nodeType="mainSeq">
                <p:childTnLst>
                  <p:par>
                    <p:cTn id="731" fill="hold">
                      <p:stCondLst>
                        <p:cond delay="indefinite"/>
                      </p:stCondLst>
                      <p:childTnLst>
                        <p:par>
                          <p:cTn id="732" fill="hold">
                            <p:stCondLst>
                              <p:cond delay="0"/>
                            </p:stCondLst>
                            <p:childTnLst>
                              <p:par>
                                <p:cTn id="733" presetID="10" presetClass="entr" fill="hold" nodeType="clickEffect">
                                  <p:stCondLst>
                                    <p:cond delay="0"/>
                                  </p:stCondLst>
                                  <p:childTnLst>
                                    <p:set>
                                      <p:cBhvr>
                                        <p:cTn id="734" dur="1" fill="hold">
                                          <p:stCondLst>
                                            <p:cond delay="0"/>
                                          </p:stCondLst>
                                        </p:cTn>
                                        <p:tgtEl>
                                          <p:spTgt spid="902"/>
                                        </p:tgtEl>
                                        <p:attrNameLst>
                                          <p:attrName>style.visibility</p:attrName>
                                        </p:attrNameLst>
                                      </p:cBhvr>
                                      <p:to>
                                        <p:strVal val="visible"/>
                                      </p:to>
                                    </p:set>
                                    <p:animEffect transition="in" filter="fade">
                                      <p:cBhvr additive="repl">
                                        <p:cTn id="735" dur="350"/>
                                        <p:tgtEl>
                                          <p:spTgt spid="902"/>
                                        </p:tgtEl>
                                      </p:cBhvr>
                                    </p:animEffect>
                                  </p:childTnLst>
                                </p:cTn>
                              </p:par>
                            </p:childTnLst>
                          </p:cTn>
                        </p:par>
                      </p:childTnLst>
                    </p:cTn>
                  </p:par>
                  <p:par>
                    <p:cTn id="736" fill="hold">
                      <p:stCondLst>
                        <p:cond delay="indefinite"/>
                      </p:stCondLst>
                      <p:childTnLst>
                        <p:par>
                          <p:cTn id="737" fill="hold">
                            <p:stCondLst>
                              <p:cond delay="0"/>
                            </p:stCondLst>
                            <p:childTnLst>
                              <p:par>
                                <p:cTn id="738" presetID="10" presetClass="entr" fill="hold" nodeType="afterEffect">
                                  <p:stCondLst>
                                    <p:cond delay="0"/>
                                  </p:stCondLst>
                                  <p:childTnLst>
                                    <p:set>
                                      <p:cBhvr>
                                        <p:cTn id="739" dur="1" fill="hold">
                                          <p:stCondLst>
                                            <p:cond delay="0"/>
                                          </p:stCondLst>
                                        </p:cTn>
                                        <p:tgtEl>
                                          <p:spTgt spid="906"/>
                                        </p:tgtEl>
                                        <p:attrNameLst>
                                          <p:attrName>style.visibility</p:attrName>
                                        </p:attrNameLst>
                                      </p:cBhvr>
                                      <p:to>
                                        <p:strVal val="visible"/>
                                      </p:to>
                                    </p:set>
                                    <p:animEffect transition="in" filter="fade">
                                      <p:cBhvr additive="repl">
                                        <p:cTn id="740" dur="350"/>
                                        <p:tgtEl>
                                          <p:spTgt spid="906"/>
                                        </p:tgtEl>
                                      </p:cBhvr>
                                    </p:animEffect>
                                  </p:childTnLst>
                                </p:cTn>
                              </p:par>
                            </p:childTnLst>
                          </p:cTn>
                        </p:par>
                      </p:childTnLst>
                    </p:cTn>
                  </p:par>
                  <p:par>
                    <p:cTn id="741" fill="hold">
                      <p:stCondLst>
                        <p:cond delay="indefinite"/>
                      </p:stCondLst>
                      <p:childTnLst>
                        <p:par>
                          <p:cTn id="742" fill="hold">
                            <p:stCondLst>
                              <p:cond delay="0"/>
                            </p:stCondLst>
                            <p:childTnLst>
                              <p:par>
                                <p:cTn id="743" presetID="10" presetClass="entr" fill="hold" nodeType="afterEffect">
                                  <p:stCondLst>
                                    <p:cond delay="0"/>
                                  </p:stCondLst>
                                  <p:childTnLst>
                                    <p:set>
                                      <p:cBhvr>
                                        <p:cTn id="744" dur="1" fill="hold">
                                          <p:stCondLst>
                                            <p:cond delay="0"/>
                                          </p:stCondLst>
                                        </p:cTn>
                                        <p:tgtEl>
                                          <p:spTgt spid="907"/>
                                        </p:tgtEl>
                                        <p:attrNameLst>
                                          <p:attrName>style.visibility</p:attrName>
                                        </p:attrNameLst>
                                      </p:cBhvr>
                                      <p:to>
                                        <p:strVal val="visible"/>
                                      </p:to>
                                    </p:set>
                                    <p:animEffect transition="in" filter="fade">
                                      <p:cBhvr additive="repl">
                                        <p:cTn id="745" dur="350"/>
                                        <p:tgtEl>
                                          <p:spTgt spid="907"/>
                                        </p:tgtEl>
                                      </p:cBhvr>
                                    </p:animEffect>
                                  </p:childTnLst>
                                </p:cTn>
                              </p:par>
                            </p:childTnLst>
                          </p:cTn>
                        </p:par>
                      </p:childTnLst>
                    </p:cTn>
                  </p:par>
                  <p:par>
                    <p:cTn id="746" fill="hold">
                      <p:stCondLst>
                        <p:cond delay="indefinite"/>
                      </p:stCondLst>
                      <p:childTnLst>
                        <p:par>
                          <p:cTn id="747" fill="hold">
                            <p:stCondLst>
                              <p:cond delay="0"/>
                            </p:stCondLst>
                            <p:childTnLst>
                              <p:par>
                                <p:cTn id="748" presetID="10" presetClass="entr" fill="hold" nodeType="afterEffect">
                                  <p:stCondLst>
                                    <p:cond delay="0"/>
                                  </p:stCondLst>
                                  <p:childTnLst>
                                    <p:set>
                                      <p:cBhvr>
                                        <p:cTn id="749" dur="1" fill="hold">
                                          <p:stCondLst>
                                            <p:cond delay="0"/>
                                          </p:stCondLst>
                                        </p:cTn>
                                        <p:tgtEl>
                                          <p:spTgt spid="908"/>
                                        </p:tgtEl>
                                        <p:attrNameLst>
                                          <p:attrName>style.visibility</p:attrName>
                                        </p:attrNameLst>
                                      </p:cBhvr>
                                      <p:to>
                                        <p:strVal val="visible"/>
                                      </p:to>
                                    </p:set>
                                    <p:animEffect transition="in" filter="fade">
                                      <p:cBhvr additive="repl">
                                        <p:cTn id="750" dur="350"/>
                                        <p:tgtEl>
                                          <p:spTgt spid="908"/>
                                        </p:tgtEl>
                                      </p:cBhvr>
                                    </p:animEffect>
                                  </p:childTnLst>
                                </p:cTn>
                              </p:par>
                            </p:childTnLst>
                          </p:cTn>
                        </p:par>
                      </p:childTnLst>
                    </p:cTn>
                  </p:par>
                  <p:par>
                    <p:cTn id="751" fill="hold">
                      <p:stCondLst>
                        <p:cond delay="indefinite"/>
                      </p:stCondLst>
                      <p:childTnLst>
                        <p:par>
                          <p:cTn id="752" fill="hold">
                            <p:stCondLst>
                              <p:cond delay="0"/>
                            </p:stCondLst>
                            <p:childTnLst>
                              <p:par>
                                <p:cTn id="753" presetID="10" presetClass="entr" fill="hold" nodeType="afterEffect">
                                  <p:stCondLst>
                                    <p:cond delay="0"/>
                                  </p:stCondLst>
                                  <p:childTnLst>
                                    <p:set>
                                      <p:cBhvr>
                                        <p:cTn id="754" dur="1" fill="hold">
                                          <p:stCondLst>
                                            <p:cond delay="0"/>
                                          </p:stCondLst>
                                        </p:cTn>
                                        <p:tgtEl>
                                          <p:spTgt spid="909"/>
                                        </p:tgtEl>
                                        <p:attrNameLst>
                                          <p:attrName>style.visibility</p:attrName>
                                        </p:attrNameLst>
                                      </p:cBhvr>
                                      <p:to>
                                        <p:strVal val="visible"/>
                                      </p:to>
                                    </p:set>
                                    <p:animEffect transition="in" filter="fade">
                                      <p:cBhvr additive="repl">
                                        <p:cTn id="755" dur="350"/>
                                        <p:tgtEl>
                                          <p:spTgt spid="909"/>
                                        </p:tgtEl>
                                      </p:cBhvr>
                                    </p:animEffect>
                                  </p:childTnLst>
                                </p:cTn>
                              </p:par>
                            </p:childTnLst>
                          </p:cTn>
                        </p:par>
                      </p:childTnLst>
                    </p:cTn>
                  </p:par>
                  <p:par>
                    <p:cTn id="756" fill="hold">
                      <p:stCondLst>
                        <p:cond delay="indefinite"/>
                      </p:stCondLst>
                      <p:childTnLst>
                        <p:par>
                          <p:cTn id="757" fill="hold">
                            <p:stCondLst>
                              <p:cond delay="0"/>
                            </p:stCondLst>
                            <p:childTnLst>
                              <p:par>
                                <p:cTn id="758" presetID="10" presetClass="entr" fill="hold" nodeType="afterEffect">
                                  <p:stCondLst>
                                    <p:cond delay="0"/>
                                  </p:stCondLst>
                                  <p:childTnLst>
                                    <p:set>
                                      <p:cBhvr>
                                        <p:cTn id="759" dur="1" fill="hold">
                                          <p:stCondLst>
                                            <p:cond delay="0"/>
                                          </p:stCondLst>
                                        </p:cTn>
                                        <p:tgtEl>
                                          <p:spTgt spid="910"/>
                                        </p:tgtEl>
                                        <p:attrNameLst>
                                          <p:attrName>style.visibility</p:attrName>
                                        </p:attrNameLst>
                                      </p:cBhvr>
                                      <p:to>
                                        <p:strVal val="visible"/>
                                      </p:to>
                                    </p:set>
                                    <p:animEffect transition="in" filter="fade">
                                      <p:cBhvr additive="repl">
                                        <p:cTn id="760" dur="350"/>
                                        <p:tgtEl>
                                          <p:spTgt spid="9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29"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What did not work  (continued)</a:t>
            </a:r>
            <a:endParaRPr lang="en-US" sz="2700" b="0" u="none" strike="noStrike">
              <a:solidFill>
                <a:srgbClr val="000000"/>
              </a:solidFill>
              <a:effectLst/>
              <a:uFillTx/>
              <a:latin typeface="Arial"/>
            </a:endParaRPr>
          </a:p>
        </p:txBody>
      </p:sp>
      <p:sp>
        <p:nvSpPr>
          <p:cNvPr id="930"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Mechanism, and why the architecture still gets documented in full</a:t>
            </a:r>
            <a:endParaRPr lang="en-US" sz="1300" b="0" u="none" strike="noStrike">
              <a:solidFill>
                <a:srgbClr val="000000"/>
              </a:solidFill>
              <a:effectLst/>
              <a:uFillTx/>
              <a:latin typeface="Arial"/>
            </a:endParaRPr>
          </a:p>
        </p:txBody>
      </p:sp>
      <p:sp>
        <p:nvSpPr>
          <p:cNvPr id="931"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932"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933" name="Rectangle 6"/>
          <p:cNvSpPr/>
          <p:nvPr/>
        </p:nvSpPr>
        <p:spPr>
          <a:xfrm>
            <a:off x="567000" y="6226920"/>
            <a:ext cx="91173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934"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935"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47</a:t>
            </a:r>
            <a:endParaRPr lang="en-US" sz="900" b="0" u="none" strike="noStrike">
              <a:solidFill>
                <a:srgbClr val="000000"/>
              </a:solidFill>
              <a:effectLst/>
              <a:uFillTx/>
              <a:latin typeface="Arial"/>
            </a:endParaRPr>
          </a:p>
        </p:txBody>
      </p:sp>
      <p:sp>
        <p:nvSpPr>
          <p:cNvPr id="936" name="Rounded Rectangle 9"/>
          <p:cNvSpPr/>
          <p:nvPr/>
        </p:nvSpPr>
        <p:spPr>
          <a:xfrm>
            <a:off x="567000" y="1627560"/>
            <a:ext cx="11057400" cy="15998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37" name="Rectangle 10"/>
          <p:cNvSpPr/>
          <p:nvPr/>
        </p:nvSpPr>
        <p:spPr>
          <a:xfrm>
            <a:off x="567000" y="1627560"/>
            <a:ext cx="40680" cy="15998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38" name="TextBox 11"/>
          <p:cNvSpPr/>
          <p:nvPr/>
        </p:nvSpPr>
        <p:spPr>
          <a:xfrm>
            <a:off x="786240" y="1764720"/>
            <a:ext cx="106369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The mechanism</a:t>
            </a:r>
            <a:endParaRPr lang="en-US" sz="1150" b="0" u="none" strike="noStrike">
              <a:solidFill>
                <a:srgbClr val="000000"/>
              </a:solidFill>
              <a:effectLst/>
              <a:uFillTx/>
              <a:latin typeface="Arial"/>
            </a:endParaRPr>
          </a:p>
        </p:txBody>
      </p:sp>
      <p:sp>
        <p:nvSpPr>
          <p:cNvPr id="939" name="TextBox 12"/>
          <p:cNvSpPr/>
          <p:nvPr/>
        </p:nvSpPr>
        <p:spPr>
          <a:xfrm>
            <a:off x="786240" y="2103120"/>
            <a:ext cx="10636920" cy="9781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local branch has no pretraining and cannot learn from 61 images; fusing a near-random branch into a strong pretrained one adds variance and costs accuracy — that contrast is negative on every seed. The Sobel prior is photometric, so it scores a lighting seam as highly as a defect; that is the mechanism we expected to hurt, and the point estimate agrees, but the signs disagree across seeds so it is not claimed on its own.</a:t>
            </a:r>
            <a:endParaRPr lang="en-US" sz="1150" b="0" u="none" strike="noStrike">
              <a:solidFill>
                <a:srgbClr val="000000"/>
              </a:solidFill>
              <a:effectLst/>
              <a:uFillTx/>
              <a:latin typeface="Arial"/>
            </a:endParaRPr>
          </a:p>
        </p:txBody>
      </p:sp>
      <p:sp>
        <p:nvSpPr>
          <p:cNvPr id="940" name="Rounded Rectangle 13"/>
          <p:cNvSpPr/>
          <p:nvPr/>
        </p:nvSpPr>
        <p:spPr>
          <a:xfrm>
            <a:off x="567000" y="3456360"/>
            <a:ext cx="5259240" cy="19198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41" name="Rectangle 14"/>
          <p:cNvSpPr/>
          <p:nvPr/>
        </p:nvSpPr>
        <p:spPr>
          <a:xfrm>
            <a:off x="567000" y="3456360"/>
            <a:ext cx="40680" cy="191988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42" name="TextBox 15"/>
          <p:cNvSpPr/>
          <p:nvPr/>
        </p:nvSpPr>
        <p:spPr>
          <a:xfrm>
            <a:off x="786240" y="3593520"/>
            <a:ext cx="4838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What survives</a:t>
            </a:r>
            <a:endParaRPr lang="en-US" sz="1150" b="0" u="none" strike="noStrike">
              <a:solidFill>
                <a:srgbClr val="000000"/>
              </a:solidFill>
              <a:effectLst/>
              <a:uFillTx/>
              <a:latin typeface="Arial"/>
            </a:endParaRPr>
          </a:p>
        </p:txBody>
      </p:sp>
      <p:sp>
        <p:nvSpPr>
          <p:cNvPr id="943" name="TextBox 16"/>
          <p:cNvSpPr/>
          <p:nvPr/>
        </p:nvSpPr>
        <p:spPr>
          <a:xfrm>
            <a:off x="786240" y="3931920"/>
            <a:ext cx="4838760" cy="12981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negative result is about the architectural additions only. Untouched: the reproduction and audit of the base paper, the encrypted inference and its exactness bound, the dataset integrity audit — and the evaluation protocol, which is what made this visible instead of hiding it behind a saturated 100%.</a:t>
            </a:r>
            <a:endParaRPr lang="en-US" sz="1150" b="0" u="none" strike="noStrike">
              <a:solidFill>
                <a:srgbClr val="000000"/>
              </a:solidFill>
              <a:effectLst/>
              <a:uFillTx/>
              <a:latin typeface="Arial"/>
            </a:endParaRPr>
          </a:p>
        </p:txBody>
      </p:sp>
      <p:sp>
        <p:nvSpPr>
          <p:cNvPr id="944" name="Rounded Rectangle 17"/>
          <p:cNvSpPr/>
          <p:nvPr/>
        </p:nvSpPr>
        <p:spPr>
          <a:xfrm>
            <a:off x="6365160" y="3456360"/>
            <a:ext cx="5259240" cy="191988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45" name="Rectangle 18"/>
          <p:cNvSpPr/>
          <p:nvPr/>
        </p:nvSpPr>
        <p:spPr>
          <a:xfrm>
            <a:off x="6365160" y="3456360"/>
            <a:ext cx="40680" cy="191988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46" name="TextBox 19"/>
          <p:cNvSpPr/>
          <p:nvPr/>
        </p:nvSpPr>
        <p:spPr>
          <a:xfrm>
            <a:off x="6584760" y="3593520"/>
            <a:ext cx="4838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3987E5"/>
                </a:solidFill>
                <a:effectLst/>
                <a:uFillTx/>
                <a:latin typeface="Inter"/>
              </a:rPr>
              <a:t>What a follow-up should build</a:t>
            </a:r>
            <a:endParaRPr lang="en-US" sz="1150" b="0" u="none" strike="noStrike">
              <a:solidFill>
                <a:srgbClr val="000000"/>
              </a:solidFill>
              <a:effectLst/>
              <a:uFillTx/>
              <a:latin typeface="Arial"/>
            </a:endParaRPr>
          </a:p>
        </p:txBody>
      </p:sp>
      <p:sp>
        <p:nvSpPr>
          <p:cNvPr id="947" name="TextBox 20"/>
          <p:cNvSpPr/>
          <p:nvPr/>
        </p:nvSpPr>
        <p:spPr>
          <a:xfrm>
            <a:off x="6584760" y="3931920"/>
            <a:ext cx="4838760" cy="129816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EfficientNet-B0 + the compression layer + the CKKS polynomial head — the privacy architecture without the extra feature machinery. It is simpler than what was proposed, it is what the evidence supports, and the encrypted inference results carry over unchanged because the head is identical.</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761" dur="indefinite" restart="never" nodeType="tmRoot">
          <p:childTnLst>
            <p:seq>
              <p:cTn id="762" dur="indefinite" nodeType="mainSeq">
                <p:childTnLst>
                  <p:par>
                    <p:cTn id="763" fill="hold">
                      <p:stCondLst>
                        <p:cond delay="indefinite"/>
                      </p:stCondLst>
                      <p:childTnLst>
                        <p:par>
                          <p:cTn id="764" fill="hold">
                            <p:stCondLst>
                              <p:cond delay="0"/>
                            </p:stCondLst>
                            <p:childTnLst>
                              <p:par>
                                <p:cTn id="765" presetID="10" presetClass="entr" fill="hold" nodeType="clickEffect">
                                  <p:stCondLst>
                                    <p:cond delay="0"/>
                                  </p:stCondLst>
                                  <p:childTnLst>
                                    <p:set>
                                      <p:cBhvr>
                                        <p:cTn id="766" dur="1" fill="hold">
                                          <p:stCondLst>
                                            <p:cond delay="0"/>
                                          </p:stCondLst>
                                        </p:cTn>
                                        <p:tgtEl>
                                          <p:spTgt spid="939"/>
                                        </p:tgtEl>
                                        <p:attrNameLst>
                                          <p:attrName>style.visibility</p:attrName>
                                        </p:attrNameLst>
                                      </p:cBhvr>
                                      <p:to>
                                        <p:strVal val="visible"/>
                                      </p:to>
                                    </p:set>
                                    <p:animEffect transition="in" filter="fade">
                                      <p:cBhvr additive="repl">
                                        <p:cTn id="767" dur="350"/>
                                        <p:tgtEl>
                                          <p:spTgt spid="939"/>
                                        </p:tgtEl>
                                      </p:cBhvr>
                                    </p:animEffect>
                                  </p:childTnLst>
                                </p:cTn>
                              </p:par>
                            </p:childTnLst>
                          </p:cTn>
                        </p:par>
                      </p:childTnLst>
                    </p:cTn>
                  </p:par>
                  <p:par>
                    <p:cTn id="768" fill="hold">
                      <p:stCondLst>
                        <p:cond delay="indefinite"/>
                      </p:stCondLst>
                      <p:childTnLst>
                        <p:par>
                          <p:cTn id="769" fill="hold">
                            <p:stCondLst>
                              <p:cond delay="0"/>
                            </p:stCondLst>
                            <p:childTnLst>
                              <p:par>
                                <p:cTn id="770" presetID="10" presetClass="entr" fill="hold" nodeType="afterEffect">
                                  <p:stCondLst>
                                    <p:cond delay="0"/>
                                  </p:stCondLst>
                                  <p:childTnLst>
                                    <p:set>
                                      <p:cBhvr>
                                        <p:cTn id="771" dur="1" fill="hold">
                                          <p:stCondLst>
                                            <p:cond delay="0"/>
                                          </p:stCondLst>
                                        </p:cTn>
                                        <p:tgtEl>
                                          <p:spTgt spid="940"/>
                                        </p:tgtEl>
                                        <p:attrNameLst>
                                          <p:attrName>style.visibility</p:attrName>
                                        </p:attrNameLst>
                                      </p:cBhvr>
                                      <p:to>
                                        <p:strVal val="visible"/>
                                      </p:to>
                                    </p:set>
                                    <p:animEffect transition="in" filter="fade">
                                      <p:cBhvr additive="repl">
                                        <p:cTn id="772" dur="350"/>
                                        <p:tgtEl>
                                          <p:spTgt spid="940"/>
                                        </p:tgtEl>
                                      </p:cBhvr>
                                    </p:animEffect>
                                  </p:childTnLst>
                                </p:cTn>
                              </p:par>
                            </p:childTnLst>
                          </p:cTn>
                        </p:par>
                      </p:childTnLst>
                    </p:cTn>
                  </p:par>
                  <p:par>
                    <p:cTn id="773" fill="hold">
                      <p:stCondLst>
                        <p:cond delay="indefinite"/>
                      </p:stCondLst>
                      <p:childTnLst>
                        <p:par>
                          <p:cTn id="774" fill="hold">
                            <p:stCondLst>
                              <p:cond delay="0"/>
                            </p:stCondLst>
                            <p:childTnLst>
                              <p:par>
                                <p:cTn id="775" presetID="10" presetClass="entr" fill="hold" nodeType="afterEffect">
                                  <p:stCondLst>
                                    <p:cond delay="0"/>
                                  </p:stCondLst>
                                  <p:childTnLst>
                                    <p:set>
                                      <p:cBhvr>
                                        <p:cTn id="776" dur="1" fill="hold">
                                          <p:stCondLst>
                                            <p:cond delay="0"/>
                                          </p:stCondLst>
                                        </p:cTn>
                                        <p:tgtEl>
                                          <p:spTgt spid="941"/>
                                        </p:tgtEl>
                                        <p:attrNameLst>
                                          <p:attrName>style.visibility</p:attrName>
                                        </p:attrNameLst>
                                      </p:cBhvr>
                                      <p:to>
                                        <p:strVal val="visible"/>
                                      </p:to>
                                    </p:set>
                                    <p:animEffect transition="in" filter="fade">
                                      <p:cBhvr additive="repl">
                                        <p:cTn id="777" dur="350"/>
                                        <p:tgtEl>
                                          <p:spTgt spid="941"/>
                                        </p:tgtEl>
                                      </p:cBhvr>
                                    </p:animEffect>
                                  </p:childTnLst>
                                </p:cTn>
                              </p:par>
                            </p:childTnLst>
                          </p:cTn>
                        </p:par>
                      </p:childTnLst>
                    </p:cTn>
                  </p:par>
                  <p:par>
                    <p:cTn id="778" fill="hold">
                      <p:stCondLst>
                        <p:cond delay="indefinite"/>
                      </p:stCondLst>
                      <p:childTnLst>
                        <p:par>
                          <p:cTn id="779" fill="hold">
                            <p:stCondLst>
                              <p:cond delay="0"/>
                            </p:stCondLst>
                            <p:childTnLst>
                              <p:par>
                                <p:cTn id="780" presetID="10" presetClass="entr" fill="hold" nodeType="afterEffect">
                                  <p:stCondLst>
                                    <p:cond delay="0"/>
                                  </p:stCondLst>
                                  <p:childTnLst>
                                    <p:set>
                                      <p:cBhvr>
                                        <p:cTn id="781" dur="1" fill="hold">
                                          <p:stCondLst>
                                            <p:cond delay="0"/>
                                          </p:stCondLst>
                                        </p:cTn>
                                        <p:tgtEl>
                                          <p:spTgt spid="942"/>
                                        </p:tgtEl>
                                        <p:attrNameLst>
                                          <p:attrName>style.visibility</p:attrName>
                                        </p:attrNameLst>
                                      </p:cBhvr>
                                      <p:to>
                                        <p:strVal val="visible"/>
                                      </p:to>
                                    </p:set>
                                    <p:animEffect transition="in" filter="fade">
                                      <p:cBhvr additive="repl">
                                        <p:cTn id="782" dur="350"/>
                                        <p:tgtEl>
                                          <p:spTgt spid="942"/>
                                        </p:tgtEl>
                                      </p:cBhvr>
                                    </p:animEffect>
                                  </p:childTnLst>
                                </p:cTn>
                              </p:par>
                            </p:childTnLst>
                          </p:cTn>
                        </p:par>
                      </p:childTnLst>
                    </p:cTn>
                  </p:par>
                  <p:par>
                    <p:cTn id="783" fill="hold">
                      <p:stCondLst>
                        <p:cond delay="indefinite"/>
                      </p:stCondLst>
                      <p:childTnLst>
                        <p:par>
                          <p:cTn id="784" fill="hold">
                            <p:stCondLst>
                              <p:cond delay="0"/>
                            </p:stCondLst>
                            <p:childTnLst>
                              <p:par>
                                <p:cTn id="785" presetID="10" presetClass="entr" fill="hold" nodeType="afterEffect">
                                  <p:stCondLst>
                                    <p:cond delay="0"/>
                                  </p:stCondLst>
                                  <p:childTnLst>
                                    <p:set>
                                      <p:cBhvr>
                                        <p:cTn id="786" dur="1" fill="hold">
                                          <p:stCondLst>
                                            <p:cond delay="0"/>
                                          </p:stCondLst>
                                        </p:cTn>
                                        <p:tgtEl>
                                          <p:spTgt spid="943"/>
                                        </p:tgtEl>
                                        <p:attrNameLst>
                                          <p:attrName>style.visibility</p:attrName>
                                        </p:attrNameLst>
                                      </p:cBhvr>
                                      <p:to>
                                        <p:strVal val="visible"/>
                                      </p:to>
                                    </p:set>
                                    <p:animEffect transition="in" filter="fade">
                                      <p:cBhvr additive="repl">
                                        <p:cTn id="787" dur="350"/>
                                        <p:tgtEl>
                                          <p:spTgt spid="943"/>
                                        </p:tgtEl>
                                      </p:cBhvr>
                                    </p:animEffect>
                                  </p:childTnLst>
                                </p:cTn>
                              </p:par>
                            </p:childTnLst>
                          </p:cTn>
                        </p:par>
                      </p:childTnLst>
                    </p:cTn>
                  </p:par>
                  <p:par>
                    <p:cTn id="788" fill="hold">
                      <p:stCondLst>
                        <p:cond delay="indefinite"/>
                      </p:stCondLst>
                      <p:childTnLst>
                        <p:par>
                          <p:cTn id="789" fill="hold">
                            <p:stCondLst>
                              <p:cond delay="0"/>
                            </p:stCondLst>
                            <p:childTnLst>
                              <p:par>
                                <p:cTn id="790" presetID="10" presetClass="entr" fill="hold" nodeType="afterEffect">
                                  <p:stCondLst>
                                    <p:cond delay="0"/>
                                  </p:stCondLst>
                                  <p:childTnLst>
                                    <p:set>
                                      <p:cBhvr>
                                        <p:cTn id="791" dur="1" fill="hold">
                                          <p:stCondLst>
                                            <p:cond delay="0"/>
                                          </p:stCondLst>
                                        </p:cTn>
                                        <p:tgtEl>
                                          <p:spTgt spid="944"/>
                                        </p:tgtEl>
                                        <p:attrNameLst>
                                          <p:attrName>style.visibility</p:attrName>
                                        </p:attrNameLst>
                                      </p:cBhvr>
                                      <p:to>
                                        <p:strVal val="visible"/>
                                      </p:to>
                                    </p:set>
                                    <p:animEffect transition="in" filter="fade">
                                      <p:cBhvr additive="repl">
                                        <p:cTn id="792" dur="350"/>
                                        <p:tgtEl>
                                          <p:spTgt spid="9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49"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Encrypted Inference  ·  correctness</a:t>
            </a:r>
            <a:endParaRPr lang="en-US" sz="2700" b="0" u="none" strike="noStrike">
              <a:solidFill>
                <a:srgbClr val="000000"/>
              </a:solidFill>
              <a:effectLst/>
              <a:uFillTx/>
              <a:latin typeface="Arial"/>
            </a:endParaRPr>
          </a:p>
        </p:txBody>
      </p:sp>
      <p:sp>
        <p:nvSpPr>
          <p:cNvPr id="950"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Does encryption change the prediction?</a:t>
            </a:r>
            <a:endParaRPr lang="en-US" sz="1300" b="0" u="none" strike="noStrike">
              <a:solidFill>
                <a:srgbClr val="000000"/>
              </a:solidFill>
              <a:effectLst/>
              <a:uFillTx/>
              <a:latin typeface="Arial"/>
            </a:endParaRPr>
          </a:p>
        </p:txBody>
      </p:sp>
      <p:sp>
        <p:nvSpPr>
          <p:cNvPr id="951"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952"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953" name="Rectangle 6"/>
          <p:cNvSpPr/>
          <p:nvPr/>
        </p:nvSpPr>
        <p:spPr>
          <a:xfrm>
            <a:off x="567000" y="6226920"/>
            <a:ext cx="93114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954"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955"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48</a:t>
            </a:r>
            <a:endParaRPr lang="en-US" sz="900" b="0" u="none" strike="noStrike">
              <a:solidFill>
                <a:srgbClr val="000000"/>
              </a:solidFill>
              <a:effectLst/>
              <a:uFillTx/>
              <a:latin typeface="Arial"/>
            </a:endParaRPr>
          </a:p>
        </p:txBody>
      </p:sp>
      <p:sp>
        <p:nvSpPr>
          <p:cNvPr id="956" name="Rounded Rectangle 9"/>
          <p:cNvSpPr/>
          <p:nvPr/>
        </p:nvSpPr>
        <p:spPr>
          <a:xfrm>
            <a:off x="56700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57" name="TextBox 10"/>
          <p:cNvSpPr/>
          <p:nvPr/>
        </p:nvSpPr>
        <p:spPr>
          <a:xfrm>
            <a:off x="76824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0CA30C"/>
                </a:solidFill>
                <a:effectLst/>
                <a:uFillTx/>
                <a:latin typeface="Inter"/>
              </a:rPr>
              <a:t>100.00%</a:t>
            </a:r>
            <a:endParaRPr lang="en-US" sz="2800" b="0" u="none" strike="noStrike">
              <a:solidFill>
                <a:srgbClr val="000000"/>
              </a:solidFill>
              <a:effectLst/>
              <a:uFillTx/>
              <a:latin typeface="Arial"/>
            </a:endParaRPr>
          </a:p>
        </p:txBody>
      </p:sp>
      <p:sp>
        <p:nvSpPr>
          <p:cNvPr id="958" name="TextBox 11"/>
          <p:cNvSpPr/>
          <p:nvPr/>
        </p:nvSpPr>
        <p:spPr>
          <a:xfrm>
            <a:off x="76824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encrypted vs plaintext agreement</a:t>
            </a:r>
            <a:endParaRPr lang="en-US" sz="1050" b="0" u="none" strike="noStrike">
              <a:solidFill>
                <a:srgbClr val="000000"/>
              </a:solidFill>
              <a:effectLst/>
              <a:uFillTx/>
              <a:latin typeface="Arial"/>
            </a:endParaRPr>
          </a:p>
        </p:txBody>
      </p:sp>
      <p:sp>
        <p:nvSpPr>
          <p:cNvPr id="959" name="Rounded Rectangle 12"/>
          <p:cNvSpPr/>
          <p:nvPr/>
        </p:nvSpPr>
        <p:spPr>
          <a:xfrm>
            <a:off x="337248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60" name="TextBox 13"/>
          <p:cNvSpPr/>
          <p:nvPr/>
        </p:nvSpPr>
        <p:spPr>
          <a:xfrm>
            <a:off x="357372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1.43e-02</a:t>
            </a:r>
            <a:endParaRPr lang="en-US" sz="2800" b="0" u="none" strike="noStrike">
              <a:solidFill>
                <a:srgbClr val="000000"/>
              </a:solidFill>
              <a:effectLst/>
              <a:uFillTx/>
              <a:latin typeface="Arial"/>
            </a:endParaRPr>
          </a:p>
        </p:txBody>
      </p:sp>
      <p:sp>
        <p:nvSpPr>
          <p:cNvPr id="961" name="TextBox 14"/>
          <p:cNvSpPr/>
          <p:nvPr/>
        </p:nvSpPr>
        <p:spPr>
          <a:xfrm>
            <a:off x="357372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max absolute logit error</a:t>
            </a:r>
            <a:endParaRPr lang="en-US" sz="1050" b="0" u="none" strike="noStrike">
              <a:solidFill>
                <a:srgbClr val="000000"/>
              </a:solidFill>
              <a:effectLst/>
              <a:uFillTx/>
              <a:latin typeface="Arial"/>
            </a:endParaRPr>
          </a:p>
        </p:txBody>
      </p:sp>
      <p:sp>
        <p:nvSpPr>
          <p:cNvPr id="962" name="Rounded Rectangle 15"/>
          <p:cNvSpPr/>
          <p:nvPr/>
        </p:nvSpPr>
        <p:spPr>
          <a:xfrm>
            <a:off x="617832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63" name="TextBox 16"/>
          <p:cNvSpPr/>
          <p:nvPr/>
        </p:nvSpPr>
        <p:spPr>
          <a:xfrm>
            <a:off x="637920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0CA30C"/>
                </a:solidFill>
                <a:effectLst/>
                <a:uFillTx/>
                <a:latin typeface="Inter"/>
              </a:rPr>
              <a:t>0</a:t>
            </a:r>
            <a:endParaRPr lang="en-US" sz="2800" b="0" u="none" strike="noStrike">
              <a:solidFill>
                <a:srgbClr val="000000"/>
              </a:solidFill>
              <a:effectLst/>
              <a:uFillTx/>
              <a:latin typeface="Arial"/>
            </a:endParaRPr>
          </a:p>
        </p:txBody>
      </p:sp>
      <p:sp>
        <p:nvSpPr>
          <p:cNvPr id="964" name="TextBox 17"/>
          <p:cNvSpPr/>
          <p:nvPr/>
        </p:nvSpPr>
        <p:spPr>
          <a:xfrm>
            <a:off x="637920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prediction flips out of 360</a:t>
            </a:r>
            <a:endParaRPr lang="en-US" sz="1050" b="0" u="none" strike="noStrike">
              <a:solidFill>
                <a:srgbClr val="000000"/>
              </a:solidFill>
              <a:effectLst/>
              <a:uFillTx/>
              <a:latin typeface="Arial"/>
            </a:endParaRPr>
          </a:p>
        </p:txBody>
      </p:sp>
      <p:sp>
        <p:nvSpPr>
          <p:cNvPr id="965" name="Rounded Rectangle 18"/>
          <p:cNvSpPr/>
          <p:nvPr/>
        </p:nvSpPr>
        <p:spPr>
          <a:xfrm>
            <a:off x="8983800" y="1627560"/>
            <a:ext cx="2640600" cy="12067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66" name="TextBox 19"/>
          <p:cNvSpPr/>
          <p:nvPr/>
        </p:nvSpPr>
        <p:spPr>
          <a:xfrm>
            <a:off x="9185040" y="1783080"/>
            <a:ext cx="2238480" cy="5482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800" b="1" u="none" strike="noStrike">
                <a:solidFill>
                  <a:srgbClr val="60A5FA"/>
                </a:solidFill>
                <a:effectLst/>
                <a:uFillTx/>
                <a:latin typeface="Inter"/>
              </a:rPr>
              <a:t>100.00%</a:t>
            </a:r>
            <a:endParaRPr lang="en-US" sz="2800" b="0" u="none" strike="noStrike">
              <a:solidFill>
                <a:srgbClr val="000000"/>
              </a:solidFill>
              <a:effectLst/>
              <a:uFillTx/>
              <a:latin typeface="Arial"/>
            </a:endParaRPr>
          </a:p>
        </p:txBody>
      </p:sp>
      <p:sp>
        <p:nvSpPr>
          <p:cNvPr id="967" name="TextBox 20"/>
          <p:cNvSpPr/>
          <p:nvPr/>
        </p:nvSpPr>
        <p:spPr>
          <a:xfrm>
            <a:off x="9185040" y="2377440"/>
            <a:ext cx="2238480" cy="383760"/>
          </a:xfrm>
          <a:prstGeom prst="rect">
            <a:avLst/>
          </a:prstGeom>
          <a:noFill/>
          <a:ln w="0">
            <a:noFill/>
          </a:ln>
        </p:spPr>
        <p:style>
          <a:lnRef idx="0"/>
          <a:fillRef idx="0"/>
          <a:effectRef idx="0"/>
          <a:fontRef idx="minor"/>
        </p:style>
        <p:txBody>
          <a:bodyPr lIns="0" tIns="0" rIns="0" bIns="0" anchor="t">
            <a:spAutoFit/>
          </a:bodyPr>
          <a:p>
            <a:pPr defTabSz="457200">
              <a:lnSpc>
                <a:spcPct val="108000"/>
              </a:lnSpc>
              <a:spcAft>
                <a:spcPts val="400"/>
              </a:spcAft>
            </a:pPr>
            <a:r>
              <a:rPr lang="en-US" sz="1050" b="0" u="none" strike="noStrike">
                <a:solidFill>
                  <a:srgbClr val="94A3B8"/>
                </a:solidFill>
                <a:effectLst/>
                <a:uFillTx/>
                <a:latin typeface="Inter"/>
              </a:rPr>
              <a:t>accuracy under encryption</a:t>
            </a:r>
            <a:endParaRPr lang="en-US" sz="1050" b="0" u="none" strike="noStrike">
              <a:solidFill>
                <a:srgbClr val="000000"/>
              </a:solidFill>
              <a:effectLst/>
              <a:uFillTx/>
              <a:latin typeface="Arial"/>
            </a:endParaRPr>
          </a:p>
        </p:txBody>
      </p:sp>
      <p:sp>
        <p:nvSpPr>
          <p:cNvPr id="968" name="TextBox 21"/>
          <p:cNvSpPr/>
          <p:nvPr/>
        </p:nvSpPr>
        <p:spPr>
          <a:xfrm>
            <a:off x="567000" y="3090600"/>
            <a:ext cx="25599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quantity</a:t>
            </a:r>
            <a:endParaRPr lang="en-US" sz="1050" b="0" u="none" strike="noStrike">
              <a:solidFill>
                <a:srgbClr val="000000"/>
              </a:solidFill>
              <a:effectLst/>
              <a:uFillTx/>
              <a:latin typeface="Arial"/>
            </a:endParaRPr>
          </a:p>
        </p:txBody>
      </p:sp>
      <p:sp>
        <p:nvSpPr>
          <p:cNvPr id="969" name="TextBox 22"/>
          <p:cNvSpPr/>
          <p:nvPr/>
        </p:nvSpPr>
        <p:spPr>
          <a:xfrm>
            <a:off x="3127320" y="3090600"/>
            <a:ext cx="25117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value</a:t>
            </a:r>
            <a:endParaRPr lang="en-US" sz="1050" b="0" u="none" strike="noStrike">
              <a:solidFill>
                <a:srgbClr val="000000"/>
              </a:solidFill>
              <a:effectLst/>
              <a:uFillTx/>
              <a:latin typeface="Arial"/>
            </a:endParaRPr>
          </a:p>
        </p:txBody>
      </p:sp>
      <p:sp>
        <p:nvSpPr>
          <p:cNvPr id="970" name="Rectangle 23"/>
          <p:cNvSpPr/>
          <p:nvPr/>
        </p:nvSpPr>
        <p:spPr>
          <a:xfrm>
            <a:off x="567000" y="3383280"/>
            <a:ext cx="507204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971" name="TextBox 24"/>
          <p:cNvSpPr/>
          <p:nvPr/>
        </p:nvSpPr>
        <p:spPr>
          <a:xfrm>
            <a:off x="567000" y="347472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plaintext accuracy</a:t>
            </a:r>
            <a:endParaRPr lang="en-US" sz="1150" b="0" u="none" strike="noStrike">
              <a:solidFill>
                <a:srgbClr val="000000"/>
              </a:solidFill>
              <a:effectLst/>
              <a:uFillTx/>
              <a:latin typeface="Arial"/>
            </a:endParaRPr>
          </a:p>
        </p:txBody>
      </p:sp>
      <p:sp>
        <p:nvSpPr>
          <p:cNvPr id="972" name="TextBox 25"/>
          <p:cNvSpPr/>
          <p:nvPr/>
        </p:nvSpPr>
        <p:spPr>
          <a:xfrm>
            <a:off x="3127320" y="3474720"/>
            <a:ext cx="2511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100.00%</a:t>
            </a:r>
            <a:endParaRPr lang="en-US" sz="1150" b="0" u="none" strike="noStrike">
              <a:solidFill>
                <a:srgbClr val="000000"/>
              </a:solidFill>
              <a:effectLst/>
              <a:uFillTx/>
              <a:latin typeface="Arial"/>
            </a:endParaRPr>
          </a:p>
        </p:txBody>
      </p:sp>
      <p:sp>
        <p:nvSpPr>
          <p:cNvPr id="973" name="TextBox 26"/>
          <p:cNvSpPr/>
          <p:nvPr/>
        </p:nvSpPr>
        <p:spPr>
          <a:xfrm>
            <a:off x="567000" y="378576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encrypted accuracy</a:t>
            </a:r>
            <a:endParaRPr lang="en-US" sz="1150" b="0" u="none" strike="noStrike">
              <a:solidFill>
                <a:srgbClr val="000000"/>
              </a:solidFill>
              <a:effectLst/>
              <a:uFillTx/>
              <a:latin typeface="Arial"/>
            </a:endParaRPr>
          </a:p>
        </p:txBody>
      </p:sp>
      <p:sp>
        <p:nvSpPr>
          <p:cNvPr id="974" name="TextBox 27"/>
          <p:cNvSpPr/>
          <p:nvPr/>
        </p:nvSpPr>
        <p:spPr>
          <a:xfrm>
            <a:off x="3127320" y="3785760"/>
            <a:ext cx="2511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100.00%</a:t>
            </a:r>
            <a:endParaRPr lang="en-US" sz="1150" b="0" u="none" strike="noStrike">
              <a:solidFill>
                <a:srgbClr val="000000"/>
              </a:solidFill>
              <a:effectLst/>
              <a:uFillTx/>
              <a:latin typeface="Arial"/>
            </a:endParaRPr>
          </a:p>
        </p:txBody>
      </p:sp>
      <p:sp>
        <p:nvSpPr>
          <p:cNvPr id="975" name="TextBox 28"/>
          <p:cNvSpPr/>
          <p:nvPr/>
        </p:nvSpPr>
        <p:spPr>
          <a:xfrm>
            <a:off x="567000" y="409644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mean |logit error|</a:t>
            </a:r>
            <a:endParaRPr lang="en-US" sz="1150" b="0" u="none" strike="noStrike">
              <a:solidFill>
                <a:srgbClr val="000000"/>
              </a:solidFill>
              <a:effectLst/>
              <a:uFillTx/>
              <a:latin typeface="Arial"/>
            </a:endParaRPr>
          </a:p>
        </p:txBody>
      </p:sp>
      <p:sp>
        <p:nvSpPr>
          <p:cNvPr id="976" name="TextBox 29"/>
          <p:cNvSpPr/>
          <p:nvPr/>
        </p:nvSpPr>
        <p:spPr>
          <a:xfrm>
            <a:off x="3127320" y="4096440"/>
            <a:ext cx="2511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2.766e-03</a:t>
            </a:r>
            <a:endParaRPr lang="en-US" sz="1150" b="0" u="none" strike="noStrike">
              <a:solidFill>
                <a:srgbClr val="000000"/>
              </a:solidFill>
              <a:effectLst/>
              <a:uFillTx/>
              <a:latin typeface="Arial"/>
            </a:endParaRPr>
          </a:p>
        </p:txBody>
      </p:sp>
      <p:sp>
        <p:nvSpPr>
          <p:cNvPr id="977" name="TextBox 30"/>
          <p:cNvSpPr/>
          <p:nvPr/>
        </p:nvSpPr>
        <p:spPr>
          <a:xfrm>
            <a:off x="567000" y="4407480"/>
            <a:ext cx="255996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F1F5F9"/>
                </a:solidFill>
                <a:effectLst/>
                <a:uFillTx/>
                <a:latin typeface="Inter"/>
              </a:rPr>
              <a:t>test images evaluated</a:t>
            </a:r>
            <a:endParaRPr lang="en-US" sz="1150" b="0" u="none" strike="noStrike">
              <a:solidFill>
                <a:srgbClr val="000000"/>
              </a:solidFill>
              <a:effectLst/>
              <a:uFillTx/>
              <a:latin typeface="Arial"/>
            </a:endParaRPr>
          </a:p>
        </p:txBody>
      </p:sp>
      <p:sp>
        <p:nvSpPr>
          <p:cNvPr id="978" name="TextBox 31"/>
          <p:cNvSpPr/>
          <p:nvPr/>
        </p:nvSpPr>
        <p:spPr>
          <a:xfrm>
            <a:off x="3127320" y="4407480"/>
            <a:ext cx="2511720" cy="3106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0" u="none" strike="noStrike">
                <a:solidFill>
                  <a:srgbClr val="CBD5E1"/>
                </a:solidFill>
                <a:effectLst/>
                <a:uFillTx/>
                <a:latin typeface="Source Code Pro"/>
              </a:rPr>
              <a:t>360</a:t>
            </a:r>
            <a:endParaRPr lang="en-US" sz="1150" b="0" u="none" strike="noStrike">
              <a:solidFill>
                <a:srgbClr val="000000"/>
              </a:solidFill>
              <a:effectLst/>
              <a:uFillTx/>
              <a:latin typeface="Arial"/>
            </a:endParaRPr>
          </a:p>
        </p:txBody>
      </p:sp>
      <p:sp>
        <p:nvSpPr>
          <p:cNvPr id="979" name="Rounded Rectangle 32"/>
          <p:cNvSpPr/>
          <p:nvPr/>
        </p:nvSpPr>
        <p:spPr>
          <a:xfrm>
            <a:off x="6552360" y="3090600"/>
            <a:ext cx="5072040" cy="20113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80" name="Rectangle 33"/>
          <p:cNvSpPr/>
          <p:nvPr/>
        </p:nvSpPr>
        <p:spPr>
          <a:xfrm>
            <a:off x="6552360" y="3090600"/>
            <a:ext cx="40680" cy="2011320"/>
          </a:xfrm>
          <a:prstGeom prst="rect">
            <a:avLst/>
          </a:prstGeom>
          <a:solidFill>
            <a:srgbClr val="0CA30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81" name="TextBox 34"/>
          <p:cNvSpPr/>
          <p:nvPr/>
        </p:nvSpPr>
        <p:spPr>
          <a:xfrm>
            <a:off x="6771600" y="3227760"/>
            <a:ext cx="46515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0CA30C"/>
                </a:solidFill>
                <a:effectLst/>
                <a:uFillTx/>
                <a:latin typeface="Inter"/>
              </a:rPr>
              <a:t>Why this is robust, not lucky</a:t>
            </a:r>
            <a:endParaRPr lang="en-US" sz="1150" b="0" u="none" strike="noStrike">
              <a:solidFill>
                <a:srgbClr val="000000"/>
              </a:solidFill>
              <a:effectLst/>
              <a:uFillTx/>
              <a:latin typeface="Arial"/>
            </a:endParaRPr>
          </a:p>
        </p:txBody>
      </p:sp>
      <p:sp>
        <p:nvSpPr>
          <p:cNvPr id="982" name="TextBox 35"/>
          <p:cNvSpPr/>
          <p:nvPr/>
        </p:nvSpPr>
        <p:spPr>
          <a:xfrm>
            <a:off x="6771600" y="3566160"/>
            <a:ext cx="4651560" cy="138960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A prediction can only flip if the CKKS error exceeds half the gap between the top-1 and top-2 logits. On the tightest decision in the test set the error consumes just 0.79% of that budget — it would have to be ~126× larger before anything could change.</a:t>
            </a:r>
            <a:endParaRPr lang="en-US" sz="1150" b="0" u="none" strike="noStrike">
              <a:solidFill>
                <a:srgbClr val="000000"/>
              </a:solidFill>
              <a:effectLst/>
              <a:uFillTx/>
              <a:latin typeface="Arial"/>
            </a:endParaRPr>
          </a:p>
          <a:p>
            <a:pPr defTabSz="457200">
              <a:lnSpc>
                <a:spcPct val="124000"/>
              </a:lnSpc>
              <a:spcAft>
                <a:spcPts val="400"/>
              </a:spcAft>
            </a:pPr>
            <a:endParaRPr lang="en-US" sz="1150" b="0" u="none" strike="noStrike">
              <a:solidFill>
                <a:srgbClr val="000000"/>
              </a:solidFill>
              <a:effectLst/>
              <a:uFillTx/>
              <a:latin typeface="Arial"/>
            </a:endParaRPr>
          </a:p>
          <a:p>
            <a:pPr defTabSz="457200">
              <a:lnSpc>
                <a:spcPct val="124000"/>
              </a:lnSpc>
              <a:spcAft>
                <a:spcPts val="400"/>
              </a:spcAft>
            </a:pPr>
            <a:r>
              <a:rPr lang="en-US" sz="1150" b="0" u="none" strike="noStrike">
                <a:solidFill>
                  <a:srgbClr val="CBD5E1"/>
                </a:solidFill>
                <a:effectLst/>
                <a:uFillTx/>
                <a:latin typeface="Inter"/>
              </a:rPr>
              <a:t>So agreement is a bound here, not a coincidence of this sample.</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793" dur="indefinite" restart="never" nodeType="tmRoot">
          <p:childTnLst>
            <p:seq>
              <p:cTn id="794" dur="indefinite" nodeType="mainSeq">
                <p:childTnLst>
                  <p:par>
                    <p:cTn id="795" fill="hold">
                      <p:stCondLst>
                        <p:cond delay="indefinite"/>
                      </p:stCondLst>
                      <p:childTnLst>
                        <p:par>
                          <p:cTn id="796" fill="hold">
                            <p:stCondLst>
                              <p:cond delay="0"/>
                            </p:stCondLst>
                            <p:childTnLst>
                              <p:par>
                                <p:cTn id="797" presetID="10" presetClass="entr" fill="hold" nodeType="clickEffect">
                                  <p:stCondLst>
                                    <p:cond delay="0"/>
                                  </p:stCondLst>
                                  <p:childTnLst>
                                    <p:set>
                                      <p:cBhvr>
                                        <p:cTn id="798" dur="1" fill="hold">
                                          <p:stCondLst>
                                            <p:cond delay="0"/>
                                          </p:stCondLst>
                                        </p:cTn>
                                        <p:tgtEl>
                                          <p:spTgt spid="957"/>
                                        </p:tgtEl>
                                        <p:attrNameLst>
                                          <p:attrName>style.visibility</p:attrName>
                                        </p:attrNameLst>
                                      </p:cBhvr>
                                      <p:to>
                                        <p:strVal val="visible"/>
                                      </p:to>
                                    </p:set>
                                    <p:animEffect transition="in" filter="fade">
                                      <p:cBhvr additive="repl">
                                        <p:cTn id="799" dur="350"/>
                                        <p:tgtEl>
                                          <p:spTgt spid="957"/>
                                        </p:tgtEl>
                                      </p:cBhvr>
                                    </p:animEffect>
                                  </p:childTnLst>
                                </p:cTn>
                              </p:par>
                            </p:childTnLst>
                          </p:cTn>
                        </p:par>
                      </p:childTnLst>
                    </p:cTn>
                  </p:par>
                  <p:par>
                    <p:cTn id="800" fill="hold">
                      <p:stCondLst>
                        <p:cond delay="indefinite"/>
                      </p:stCondLst>
                      <p:childTnLst>
                        <p:par>
                          <p:cTn id="801" fill="hold">
                            <p:stCondLst>
                              <p:cond delay="0"/>
                            </p:stCondLst>
                            <p:childTnLst>
                              <p:par>
                                <p:cTn id="802" presetID="10" presetClass="entr" fill="hold" nodeType="afterEffect">
                                  <p:stCondLst>
                                    <p:cond delay="0"/>
                                  </p:stCondLst>
                                  <p:childTnLst>
                                    <p:set>
                                      <p:cBhvr>
                                        <p:cTn id="803" dur="1" fill="hold">
                                          <p:stCondLst>
                                            <p:cond delay="0"/>
                                          </p:stCondLst>
                                        </p:cTn>
                                        <p:tgtEl>
                                          <p:spTgt spid="958"/>
                                        </p:tgtEl>
                                        <p:attrNameLst>
                                          <p:attrName>style.visibility</p:attrName>
                                        </p:attrNameLst>
                                      </p:cBhvr>
                                      <p:to>
                                        <p:strVal val="visible"/>
                                      </p:to>
                                    </p:set>
                                    <p:animEffect transition="in" filter="fade">
                                      <p:cBhvr additive="repl">
                                        <p:cTn id="804" dur="350"/>
                                        <p:tgtEl>
                                          <p:spTgt spid="958"/>
                                        </p:tgtEl>
                                      </p:cBhvr>
                                    </p:animEffect>
                                  </p:childTnLst>
                                </p:cTn>
                              </p:par>
                            </p:childTnLst>
                          </p:cTn>
                        </p:par>
                      </p:childTnLst>
                    </p:cTn>
                  </p:par>
                  <p:par>
                    <p:cTn id="805" fill="hold">
                      <p:stCondLst>
                        <p:cond delay="indefinite"/>
                      </p:stCondLst>
                      <p:childTnLst>
                        <p:par>
                          <p:cTn id="806" fill="hold">
                            <p:stCondLst>
                              <p:cond delay="0"/>
                            </p:stCondLst>
                            <p:childTnLst>
                              <p:par>
                                <p:cTn id="807" presetID="10" presetClass="entr" fill="hold" nodeType="afterEffect">
                                  <p:stCondLst>
                                    <p:cond delay="0"/>
                                  </p:stCondLst>
                                  <p:childTnLst>
                                    <p:set>
                                      <p:cBhvr>
                                        <p:cTn id="808" dur="1" fill="hold">
                                          <p:stCondLst>
                                            <p:cond delay="0"/>
                                          </p:stCondLst>
                                        </p:cTn>
                                        <p:tgtEl>
                                          <p:spTgt spid="960"/>
                                        </p:tgtEl>
                                        <p:attrNameLst>
                                          <p:attrName>style.visibility</p:attrName>
                                        </p:attrNameLst>
                                      </p:cBhvr>
                                      <p:to>
                                        <p:strVal val="visible"/>
                                      </p:to>
                                    </p:set>
                                    <p:animEffect transition="in" filter="fade">
                                      <p:cBhvr additive="repl">
                                        <p:cTn id="809" dur="350"/>
                                        <p:tgtEl>
                                          <p:spTgt spid="960"/>
                                        </p:tgtEl>
                                      </p:cBhvr>
                                    </p:animEffect>
                                  </p:childTnLst>
                                </p:cTn>
                              </p:par>
                            </p:childTnLst>
                          </p:cTn>
                        </p:par>
                      </p:childTnLst>
                    </p:cTn>
                  </p:par>
                  <p:par>
                    <p:cTn id="810" fill="hold">
                      <p:stCondLst>
                        <p:cond delay="indefinite"/>
                      </p:stCondLst>
                      <p:childTnLst>
                        <p:par>
                          <p:cTn id="811" fill="hold">
                            <p:stCondLst>
                              <p:cond delay="0"/>
                            </p:stCondLst>
                            <p:childTnLst>
                              <p:par>
                                <p:cTn id="812" presetID="10" presetClass="entr" fill="hold" nodeType="afterEffect">
                                  <p:stCondLst>
                                    <p:cond delay="0"/>
                                  </p:stCondLst>
                                  <p:childTnLst>
                                    <p:set>
                                      <p:cBhvr>
                                        <p:cTn id="813" dur="1" fill="hold">
                                          <p:stCondLst>
                                            <p:cond delay="0"/>
                                          </p:stCondLst>
                                        </p:cTn>
                                        <p:tgtEl>
                                          <p:spTgt spid="961"/>
                                        </p:tgtEl>
                                        <p:attrNameLst>
                                          <p:attrName>style.visibility</p:attrName>
                                        </p:attrNameLst>
                                      </p:cBhvr>
                                      <p:to>
                                        <p:strVal val="visible"/>
                                      </p:to>
                                    </p:set>
                                    <p:animEffect transition="in" filter="fade">
                                      <p:cBhvr additive="repl">
                                        <p:cTn id="814" dur="350"/>
                                        <p:tgtEl>
                                          <p:spTgt spid="961"/>
                                        </p:tgtEl>
                                      </p:cBhvr>
                                    </p:animEffect>
                                  </p:childTnLst>
                                </p:cTn>
                              </p:par>
                            </p:childTnLst>
                          </p:cTn>
                        </p:par>
                      </p:childTnLst>
                    </p:cTn>
                  </p:par>
                  <p:par>
                    <p:cTn id="815" fill="hold">
                      <p:stCondLst>
                        <p:cond delay="indefinite"/>
                      </p:stCondLst>
                      <p:childTnLst>
                        <p:par>
                          <p:cTn id="816" fill="hold">
                            <p:stCondLst>
                              <p:cond delay="0"/>
                            </p:stCondLst>
                            <p:childTnLst>
                              <p:par>
                                <p:cTn id="817" presetID="10" presetClass="entr" fill="hold" nodeType="afterEffect">
                                  <p:stCondLst>
                                    <p:cond delay="0"/>
                                  </p:stCondLst>
                                  <p:childTnLst>
                                    <p:set>
                                      <p:cBhvr>
                                        <p:cTn id="818" dur="1" fill="hold">
                                          <p:stCondLst>
                                            <p:cond delay="0"/>
                                          </p:stCondLst>
                                        </p:cTn>
                                        <p:tgtEl>
                                          <p:spTgt spid="963"/>
                                        </p:tgtEl>
                                        <p:attrNameLst>
                                          <p:attrName>style.visibility</p:attrName>
                                        </p:attrNameLst>
                                      </p:cBhvr>
                                      <p:to>
                                        <p:strVal val="visible"/>
                                      </p:to>
                                    </p:set>
                                    <p:animEffect transition="in" filter="fade">
                                      <p:cBhvr additive="repl">
                                        <p:cTn id="819" dur="350"/>
                                        <p:tgtEl>
                                          <p:spTgt spid="963"/>
                                        </p:tgtEl>
                                      </p:cBhvr>
                                    </p:animEffect>
                                  </p:childTnLst>
                                </p:cTn>
                              </p:par>
                            </p:childTnLst>
                          </p:cTn>
                        </p:par>
                      </p:childTnLst>
                    </p:cTn>
                  </p:par>
                  <p:par>
                    <p:cTn id="820" fill="hold">
                      <p:stCondLst>
                        <p:cond delay="indefinite"/>
                      </p:stCondLst>
                      <p:childTnLst>
                        <p:par>
                          <p:cTn id="821" fill="hold">
                            <p:stCondLst>
                              <p:cond delay="0"/>
                            </p:stCondLst>
                            <p:childTnLst>
                              <p:par>
                                <p:cTn id="822" presetID="10" presetClass="entr" fill="hold" nodeType="afterEffect">
                                  <p:stCondLst>
                                    <p:cond delay="0"/>
                                  </p:stCondLst>
                                  <p:childTnLst>
                                    <p:set>
                                      <p:cBhvr>
                                        <p:cTn id="823" dur="1" fill="hold">
                                          <p:stCondLst>
                                            <p:cond delay="0"/>
                                          </p:stCondLst>
                                        </p:cTn>
                                        <p:tgtEl>
                                          <p:spTgt spid="964"/>
                                        </p:tgtEl>
                                        <p:attrNameLst>
                                          <p:attrName>style.visibility</p:attrName>
                                        </p:attrNameLst>
                                      </p:cBhvr>
                                      <p:to>
                                        <p:strVal val="visible"/>
                                      </p:to>
                                    </p:set>
                                    <p:animEffect transition="in" filter="fade">
                                      <p:cBhvr additive="repl">
                                        <p:cTn id="824" dur="350"/>
                                        <p:tgtEl>
                                          <p:spTgt spid="9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984"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Encrypted Inference  ·  cost</a:t>
            </a:r>
            <a:endParaRPr lang="en-US" sz="2700" b="0" u="none" strike="noStrike">
              <a:solidFill>
                <a:srgbClr val="000000"/>
              </a:solidFill>
              <a:effectLst/>
              <a:uFillTx/>
              <a:latin typeface="Arial"/>
            </a:endParaRPr>
          </a:p>
        </p:txBody>
      </p:sp>
      <p:sp>
        <p:nvSpPr>
          <p:cNvPr id="985"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All timings on 4 vCPU, no GPU</a:t>
            </a:r>
            <a:endParaRPr lang="en-US" sz="1300" b="0" u="none" strike="noStrike">
              <a:solidFill>
                <a:srgbClr val="000000"/>
              </a:solidFill>
              <a:effectLst/>
              <a:uFillTx/>
              <a:latin typeface="Arial"/>
            </a:endParaRPr>
          </a:p>
        </p:txBody>
      </p:sp>
      <p:sp>
        <p:nvSpPr>
          <p:cNvPr id="986"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987"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988" name="Rectangle 6"/>
          <p:cNvSpPr/>
          <p:nvPr/>
        </p:nvSpPr>
        <p:spPr>
          <a:xfrm>
            <a:off x="567000" y="6226920"/>
            <a:ext cx="95054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989"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990"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49</a:t>
            </a:r>
            <a:endParaRPr lang="en-US" sz="900" b="0" u="none" strike="noStrike">
              <a:solidFill>
                <a:srgbClr val="000000"/>
              </a:solidFill>
              <a:effectLst/>
              <a:uFillTx/>
              <a:latin typeface="Arial"/>
            </a:endParaRPr>
          </a:p>
        </p:txBody>
      </p:sp>
      <p:pic>
        <p:nvPicPr>
          <p:cNvPr id="991" name="Picture 9" descr="ba_encryption_1108.png"/>
          <p:cNvPicPr/>
          <p:nvPr/>
        </p:nvPicPr>
        <p:blipFill>
          <a:blip r:embed="rId1"/>
          <a:stretch/>
        </p:blipFill>
        <p:spPr>
          <a:xfrm>
            <a:off x="567000" y="2162520"/>
            <a:ext cx="6755400" cy="2495880"/>
          </a:xfrm>
          <a:prstGeom prst="rect">
            <a:avLst/>
          </a:prstGeom>
          <a:noFill/>
          <a:ln w="0">
            <a:noFill/>
          </a:ln>
        </p:spPr>
      </p:pic>
      <p:sp>
        <p:nvSpPr>
          <p:cNvPr id="992" name="TextBox 10"/>
          <p:cNvSpPr/>
          <p:nvPr/>
        </p:nvSpPr>
        <p:spPr>
          <a:xfrm>
            <a:off x="7861680" y="1627560"/>
            <a:ext cx="21027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quantity</a:t>
            </a:r>
            <a:endParaRPr lang="en-US" sz="1050" b="0" u="none" strike="noStrike">
              <a:solidFill>
                <a:srgbClr val="000000"/>
              </a:solidFill>
              <a:effectLst/>
              <a:uFillTx/>
              <a:latin typeface="Arial"/>
            </a:endParaRPr>
          </a:p>
        </p:txBody>
      </p:sp>
      <p:sp>
        <p:nvSpPr>
          <p:cNvPr id="993" name="TextBox 11"/>
          <p:cNvSpPr/>
          <p:nvPr/>
        </p:nvSpPr>
        <p:spPr>
          <a:xfrm>
            <a:off x="9964800" y="1627560"/>
            <a:ext cx="1659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value</a:t>
            </a:r>
            <a:endParaRPr lang="en-US" sz="1050" b="0" u="none" strike="noStrike">
              <a:solidFill>
                <a:srgbClr val="000000"/>
              </a:solidFill>
              <a:effectLst/>
              <a:uFillTx/>
              <a:latin typeface="Arial"/>
            </a:endParaRPr>
          </a:p>
        </p:txBody>
      </p:sp>
      <p:sp>
        <p:nvSpPr>
          <p:cNvPr id="994" name="Rectangle 12"/>
          <p:cNvSpPr/>
          <p:nvPr/>
        </p:nvSpPr>
        <p:spPr>
          <a:xfrm>
            <a:off x="7861680" y="1920240"/>
            <a:ext cx="3762720" cy="10440"/>
          </a:xfrm>
          <a:prstGeom prst="rect">
            <a:avLst/>
          </a:prstGeom>
          <a:solidFill>
            <a:srgbClr val="24324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995" name="TextBox 13"/>
          <p:cNvSpPr/>
          <p:nvPr/>
        </p:nvSpPr>
        <p:spPr>
          <a:xfrm>
            <a:off x="7861680" y="2011680"/>
            <a:ext cx="21027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client feature extraction</a:t>
            </a:r>
            <a:endParaRPr lang="en-US" sz="1050" b="0" u="none" strike="noStrike">
              <a:solidFill>
                <a:srgbClr val="000000"/>
              </a:solidFill>
              <a:effectLst/>
              <a:uFillTx/>
              <a:latin typeface="Arial"/>
            </a:endParaRPr>
          </a:p>
        </p:txBody>
      </p:sp>
      <p:sp>
        <p:nvSpPr>
          <p:cNvPr id="996" name="TextBox 14"/>
          <p:cNvSpPr/>
          <p:nvPr/>
        </p:nvSpPr>
        <p:spPr>
          <a:xfrm>
            <a:off x="9964800" y="2011680"/>
            <a:ext cx="16596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38 ms</a:t>
            </a:r>
            <a:endParaRPr lang="en-US" sz="1050" b="0" u="none" strike="noStrike">
              <a:solidFill>
                <a:srgbClr val="000000"/>
              </a:solidFill>
              <a:effectLst/>
              <a:uFillTx/>
              <a:latin typeface="Arial"/>
            </a:endParaRPr>
          </a:p>
        </p:txBody>
      </p:sp>
      <p:sp>
        <p:nvSpPr>
          <p:cNvPr id="997" name="TextBox 15"/>
          <p:cNvSpPr/>
          <p:nvPr/>
        </p:nvSpPr>
        <p:spPr>
          <a:xfrm>
            <a:off x="7861680" y="2304360"/>
            <a:ext cx="21027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encrypt (client)</a:t>
            </a:r>
            <a:endParaRPr lang="en-US" sz="1050" b="0" u="none" strike="noStrike">
              <a:solidFill>
                <a:srgbClr val="000000"/>
              </a:solidFill>
              <a:effectLst/>
              <a:uFillTx/>
              <a:latin typeface="Arial"/>
            </a:endParaRPr>
          </a:p>
        </p:txBody>
      </p:sp>
      <p:sp>
        <p:nvSpPr>
          <p:cNvPr id="998" name="TextBox 16"/>
          <p:cNvSpPr/>
          <p:nvPr/>
        </p:nvSpPr>
        <p:spPr>
          <a:xfrm>
            <a:off x="9964800" y="2304360"/>
            <a:ext cx="16596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16.8 ms</a:t>
            </a:r>
            <a:endParaRPr lang="en-US" sz="1050" b="0" u="none" strike="noStrike">
              <a:solidFill>
                <a:srgbClr val="000000"/>
              </a:solidFill>
              <a:effectLst/>
              <a:uFillTx/>
              <a:latin typeface="Arial"/>
            </a:endParaRPr>
          </a:p>
        </p:txBody>
      </p:sp>
      <p:sp>
        <p:nvSpPr>
          <p:cNvPr id="999" name="TextBox 17"/>
          <p:cNvSpPr/>
          <p:nvPr/>
        </p:nvSpPr>
        <p:spPr>
          <a:xfrm>
            <a:off x="7861680" y="2597040"/>
            <a:ext cx="21027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homomorphic evaluation</a:t>
            </a:r>
            <a:endParaRPr lang="en-US" sz="1050" b="0" u="none" strike="noStrike">
              <a:solidFill>
                <a:srgbClr val="000000"/>
              </a:solidFill>
              <a:effectLst/>
              <a:uFillTx/>
              <a:latin typeface="Arial"/>
            </a:endParaRPr>
          </a:p>
        </p:txBody>
      </p:sp>
      <p:sp>
        <p:nvSpPr>
          <p:cNvPr id="1000" name="TextBox 18"/>
          <p:cNvSpPr/>
          <p:nvPr/>
        </p:nvSpPr>
        <p:spPr>
          <a:xfrm>
            <a:off x="9964800" y="2597040"/>
            <a:ext cx="16596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1415 ms</a:t>
            </a:r>
            <a:endParaRPr lang="en-US" sz="1050" b="0" u="none" strike="noStrike">
              <a:solidFill>
                <a:srgbClr val="000000"/>
              </a:solidFill>
              <a:effectLst/>
              <a:uFillTx/>
              <a:latin typeface="Arial"/>
            </a:endParaRPr>
          </a:p>
        </p:txBody>
      </p:sp>
      <p:sp>
        <p:nvSpPr>
          <p:cNvPr id="1001" name="TextBox 19"/>
          <p:cNvSpPr/>
          <p:nvPr/>
        </p:nvSpPr>
        <p:spPr>
          <a:xfrm>
            <a:off x="7861680" y="2889360"/>
            <a:ext cx="21027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decrypt (client)</a:t>
            </a:r>
            <a:endParaRPr lang="en-US" sz="1050" b="0" u="none" strike="noStrike">
              <a:solidFill>
                <a:srgbClr val="000000"/>
              </a:solidFill>
              <a:effectLst/>
              <a:uFillTx/>
              <a:latin typeface="Arial"/>
            </a:endParaRPr>
          </a:p>
        </p:txBody>
      </p:sp>
      <p:sp>
        <p:nvSpPr>
          <p:cNvPr id="1002" name="TextBox 20"/>
          <p:cNvSpPr/>
          <p:nvPr/>
        </p:nvSpPr>
        <p:spPr>
          <a:xfrm>
            <a:off x="9964800" y="2889360"/>
            <a:ext cx="16596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1.73 ms</a:t>
            </a:r>
            <a:endParaRPr lang="en-US" sz="1050" b="0" u="none" strike="noStrike">
              <a:solidFill>
                <a:srgbClr val="000000"/>
              </a:solidFill>
              <a:effectLst/>
              <a:uFillTx/>
              <a:latin typeface="Arial"/>
            </a:endParaRPr>
          </a:p>
        </p:txBody>
      </p:sp>
      <p:sp>
        <p:nvSpPr>
          <p:cNvPr id="1003" name="TextBox 21"/>
          <p:cNvSpPr/>
          <p:nvPr/>
        </p:nvSpPr>
        <p:spPr>
          <a:xfrm>
            <a:off x="7861680" y="3182040"/>
            <a:ext cx="21027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ciphertext size</a:t>
            </a:r>
            <a:endParaRPr lang="en-US" sz="1050" b="0" u="none" strike="noStrike">
              <a:solidFill>
                <a:srgbClr val="000000"/>
              </a:solidFill>
              <a:effectLst/>
              <a:uFillTx/>
              <a:latin typeface="Arial"/>
            </a:endParaRPr>
          </a:p>
        </p:txBody>
      </p:sp>
      <p:sp>
        <p:nvSpPr>
          <p:cNvPr id="1004" name="TextBox 22"/>
          <p:cNvSpPr/>
          <p:nvPr/>
        </p:nvSpPr>
        <p:spPr>
          <a:xfrm>
            <a:off x="9964800" y="3182040"/>
            <a:ext cx="16596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836 KB</a:t>
            </a:r>
            <a:endParaRPr lang="en-US" sz="1050" b="0" u="none" strike="noStrike">
              <a:solidFill>
                <a:srgbClr val="000000"/>
              </a:solidFill>
              <a:effectLst/>
              <a:uFillTx/>
              <a:latin typeface="Arial"/>
            </a:endParaRPr>
          </a:p>
        </p:txBody>
      </p:sp>
      <p:sp>
        <p:nvSpPr>
          <p:cNvPr id="1005" name="TextBox 23"/>
          <p:cNvSpPr/>
          <p:nvPr/>
        </p:nvSpPr>
        <p:spPr>
          <a:xfrm>
            <a:off x="7861680" y="3474720"/>
            <a:ext cx="21027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expansion vs plaintext</a:t>
            </a:r>
            <a:endParaRPr lang="en-US" sz="1050" b="0" u="none" strike="noStrike">
              <a:solidFill>
                <a:srgbClr val="000000"/>
              </a:solidFill>
              <a:effectLst/>
              <a:uFillTx/>
              <a:latin typeface="Arial"/>
            </a:endParaRPr>
          </a:p>
        </p:txBody>
      </p:sp>
      <p:sp>
        <p:nvSpPr>
          <p:cNvPr id="1006" name="TextBox 24"/>
          <p:cNvSpPr/>
          <p:nvPr/>
        </p:nvSpPr>
        <p:spPr>
          <a:xfrm>
            <a:off x="9964800" y="3474720"/>
            <a:ext cx="16596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3342×</a:t>
            </a:r>
            <a:endParaRPr lang="en-US" sz="1050" b="0" u="none" strike="noStrike">
              <a:solidFill>
                <a:srgbClr val="000000"/>
              </a:solidFill>
              <a:effectLst/>
              <a:uFillTx/>
              <a:latin typeface="Arial"/>
            </a:endParaRPr>
          </a:p>
        </p:txBody>
      </p:sp>
      <p:sp>
        <p:nvSpPr>
          <p:cNvPr id="1007" name="TextBox 25"/>
          <p:cNvSpPr/>
          <p:nvPr/>
        </p:nvSpPr>
        <p:spPr>
          <a:xfrm>
            <a:off x="7861680" y="3767400"/>
            <a:ext cx="21027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server context (keys)</a:t>
            </a:r>
            <a:endParaRPr lang="en-US" sz="1050" b="0" u="none" strike="noStrike">
              <a:solidFill>
                <a:srgbClr val="000000"/>
              </a:solidFill>
              <a:effectLst/>
              <a:uFillTx/>
              <a:latin typeface="Arial"/>
            </a:endParaRPr>
          </a:p>
        </p:txBody>
      </p:sp>
      <p:sp>
        <p:nvSpPr>
          <p:cNvPr id="1008" name="TextBox 26"/>
          <p:cNvSpPr/>
          <p:nvPr/>
        </p:nvSpPr>
        <p:spPr>
          <a:xfrm>
            <a:off x="9964800" y="3767400"/>
            <a:ext cx="16596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122 MB</a:t>
            </a:r>
            <a:endParaRPr lang="en-US" sz="1050" b="0" u="none" strike="noStrike">
              <a:solidFill>
                <a:srgbClr val="000000"/>
              </a:solidFill>
              <a:effectLst/>
              <a:uFillTx/>
              <a:latin typeface="Arial"/>
            </a:endParaRPr>
          </a:p>
        </p:txBody>
      </p:sp>
      <p:sp>
        <p:nvSpPr>
          <p:cNvPr id="1009" name="TextBox 27"/>
          <p:cNvSpPr/>
          <p:nvPr/>
        </p:nvSpPr>
        <p:spPr>
          <a:xfrm>
            <a:off x="7861680" y="4060080"/>
            <a:ext cx="210276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F1F5F9"/>
                </a:solidFill>
                <a:effectLst/>
                <a:uFillTx/>
                <a:latin typeface="Inter"/>
              </a:rPr>
              <a:t>peak RSS</a:t>
            </a:r>
            <a:endParaRPr lang="en-US" sz="1050" b="0" u="none" strike="noStrike">
              <a:solidFill>
                <a:srgbClr val="000000"/>
              </a:solidFill>
              <a:effectLst/>
              <a:uFillTx/>
              <a:latin typeface="Arial"/>
            </a:endParaRPr>
          </a:p>
        </p:txBody>
      </p:sp>
      <p:sp>
        <p:nvSpPr>
          <p:cNvPr id="1010" name="TextBox 28"/>
          <p:cNvSpPr/>
          <p:nvPr/>
        </p:nvSpPr>
        <p:spPr>
          <a:xfrm>
            <a:off x="9964800" y="4060080"/>
            <a:ext cx="1659600" cy="29232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CBD5E1"/>
                </a:solidFill>
                <a:effectLst/>
                <a:uFillTx/>
                <a:latin typeface="Source Code Pro"/>
              </a:rPr>
              <a:t>1478 MB</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825" dur="indefinite" restart="never" nodeType="tmRoot">
          <p:childTnLst>
            <p:seq>
              <p:cTn id="826" dur="indefinite" nodeType="mainSeq">
                <p:childTnLst>
                  <p:par>
                    <p:cTn id="827" fill="hold">
                      <p:stCondLst>
                        <p:cond delay="indefinite"/>
                      </p:stCondLst>
                      <p:childTnLst>
                        <p:par>
                          <p:cTn id="828" fill="hold">
                            <p:stCondLst>
                              <p:cond delay="0"/>
                            </p:stCondLst>
                            <p:childTnLst>
                              <p:par>
                                <p:cTn id="829" presetID="10" presetClass="entr" fill="hold" nodeType="clickEffect">
                                  <p:stCondLst>
                                    <p:cond delay="0"/>
                                  </p:stCondLst>
                                  <p:childTnLst>
                                    <p:set>
                                      <p:cBhvr>
                                        <p:cTn id="830" dur="1" fill="hold">
                                          <p:stCondLst>
                                            <p:cond delay="0"/>
                                          </p:stCondLst>
                                        </p:cTn>
                                        <p:tgtEl>
                                          <p:spTgt spid="991"/>
                                        </p:tgtEl>
                                        <p:attrNameLst>
                                          <p:attrName>style.visibility</p:attrName>
                                        </p:attrNameLst>
                                      </p:cBhvr>
                                      <p:to>
                                        <p:strVal val="visible"/>
                                      </p:to>
                                    </p:set>
                                    <p:animEffect transition="in" filter="fade">
                                      <p:cBhvr additive="repl">
                                        <p:cTn id="831" dur="350"/>
                                        <p:tgtEl>
                                          <p:spTgt spid="991"/>
                                        </p:tgtEl>
                                      </p:cBhvr>
                                    </p:animEffect>
                                  </p:childTnLst>
                                </p:cTn>
                              </p:par>
                            </p:childTnLst>
                          </p:cTn>
                        </p:par>
                      </p:childTnLst>
                    </p:cTn>
                  </p:par>
                  <p:par>
                    <p:cTn id="832" fill="hold">
                      <p:stCondLst>
                        <p:cond delay="indefinite"/>
                      </p:stCondLst>
                      <p:childTnLst>
                        <p:par>
                          <p:cTn id="833" fill="hold">
                            <p:stCondLst>
                              <p:cond delay="0"/>
                            </p:stCondLst>
                            <p:childTnLst>
                              <p:par>
                                <p:cTn id="834" presetID="10" presetClass="entr" fill="hold" nodeType="afterEffect">
                                  <p:stCondLst>
                                    <p:cond delay="0"/>
                                  </p:stCondLst>
                                  <p:childTnLst>
                                    <p:set>
                                      <p:cBhvr>
                                        <p:cTn id="835" dur="1" fill="hold">
                                          <p:stCondLst>
                                            <p:cond delay="0"/>
                                          </p:stCondLst>
                                        </p:cTn>
                                        <p:tgtEl>
                                          <p:spTgt spid="994"/>
                                        </p:tgtEl>
                                        <p:attrNameLst>
                                          <p:attrName>style.visibility</p:attrName>
                                        </p:attrNameLst>
                                      </p:cBhvr>
                                      <p:to>
                                        <p:strVal val="visible"/>
                                      </p:to>
                                    </p:set>
                                    <p:animEffect transition="in" filter="fade">
                                      <p:cBhvr additive="repl">
                                        <p:cTn id="836" dur="350"/>
                                        <p:tgtEl>
                                          <p:spTgt spid="994"/>
                                        </p:tgtEl>
                                      </p:cBhvr>
                                    </p:animEffect>
                                  </p:childTnLst>
                                </p:cTn>
                              </p:par>
                            </p:childTnLst>
                          </p:cTn>
                        </p:par>
                      </p:childTnLst>
                    </p:cTn>
                  </p:par>
                  <p:par>
                    <p:cTn id="837" fill="hold">
                      <p:stCondLst>
                        <p:cond delay="indefinite"/>
                      </p:stCondLst>
                      <p:childTnLst>
                        <p:par>
                          <p:cTn id="838" fill="hold">
                            <p:stCondLst>
                              <p:cond delay="0"/>
                            </p:stCondLst>
                            <p:childTnLst>
                              <p:par>
                                <p:cTn id="839" presetID="10" presetClass="entr" fill="hold" nodeType="afterEffect">
                                  <p:stCondLst>
                                    <p:cond delay="0"/>
                                  </p:stCondLst>
                                  <p:childTnLst>
                                    <p:set>
                                      <p:cBhvr>
                                        <p:cTn id="840" dur="1" fill="hold">
                                          <p:stCondLst>
                                            <p:cond delay="0"/>
                                          </p:stCondLst>
                                        </p:cTn>
                                        <p:tgtEl>
                                          <p:spTgt spid="995"/>
                                        </p:tgtEl>
                                        <p:attrNameLst>
                                          <p:attrName>style.visibility</p:attrName>
                                        </p:attrNameLst>
                                      </p:cBhvr>
                                      <p:to>
                                        <p:strVal val="visible"/>
                                      </p:to>
                                    </p:set>
                                    <p:animEffect transition="in" filter="fade">
                                      <p:cBhvr additive="repl">
                                        <p:cTn id="841" dur="350"/>
                                        <p:tgtEl>
                                          <p:spTgt spid="995"/>
                                        </p:tgtEl>
                                      </p:cBhvr>
                                    </p:animEffect>
                                  </p:childTnLst>
                                </p:cTn>
                              </p:par>
                            </p:childTnLst>
                          </p:cTn>
                        </p:par>
                      </p:childTnLst>
                    </p:cTn>
                  </p:par>
                  <p:par>
                    <p:cTn id="842" fill="hold">
                      <p:stCondLst>
                        <p:cond delay="indefinite"/>
                      </p:stCondLst>
                      <p:childTnLst>
                        <p:par>
                          <p:cTn id="843" fill="hold">
                            <p:stCondLst>
                              <p:cond delay="0"/>
                            </p:stCondLst>
                            <p:childTnLst>
                              <p:par>
                                <p:cTn id="844" presetID="10" presetClass="entr" fill="hold" nodeType="afterEffect">
                                  <p:stCondLst>
                                    <p:cond delay="0"/>
                                  </p:stCondLst>
                                  <p:childTnLst>
                                    <p:set>
                                      <p:cBhvr>
                                        <p:cTn id="845" dur="1" fill="hold">
                                          <p:stCondLst>
                                            <p:cond delay="0"/>
                                          </p:stCondLst>
                                        </p:cTn>
                                        <p:tgtEl>
                                          <p:spTgt spid="996"/>
                                        </p:tgtEl>
                                        <p:attrNameLst>
                                          <p:attrName>style.visibility</p:attrName>
                                        </p:attrNameLst>
                                      </p:cBhvr>
                                      <p:to>
                                        <p:strVal val="visible"/>
                                      </p:to>
                                    </p:set>
                                    <p:animEffect transition="in" filter="fade">
                                      <p:cBhvr additive="repl">
                                        <p:cTn id="846" dur="350"/>
                                        <p:tgtEl>
                                          <p:spTgt spid="996"/>
                                        </p:tgtEl>
                                      </p:cBhvr>
                                    </p:animEffect>
                                  </p:childTnLst>
                                </p:cTn>
                              </p:par>
                            </p:childTnLst>
                          </p:cTn>
                        </p:par>
                      </p:childTnLst>
                    </p:cTn>
                  </p:par>
                  <p:par>
                    <p:cTn id="847" fill="hold">
                      <p:stCondLst>
                        <p:cond delay="indefinite"/>
                      </p:stCondLst>
                      <p:childTnLst>
                        <p:par>
                          <p:cTn id="848" fill="hold">
                            <p:stCondLst>
                              <p:cond delay="0"/>
                            </p:stCondLst>
                            <p:childTnLst>
                              <p:par>
                                <p:cTn id="849" presetID="10" presetClass="entr" fill="hold" nodeType="afterEffect">
                                  <p:stCondLst>
                                    <p:cond delay="0"/>
                                  </p:stCondLst>
                                  <p:childTnLst>
                                    <p:set>
                                      <p:cBhvr>
                                        <p:cTn id="850" dur="1" fill="hold">
                                          <p:stCondLst>
                                            <p:cond delay="0"/>
                                          </p:stCondLst>
                                        </p:cTn>
                                        <p:tgtEl>
                                          <p:spTgt spid="997"/>
                                        </p:tgtEl>
                                        <p:attrNameLst>
                                          <p:attrName>style.visibility</p:attrName>
                                        </p:attrNameLst>
                                      </p:cBhvr>
                                      <p:to>
                                        <p:strVal val="visible"/>
                                      </p:to>
                                    </p:set>
                                    <p:animEffect transition="in" filter="fade">
                                      <p:cBhvr additive="repl">
                                        <p:cTn id="851" dur="350"/>
                                        <p:tgtEl>
                                          <p:spTgt spid="997"/>
                                        </p:tgtEl>
                                      </p:cBhvr>
                                    </p:animEffect>
                                  </p:childTnLst>
                                </p:cTn>
                              </p:par>
                            </p:childTnLst>
                          </p:cTn>
                        </p:par>
                      </p:childTnLst>
                    </p:cTn>
                  </p:par>
                  <p:par>
                    <p:cTn id="852" fill="hold">
                      <p:stCondLst>
                        <p:cond delay="indefinite"/>
                      </p:stCondLst>
                      <p:childTnLst>
                        <p:par>
                          <p:cTn id="853" fill="hold">
                            <p:stCondLst>
                              <p:cond delay="0"/>
                            </p:stCondLst>
                            <p:childTnLst>
                              <p:par>
                                <p:cTn id="854" presetID="10" presetClass="entr" fill="hold" nodeType="afterEffect">
                                  <p:stCondLst>
                                    <p:cond delay="0"/>
                                  </p:stCondLst>
                                  <p:childTnLst>
                                    <p:set>
                                      <p:cBhvr>
                                        <p:cTn id="855" dur="1" fill="hold">
                                          <p:stCondLst>
                                            <p:cond delay="0"/>
                                          </p:stCondLst>
                                        </p:cTn>
                                        <p:tgtEl>
                                          <p:spTgt spid="998"/>
                                        </p:tgtEl>
                                        <p:attrNameLst>
                                          <p:attrName>style.visibility</p:attrName>
                                        </p:attrNameLst>
                                      </p:cBhvr>
                                      <p:to>
                                        <p:strVal val="visible"/>
                                      </p:to>
                                    </p:set>
                                    <p:animEffect transition="in" filter="fade">
                                      <p:cBhvr additive="repl">
                                        <p:cTn id="856" dur="350"/>
                                        <p:tgtEl>
                                          <p:spTgt spid="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1"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12"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Compression Trade-off</a:t>
            </a:r>
            <a:endParaRPr lang="en-US" sz="2700" b="0" u="none" strike="noStrike">
              <a:solidFill>
                <a:srgbClr val="000000"/>
              </a:solidFill>
              <a:effectLst/>
              <a:uFillTx/>
              <a:latin typeface="Arial"/>
            </a:endParaRPr>
          </a:p>
        </p:txBody>
      </p:sp>
      <p:sp>
        <p:nvSpPr>
          <p:cNvPr id="1013"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The compressed width d is the lever between accuracy and encrypted cost</a:t>
            </a:r>
            <a:endParaRPr lang="en-US" sz="1300" b="0" u="none" strike="noStrike">
              <a:solidFill>
                <a:srgbClr val="000000"/>
              </a:solidFill>
              <a:effectLst/>
              <a:uFillTx/>
              <a:latin typeface="Arial"/>
            </a:endParaRPr>
          </a:p>
        </p:txBody>
      </p:sp>
      <p:sp>
        <p:nvSpPr>
          <p:cNvPr id="1014"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015"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16" name="Rectangle 6"/>
          <p:cNvSpPr/>
          <p:nvPr/>
        </p:nvSpPr>
        <p:spPr>
          <a:xfrm>
            <a:off x="567000" y="6226920"/>
            <a:ext cx="969948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17"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018"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50</a:t>
            </a:r>
            <a:endParaRPr lang="en-US" sz="900" b="0" u="none" strike="noStrike">
              <a:solidFill>
                <a:srgbClr val="000000"/>
              </a:solidFill>
              <a:effectLst/>
              <a:uFillTx/>
              <a:latin typeface="Arial"/>
            </a:endParaRPr>
          </a:p>
        </p:txBody>
      </p:sp>
      <p:pic>
        <p:nvPicPr>
          <p:cNvPr id="1019" name="Picture 9" descr="compression_tradeoff_1734.png"/>
          <p:cNvPicPr/>
          <p:nvPr/>
        </p:nvPicPr>
        <p:blipFill>
          <a:blip r:embed="rId1"/>
          <a:stretch/>
        </p:blipFill>
        <p:spPr>
          <a:xfrm>
            <a:off x="811800" y="1627560"/>
            <a:ext cx="10567800" cy="4023000"/>
          </a:xfrm>
          <a:prstGeom prst="rect">
            <a:avLst/>
          </a:prstGeom>
          <a:noFill/>
          <a:ln w="0">
            <a:noFill/>
          </a:ln>
        </p:spPr>
      </p:pic>
      <p:sp>
        <p:nvSpPr>
          <p:cNvPr id="1020" name="TextBox 10"/>
          <p:cNvSpPr/>
          <p:nvPr/>
        </p:nvSpPr>
        <p:spPr>
          <a:xfrm>
            <a:off x="567000" y="5760720"/>
            <a:ext cx="11057400" cy="456840"/>
          </a:xfrm>
          <a:prstGeom prst="rect">
            <a:avLst/>
          </a:prstGeom>
          <a:noFill/>
          <a:ln w="0">
            <a:noFill/>
          </a:ln>
        </p:spPr>
        <p:style>
          <a:lnRef idx="0"/>
          <a:fillRef idx="0"/>
          <a:effectRef idx="0"/>
          <a:fontRef idx="minor"/>
        </p:style>
        <p:txBody>
          <a:bodyPr lIns="0" tIns="0" rIns="0" bIns="0" anchor="t">
            <a:spAutoFit/>
          </a:bodyPr>
          <a:p>
            <a:pPr defTabSz="457200">
              <a:lnSpc>
                <a:spcPct val="120000"/>
              </a:lnSpc>
              <a:spcAft>
                <a:spcPts val="400"/>
              </a:spcAft>
            </a:pPr>
            <a:r>
              <a:rPr lang="en-US" sz="1050" b="0" i="1" u="none" strike="noStrike">
                <a:solidFill>
                  <a:srgbClr val="94A3B8"/>
                </a:solidFill>
                <a:effectLst/>
                <a:uFillTx/>
                <a:latin typeface="Inter"/>
              </a:rPr>
              <a:t>Accuracy here is measured in the reduced-data regime, where the dimensions are separable at all; at full training size they all sit at ceiling. Latency depends only on d and is independent of the training regime.</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857" dur="indefinite" restart="never" nodeType="tmRoot">
          <p:childTnLst>
            <p:seq>
              <p:cTn id="858" dur="indefinite" nodeType="mainSeq">
                <p:childTnLst>
                  <p:par>
                    <p:cTn id="859" fill="hold">
                      <p:stCondLst>
                        <p:cond delay="indefinite"/>
                      </p:stCondLst>
                      <p:childTnLst>
                        <p:par>
                          <p:cTn id="860" fill="hold">
                            <p:stCondLst>
                              <p:cond delay="0"/>
                            </p:stCondLst>
                            <p:childTnLst>
                              <p:par>
                                <p:cTn id="861" presetID="10" presetClass="entr" fill="hold" nodeType="clickEffect">
                                  <p:stCondLst>
                                    <p:cond delay="0"/>
                                  </p:stCondLst>
                                  <p:childTnLst>
                                    <p:set>
                                      <p:cBhvr>
                                        <p:cTn id="862" dur="1" fill="hold">
                                          <p:stCondLst>
                                            <p:cond delay="0"/>
                                          </p:stCondLst>
                                        </p:cTn>
                                        <p:tgtEl>
                                          <p:spTgt spid="1020"/>
                                        </p:tgtEl>
                                        <p:attrNameLst>
                                          <p:attrName>style.visibility</p:attrName>
                                        </p:attrNameLst>
                                      </p:cBhvr>
                                      <p:to>
                                        <p:strVal val="visible"/>
                                      </p:to>
                                    </p:set>
                                    <p:animEffect transition="in" filter="fade">
                                      <p:cBhvr additive="repl">
                                        <p:cTn id="863" dur="350"/>
                                        <p:tgtEl>
                                          <p:spTgt spid="10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22"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Threat Model  ·  what is and is not protected</a:t>
            </a:r>
            <a:endParaRPr lang="en-US" sz="2700" b="0" u="none" strike="noStrike">
              <a:solidFill>
                <a:srgbClr val="000000"/>
              </a:solidFill>
              <a:effectLst/>
              <a:uFillTx/>
              <a:latin typeface="Arial"/>
            </a:endParaRPr>
          </a:p>
        </p:txBody>
      </p:sp>
      <p:sp>
        <p:nvSpPr>
          <p:cNvPr id="1023"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The comparison with the base paper is not like-for-like, and we do not present it as such</a:t>
            </a:r>
            <a:endParaRPr lang="en-US" sz="1300" b="0" u="none" strike="noStrike">
              <a:solidFill>
                <a:srgbClr val="000000"/>
              </a:solidFill>
              <a:effectLst/>
              <a:uFillTx/>
              <a:latin typeface="Arial"/>
            </a:endParaRPr>
          </a:p>
        </p:txBody>
      </p:sp>
      <p:sp>
        <p:nvSpPr>
          <p:cNvPr id="1024"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025"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26" name="Rectangle 6"/>
          <p:cNvSpPr/>
          <p:nvPr/>
        </p:nvSpPr>
        <p:spPr>
          <a:xfrm>
            <a:off x="567000" y="6226920"/>
            <a:ext cx="98935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27"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028"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51</a:t>
            </a:r>
            <a:endParaRPr lang="en-US" sz="900" b="0" u="none" strike="noStrike">
              <a:solidFill>
                <a:srgbClr val="000000"/>
              </a:solidFill>
              <a:effectLst/>
              <a:uFillTx/>
              <a:latin typeface="Arial"/>
            </a:endParaRPr>
          </a:p>
        </p:txBody>
      </p:sp>
      <p:sp>
        <p:nvSpPr>
          <p:cNvPr id="1029" name="TextBox 9"/>
          <p:cNvSpPr/>
          <p:nvPr/>
        </p:nvSpPr>
        <p:spPr>
          <a:xfrm>
            <a:off x="567000" y="1627560"/>
            <a:ext cx="52592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0CA30C"/>
                </a:solidFill>
                <a:effectLst/>
                <a:uFillTx/>
                <a:latin typeface="Inter"/>
              </a:rPr>
              <a:t>PROTECTED</a:t>
            </a:r>
            <a:endParaRPr lang="en-US" sz="1100" b="0" u="none" strike="noStrike">
              <a:solidFill>
                <a:srgbClr val="000000"/>
              </a:solidFill>
              <a:effectLst/>
              <a:uFillTx/>
              <a:latin typeface="Arial"/>
            </a:endParaRPr>
          </a:p>
        </p:txBody>
      </p:sp>
      <p:sp>
        <p:nvSpPr>
          <p:cNvPr id="1030" name="TextBox 10"/>
          <p:cNvSpPr/>
          <p:nvPr/>
        </p:nvSpPr>
        <p:spPr>
          <a:xfrm>
            <a:off x="567000" y="2011680"/>
            <a:ext cx="5259240" cy="237708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150" b="1" u="none" strike="noStrike">
                <a:solidFill>
                  <a:srgbClr val="0CA30C"/>
                </a:solidFill>
                <a:effectLst/>
                <a:uFillTx/>
                <a:latin typeface="Inter"/>
              </a:rPr>
              <a:t>— </a:t>
            </a:r>
            <a:r>
              <a:rPr lang="en-US" sz="1150" b="0" u="none" strike="noStrike">
                <a:solidFill>
                  <a:srgbClr val="CBD5E1"/>
                </a:solidFill>
                <a:effectLst/>
                <a:uFillTx/>
                <a:latin typeface="Inter"/>
              </a:rPr>
              <a:t>The feature vector in transit and at rest on the server.</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0CA30C"/>
                </a:solidFill>
                <a:effectLst/>
                <a:uFillTx/>
                <a:latin typeface="Inter"/>
              </a:rPr>
              <a:t>— </a:t>
            </a:r>
            <a:r>
              <a:rPr lang="en-US" sz="1150" b="0" u="none" strike="noStrike">
                <a:solidFill>
                  <a:srgbClr val="CBD5E1"/>
                </a:solidFill>
                <a:effectLst/>
                <a:uFillTx/>
                <a:latin typeface="Inter"/>
              </a:rPr>
              <a:t>The prediction: the server returns ciphertext it cannot read.</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0CA30C"/>
                </a:solidFill>
                <a:effectLst/>
                <a:uFillTx/>
                <a:latin typeface="Inter"/>
              </a:rPr>
              <a:t>— </a:t>
            </a:r>
            <a:r>
              <a:rPr lang="en-US" sz="1150" b="0" u="none" strike="noStrike">
                <a:solidFill>
                  <a:srgbClr val="CBD5E1"/>
                </a:solidFill>
                <a:effectLst/>
                <a:uFillTx/>
                <a:latin typeface="Inter"/>
              </a:rPr>
              <a:t>The secret key never leaves the client — asserted by test, not by assumption.</a:t>
            </a:r>
            <a:endParaRPr lang="en-US" sz="1150" b="0" u="none" strike="noStrike">
              <a:solidFill>
                <a:srgbClr val="000000"/>
              </a:solidFill>
              <a:effectLst/>
              <a:uFillTx/>
              <a:latin typeface="Arial"/>
            </a:endParaRPr>
          </a:p>
        </p:txBody>
      </p:sp>
      <p:sp>
        <p:nvSpPr>
          <p:cNvPr id="1031" name="TextBox 11"/>
          <p:cNvSpPr/>
          <p:nvPr/>
        </p:nvSpPr>
        <p:spPr>
          <a:xfrm>
            <a:off x="6365160" y="1627560"/>
            <a:ext cx="52592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D03B3B"/>
                </a:solidFill>
                <a:effectLst/>
                <a:uFillTx/>
                <a:latin typeface="Inter"/>
              </a:rPr>
              <a:t>NOT PROTECTED</a:t>
            </a:r>
            <a:endParaRPr lang="en-US" sz="1100" b="0" u="none" strike="noStrike">
              <a:solidFill>
                <a:srgbClr val="000000"/>
              </a:solidFill>
              <a:effectLst/>
              <a:uFillTx/>
              <a:latin typeface="Arial"/>
            </a:endParaRPr>
          </a:p>
        </p:txBody>
      </p:sp>
      <p:sp>
        <p:nvSpPr>
          <p:cNvPr id="1032" name="TextBox 12"/>
          <p:cNvSpPr/>
          <p:nvPr/>
        </p:nvSpPr>
        <p:spPr>
          <a:xfrm>
            <a:off x="6365160" y="2011680"/>
            <a:ext cx="5259240" cy="292572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150" b="1" u="none" strike="noStrike">
                <a:solidFill>
                  <a:srgbClr val="D03B3B"/>
                </a:solidFill>
                <a:effectLst/>
                <a:uFillTx/>
                <a:latin typeface="Inter"/>
              </a:rPr>
              <a:t>— </a:t>
            </a:r>
            <a:r>
              <a:rPr lang="en-US" sz="1150" b="0" u="none" strike="noStrike">
                <a:solidFill>
                  <a:srgbClr val="CBD5E1"/>
                </a:solidFill>
                <a:effectLst/>
                <a:uFillTx/>
                <a:latin typeface="Inter"/>
              </a:rPr>
              <a:t>The client must run and therefore hold the feature extractor — unlike the base paper, where the client does little work.</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D03B3B"/>
                </a:solidFill>
                <a:effectLst/>
                <a:uFillTx/>
                <a:latin typeface="Inter"/>
              </a:rPr>
              <a:t>— </a:t>
            </a:r>
            <a:r>
              <a:rPr lang="en-US" sz="1150" b="0" u="none" strike="noStrike">
                <a:solidFill>
                  <a:srgbClr val="CBD5E1"/>
                </a:solidFill>
                <a:effectLst/>
                <a:uFillTx/>
                <a:latin typeface="Inter"/>
              </a:rPr>
              <a:t>Circuit privacy: an adaptive client could learn about the server's weights. Noise flooding is not implemented.</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D03B3B"/>
                </a:solidFill>
                <a:effectLst/>
                <a:uFillTx/>
                <a:latin typeface="Inter"/>
              </a:rPr>
              <a:t>— </a:t>
            </a:r>
            <a:r>
              <a:rPr lang="en-US" sz="1150" b="0" u="none" strike="noStrike">
                <a:solidFill>
                  <a:srgbClr val="CBD5E1"/>
                </a:solidFill>
                <a:effectLst/>
                <a:uFillTx/>
                <a:latin typeface="Inter"/>
              </a:rPr>
              <a:t>The compressed vector is a lossy but real function of the image; we do not claim it is a formal privacy bound.</a:t>
            </a:r>
            <a:endParaRPr lang="en-US" sz="1150" b="0" u="none" strike="noStrike">
              <a:solidFill>
                <a:srgbClr val="000000"/>
              </a:solidFill>
              <a:effectLst/>
              <a:uFillTx/>
              <a:latin typeface="Arial"/>
            </a:endParaRPr>
          </a:p>
        </p:txBody>
      </p:sp>
      <p:sp>
        <p:nvSpPr>
          <p:cNvPr id="1033" name="Rounded Rectangle 13"/>
          <p:cNvSpPr/>
          <p:nvPr/>
        </p:nvSpPr>
        <p:spPr>
          <a:xfrm>
            <a:off x="567000" y="4736520"/>
            <a:ext cx="11057400" cy="86832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34" name="Rectangle 14"/>
          <p:cNvSpPr/>
          <p:nvPr/>
        </p:nvSpPr>
        <p:spPr>
          <a:xfrm>
            <a:off x="567000" y="4736520"/>
            <a:ext cx="40680" cy="86832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35" name="TextBox 15"/>
          <p:cNvSpPr/>
          <p:nvPr/>
        </p:nvSpPr>
        <p:spPr>
          <a:xfrm>
            <a:off x="786240" y="4873680"/>
            <a:ext cx="1063692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Honest summary</a:t>
            </a:r>
            <a:endParaRPr lang="en-US" sz="1150" b="0" u="none" strike="noStrike">
              <a:solidFill>
                <a:srgbClr val="000000"/>
              </a:solidFill>
              <a:effectLst/>
              <a:uFillTx/>
              <a:latin typeface="Arial"/>
            </a:endParaRPr>
          </a:p>
        </p:txBody>
      </p:sp>
      <p:sp>
        <p:nvSpPr>
          <p:cNvPr id="1036" name="TextBox 16"/>
          <p:cNvSpPr/>
          <p:nvPr/>
        </p:nvSpPr>
        <p:spPr>
          <a:xfrm>
            <a:off x="786240" y="5212080"/>
            <a:ext cx="10636920" cy="24660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SAGE-HE protects the server side of the boundary. Jia et al. aim to protect the image itself. Ours is cheaper and exact; theirs is a stronger goal. These are different trade-offs, not a ranking.</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864" dur="indefinite" restart="never" nodeType="tmRoot">
          <p:childTnLst>
            <p:seq>
              <p:cTn id="865" dur="indefinite" nodeType="mainSeq">
                <p:childTnLst>
                  <p:par>
                    <p:cTn id="866" fill="hold">
                      <p:stCondLst>
                        <p:cond delay="indefinite"/>
                      </p:stCondLst>
                      <p:childTnLst>
                        <p:par>
                          <p:cTn id="867" fill="hold">
                            <p:stCondLst>
                              <p:cond delay="0"/>
                            </p:stCondLst>
                            <p:childTnLst>
                              <p:par>
                                <p:cTn id="868" presetID="10" presetClass="entr" fill="hold" nodeType="clickEffect">
                                  <p:stCondLst>
                                    <p:cond delay="0"/>
                                  </p:stCondLst>
                                  <p:childTnLst>
                                    <p:set>
                                      <p:cBhvr>
                                        <p:cTn id="869" dur="1" fill="hold">
                                          <p:stCondLst>
                                            <p:cond delay="0"/>
                                          </p:stCondLst>
                                        </p:cTn>
                                        <p:tgtEl>
                                          <p:spTgt spid="1030"/>
                                        </p:tgtEl>
                                        <p:attrNameLst>
                                          <p:attrName>style.visibility</p:attrName>
                                        </p:attrNameLst>
                                      </p:cBhvr>
                                      <p:to>
                                        <p:strVal val="visible"/>
                                      </p:to>
                                    </p:set>
                                    <p:animEffect transition="in" filter="fade">
                                      <p:cBhvr additive="repl">
                                        <p:cTn id="870" dur="350"/>
                                        <p:tgtEl>
                                          <p:spTgt spid="1030"/>
                                        </p:tgtEl>
                                      </p:cBhvr>
                                    </p:animEffect>
                                  </p:childTnLst>
                                </p:cTn>
                              </p:par>
                            </p:childTnLst>
                          </p:cTn>
                        </p:par>
                      </p:childTnLst>
                    </p:cTn>
                  </p:par>
                  <p:par>
                    <p:cTn id="871" fill="hold">
                      <p:stCondLst>
                        <p:cond delay="indefinite"/>
                      </p:stCondLst>
                      <p:childTnLst>
                        <p:par>
                          <p:cTn id="872" fill="hold">
                            <p:stCondLst>
                              <p:cond delay="0"/>
                            </p:stCondLst>
                            <p:childTnLst>
                              <p:par>
                                <p:cTn id="873" presetID="10" presetClass="entr" fill="hold" nodeType="afterEffect">
                                  <p:stCondLst>
                                    <p:cond delay="0"/>
                                  </p:stCondLst>
                                  <p:childTnLst>
                                    <p:set>
                                      <p:cBhvr>
                                        <p:cTn id="874" dur="1" fill="hold">
                                          <p:stCondLst>
                                            <p:cond delay="0"/>
                                          </p:stCondLst>
                                        </p:cTn>
                                        <p:tgtEl>
                                          <p:spTgt spid="1032"/>
                                        </p:tgtEl>
                                        <p:attrNameLst>
                                          <p:attrName>style.visibility</p:attrName>
                                        </p:attrNameLst>
                                      </p:cBhvr>
                                      <p:to>
                                        <p:strVal val="visible"/>
                                      </p:to>
                                    </p:set>
                                    <p:animEffect transition="in" filter="fade">
                                      <p:cBhvr additive="repl">
                                        <p:cTn id="875" dur="350"/>
                                        <p:tgtEl>
                                          <p:spTgt spid="1032"/>
                                        </p:tgtEl>
                                      </p:cBhvr>
                                    </p:animEffect>
                                  </p:childTnLst>
                                </p:cTn>
                              </p:par>
                            </p:childTnLst>
                          </p:cTn>
                        </p:par>
                      </p:childTnLst>
                    </p:cTn>
                  </p:par>
                  <p:par>
                    <p:cTn id="876" fill="hold">
                      <p:stCondLst>
                        <p:cond delay="indefinite"/>
                      </p:stCondLst>
                      <p:childTnLst>
                        <p:par>
                          <p:cTn id="877" fill="hold">
                            <p:stCondLst>
                              <p:cond delay="0"/>
                            </p:stCondLst>
                            <p:childTnLst>
                              <p:par>
                                <p:cTn id="878" presetID="10" presetClass="entr" fill="hold" nodeType="afterEffect">
                                  <p:stCondLst>
                                    <p:cond delay="0"/>
                                  </p:stCondLst>
                                  <p:childTnLst>
                                    <p:set>
                                      <p:cBhvr>
                                        <p:cTn id="879" dur="1" fill="hold">
                                          <p:stCondLst>
                                            <p:cond delay="0"/>
                                          </p:stCondLst>
                                        </p:cTn>
                                        <p:tgtEl>
                                          <p:spTgt spid="1033"/>
                                        </p:tgtEl>
                                        <p:attrNameLst>
                                          <p:attrName>style.visibility</p:attrName>
                                        </p:attrNameLst>
                                      </p:cBhvr>
                                      <p:to>
                                        <p:strVal val="visible"/>
                                      </p:to>
                                    </p:set>
                                    <p:animEffect transition="in" filter="fade">
                                      <p:cBhvr additive="repl">
                                        <p:cTn id="880" dur="350"/>
                                        <p:tgtEl>
                                          <p:spTgt spid="1033"/>
                                        </p:tgtEl>
                                      </p:cBhvr>
                                    </p:animEffect>
                                  </p:childTnLst>
                                </p:cTn>
                              </p:par>
                            </p:childTnLst>
                          </p:cTn>
                        </p:par>
                      </p:childTnLst>
                    </p:cTn>
                  </p:par>
                  <p:par>
                    <p:cTn id="881" fill="hold">
                      <p:stCondLst>
                        <p:cond delay="indefinite"/>
                      </p:stCondLst>
                      <p:childTnLst>
                        <p:par>
                          <p:cTn id="882" fill="hold">
                            <p:stCondLst>
                              <p:cond delay="0"/>
                            </p:stCondLst>
                            <p:childTnLst>
                              <p:par>
                                <p:cTn id="883" presetID="10" presetClass="entr" fill="hold" nodeType="afterEffect">
                                  <p:stCondLst>
                                    <p:cond delay="0"/>
                                  </p:stCondLst>
                                  <p:childTnLst>
                                    <p:set>
                                      <p:cBhvr>
                                        <p:cTn id="884" dur="1" fill="hold">
                                          <p:stCondLst>
                                            <p:cond delay="0"/>
                                          </p:stCondLst>
                                        </p:cTn>
                                        <p:tgtEl>
                                          <p:spTgt spid="1034"/>
                                        </p:tgtEl>
                                        <p:attrNameLst>
                                          <p:attrName>style.visibility</p:attrName>
                                        </p:attrNameLst>
                                      </p:cBhvr>
                                      <p:to>
                                        <p:strVal val="visible"/>
                                      </p:to>
                                    </p:set>
                                    <p:animEffect transition="in" filter="fade">
                                      <p:cBhvr additive="repl">
                                        <p:cTn id="885" dur="350"/>
                                        <p:tgtEl>
                                          <p:spTgt spid="1034"/>
                                        </p:tgtEl>
                                      </p:cBhvr>
                                    </p:animEffect>
                                  </p:childTnLst>
                                </p:cTn>
                              </p:par>
                            </p:childTnLst>
                          </p:cTn>
                        </p:par>
                      </p:childTnLst>
                    </p:cTn>
                  </p:par>
                  <p:par>
                    <p:cTn id="886" fill="hold">
                      <p:stCondLst>
                        <p:cond delay="indefinite"/>
                      </p:stCondLst>
                      <p:childTnLst>
                        <p:par>
                          <p:cTn id="887" fill="hold">
                            <p:stCondLst>
                              <p:cond delay="0"/>
                            </p:stCondLst>
                            <p:childTnLst>
                              <p:par>
                                <p:cTn id="888" presetID="10" presetClass="entr" fill="hold" nodeType="afterEffect">
                                  <p:stCondLst>
                                    <p:cond delay="0"/>
                                  </p:stCondLst>
                                  <p:childTnLst>
                                    <p:set>
                                      <p:cBhvr>
                                        <p:cTn id="889" dur="1" fill="hold">
                                          <p:stCondLst>
                                            <p:cond delay="0"/>
                                          </p:stCondLst>
                                        </p:cTn>
                                        <p:tgtEl>
                                          <p:spTgt spid="1035"/>
                                        </p:tgtEl>
                                        <p:attrNameLst>
                                          <p:attrName>style.visibility</p:attrName>
                                        </p:attrNameLst>
                                      </p:cBhvr>
                                      <p:to>
                                        <p:strVal val="visible"/>
                                      </p:to>
                                    </p:set>
                                    <p:animEffect transition="in" filter="fade">
                                      <p:cBhvr additive="repl">
                                        <p:cTn id="890" dur="350"/>
                                        <p:tgtEl>
                                          <p:spTgt spid="1035"/>
                                        </p:tgtEl>
                                      </p:cBhvr>
                                    </p:animEffect>
                                  </p:childTnLst>
                                </p:cTn>
                              </p:par>
                            </p:childTnLst>
                          </p:cTn>
                        </p:par>
                      </p:childTnLst>
                    </p:cTn>
                  </p:par>
                  <p:par>
                    <p:cTn id="891" fill="hold">
                      <p:stCondLst>
                        <p:cond delay="indefinite"/>
                      </p:stCondLst>
                      <p:childTnLst>
                        <p:par>
                          <p:cTn id="892" fill="hold">
                            <p:stCondLst>
                              <p:cond delay="0"/>
                            </p:stCondLst>
                            <p:childTnLst>
                              <p:par>
                                <p:cTn id="893" presetID="10" presetClass="entr" fill="hold" nodeType="afterEffect">
                                  <p:stCondLst>
                                    <p:cond delay="0"/>
                                  </p:stCondLst>
                                  <p:childTnLst>
                                    <p:set>
                                      <p:cBhvr>
                                        <p:cTn id="894" dur="1" fill="hold">
                                          <p:stCondLst>
                                            <p:cond delay="0"/>
                                          </p:stCondLst>
                                        </p:cTn>
                                        <p:tgtEl>
                                          <p:spTgt spid="1036"/>
                                        </p:tgtEl>
                                        <p:attrNameLst>
                                          <p:attrName>style.visibility</p:attrName>
                                        </p:attrNameLst>
                                      </p:cBhvr>
                                      <p:to>
                                        <p:strVal val="visible"/>
                                      </p:to>
                                    </p:set>
                                    <p:animEffect transition="in" filter="fade">
                                      <p:cBhvr additive="repl">
                                        <p:cTn id="895" dur="350"/>
                                        <p:tgtEl>
                                          <p:spTgt spid="10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38"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Explainable AI  ·  Grad-CAM and chunk attention</a:t>
            </a:r>
            <a:endParaRPr lang="en-US" sz="2700" b="0" u="none" strike="noStrike">
              <a:solidFill>
                <a:srgbClr val="000000"/>
              </a:solidFill>
              <a:effectLst/>
              <a:uFillTx/>
              <a:latin typeface="Arial"/>
            </a:endParaRPr>
          </a:p>
        </p:txBody>
      </p:sp>
      <p:sp>
        <p:nvSpPr>
          <p:cNvPr id="1039"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040"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41" name="Rectangle 5"/>
          <p:cNvSpPr/>
          <p:nvPr/>
        </p:nvSpPr>
        <p:spPr>
          <a:xfrm>
            <a:off x="567000" y="6226920"/>
            <a:ext cx="100875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42"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043"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52</a:t>
            </a:r>
            <a:endParaRPr lang="en-US" sz="900" b="0" u="none" strike="noStrike">
              <a:solidFill>
                <a:srgbClr val="000000"/>
              </a:solidFill>
              <a:effectLst/>
              <a:uFillTx/>
              <a:latin typeface="Arial"/>
            </a:endParaRPr>
          </a:p>
        </p:txBody>
      </p:sp>
      <p:pic>
        <p:nvPicPr>
          <p:cNvPr id="1044" name="Picture 8" descr="gradcam_per_class_1187.png"/>
          <p:cNvPicPr/>
          <p:nvPr/>
        </p:nvPicPr>
        <p:blipFill>
          <a:blip r:embed="rId1"/>
          <a:stretch/>
        </p:blipFill>
        <p:spPr>
          <a:xfrm>
            <a:off x="2478600" y="1627560"/>
            <a:ext cx="7234200" cy="3840120"/>
          </a:xfrm>
          <a:prstGeom prst="rect">
            <a:avLst/>
          </a:prstGeom>
          <a:noFill/>
          <a:ln w="0">
            <a:noFill/>
          </a:ln>
        </p:spPr>
      </p:pic>
      <p:sp>
        <p:nvSpPr>
          <p:cNvPr id="1045" name="TextBox 9"/>
          <p:cNvSpPr/>
          <p:nvPr/>
        </p:nvSpPr>
        <p:spPr>
          <a:xfrm>
            <a:off x="567000" y="5669280"/>
            <a:ext cx="11057400" cy="4568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0" i="1" u="none" strike="noStrike">
                <a:solidFill>
                  <a:srgbClr val="94A3B8"/>
                </a:solidFill>
                <a:effectLst/>
                <a:uFillTx/>
                <a:latin typeface="Inter"/>
              </a:rPr>
              <a:t>Grad-CAM is a post-hoc gradient attribution; chunk attention is the model's own selection weight. Agreement is weak evidence the model uses the defect region — an attractive heatmap is not proof of correctness.</a:t>
            </a:r>
            <a:endParaRPr lang="en-US" sz="110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896" dur="indefinite" restart="never" nodeType="tmRoot">
          <p:childTnLst>
            <p:seq>
              <p:cTn id="897" dur="indefinite" nodeType="mainSeq">
                <p:childTnLst>
                  <p:par>
                    <p:cTn id="898" fill="hold">
                      <p:stCondLst>
                        <p:cond delay="indefinite"/>
                      </p:stCondLst>
                      <p:childTnLst>
                        <p:par>
                          <p:cTn id="899" fill="hold">
                            <p:stCondLst>
                              <p:cond delay="0"/>
                            </p:stCondLst>
                            <p:childTnLst>
                              <p:par>
                                <p:cTn id="900" presetID="10" presetClass="entr" fill="hold" nodeType="clickEffect">
                                  <p:stCondLst>
                                    <p:cond delay="0"/>
                                  </p:stCondLst>
                                  <p:childTnLst>
                                    <p:set>
                                      <p:cBhvr>
                                        <p:cTn id="901" dur="1" fill="hold">
                                          <p:stCondLst>
                                            <p:cond delay="0"/>
                                          </p:stCondLst>
                                        </p:cTn>
                                        <p:tgtEl>
                                          <p:spTgt spid="1045"/>
                                        </p:tgtEl>
                                        <p:attrNameLst>
                                          <p:attrName>style.visibility</p:attrName>
                                        </p:attrNameLst>
                                      </p:cBhvr>
                                      <p:to>
                                        <p:strVal val="visible"/>
                                      </p:to>
                                    </p:set>
                                    <p:animEffect transition="in" filter="fade">
                                      <p:cBhvr additive="repl">
                                        <p:cTn id="902" dur="350"/>
                                        <p:tgtEl>
                                          <p:spTgt spid="10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47"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Hard Cases</a:t>
            </a:r>
            <a:endParaRPr lang="en-US" sz="2700" b="0" u="none" strike="noStrike">
              <a:solidFill>
                <a:srgbClr val="000000"/>
              </a:solidFill>
              <a:effectLst/>
              <a:uFillTx/>
              <a:latin typeface="Arial"/>
            </a:endParaRPr>
          </a:p>
        </p:txBody>
      </p:sp>
      <p:sp>
        <p:nvSpPr>
          <p:cNvPr id="1048"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250" b="0" u="none" strike="noStrike">
                <a:solidFill>
                  <a:srgbClr val="94A3B8"/>
                </a:solidFill>
                <a:effectLst/>
                <a:uFillTx/>
                <a:latin typeface="Inter"/>
              </a:rPr>
              <a:t>SAGE-HE misclassifies nothing on this test set, so these are the 19 images the reproduced baseline got wrong</a:t>
            </a:r>
            <a:endParaRPr lang="en-US" sz="1250" b="0" u="none" strike="noStrike">
              <a:solidFill>
                <a:srgbClr val="000000"/>
              </a:solidFill>
              <a:effectLst/>
              <a:uFillTx/>
              <a:latin typeface="Arial"/>
            </a:endParaRPr>
          </a:p>
        </p:txBody>
      </p:sp>
      <p:sp>
        <p:nvSpPr>
          <p:cNvPr id="1049" name="Rectangle 4"/>
          <p:cNvSpPr/>
          <p:nvPr/>
        </p:nvSpPr>
        <p:spPr>
          <a:xfrm>
            <a:off x="567000" y="17190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050"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51" name="Rectangle 6"/>
          <p:cNvSpPr/>
          <p:nvPr/>
        </p:nvSpPr>
        <p:spPr>
          <a:xfrm>
            <a:off x="567000" y="6226920"/>
            <a:ext cx="1028160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52"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053"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53</a:t>
            </a:r>
            <a:endParaRPr lang="en-US" sz="900" b="0" u="none" strike="noStrike">
              <a:solidFill>
                <a:srgbClr val="000000"/>
              </a:solidFill>
              <a:effectLst/>
              <a:uFillTx/>
              <a:latin typeface="Arial"/>
            </a:endParaRPr>
          </a:p>
        </p:txBody>
      </p:sp>
      <p:pic>
        <p:nvPicPr>
          <p:cNvPr id="1054" name="Picture 9" descr="gradcam_hard_cases_1583.png"/>
          <p:cNvPicPr/>
          <p:nvPr/>
        </p:nvPicPr>
        <p:blipFill>
          <a:blip r:embed="rId1"/>
          <a:stretch/>
        </p:blipFill>
        <p:spPr>
          <a:xfrm>
            <a:off x="1270080" y="1627560"/>
            <a:ext cx="9651600" cy="3565800"/>
          </a:xfrm>
          <a:prstGeom prst="rect">
            <a:avLst/>
          </a:prstGeom>
          <a:noFill/>
          <a:ln w="0">
            <a:noFill/>
          </a:ln>
        </p:spPr>
      </p:pic>
      <p:sp>
        <p:nvSpPr>
          <p:cNvPr id="1055" name="TextBox 10"/>
          <p:cNvSpPr/>
          <p:nvPr/>
        </p:nvSpPr>
        <p:spPr>
          <a:xfrm>
            <a:off x="567000" y="5650920"/>
            <a:ext cx="11057400" cy="548280"/>
          </a:xfrm>
          <a:prstGeom prst="rect">
            <a:avLst/>
          </a:prstGeom>
          <a:noFill/>
          <a:ln w="0">
            <a:noFill/>
          </a:ln>
        </p:spPr>
        <p:style>
          <a:lnRef idx="0"/>
          <a:fillRef idx="0"/>
          <a:effectRef idx="0"/>
          <a:fontRef idx="minor"/>
        </p:style>
        <p:txBody>
          <a:bodyPr lIns="0" tIns="0" rIns="0" bIns="0" anchor="t">
            <a:spAutoFit/>
          </a:bodyPr>
          <a:p>
            <a:pPr defTabSz="457200">
              <a:lnSpc>
                <a:spcPct val="120000"/>
              </a:lnSpc>
              <a:spcAft>
                <a:spcPts val="400"/>
              </a:spcAft>
            </a:pPr>
            <a:r>
              <a:rPr lang="en-US" sz="1050" b="0" i="1" u="none" strike="noStrike">
                <a:solidFill>
                  <a:srgbClr val="94A3B8"/>
                </a:solidFill>
                <a:effectLst/>
                <a:uFillTx/>
                <a:latin typeface="Inter"/>
              </a:rPr>
              <a:t>The baseline's errors are concentrated in faint `inclusion` streaks it calls `pitted_surface` — the same two classes its per-class F1 singles out. These are shown instead of an empty failure slide; nothing here is curated.</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903" dur="indefinite" restart="never" nodeType="tmRoot">
          <p:childTnLst>
            <p:seq>
              <p:cTn id="904" dur="indefinite" nodeType="mainSeq">
                <p:childTnLst>
                  <p:par>
                    <p:cTn id="905" fill="hold">
                      <p:stCondLst>
                        <p:cond delay="indefinite"/>
                      </p:stCondLst>
                      <p:childTnLst>
                        <p:par>
                          <p:cTn id="906" fill="hold">
                            <p:stCondLst>
                              <p:cond delay="0"/>
                            </p:stCondLst>
                            <p:childTnLst>
                              <p:par>
                                <p:cTn id="907" presetID="10" presetClass="entr" fill="hold" nodeType="clickEffect">
                                  <p:stCondLst>
                                    <p:cond delay="0"/>
                                  </p:stCondLst>
                                  <p:childTnLst>
                                    <p:set>
                                      <p:cBhvr>
                                        <p:cTn id="908" dur="1" fill="hold">
                                          <p:stCondLst>
                                            <p:cond delay="0"/>
                                          </p:stCondLst>
                                        </p:cTn>
                                        <p:tgtEl>
                                          <p:spTgt spid="1055"/>
                                        </p:tgtEl>
                                        <p:attrNameLst>
                                          <p:attrName>style.visibility</p:attrName>
                                        </p:attrNameLst>
                                      </p:cBhvr>
                                      <p:to>
                                        <p:strVal val="visible"/>
                                      </p:to>
                                    </p:set>
                                    <p:animEffect transition="in" filter="fade">
                                      <p:cBhvr additive="repl">
                                        <p:cTn id="909" dur="350"/>
                                        <p:tgtEl>
                                          <p:spTgt spid="10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57"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Discussion and Limitations</a:t>
            </a:r>
            <a:endParaRPr lang="en-US" sz="2700" b="0" u="none" strike="noStrike">
              <a:solidFill>
                <a:srgbClr val="000000"/>
              </a:solidFill>
              <a:effectLst/>
              <a:uFillTx/>
              <a:latin typeface="Arial"/>
            </a:endParaRPr>
          </a:p>
        </p:txBody>
      </p:sp>
      <p:sp>
        <p:nvSpPr>
          <p:cNvPr id="1058"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059"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60" name="Rectangle 5"/>
          <p:cNvSpPr/>
          <p:nvPr/>
        </p:nvSpPr>
        <p:spPr>
          <a:xfrm>
            <a:off x="567000" y="6226920"/>
            <a:ext cx="1047564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61"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062"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54</a:t>
            </a:r>
            <a:endParaRPr lang="en-US" sz="900" b="0" u="none" strike="noStrike">
              <a:solidFill>
                <a:srgbClr val="000000"/>
              </a:solidFill>
              <a:effectLst/>
              <a:uFillTx/>
              <a:latin typeface="Arial"/>
            </a:endParaRPr>
          </a:p>
        </p:txBody>
      </p:sp>
      <p:sp>
        <p:nvSpPr>
          <p:cNvPr id="1063" name="Rounded Rectangle 8"/>
          <p:cNvSpPr/>
          <p:nvPr/>
        </p:nvSpPr>
        <p:spPr>
          <a:xfrm>
            <a:off x="567000" y="162756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64" name="Rectangle 9"/>
          <p:cNvSpPr/>
          <p:nvPr/>
        </p:nvSpPr>
        <p:spPr>
          <a:xfrm>
            <a:off x="567000" y="1627560"/>
            <a:ext cx="40680" cy="12614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65" name="TextBox 10"/>
          <p:cNvSpPr/>
          <p:nvPr/>
        </p:nvSpPr>
        <p:spPr>
          <a:xfrm>
            <a:off x="786240" y="176472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Benchmark is saturated</a:t>
            </a:r>
            <a:endParaRPr lang="en-US" sz="1150" b="0" u="none" strike="noStrike">
              <a:solidFill>
                <a:srgbClr val="000000"/>
              </a:solidFill>
              <a:effectLst/>
              <a:uFillTx/>
              <a:latin typeface="Arial"/>
            </a:endParaRPr>
          </a:p>
        </p:txBody>
      </p:sp>
      <p:sp>
        <p:nvSpPr>
          <p:cNvPr id="1066" name="TextBox 11"/>
          <p:cNvSpPr/>
          <p:nvPr/>
        </p:nvSpPr>
        <p:spPr>
          <a:xfrm>
            <a:off x="786240" y="210312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NEU-CLS cannot separate strong modern architectures at full data. Conclusions about components come from the reduced-data regime.</a:t>
            </a:r>
            <a:endParaRPr lang="en-US" sz="1150" b="0" u="none" strike="noStrike">
              <a:solidFill>
                <a:srgbClr val="000000"/>
              </a:solidFill>
              <a:effectLst/>
              <a:uFillTx/>
              <a:latin typeface="Arial"/>
            </a:endParaRPr>
          </a:p>
        </p:txBody>
      </p:sp>
      <p:sp>
        <p:nvSpPr>
          <p:cNvPr id="1067" name="Rounded Rectangle 12"/>
          <p:cNvSpPr/>
          <p:nvPr/>
        </p:nvSpPr>
        <p:spPr>
          <a:xfrm>
            <a:off x="6178320" y="162756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68" name="Rectangle 13"/>
          <p:cNvSpPr/>
          <p:nvPr/>
        </p:nvSpPr>
        <p:spPr>
          <a:xfrm>
            <a:off x="6178320" y="1627560"/>
            <a:ext cx="40680" cy="12614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69" name="TextBox 14"/>
          <p:cNvSpPr/>
          <p:nvPr/>
        </p:nvSpPr>
        <p:spPr>
          <a:xfrm>
            <a:off x="6397560" y="176472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Small test set</a:t>
            </a:r>
            <a:endParaRPr lang="en-US" sz="1150" b="0" u="none" strike="noStrike">
              <a:solidFill>
                <a:srgbClr val="000000"/>
              </a:solidFill>
              <a:effectLst/>
              <a:uFillTx/>
              <a:latin typeface="Arial"/>
            </a:endParaRPr>
          </a:p>
        </p:txBody>
      </p:sp>
      <p:sp>
        <p:nvSpPr>
          <p:cNvPr id="1070" name="TextBox 15"/>
          <p:cNvSpPr/>
          <p:nvPr/>
        </p:nvSpPr>
        <p:spPr>
          <a:xfrm>
            <a:off x="6397560" y="210312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360 images. A one-image change moves accuracy by 0.28 points; Wilson intervals are reported for this reason.</a:t>
            </a:r>
            <a:endParaRPr lang="en-US" sz="1150" b="0" u="none" strike="noStrike">
              <a:solidFill>
                <a:srgbClr val="000000"/>
              </a:solidFill>
              <a:effectLst/>
              <a:uFillTx/>
              <a:latin typeface="Arial"/>
            </a:endParaRPr>
          </a:p>
        </p:txBody>
      </p:sp>
      <p:sp>
        <p:nvSpPr>
          <p:cNvPr id="1071" name="Rounded Rectangle 16"/>
          <p:cNvSpPr/>
          <p:nvPr/>
        </p:nvSpPr>
        <p:spPr>
          <a:xfrm>
            <a:off x="567000" y="304488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72" name="Rectangle 17"/>
          <p:cNvSpPr/>
          <p:nvPr/>
        </p:nvSpPr>
        <p:spPr>
          <a:xfrm>
            <a:off x="567000" y="3044880"/>
            <a:ext cx="40680" cy="12614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073" name="TextBox 18"/>
          <p:cNvSpPr/>
          <p:nvPr/>
        </p:nvSpPr>
        <p:spPr>
          <a:xfrm>
            <a:off x="786240" y="318204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No GPU</a:t>
            </a:r>
            <a:endParaRPr lang="en-US" sz="1150" b="0" u="none" strike="noStrike">
              <a:solidFill>
                <a:srgbClr val="000000"/>
              </a:solidFill>
              <a:effectLst/>
              <a:uFillTx/>
              <a:latin typeface="Arial"/>
            </a:endParaRPr>
          </a:p>
        </p:txBody>
      </p:sp>
      <p:sp>
        <p:nvSpPr>
          <p:cNvPr id="1074" name="TextBox 19"/>
          <p:cNvSpPr/>
          <p:nvPr/>
        </p:nvSpPr>
        <p:spPr>
          <a:xfrm>
            <a:off x="786240" y="352044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All training and all latencies are CPU. Timings are not comparable to GPU-accelerated figures elsewhere in the literature.</a:t>
            </a:r>
            <a:endParaRPr lang="en-US" sz="1150" b="0" u="none" strike="noStrike">
              <a:solidFill>
                <a:srgbClr val="000000"/>
              </a:solidFill>
              <a:effectLst/>
              <a:uFillTx/>
              <a:latin typeface="Arial"/>
            </a:endParaRPr>
          </a:p>
        </p:txBody>
      </p:sp>
      <p:sp>
        <p:nvSpPr>
          <p:cNvPr id="1075" name="Rounded Rectangle 20"/>
          <p:cNvSpPr/>
          <p:nvPr/>
        </p:nvSpPr>
        <p:spPr>
          <a:xfrm>
            <a:off x="6178320" y="304488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76" name="Rectangle 21"/>
          <p:cNvSpPr/>
          <p:nvPr/>
        </p:nvSpPr>
        <p:spPr>
          <a:xfrm>
            <a:off x="6178320" y="3044880"/>
            <a:ext cx="40680" cy="1261440"/>
          </a:xfrm>
          <a:prstGeom prst="rect">
            <a:avLst/>
          </a:prstGeom>
          <a:solidFill>
            <a:srgbClr val="D03B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77" name="TextBox 22"/>
          <p:cNvSpPr/>
          <p:nvPr/>
        </p:nvSpPr>
        <p:spPr>
          <a:xfrm>
            <a:off x="6397560" y="318204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D03B3B"/>
                </a:solidFill>
                <a:effectLst/>
                <a:uFillTx/>
                <a:latin typeface="Inter"/>
              </a:rPr>
              <a:t>Weaker privacy than the base paper's goal</a:t>
            </a:r>
            <a:endParaRPr lang="en-US" sz="1150" b="0" u="none" strike="noStrike">
              <a:solidFill>
                <a:srgbClr val="000000"/>
              </a:solidFill>
              <a:effectLst/>
              <a:uFillTx/>
              <a:latin typeface="Arial"/>
            </a:endParaRPr>
          </a:p>
        </p:txBody>
      </p:sp>
      <p:sp>
        <p:nvSpPr>
          <p:cNvPr id="1078" name="TextBox 23"/>
          <p:cNvSpPr/>
          <p:nvPr/>
        </p:nvSpPr>
        <p:spPr>
          <a:xfrm>
            <a:off x="6397560" y="352044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client holds the extractor. We protect the server side only.</a:t>
            </a:r>
            <a:endParaRPr lang="en-US" sz="1150" b="0" u="none" strike="noStrike">
              <a:solidFill>
                <a:srgbClr val="000000"/>
              </a:solidFill>
              <a:effectLst/>
              <a:uFillTx/>
              <a:latin typeface="Arial"/>
            </a:endParaRPr>
          </a:p>
        </p:txBody>
      </p:sp>
      <p:sp>
        <p:nvSpPr>
          <p:cNvPr id="1079" name="Rounded Rectangle 24"/>
          <p:cNvSpPr/>
          <p:nvPr/>
        </p:nvSpPr>
        <p:spPr>
          <a:xfrm>
            <a:off x="567000" y="446220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80" name="Rectangle 25"/>
          <p:cNvSpPr/>
          <p:nvPr/>
        </p:nvSpPr>
        <p:spPr>
          <a:xfrm>
            <a:off x="567000" y="4462200"/>
            <a:ext cx="40680" cy="1261440"/>
          </a:xfrm>
          <a:prstGeom prst="rect">
            <a:avLst/>
          </a:prstGeom>
          <a:solidFill>
            <a:srgbClr val="FAB219"/>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81" name="TextBox 26"/>
          <p:cNvSpPr/>
          <p:nvPr/>
        </p:nvSpPr>
        <p:spPr>
          <a:xfrm>
            <a:off x="786240" y="459936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FAB219"/>
                </a:solidFill>
                <a:effectLst/>
                <a:uFillTx/>
                <a:latin typeface="Inter"/>
              </a:rPr>
              <a:t>Baseline is a reconstruction</a:t>
            </a:r>
            <a:endParaRPr lang="en-US" sz="1150" b="0" u="none" strike="noStrike">
              <a:solidFill>
                <a:srgbClr val="000000"/>
              </a:solidFill>
              <a:effectLst/>
              <a:uFillTx/>
              <a:latin typeface="Arial"/>
            </a:endParaRPr>
          </a:p>
        </p:txBody>
      </p:sp>
      <p:sp>
        <p:nvSpPr>
          <p:cNvPr id="1082" name="TextBox 27"/>
          <p:cNvSpPr/>
          <p:nvPr/>
        </p:nvSpPr>
        <p:spPr>
          <a:xfrm>
            <a:off x="786240" y="493776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paper under-specifies channel count, pooling, split and schedule; our reproduction documents each assumption.</a:t>
            </a:r>
            <a:endParaRPr lang="en-US" sz="1150" b="0" u="none" strike="noStrike">
              <a:solidFill>
                <a:srgbClr val="000000"/>
              </a:solidFill>
              <a:effectLst/>
              <a:uFillTx/>
              <a:latin typeface="Arial"/>
            </a:endParaRPr>
          </a:p>
        </p:txBody>
      </p:sp>
      <p:sp>
        <p:nvSpPr>
          <p:cNvPr id="1083" name="Rounded Rectangle 28"/>
          <p:cNvSpPr/>
          <p:nvPr/>
        </p:nvSpPr>
        <p:spPr>
          <a:xfrm>
            <a:off x="6178320" y="4462200"/>
            <a:ext cx="5446440" cy="1261440"/>
          </a:xfrm>
          <a:prstGeom prst="roundRect">
            <a:avLst>
              <a:gd name="adj" fmla="val 6000"/>
            </a:avLst>
          </a:prstGeom>
          <a:solidFill>
            <a:srgbClr val="0F172A"/>
          </a:solidFill>
          <a:ln w="12700">
            <a:solidFill>
              <a:srgbClr val="24324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84" name="Rectangle 29"/>
          <p:cNvSpPr/>
          <p:nvPr/>
        </p:nvSpPr>
        <p:spPr>
          <a:xfrm>
            <a:off x="6178320" y="4462200"/>
            <a:ext cx="40680" cy="1261440"/>
          </a:xfrm>
          <a:prstGeom prst="rect">
            <a:avLst/>
          </a:prstGeom>
          <a:solidFill>
            <a:srgbClr val="94A3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85" name="TextBox 30"/>
          <p:cNvSpPr/>
          <p:nvPr/>
        </p:nvSpPr>
        <p:spPr>
          <a:xfrm>
            <a:off x="6397560" y="4599360"/>
            <a:ext cx="50256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50" b="1" u="none" strike="noStrike">
                <a:solidFill>
                  <a:srgbClr val="94A3B8"/>
                </a:solidFill>
                <a:effectLst/>
                <a:uFillTx/>
                <a:latin typeface="Inter"/>
              </a:rPr>
              <a:t>Novelty is narrow</a:t>
            </a:r>
            <a:endParaRPr lang="en-US" sz="1150" b="0" u="none" strike="noStrike">
              <a:solidFill>
                <a:srgbClr val="000000"/>
              </a:solidFill>
              <a:effectLst/>
              <a:uFillTx/>
              <a:latin typeface="Arial"/>
            </a:endParaRPr>
          </a:p>
        </p:txBody>
      </p:sp>
      <p:sp>
        <p:nvSpPr>
          <p:cNvPr id="1086" name="TextBox 31"/>
          <p:cNvSpPr/>
          <p:nvPr/>
        </p:nvSpPr>
        <p:spPr>
          <a:xfrm>
            <a:off x="6397560" y="4937760"/>
            <a:ext cx="5025600" cy="639720"/>
          </a:xfrm>
          <a:prstGeom prst="rect">
            <a:avLst/>
          </a:prstGeom>
          <a:noFill/>
          <a:ln w="0">
            <a:noFill/>
          </a:ln>
        </p:spPr>
        <p:style>
          <a:lnRef idx="0"/>
          <a:fillRef idx="0"/>
          <a:effectRef idx="0"/>
          <a:fontRef idx="minor"/>
        </p:style>
        <p:txBody>
          <a:bodyPr lIns="0" tIns="0" rIns="0" bIns="0" anchor="t">
            <a:spAutoFit/>
          </a:bodyPr>
          <a:p>
            <a:pPr defTabSz="457200">
              <a:lnSpc>
                <a:spcPct val="124000"/>
              </a:lnSpc>
              <a:spcAft>
                <a:spcPts val="400"/>
              </a:spcAft>
            </a:pPr>
            <a:r>
              <a:rPr lang="en-US" sz="1150" b="0" u="none" strike="noStrike">
                <a:solidFill>
                  <a:srgbClr val="CBD5E1"/>
                </a:solidFill>
                <a:effectLst/>
                <a:uFillTx/>
                <a:latin typeface="Inter"/>
              </a:rPr>
              <a:t>The encryption boundary is prior art. The contribution is the learned Sobel-conditioned selection and the measurement discipline.</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910" dur="indefinite" restart="never" nodeType="tmRoot">
          <p:childTnLst>
            <p:seq>
              <p:cTn id="911" dur="indefinite" nodeType="mainSeq">
                <p:childTnLst>
                  <p:par>
                    <p:cTn id="912" fill="hold">
                      <p:stCondLst>
                        <p:cond delay="indefinite"/>
                      </p:stCondLst>
                      <p:childTnLst>
                        <p:par>
                          <p:cTn id="913" fill="hold">
                            <p:stCondLst>
                              <p:cond delay="0"/>
                            </p:stCondLst>
                            <p:childTnLst>
                              <p:par>
                                <p:cTn id="914" presetID="10" presetClass="entr" fill="hold" nodeType="clickEffect">
                                  <p:stCondLst>
                                    <p:cond delay="0"/>
                                  </p:stCondLst>
                                  <p:childTnLst>
                                    <p:set>
                                      <p:cBhvr>
                                        <p:cTn id="915" dur="1" fill="hold">
                                          <p:stCondLst>
                                            <p:cond delay="0"/>
                                          </p:stCondLst>
                                        </p:cTn>
                                        <p:tgtEl>
                                          <p:spTgt spid="1066"/>
                                        </p:tgtEl>
                                        <p:attrNameLst>
                                          <p:attrName>style.visibility</p:attrName>
                                        </p:attrNameLst>
                                      </p:cBhvr>
                                      <p:to>
                                        <p:strVal val="visible"/>
                                      </p:to>
                                    </p:set>
                                    <p:animEffect transition="in" filter="fade">
                                      <p:cBhvr additive="repl">
                                        <p:cTn id="916" dur="350"/>
                                        <p:tgtEl>
                                          <p:spTgt spid="1066"/>
                                        </p:tgtEl>
                                      </p:cBhvr>
                                    </p:animEffect>
                                  </p:childTnLst>
                                </p:cTn>
                              </p:par>
                            </p:childTnLst>
                          </p:cTn>
                        </p:par>
                      </p:childTnLst>
                    </p:cTn>
                  </p:par>
                  <p:par>
                    <p:cTn id="917" fill="hold">
                      <p:stCondLst>
                        <p:cond delay="indefinite"/>
                      </p:stCondLst>
                      <p:childTnLst>
                        <p:par>
                          <p:cTn id="918" fill="hold">
                            <p:stCondLst>
                              <p:cond delay="0"/>
                            </p:stCondLst>
                            <p:childTnLst>
                              <p:par>
                                <p:cTn id="919" presetID="10" presetClass="entr" fill="hold" nodeType="afterEffect">
                                  <p:stCondLst>
                                    <p:cond delay="0"/>
                                  </p:stCondLst>
                                  <p:childTnLst>
                                    <p:set>
                                      <p:cBhvr>
                                        <p:cTn id="920" dur="1" fill="hold">
                                          <p:stCondLst>
                                            <p:cond delay="0"/>
                                          </p:stCondLst>
                                        </p:cTn>
                                        <p:tgtEl>
                                          <p:spTgt spid="1070"/>
                                        </p:tgtEl>
                                        <p:attrNameLst>
                                          <p:attrName>style.visibility</p:attrName>
                                        </p:attrNameLst>
                                      </p:cBhvr>
                                      <p:to>
                                        <p:strVal val="visible"/>
                                      </p:to>
                                    </p:set>
                                    <p:animEffect transition="in" filter="fade">
                                      <p:cBhvr additive="repl">
                                        <p:cTn id="921" dur="350"/>
                                        <p:tgtEl>
                                          <p:spTgt spid="1070"/>
                                        </p:tgtEl>
                                      </p:cBhvr>
                                    </p:animEffect>
                                  </p:childTnLst>
                                </p:cTn>
                              </p:par>
                            </p:childTnLst>
                          </p:cTn>
                        </p:par>
                      </p:childTnLst>
                    </p:cTn>
                  </p:par>
                  <p:par>
                    <p:cTn id="922" fill="hold">
                      <p:stCondLst>
                        <p:cond delay="indefinite"/>
                      </p:stCondLst>
                      <p:childTnLst>
                        <p:par>
                          <p:cTn id="923" fill="hold">
                            <p:stCondLst>
                              <p:cond delay="0"/>
                            </p:stCondLst>
                            <p:childTnLst>
                              <p:par>
                                <p:cTn id="924" presetID="10" presetClass="entr" fill="hold" nodeType="afterEffect">
                                  <p:stCondLst>
                                    <p:cond delay="0"/>
                                  </p:stCondLst>
                                  <p:childTnLst>
                                    <p:set>
                                      <p:cBhvr>
                                        <p:cTn id="925" dur="1" fill="hold">
                                          <p:stCondLst>
                                            <p:cond delay="0"/>
                                          </p:stCondLst>
                                        </p:cTn>
                                        <p:tgtEl>
                                          <p:spTgt spid="1071"/>
                                        </p:tgtEl>
                                        <p:attrNameLst>
                                          <p:attrName>style.visibility</p:attrName>
                                        </p:attrNameLst>
                                      </p:cBhvr>
                                      <p:to>
                                        <p:strVal val="visible"/>
                                      </p:to>
                                    </p:set>
                                    <p:animEffect transition="in" filter="fade">
                                      <p:cBhvr additive="repl">
                                        <p:cTn id="926" dur="350"/>
                                        <p:tgtEl>
                                          <p:spTgt spid="1071"/>
                                        </p:tgtEl>
                                      </p:cBhvr>
                                    </p:animEffect>
                                  </p:childTnLst>
                                </p:cTn>
                              </p:par>
                            </p:childTnLst>
                          </p:cTn>
                        </p:par>
                      </p:childTnLst>
                    </p:cTn>
                  </p:par>
                  <p:par>
                    <p:cTn id="927" fill="hold">
                      <p:stCondLst>
                        <p:cond delay="indefinite"/>
                      </p:stCondLst>
                      <p:childTnLst>
                        <p:par>
                          <p:cTn id="928" fill="hold">
                            <p:stCondLst>
                              <p:cond delay="0"/>
                            </p:stCondLst>
                            <p:childTnLst>
                              <p:par>
                                <p:cTn id="929" presetID="10" presetClass="entr" fill="hold" nodeType="afterEffect">
                                  <p:stCondLst>
                                    <p:cond delay="0"/>
                                  </p:stCondLst>
                                  <p:childTnLst>
                                    <p:set>
                                      <p:cBhvr>
                                        <p:cTn id="930" dur="1" fill="hold">
                                          <p:stCondLst>
                                            <p:cond delay="0"/>
                                          </p:stCondLst>
                                        </p:cTn>
                                        <p:tgtEl>
                                          <p:spTgt spid="1072"/>
                                        </p:tgtEl>
                                        <p:attrNameLst>
                                          <p:attrName>style.visibility</p:attrName>
                                        </p:attrNameLst>
                                      </p:cBhvr>
                                      <p:to>
                                        <p:strVal val="visible"/>
                                      </p:to>
                                    </p:set>
                                    <p:animEffect transition="in" filter="fade">
                                      <p:cBhvr additive="repl">
                                        <p:cTn id="931" dur="350"/>
                                        <p:tgtEl>
                                          <p:spTgt spid="1072"/>
                                        </p:tgtEl>
                                      </p:cBhvr>
                                    </p:animEffect>
                                  </p:childTnLst>
                                </p:cTn>
                              </p:par>
                            </p:childTnLst>
                          </p:cTn>
                        </p:par>
                      </p:childTnLst>
                    </p:cTn>
                  </p:par>
                  <p:par>
                    <p:cTn id="932" fill="hold">
                      <p:stCondLst>
                        <p:cond delay="indefinite"/>
                      </p:stCondLst>
                      <p:childTnLst>
                        <p:par>
                          <p:cTn id="933" fill="hold">
                            <p:stCondLst>
                              <p:cond delay="0"/>
                            </p:stCondLst>
                            <p:childTnLst>
                              <p:par>
                                <p:cTn id="934" presetID="10" presetClass="entr" fill="hold" nodeType="afterEffect">
                                  <p:stCondLst>
                                    <p:cond delay="0"/>
                                  </p:stCondLst>
                                  <p:childTnLst>
                                    <p:set>
                                      <p:cBhvr>
                                        <p:cTn id="935" dur="1" fill="hold">
                                          <p:stCondLst>
                                            <p:cond delay="0"/>
                                          </p:stCondLst>
                                        </p:cTn>
                                        <p:tgtEl>
                                          <p:spTgt spid="1073"/>
                                        </p:tgtEl>
                                        <p:attrNameLst>
                                          <p:attrName>style.visibility</p:attrName>
                                        </p:attrNameLst>
                                      </p:cBhvr>
                                      <p:to>
                                        <p:strVal val="visible"/>
                                      </p:to>
                                    </p:set>
                                    <p:animEffect transition="in" filter="fade">
                                      <p:cBhvr additive="repl">
                                        <p:cTn id="936" dur="350"/>
                                        <p:tgtEl>
                                          <p:spTgt spid="1073"/>
                                        </p:tgtEl>
                                      </p:cBhvr>
                                    </p:animEffect>
                                  </p:childTnLst>
                                </p:cTn>
                              </p:par>
                            </p:childTnLst>
                          </p:cTn>
                        </p:par>
                      </p:childTnLst>
                    </p:cTn>
                  </p:par>
                  <p:par>
                    <p:cTn id="937" fill="hold">
                      <p:stCondLst>
                        <p:cond delay="indefinite"/>
                      </p:stCondLst>
                      <p:childTnLst>
                        <p:par>
                          <p:cTn id="938" fill="hold">
                            <p:stCondLst>
                              <p:cond delay="0"/>
                            </p:stCondLst>
                            <p:childTnLst>
                              <p:par>
                                <p:cTn id="939" presetID="10" presetClass="entr" fill="hold" nodeType="afterEffect">
                                  <p:stCondLst>
                                    <p:cond delay="0"/>
                                  </p:stCondLst>
                                  <p:childTnLst>
                                    <p:set>
                                      <p:cBhvr>
                                        <p:cTn id="940" dur="1" fill="hold">
                                          <p:stCondLst>
                                            <p:cond delay="0"/>
                                          </p:stCondLst>
                                        </p:cTn>
                                        <p:tgtEl>
                                          <p:spTgt spid="1074"/>
                                        </p:tgtEl>
                                        <p:attrNameLst>
                                          <p:attrName>style.visibility</p:attrName>
                                        </p:attrNameLst>
                                      </p:cBhvr>
                                      <p:to>
                                        <p:strVal val="visible"/>
                                      </p:to>
                                    </p:set>
                                    <p:animEffect transition="in" filter="fade">
                                      <p:cBhvr additive="repl">
                                        <p:cTn id="941" dur="350"/>
                                        <p:tgtEl>
                                          <p:spTgt spid="10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88"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Conclusion and Future Scope</a:t>
            </a:r>
            <a:endParaRPr lang="en-US" sz="2700" b="0" u="none" strike="noStrike">
              <a:solidFill>
                <a:srgbClr val="000000"/>
              </a:solidFill>
              <a:effectLst/>
              <a:uFillTx/>
              <a:latin typeface="Arial"/>
            </a:endParaRPr>
          </a:p>
        </p:txBody>
      </p:sp>
      <p:sp>
        <p:nvSpPr>
          <p:cNvPr id="1089" name="Rectangle 3"/>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090" name="Rectangle 4"/>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91" name="Rectangle 5"/>
          <p:cNvSpPr/>
          <p:nvPr/>
        </p:nvSpPr>
        <p:spPr>
          <a:xfrm>
            <a:off x="567000" y="6226920"/>
            <a:ext cx="1066932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092" name="TextBox 6"/>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093" name="TextBox 7"/>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55</a:t>
            </a:r>
            <a:endParaRPr lang="en-US" sz="900" b="0" u="none" strike="noStrike">
              <a:solidFill>
                <a:srgbClr val="000000"/>
              </a:solidFill>
              <a:effectLst/>
              <a:uFillTx/>
              <a:latin typeface="Arial"/>
            </a:endParaRPr>
          </a:p>
        </p:txBody>
      </p:sp>
      <p:sp>
        <p:nvSpPr>
          <p:cNvPr id="1094" name="TextBox 8"/>
          <p:cNvSpPr/>
          <p:nvPr/>
        </p:nvSpPr>
        <p:spPr>
          <a:xfrm>
            <a:off x="567000" y="1627560"/>
            <a:ext cx="5633280" cy="310860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Built. </a:t>
            </a:r>
            <a:r>
              <a:rPr lang="en-US" sz="1250" b="0" u="none" strike="noStrike">
                <a:solidFill>
                  <a:srgbClr val="CBD5E1"/>
                </a:solidFill>
                <a:effectLst/>
                <a:uFillTx/>
                <a:latin typeface="Inter"/>
              </a:rPr>
              <a:t>A complete, tested, reproducible system: audited dataset, reproduced baseline, dual-branch model, genuine CKKS inference, explainability.</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Measured. </a:t>
            </a:r>
            <a:r>
              <a:rPr lang="en-US" sz="1250" b="0" u="none" strike="noStrike">
                <a:solidFill>
                  <a:srgbClr val="CBD5E1"/>
                </a:solidFill>
                <a:effectLst/>
                <a:uFillTx/>
                <a:latin typeface="Inter"/>
              </a:rPr>
              <a:t>SAGE-HE 100.00% vs reproduced baseline 93.98% on one identical held-out split, over 3 seeds.</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Encrypted exactly. </a:t>
            </a:r>
            <a:r>
              <a:rPr lang="en-US" sz="1250" b="0" u="none" strike="noStrike">
                <a:solidFill>
                  <a:srgbClr val="CBD5E1"/>
                </a:solidFill>
                <a:effectLst/>
                <a:uFillTx/>
                <a:latin typeface="Inter"/>
              </a:rPr>
              <a:t>Encrypted and plaintext inference agree, with a quantified margin: CKKS costs latency, not accuracy.</a:t>
            </a:r>
            <a:endParaRPr lang="en-US" sz="1250" b="0" u="none" strike="noStrike">
              <a:solidFill>
                <a:srgbClr val="000000"/>
              </a:solidFill>
              <a:effectLst/>
              <a:uFillTx/>
              <a:latin typeface="Arial"/>
            </a:endParaRPr>
          </a:p>
          <a:p>
            <a:pPr defTabSz="457200">
              <a:lnSpc>
                <a:spcPct val="122000"/>
              </a:lnSpc>
              <a:spcAft>
                <a:spcPts val="901"/>
              </a:spcAft>
            </a:pPr>
            <a:r>
              <a:rPr lang="en-US" sz="1250" b="1" u="none" strike="noStrike">
                <a:solidFill>
                  <a:srgbClr val="3987E5"/>
                </a:solidFill>
                <a:effectLst/>
                <a:uFillTx/>
                <a:latin typeface="Inter"/>
              </a:rPr>
              <a:t>— </a:t>
            </a:r>
            <a:r>
              <a:rPr lang="en-US" sz="1250" b="1" u="none" strike="noStrike">
                <a:solidFill>
                  <a:srgbClr val="F1F5F9"/>
                </a:solidFill>
                <a:effectLst/>
                <a:uFillTx/>
                <a:latin typeface="Inter"/>
              </a:rPr>
              <a:t>The architecture did not pan out. </a:t>
            </a:r>
            <a:r>
              <a:rPr lang="en-US" sz="1250" b="0" u="none" strike="noStrike">
                <a:solidFill>
                  <a:srgbClr val="CBD5E1"/>
                </a:solidFill>
                <a:effectLst/>
                <a:uFillTx/>
                <a:latin typeface="Inter"/>
              </a:rPr>
              <a:t>Measured against its own backbone, the local branch, chunk attention and Sobel prior each cost accuracy. Reported, explained, and not claimed as a contribution.</a:t>
            </a:r>
            <a:endParaRPr lang="en-US" sz="1250" b="0" u="none" strike="noStrike">
              <a:solidFill>
                <a:srgbClr val="000000"/>
              </a:solidFill>
              <a:effectLst/>
              <a:uFillTx/>
              <a:latin typeface="Arial"/>
            </a:endParaRPr>
          </a:p>
        </p:txBody>
      </p:sp>
      <p:sp>
        <p:nvSpPr>
          <p:cNvPr id="1095" name="TextBox 9"/>
          <p:cNvSpPr/>
          <p:nvPr/>
        </p:nvSpPr>
        <p:spPr>
          <a:xfrm>
            <a:off x="7113240" y="1627560"/>
            <a:ext cx="451116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100" b="1" u="none" strike="noStrike">
                <a:solidFill>
                  <a:srgbClr val="3987E5"/>
                </a:solidFill>
                <a:effectLst/>
                <a:uFillTx/>
                <a:latin typeface="Inter"/>
              </a:rPr>
              <a:t>FUTURE WORK</a:t>
            </a:r>
            <a:endParaRPr lang="en-US" sz="1100" b="0" u="none" strike="noStrike">
              <a:solidFill>
                <a:srgbClr val="000000"/>
              </a:solidFill>
              <a:effectLst/>
              <a:uFillTx/>
              <a:latin typeface="Arial"/>
            </a:endParaRPr>
          </a:p>
        </p:txBody>
      </p:sp>
      <p:sp>
        <p:nvSpPr>
          <p:cNvPr id="1096" name="TextBox 10"/>
          <p:cNvSpPr/>
          <p:nvPr/>
        </p:nvSpPr>
        <p:spPr>
          <a:xfrm>
            <a:off x="7113240" y="2011680"/>
            <a:ext cx="4511160" cy="2925720"/>
          </a:xfrm>
          <a:prstGeom prst="rect">
            <a:avLst/>
          </a:prstGeom>
          <a:noFill/>
          <a:ln w="0">
            <a:noFill/>
          </a:ln>
        </p:spPr>
        <p:style>
          <a:lnRef idx="0"/>
          <a:fillRef idx="0"/>
          <a:effectRef idx="0"/>
          <a:fontRef idx="minor"/>
        </p:style>
        <p:txBody>
          <a:bodyPr lIns="0" tIns="0" rIns="0" bIns="0" anchor="t">
            <a:spAutoFit/>
          </a:bodyPr>
          <a:p>
            <a:pPr defTabSz="457200">
              <a:lnSpc>
                <a:spcPct val="122000"/>
              </a:lnSpc>
              <a:spcAft>
                <a:spcPts val="901"/>
              </a:spcAft>
            </a:pPr>
            <a:r>
              <a:rPr lang="en-US" sz="1150" b="1" u="none" strike="noStrike">
                <a:solidFill>
                  <a:srgbClr val="3987E5"/>
                </a:solidFill>
                <a:effectLst/>
                <a:uFillTx/>
                <a:latin typeface="Inter"/>
              </a:rPr>
              <a:t>— </a:t>
            </a:r>
            <a:r>
              <a:rPr lang="en-US" sz="1150" b="0" u="none" strike="noStrike">
                <a:solidFill>
                  <a:srgbClr val="CBD5E1"/>
                </a:solidFill>
                <a:effectLst/>
                <a:uFillTx/>
                <a:latin typeface="Inter"/>
              </a:rPr>
              <a:t>A harder benchmark (NEU-DET, Severstal, X-SDD) where accuracy is not saturated.</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3987E5"/>
                </a:solidFill>
                <a:effectLst/>
                <a:uFillTx/>
                <a:latin typeface="Inter"/>
              </a:rPr>
              <a:t>— </a:t>
            </a:r>
            <a:r>
              <a:rPr lang="en-US" sz="1150" b="0" u="none" strike="noStrike">
                <a:solidFill>
                  <a:srgbClr val="CBD5E1"/>
                </a:solidFill>
                <a:effectLst/>
                <a:uFillTx/>
                <a:latin typeface="Inter"/>
              </a:rPr>
              <a:t>Higher-degree polynomial activations to recover the accuracy the square loses.</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3987E5"/>
                </a:solidFill>
                <a:effectLst/>
                <a:uFillTx/>
                <a:latin typeface="Inter"/>
              </a:rPr>
              <a:t>— </a:t>
            </a:r>
            <a:r>
              <a:rPr lang="en-US" sz="1150" b="0" u="none" strike="noStrike">
                <a:solidFill>
                  <a:srgbClr val="CBD5E1"/>
                </a:solidFill>
                <a:effectLst/>
                <a:uFillTx/>
                <a:latin typeface="Inter"/>
              </a:rPr>
              <a:t>Batched CKKS packing: 8192 slots are available and we use 64.</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3987E5"/>
                </a:solidFill>
                <a:effectLst/>
                <a:uFillTx/>
                <a:latin typeface="Inter"/>
              </a:rPr>
              <a:t>— </a:t>
            </a:r>
            <a:r>
              <a:rPr lang="en-US" sz="1150" b="0" u="none" strike="noStrike">
                <a:solidFill>
                  <a:srgbClr val="CBD5E1"/>
                </a:solidFill>
                <a:effectLst/>
                <a:uFillTx/>
                <a:latin typeface="Inter"/>
              </a:rPr>
              <a:t>Circuit privacy via noise flooding.</a:t>
            </a:r>
            <a:endParaRPr lang="en-US" sz="1150" b="0" u="none" strike="noStrike">
              <a:solidFill>
                <a:srgbClr val="000000"/>
              </a:solidFill>
              <a:effectLst/>
              <a:uFillTx/>
              <a:latin typeface="Arial"/>
            </a:endParaRPr>
          </a:p>
          <a:p>
            <a:pPr defTabSz="457200">
              <a:lnSpc>
                <a:spcPct val="122000"/>
              </a:lnSpc>
              <a:spcAft>
                <a:spcPts val="901"/>
              </a:spcAft>
            </a:pPr>
            <a:r>
              <a:rPr lang="en-US" sz="1150" b="1" u="none" strike="noStrike">
                <a:solidFill>
                  <a:srgbClr val="3987E5"/>
                </a:solidFill>
                <a:effectLst/>
                <a:uFillTx/>
                <a:latin typeface="Inter"/>
              </a:rPr>
              <a:t>— </a:t>
            </a:r>
            <a:r>
              <a:rPr lang="en-US" sz="1150" b="0" u="none" strike="noStrike">
                <a:solidFill>
                  <a:srgbClr val="CBD5E1"/>
                </a:solidFill>
                <a:effectLst/>
                <a:uFillTx/>
                <a:latin typeface="Inter"/>
              </a:rPr>
              <a:t>Validate the λ finding on a dataset where gradient priors are less reliable.</a:t>
            </a:r>
            <a:endParaRPr lang="en-US" sz="11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942" dur="indefinite" restart="never" nodeType="tmRoot">
          <p:childTnLst>
            <p:seq>
              <p:cTn id="943" dur="indefinite" nodeType="mainSeq">
                <p:childTnLst>
                  <p:par>
                    <p:cTn id="944" fill="hold">
                      <p:stCondLst>
                        <p:cond delay="indefinite"/>
                      </p:stCondLst>
                      <p:childTnLst>
                        <p:par>
                          <p:cTn id="945" fill="hold">
                            <p:stCondLst>
                              <p:cond delay="0"/>
                            </p:stCondLst>
                            <p:childTnLst>
                              <p:par>
                                <p:cTn id="946" presetID="10" presetClass="entr" fill="hold" nodeType="clickEffect">
                                  <p:stCondLst>
                                    <p:cond delay="0"/>
                                  </p:stCondLst>
                                  <p:childTnLst>
                                    <p:set>
                                      <p:cBhvr>
                                        <p:cTn id="947" dur="1" fill="hold">
                                          <p:stCondLst>
                                            <p:cond delay="0"/>
                                          </p:stCondLst>
                                        </p:cTn>
                                        <p:tgtEl>
                                          <p:spTgt spid="1096"/>
                                        </p:tgtEl>
                                        <p:attrNameLst>
                                          <p:attrName>style.visibility</p:attrName>
                                        </p:attrNameLst>
                                      </p:cBhvr>
                                      <p:to>
                                        <p:strVal val="visible"/>
                                      </p:to>
                                    </p:set>
                                    <p:animEffect transition="in" filter="fade">
                                      <p:cBhvr additive="repl">
                                        <p:cTn id="948" dur="350"/>
                                        <p:tgtEl>
                                          <p:spTgt spid="10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098" name="TextBox 2"/>
          <p:cNvSpPr/>
          <p:nvPr/>
        </p:nvSpPr>
        <p:spPr>
          <a:xfrm>
            <a:off x="567000" y="493920"/>
            <a:ext cx="1012212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2700" b="1" u="none" strike="noStrike">
                <a:solidFill>
                  <a:srgbClr val="F1F5F9"/>
                </a:solidFill>
                <a:effectLst/>
                <a:uFillTx/>
                <a:latin typeface="Inter"/>
              </a:rPr>
              <a:t>References</a:t>
            </a:r>
            <a:endParaRPr lang="en-US" sz="2700" b="0" u="none" strike="noStrike">
              <a:solidFill>
                <a:srgbClr val="000000"/>
              </a:solidFill>
              <a:effectLst/>
              <a:uFillTx/>
              <a:latin typeface="Arial"/>
            </a:endParaRPr>
          </a:p>
        </p:txBody>
      </p:sp>
      <p:sp>
        <p:nvSpPr>
          <p:cNvPr id="1099" name="TextBox 3"/>
          <p:cNvSpPr/>
          <p:nvPr/>
        </p:nvSpPr>
        <p:spPr>
          <a:xfrm>
            <a:off x="567000" y="1097280"/>
            <a:ext cx="10122120" cy="3837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300" b="0" u="none" strike="noStrike">
                <a:solidFill>
                  <a:srgbClr val="94A3B8"/>
                </a:solidFill>
                <a:effectLst/>
                <a:uFillTx/>
                <a:latin typeface="Inter"/>
              </a:rPr>
              <a:t>All entries resolved against Crossref or arXiv — see reports/citations_verified.json</a:t>
            </a:r>
            <a:endParaRPr lang="en-US" sz="1300" b="0" u="none" strike="noStrike">
              <a:solidFill>
                <a:srgbClr val="000000"/>
              </a:solidFill>
              <a:effectLst/>
              <a:uFillTx/>
              <a:latin typeface="Arial"/>
            </a:endParaRPr>
          </a:p>
        </p:txBody>
      </p:sp>
      <p:sp>
        <p:nvSpPr>
          <p:cNvPr id="1100" name="Rectangle 4"/>
          <p:cNvSpPr/>
          <p:nvPr/>
        </p:nvSpPr>
        <p:spPr>
          <a:xfrm>
            <a:off x="567000" y="1481400"/>
            <a:ext cx="822600" cy="2700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1101" name="Rectangle 5"/>
          <p:cNvSpPr/>
          <p:nvPr/>
        </p:nvSpPr>
        <p:spPr>
          <a:xfrm>
            <a:off x="567000" y="6226920"/>
            <a:ext cx="11057400" cy="6840"/>
          </a:xfrm>
          <a:prstGeom prst="rect">
            <a:avLst/>
          </a:prstGeom>
          <a:solidFill>
            <a:srgbClr val="1E293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102" name="Rectangle 6"/>
          <p:cNvSpPr/>
          <p:nvPr/>
        </p:nvSpPr>
        <p:spPr>
          <a:xfrm>
            <a:off x="567000" y="6226920"/>
            <a:ext cx="10863360" cy="68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7800" rIns="90000" bIns="-37800" anchor="ctr">
            <a:noAutofit/>
          </a:bodyPr>
          <a:p>
            <a:pPr/>
            <a:endParaRPr lang="en-US" sz="1800" b="0" u="none" strike="noStrike">
              <a:solidFill>
                <a:schemeClr val="lt1"/>
              </a:solidFill>
              <a:effectLst/>
              <a:uFillTx/>
              <a:latin typeface="Calibri"/>
            </a:endParaRPr>
          </a:p>
        </p:txBody>
      </p:sp>
      <p:sp>
        <p:nvSpPr>
          <p:cNvPr id="1103" name="TextBox 7"/>
          <p:cNvSpPr/>
          <p:nvPr/>
        </p:nvSpPr>
        <p:spPr>
          <a:xfrm>
            <a:off x="567000" y="6382440"/>
            <a:ext cx="7316640" cy="2372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900" b="0" u="none" strike="noStrike">
                <a:solidFill>
                  <a:srgbClr val="94A3B8"/>
                </a:solidFill>
                <a:effectLst/>
                <a:uFillTx/>
                <a:latin typeface="Inter"/>
              </a:rPr>
              <a:t>SAGE-HE  ·  SUHAIB S Z</a:t>
            </a:r>
            <a:endParaRPr lang="en-US" sz="900" b="0" u="none" strike="noStrike">
              <a:solidFill>
                <a:srgbClr val="000000"/>
              </a:solidFill>
              <a:effectLst/>
              <a:uFillTx/>
              <a:latin typeface="Arial"/>
            </a:endParaRPr>
          </a:p>
        </p:txBody>
      </p:sp>
      <p:sp>
        <p:nvSpPr>
          <p:cNvPr id="1104" name="TextBox 8"/>
          <p:cNvSpPr/>
          <p:nvPr/>
        </p:nvSpPr>
        <p:spPr>
          <a:xfrm>
            <a:off x="11076120" y="6382440"/>
            <a:ext cx="548280" cy="237240"/>
          </a:xfrm>
          <a:prstGeom prst="rect">
            <a:avLst/>
          </a:prstGeom>
          <a:noFill/>
          <a:ln w="0">
            <a:noFill/>
          </a:ln>
        </p:spPr>
        <p:style>
          <a:lnRef idx="0"/>
          <a:fillRef idx="0"/>
          <a:effectRef idx="0"/>
          <a:fontRef idx="minor"/>
        </p:style>
        <p:txBody>
          <a:bodyPr lIns="0" tIns="0" rIns="0" bIns="0" anchor="t">
            <a:spAutoFit/>
          </a:bodyPr>
          <a:p>
            <a:pPr algn="r" defTabSz="457200">
              <a:lnSpc>
                <a:spcPct val="118000"/>
              </a:lnSpc>
              <a:spcAft>
                <a:spcPts val="400"/>
              </a:spcAft>
            </a:pPr>
            <a:r>
              <a:rPr lang="en-US" sz="900" b="0" u="none" strike="noStrike">
                <a:solidFill>
                  <a:srgbClr val="94A3B8"/>
                </a:solidFill>
                <a:effectLst/>
                <a:uFillTx/>
                <a:latin typeface="Inter"/>
              </a:rPr>
              <a:t>56</a:t>
            </a:r>
            <a:endParaRPr lang="en-US" sz="900" b="0" u="none" strike="noStrike">
              <a:solidFill>
                <a:srgbClr val="000000"/>
              </a:solidFill>
              <a:effectLst/>
              <a:uFillTx/>
              <a:latin typeface="Arial"/>
            </a:endParaRPr>
          </a:p>
        </p:txBody>
      </p:sp>
      <p:sp>
        <p:nvSpPr>
          <p:cNvPr id="1105" name="TextBox 9"/>
          <p:cNvSpPr/>
          <p:nvPr/>
        </p:nvSpPr>
        <p:spPr>
          <a:xfrm>
            <a:off x="567000" y="1627560"/>
            <a:ext cx="5446440" cy="4023000"/>
          </a:xfrm>
          <a:prstGeom prst="rect">
            <a:avLst/>
          </a:prstGeom>
          <a:noFill/>
          <a:ln w="0">
            <a:noFill/>
          </a:ln>
        </p:spPr>
        <p:style>
          <a:lnRef idx="0"/>
          <a:fillRef idx="0"/>
          <a:effectRef idx="0"/>
          <a:fontRef idx="minor"/>
        </p:style>
        <p:txBody>
          <a:bodyPr lIns="0" tIns="0" rIns="0" bIns="0" anchor="t">
            <a:spAutoFit/>
          </a:bodyPr>
          <a:p>
            <a:pPr defTabSz="457200">
              <a:lnSpc>
                <a:spcPct val="145000"/>
              </a:lnSpc>
              <a:spcAft>
                <a:spcPts val="499"/>
              </a:spcAft>
            </a:pPr>
            <a:r>
              <a:rPr lang="en-US" sz="900" b="0" u="none" strike="noStrike">
                <a:solidFill>
                  <a:srgbClr val="CBD5E1"/>
                </a:solidFill>
                <a:effectLst/>
                <a:uFillTx/>
                <a:latin typeface="Inter"/>
              </a:rPr>
              <a:t>[1]  Jia et al. (2023). Efficient and privacy-preserving image classification using homomorphic encryption a. Journal of Cloud Computing. 10.1186/s13677-023-00537-0</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[2]  Song &amp; Yan (2013). A noise robust method based on completed local binary patterns for hot-rolled steel . Applied Surface Science. 10.1016/j.apsusc.2013.09.002</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[3]  Cheon et al. (2017). Homomorphic Encryption for Arithmetic of Approximate Numbers. Lecture Notes in Computer Science. 10.1007/978-3-319-70694-8_15</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[4]  Tan &amp; Le (2019). EfficientNet: Rethinking Model Scaling for Convolutional Neural Networks. arXiv preprint. 1905.11946</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[5]  He et al. (2016). Deep Residual Learning for Image Recognition. 2016 IEEE Conference on Computer V. 10.1109/cvpr.2016.90</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[6]  Hu et al. (2018). Squeeze-and-Excitation Networks. 2018 IEEE/CVF Conference on Comput. 10.1109/cvpr.2018.00745</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[7]  Lee et al. (2022). Minimax Approximation of Sign Function by Composite Polynomial for Homomorphic Compa. IEEE Transactions on Dependable an. 10.1109/tdsc.2021.3105111</a:t>
            </a:r>
            <a:endParaRPr lang="en-US" sz="900" b="0" u="none" strike="noStrike">
              <a:solidFill>
                <a:srgbClr val="000000"/>
              </a:solidFill>
              <a:effectLst/>
              <a:uFillTx/>
              <a:latin typeface="Arial"/>
            </a:endParaRPr>
          </a:p>
        </p:txBody>
      </p:sp>
      <p:sp>
        <p:nvSpPr>
          <p:cNvPr id="1106" name="TextBox 10"/>
          <p:cNvSpPr/>
          <p:nvPr/>
        </p:nvSpPr>
        <p:spPr>
          <a:xfrm>
            <a:off x="6365160" y="1627560"/>
            <a:ext cx="5446440" cy="4023000"/>
          </a:xfrm>
          <a:prstGeom prst="rect">
            <a:avLst/>
          </a:prstGeom>
          <a:noFill/>
          <a:ln w="0">
            <a:noFill/>
          </a:ln>
        </p:spPr>
        <p:style>
          <a:lnRef idx="0"/>
          <a:fillRef idx="0"/>
          <a:effectRef idx="0"/>
          <a:fontRef idx="minor"/>
        </p:style>
        <p:txBody>
          <a:bodyPr lIns="0" tIns="0" rIns="0" bIns="0" anchor="t">
            <a:spAutoFit/>
          </a:bodyPr>
          <a:p>
            <a:pPr defTabSz="457200">
              <a:lnSpc>
                <a:spcPct val="145000"/>
              </a:lnSpc>
              <a:spcAft>
                <a:spcPts val="499"/>
              </a:spcAft>
            </a:pPr>
            <a:r>
              <a:rPr lang="en-US" sz="900" b="0" u="none" strike="noStrike">
                <a:solidFill>
                  <a:srgbClr val="CBD5E1"/>
                </a:solidFill>
                <a:effectLst/>
                <a:uFillTx/>
                <a:latin typeface="Inter"/>
              </a:rPr>
              <a:t>[8]  Elkhatib et al. (2025). PRISM: Privacy-preserving Inference System with Homomorphic Encryption and Modular A. arXiv preprint. 2511.07807</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[9]  Selvaraju et al. (2019). Grad-CAM: Visual Explanations from Deep Networks via Gradient-Based Localization. International Journal of Computer . 10.1007/s11263-019-01228-7</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[10]  Zuiderveld (1994). Contrast Limited Adaptive Histogram Equalization. Graphics Gems. 10.1016/b978-0-12-336156-1.50061-6</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[11]  Akiba et al. (2019). Optuna. Proceedings of the 25th ACM SIGKDD. 10.1145/3292500.3330701</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[12]  Paszke et al. (2019). PyTorch: An Imperative Style, High-Performance Deep Learning Library. arXiv preprint. 1912.01703</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[13]  Buslaev et al. (2020). Albumentations: Fast and Flexible Image Augmentations. Information. 10.3390/info11020125</a:t>
            </a:r>
            <a:endParaRPr lang="en-US" sz="900" b="0" u="none" strike="noStrike">
              <a:solidFill>
                <a:srgbClr val="000000"/>
              </a:solidFill>
              <a:effectLst/>
              <a:uFillTx/>
              <a:latin typeface="Arial"/>
            </a:endParaRPr>
          </a:p>
          <a:p>
            <a:pPr defTabSz="457200">
              <a:lnSpc>
                <a:spcPct val="145000"/>
              </a:lnSpc>
              <a:spcAft>
                <a:spcPts val="499"/>
              </a:spcAft>
            </a:pPr>
            <a:r>
              <a:rPr lang="en-US" sz="900" b="0" u="none" strike="noStrike">
                <a:solidFill>
                  <a:srgbClr val="CBD5E1"/>
                </a:solidFill>
                <a:effectLst/>
                <a:uFillTx/>
                <a:latin typeface="Inter"/>
              </a:rPr>
              <a:t>[14]  Pedregosa et al. (2012). Scikit-learn: Machine Learning in Python. arXiv preprint. 1201.0490</a:t>
            </a:r>
            <a:endParaRPr lang="en-US" sz="90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 name="Rectangle 1"/>
          <p:cNvSpPr/>
          <p:nvPr/>
        </p:nvSpPr>
        <p:spPr>
          <a:xfrm>
            <a:off x="0" y="0"/>
            <a:ext cx="12191400" cy="6857640"/>
          </a:xfrm>
          <a:prstGeom prst="rect">
            <a:avLst/>
          </a:prstGeom>
          <a:gradFill rotWithShape="0">
            <a:gsLst>
              <a:gs pos="0">
                <a:srgbClr val="0C1322"/>
              </a:gs>
              <a:gs pos="100000">
                <a:srgbClr val="080D18"/>
              </a:gs>
            </a:gsLst>
            <a:lin ang="16200000"/>
          </a:gra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08" name="Rectangle 2"/>
          <p:cNvSpPr/>
          <p:nvPr/>
        </p:nvSpPr>
        <p:spPr>
          <a:xfrm>
            <a:off x="0" y="0"/>
            <a:ext cx="127800" cy="685764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109" name="TextBox 3"/>
          <p:cNvSpPr/>
          <p:nvPr/>
        </p:nvSpPr>
        <p:spPr>
          <a:xfrm>
            <a:off x="795600" y="1481400"/>
            <a:ext cx="9187200" cy="100548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6200" b="1" u="none" strike="noStrike">
                <a:solidFill>
                  <a:srgbClr val="F1F5F9"/>
                </a:solidFill>
                <a:effectLst/>
                <a:uFillTx/>
                <a:latin typeface="Inter"/>
              </a:rPr>
              <a:t>SAGE-HE</a:t>
            </a:r>
            <a:endParaRPr lang="en-US" sz="6200" b="0" u="none" strike="noStrike">
              <a:solidFill>
                <a:srgbClr val="000000"/>
              </a:solidFill>
              <a:effectLst/>
              <a:uFillTx/>
              <a:latin typeface="Arial"/>
            </a:endParaRPr>
          </a:p>
        </p:txBody>
      </p:sp>
      <p:sp>
        <p:nvSpPr>
          <p:cNvPr id="1110" name="Rectangle 4"/>
          <p:cNvSpPr/>
          <p:nvPr/>
        </p:nvSpPr>
        <p:spPr>
          <a:xfrm>
            <a:off x="795600" y="2670120"/>
            <a:ext cx="1371240" cy="31680"/>
          </a:xfrm>
          <a:prstGeom prst="rect">
            <a:avLst/>
          </a:prstGeom>
          <a:solidFill>
            <a:srgbClr val="3987E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2960" rIns="90000" bIns="-12960" anchor="ctr">
            <a:noAutofit/>
          </a:bodyPr>
          <a:p>
            <a:pPr algn="ctr" defTabSz="457200">
              <a:lnSpc>
                <a:spcPct val="100000"/>
              </a:lnSpc>
            </a:pPr>
            <a:endParaRPr lang="en-US" sz="1800" b="0" u="none" strike="noStrike">
              <a:solidFill>
                <a:schemeClr val="lt1"/>
              </a:solidFill>
              <a:effectLst/>
              <a:uFillTx/>
              <a:latin typeface="Calibri"/>
            </a:endParaRPr>
          </a:p>
        </p:txBody>
      </p:sp>
      <p:sp>
        <p:nvSpPr>
          <p:cNvPr id="1111" name="TextBox 5"/>
          <p:cNvSpPr/>
          <p:nvPr/>
        </p:nvSpPr>
        <p:spPr>
          <a:xfrm>
            <a:off x="795600" y="2907720"/>
            <a:ext cx="8251920" cy="1096920"/>
          </a:xfrm>
          <a:prstGeom prst="rect">
            <a:avLst/>
          </a:prstGeom>
          <a:noFill/>
          <a:ln w="0">
            <a:noFill/>
          </a:ln>
        </p:spPr>
        <p:style>
          <a:lnRef idx="0"/>
          <a:fillRef idx="0"/>
          <a:effectRef idx="0"/>
          <a:fontRef idx="minor"/>
        </p:style>
        <p:txBody>
          <a:bodyPr lIns="0" tIns="0" rIns="0" bIns="0" anchor="t">
            <a:spAutoFit/>
          </a:bodyPr>
          <a:p>
            <a:pPr defTabSz="457200">
              <a:lnSpc>
                <a:spcPct val="130000"/>
              </a:lnSpc>
              <a:spcAft>
                <a:spcPts val="400"/>
              </a:spcAft>
            </a:pPr>
            <a:r>
              <a:rPr lang="en-US" sz="1900" b="0" u="none" strike="noStrike">
                <a:solidFill>
                  <a:srgbClr val="CBD5E1"/>
                </a:solidFill>
                <a:effectLst/>
                <a:uFillTx/>
                <a:latin typeface="Inter"/>
              </a:rPr>
              <a:t>Thank you</a:t>
            </a:r>
            <a:endParaRPr lang="en-US" sz="1900" b="0" u="none" strike="noStrike">
              <a:solidFill>
                <a:srgbClr val="000000"/>
              </a:solidFill>
              <a:effectLst/>
              <a:uFillTx/>
              <a:latin typeface="Arial"/>
            </a:endParaRPr>
          </a:p>
        </p:txBody>
      </p:sp>
      <p:sp>
        <p:nvSpPr>
          <p:cNvPr id="1112" name="TextBox 6"/>
          <p:cNvSpPr/>
          <p:nvPr/>
        </p:nvSpPr>
        <p:spPr>
          <a:xfrm>
            <a:off x="795600" y="4407480"/>
            <a:ext cx="731664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1" u="none" strike="noStrike">
                <a:solidFill>
                  <a:srgbClr val="94A3B8"/>
                </a:solidFill>
                <a:effectLst/>
                <a:uFillTx/>
                <a:latin typeface="Inter"/>
              </a:rPr>
              <a:t>RESEARCH, ARCHITECTURE &amp; IMPLEMENTATION</a:t>
            </a:r>
            <a:endParaRPr lang="en-US" sz="1050" b="0" u="none" strike="noStrike">
              <a:solidFill>
                <a:srgbClr val="000000"/>
              </a:solidFill>
              <a:effectLst/>
              <a:uFillTx/>
              <a:latin typeface="Arial"/>
            </a:endParaRPr>
          </a:p>
        </p:txBody>
      </p:sp>
      <p:sp>
        <p:nvSpPr>
          <p:cNvPr id="1113" name="TextBox 7"/>
          <p:cNvSpPr/>
          <p:nvPr/>
        </p:nvSpPr>
        <p:spPr>
          <a:xfrm>
            <a:off x="795600" y="4718160"/>
            <a:ext cx="7316640" cy="56664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3100" b="1" u="none" strike="noStrike">
                <a:solidFill>
                  <a:srgbClr val="F1F5F9"/>
                </a:solidFill>
                <a:effectLst/>
                <a:uFillTx/>
                <a:latin typeface="Inter"/>
              </a:rPr>
              <a:t>SUHAIB S Z</a:t>
            </a:r>
            <a:endParaRPr lang="en-US" sz="3100" b="0" u="none" strike="noStrike">
              <a:solidFill>
                <a:srgbClr val="000000"/>
              </a:solidFill>
              <a:effectLst/>
              <a:uFillTx/>
              <a:latin typeface="Arial"/>
            </a:endParaRPr>
          </a:p>
        </p:txBody>
      </p:sp>
      <p:sp>
        <p:nvSpPr>
          <p:cNvPr id="1114" name="TextBox 8"/>
          <p:cNvSpPr/>
          <p:nvPr/>
        </p:nvSpPr>
        <p:spPr>
          <a:xfrm>
            <a:off x="795600" y="6327720"/>
            <a:ext cx="9187200" cy="273960"/>
          </a:xfrm>
          <a:prstGeom prst="rect">
            <a:avLst/>
          </a:prstGeom>
          <a:noFill/>
          <a:ln w="0">
            <a:noFill/>
          </a:ln>
        </p:spPr>
        <p:style>
          <a:lnRef idx="0"/>
          <a:fillRef idx="0"/>
          <a:effectRef idx="0"/>
          <a:fontRef idx="minor"/>
        </p:style>
        <p:txBody>
          <a:bodyPr lIns="0" tIns="0" rIns="0" bIns="0" anchor="t">
            <a:spAutoFit/>
          </a:bodyPr>
          <a:p>
            <a:pPr defTabSz="457200">
              <a:lnSpc>
                <a:spcPct val="118000"/>
              </a:lnSpc>
              <a:spcAft>
                <a:spcPts val="400"/>
              </a:spcAft>
            </a:pPr>
            <a:r>
              <a:rPr lang="en-US" sz="1050" b="0" u="none" strike="noStrike">
                <a:solidFill>
                  <a:srgbClr val="94A3B8"/>
                </a:solidFill>
                <a:effectLst/>
                <a:uFillTx/>
                <a:latin typeface="Inter"/>
              </a:rPr>
              <a:t>Code, data manifests, logs and this deck are reproducible end to end</a:t>
            </a:r>
            <a:endParaRPr lang="en-US" sz="1050" b="0" u="none" strike="noStrike">
              <a:solidFill>
                <a:srgbClr val="000000"/>
              </a:solidFill>
              <a:effectLst/>
              <a:uFillTx/>
              <a:latin typeface="Arial"/>
            </a:endParaRPr>
          </a:p>
        </p:txBody>
      </p:sp>
    </p:spTree>
  </p:cSld>
  <mc:AlternateContent>
    <mc:Choice Requires="p14">
      <p:transition p14:dur="400">
        <p:fade/>
      </p:transition>
    </mc:Choice>
    <mc:Fallback>
      <p:transition>
        <p:fade/>
      </p:transition>
    </mc:Fallback>
  </mc:AlternateContent>
  <p:timing>
    <p:tnLst>
      <p:par>
        <p:cTn id="949" dur="indefinite" restart="never" nodeType="tmRoot">
          <p:childTnLst>
            <p:seq>
              <p:cTn id="950" dur="indefinite" nodeType="mainSeq">
                <p:childTnLst>
                  <p:par>
                    <p:cTn id="951" fill="hold">
                      <p:stCondLst>
                        <p:cond delay="indefinite"/>
                      </p:stCondLst>
                      <p:childTnLst>
                        <p:par>
                          <p:cTn id="952" fill="hold">
                            <p:stCondLst>
                              <p:cond delay="0"/>
                            </p:stCondLst>
                            <p:childTnLst>
                              <p:par>
                                <p:cTn id="953" presetID="10" presetClass="entr" fill="hold" nodeType="clickEffect">
                                  <p:stCondLst>
                                    <p:cond delay="0"/>
                                  </p:stCondLst>
                                  <p:childTnLst>
                                    <p:set>
                                      <p:cBhvr>
                                        <p:cTn id="954" dur="1" fill="hold">
                                          <p:stCondLst>
                                            <p:cond delay="0"/>
                                          </p:stCondLst>
                                        </p:cTn>
                                        <p:tgtEl>
                                          <p:spTgt spid="1110"/>
                                        </p:tgtEl>
                                        <p:attrNameLst>
                                          <p:attrName>style.visibility</p:attrName>
                                        </p:attrNameLst>
                                      </p:cBhvr>
                                      <p:to>
                                        <p:strVal val="visible"/>
                                      </p:to>
                                    </p:set>
                                    <p:animEffect transition="in" filter="fade">
                                      <p:cBhvr additive="repl">
                                        <p:cTn id="955" dur="350"/>
                                        <p:tgtEl>
                                          <p:spTgt spid="1110"/>
                                        </p:tgtEl>
                                      </p:cBhvr>
                                    </p:animEffect>
                                  </p:childTnLst>
                                </p:cTn>
                              </p:par>
                            </p:childTnLst>
                          </p:cTn>
                        </p:par>
                      </p:childTnLst>
                    </p:cTn>
                  </p:par>
                  <p:par>
                    <p:cTn id="956" fill="hold">
                      <p:stCondLst>
                        <p:cond delay="indefinite"/>
                      </p:stCondLst>
                      <p:childTnLst>
                        <p:par>
                          <p:cTn id="957" fill="hold">
                            <p:stCondLst>
                              <p:cond delay="0"/>
                            </p:stCondLst>
                            <p:childTnLst>
                              <p:par>
                                <p:cTn id="958" presetID="10" presetClass="entr" fill="hold" nodeType="afterEffect">
                                  <p:stCondLst>
                                    <p:cond delay="0"/>
                                  </p:stCondLst>
                                  <p:childTnLst>
                                    <p:set>
                                      <p:cBhvr>
                                        <p:cTn id="959" dur="1" fill="hold">
                                          <p:stCondLst>
                                            <p:cond delay="0"/>
                                          </p:stCondLst>
                                        </p:cTn>
                                        <p:tgtEl>
                                          <p:spTgt spid="1111"/>
                                        </p:tgtEl>
                                        <p:attrNameLst>
                                          <p:attrName>style.visibility</p:attrName>
                                        </p:attrNameLst>
                                      </p:cBhvr>
                                      <p:to>
                                        <p:strVal val="visible"/>
                                      </p:to>
                                    </p:set>
                                    <p:animEffect transition="in" filter="fade">
                                      <p:cBhvr additive="repl">
                                        <p:cTn id="960" dur="350"/>
                                        <p:tgtEl>
                                          <p:spTgt spid="1111"/>
                                        </p:tgtEl>
                                      </p:cBhvr>
                                    </p:animEffect>
                                  </p:childTnLst>
                                </p:cTn>
                              </p:par>
                            </p:childTnLst>
                          </p:cTn>
                        </p:par>
                      </p:childTnLst>
                    </p:cTn>
                  </p:par>
                  <p:par>
                    <p:cTn id="961" fill="hold">
                      <p:stCondLst>
                        <p:cond delay="indefinite"/>
                      </p:stCondLst>
                      <p:childTnLst>
                        <p:par>
                          <p:cTn id="962" fill="hold">
                            <p:stCondLst>
                              <p:cond delay="0"/>
                            </p:stCondLst>
                            <p:childTnLst>
                              <p:par>
                                <p:cTn id="963" presetID="10" presetClass="entr" fill="hold" nodeType="afterEffect">
                                  <p:stCondLst>
                                    <p:cond delay="0"/>
                                  </p:stCondLst>
                                  <p:childTnLst>
                                    <p:set>
                                      <p:cBhvr>
                                        <p:cTn id="964" dur="1" fill="hold">
                                          <p:stCondLst>
                                            <p:cond delay="0"/>
                                          </p:stCondLst>
                                        </p:cTn>
                                        <p:tgtEl>
                                          <p:spTgt spid="1112"/>
                                        </p:tgtEl>
                                        <p:attrNameLst>
                                          <p:attrName>style.visibility</p:attrName>
                                        </p:attrNameLst>
                                      </p:cBhvr>
                                      <p:to>
                                        <p:strVal val="visible"/>
                                      </p:to>
                                    </p:set>
                                    <p:animEffect transition="in" filter="fade">
                                      <p:cBhvr additive="repl">
                                        <p:cTn id="965" dur="350"/>
                                        <p:tgtEl>
                                          <p:spTgt spid="1112"/>
                                        </p:tgtEl>
                                      </p:cBhvr>
                                    </p:animEffect>
                                  </p:childTnLst>
                                </p:cTn>
                              </p:par>
                            </p:childTnLst>
                          </p:cTn>
                        </p:par>
                      </p:childTnLst>
                    </p:cTn>
                  </p:par>
                  <p:par>
                    <p:cTn id="966" fill="hold">
                      <p:stCondLst>
                        <p:cond delay="indefinite"/>
                      </p:stCondLst>
                      <p:childTnLst>
                        <p:par>
                          <p:cTn id="967" fill="hold">
                            <p:stCondLst>
                              <p:cond delay="0"/>
                            </p:stCondLst>
                            <p:childTnLst>
                              <p:par>
                                <p:cTn id="968" presetID="10" presetClass="entr" fill="hold" nodeType="afterEffect">
                                  <p:stCondLst>
                                    <p:cond delay="0"/>
                                  </p:stCondLst>
                                  <p:childTnLst>
                                    <p:set>
                                      <p:cBhvr>
                                        <p:cTn id="969" dur="1" fill="hold">
                                          <p:stCondLst>
                                            <p:cond delay="0"/>
                                          </p:stCondLst>
                                        </p:cTn>
                                        <p:tgtEl>
                                          <p:spTgt spid="1113"/>
                                        </p:tgtEl>
                                        <p:attrNameLst>
                                          <p:attrName>style.visibility</p:attrName>
                                        </p:attrNameLst>
                                      </p:cBhvr>
                                      <p:to>
                                        <p:strVal val="visible"/>
                                      </p:to>
                                    </p:set>
                                    <p:animEffect transition="in" filter="fade">
                                      <p:cBhvr additive="repl">
                                        <p:cTn id="970" dur="350"/>
                                        <p:tgtEl>
                                          <p:spTgt spid="1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LibreOffice/26.8.1.1$Linux_X86_64 LibreOffice_project/bf6ef2662401c7d6dce671ab4deb26ee0af3a7c1</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